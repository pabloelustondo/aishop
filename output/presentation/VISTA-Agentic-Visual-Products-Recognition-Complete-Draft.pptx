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28b76607414caa" /><Relationship Type="http://schemas.openxmlformats.org/officeDocument/2006/relationships/extended-properties" Target="/docProps/app.xml" Id="Rd105dbf7352e404b" /><Relationship Type="http://schemas.openxmlformats.org/officeDocument/2006/relationships/officeDocument" Target="/ppt/presentation.xml" Id="R0bbd70f57c94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76d98197784bf6"/>
  </p:sldMasterIdLst>
  <p:notesMasterIdLst>
    <p:notesMasterId xmlns:r="http://schemas.openxmlformats.org/officeDocument/2006/relationships" r:id="Red8ea641b8214ff9"/>
  </p:notesMasterIdLst>
  <p:sldIdLst>
    <p:sldId xmlns:r="http://schemas.openxmlformats.org/officeDocument/2006/relationships" id="256" r:id="Rec5e548082e3422c"/>
    <p:sldId xmlns:r="http://schemas.openxmlformats.org/officeDocument/2006/relationships" id="257" r:id="R25169df5e3c34865"/>
    <p:sldId xmlns:r="http://schemas.openxmlformats.org/officeDocument/2006/relationships" id="258" r:id="Ra34da95e5277400b"/>
    <p:sldId xmlns:r="http://schemas.openxmlformats.org/officeDocument/2006/relationships" id="259" r:id="R3cebd22dcba54705"/>
    <p:sldId xmlns:r="http://schemas.openxmlformats.org/officeDocument/2006/relationships" id="260" r:id="Ra54c7351029f40f1"/>
    <p:sldId xmlns:r="http://schemas.openxmlformats.org/officeDocument/2006/relationships" id="261" r:id="R82b5174d6e62412f"/>
    <p:sldId xmlns:r="http://schemas.openxmlformats.org/officeDocument/2006/relationships" id="262" r:id="Raab6abdb81684428"/>
    <p:sldId xmlns:r="http://schemas.openxmlformats.org/officeDocument/2006/relationships" id="263" r:id="Ree16f92776d1464c"/>
    <p:sldId xmlns:r="http://schemas.openxmlformats.org/officeDocument/2006/relationships" id="264" r:id="R6f505fc3e9564f2a"/>
    <p:sldId xmlns:r="http://schemas.openxmlformats.org/officeDocument/2006/relationships" id="265" r:id="Ra2ca7564f6ee4cd2"/>
    <p:sldId xmlns:r="http://schemas.openxmlformats.org/officeDocument/2006/relationships" id="266" r:id="Rcafc5655ad9141b9"/>
    <p:sldId xmlns:r="http://schemas.openxmlformats.org/officeDocument/2006/relationships" id="267" r:id="R77121d9679254cd9"/>
    <p:sldId xmlns:r="http://schemas.openxmlformats.org/officeDocument/2006/relationships" id="268" r:id="R2825c60e6f8a4e77"/>
    <p:sldId xmlns:r="http://schemas.openxmlformats.org/officeDocument/2006/relationships" id="269" r:id="Rc3f1d03086e14b16"/>
    <p:sldId xmlns:r="http://schemas.openxmlformats.org/officeDocument/2006/relationships" id="270" r:id="Rb1128c0c9dfc4659"/>
    <p:sldId xmlns:r="http://schemas.openxmlformats.org/officeDocument/2006/relationships" id="271" r:id="R2114bcfa6c8d444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a955b65f014135" /><Relationship Type="http://schemas.openxmlformats.org/officeDocument/2006/relationships/slideMaster" Target="/ppt/slideMasters/slideMaster1.xml" Id="R4476d98197784bf6" /><Relationship Type="http://schemas.openxmlformats.org/officeDocument/2006/relationships/notesMaster" Target="/ppt/notesMasters/notesMaster1.xml" Id="Red8ea641b8214ff9" /><Relationship Type="http://schemas.openxmlformats.org/officeDocument/2006/relationships/presProps" Target="/ppt/presProps.xml" Id="Rbff0db8a6e7f4c57" /><Relationship Type="http://schemas.openxmlformats.org/officeDocument/2006/relationships/tableStyles" Target="/ppt/tableStyles.xml" Id="R2cbec5eeb1464604" /><Relationship Type="http://schemas.openxmlformats.org/officeDocument/2006/relationships/slide" Target="/ppt/slides/slide1.xml" Id="Rec5e548082e3422c" /><Relationship Type="http://schemas.openxmlformats.org/officeDocument/2006/relationships/slide" Target="/ppt/slides/slide2.xml" Id="R25169df5e3c34865" /><Relationship Type="http://schemas.openxmlformats.org/officeDocument/2006/relationships/slide" Target="/ppt/slides/slide3.xml" Id="Ra34da95e5277400b" /><Relationship Type="http://schemas.openxmlformats.org/officeDocument/2006/relationships/slide" Target="/ppt/slides/slide4.xml" Id="R3cebd22dcba54705" /><Relationship Type="http://schemas.openxmlformats.org/officeDocument/2006/relationships/slide" Target="/ppt/slides/slide5.xml" Id="Ra54c7351029f40f1" /><Relationship Type="http://schemas.openxmlformats.org/officeDocument/2006/relationships/slide" Target="/ppt/slides/slide6.xml" Id="R82b5174d6e62412f" /><Relationship Type="http://schemas.openxmlformats.org/officeDocument/2006/relationships/slide" Target="/ppt/slides/slide7.xml" Id="Raab6abdb81684428" /><Relationship Type="http://schemas.openxmlformats.org/officeDocument/2006/relationships/slide" Target="/ppt/slides/slide8.xml" Id="Ree16f92776d1464c" /><Relationship Type="http://schemas.openxmlformats.org/officeDocument/2006/relationships/slide" Target="/ppt/slides/slide9.xml" Id="R6f505fc3e9564f2a" /><Relationship Type="http://schemas.openxmlformats.org/officeDocument/2006/relationships/slide" Target="/ppt/slides/slide10.xml" Id="Ra2ca7564f6ee4cd2" /><Relationship Type="http://schemas.openxmlformats.org/officeDocument/2006/relationships/slide" Target="/ppt/slides/slide11.xml" Id="Rcafc5655ad9141b9" /><Relationship Type="http://schemas.openxmlformats.org/officeDocument/2006/relationships/slide" Target="/ppt/slides/slide12.xml" Id="R77121d9679254cd9" /><Relationship Type="http://schemas.openxmlformats.org/officeDocument/2006/relationships/slide" Target="/ppt/slides/slide13.xml" Id="R2825c60e6f8a4e77" /><Relationship Type="http://schemas.openxmlformats.org/officeDocument/2006/relationships/slide" Target="/ppt/slides/slide14.xml" Id="Rc3f1d03086e14b16" /><Relationship Type="http://schemas.openxmlformats.org/officeDocument/2006/relationships/slide" Target="/ppt/slides/slide15.xml" Id="Rb1128c0c9dfc4659" /><Relationship Type="http://schemas.openxmlformats.org/officeDocument/2006/relationships/slide" Target="/ppt/slides/slide16.xml" Id="R2114bcfa6c8d44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e0f518d80549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1cbbec6a034814" /><Relationship Type="http://schemas.openxmlformats.org/officeDocument/2006/relationships/notesMaster" Target="/ppt/notesMasters/notesMaster1.xml" Id="R97580245bc7f4e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e46a40ed34d72" /><Relationship Type="http://schemas.openxmlformats.org/officeDocument/2006/relationships/notesMaster" Target="/ppt/notesMasters/notesMaster1.xml" Id="R1388c862f52646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1e305c8a2a475d" /><Relationship Type="http://schemas.openxmlformats.org/officeDocument/2006/relationships/notesMaster" Target="/ppt/notesMasters/notesMaster1.xml" Id="R3c50812d1f8a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754e0c2539492e" /><Relationship Type="http://schemas.openxmlformats.org/officeDocument/2006/relationships/notesMaster" Target="/ppt/notesMasters/notesMaster1.xml" Id="R8a3a71b7e26c48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51a3a324fd42ab" /><Relationship Type="http://schemas.openxmlformats.org/officeDocument/2006/relationships/notesMaster" Target="/ppt/notesMasters/notesMaster1.xml" Id="R73d93a95501d46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5bf81169004f2b" /><Relationship Type="http://schemas.openxmlformats.org/officeDocument/2006/relationships/notesMaster" Target="/ppt/notesMasters/notesMaster1.xml" Id="R35d8aafc98e748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9462619c634e73" /><Relationship Type="http://schemas.openxmlformats.org/officeDocument/2006/relationships/notesMaster" Target="/ppt/notesMasters/notesMaster1.xml" Id="Rfcf0944b4c8b4c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23390ed5ef4d5c" /><Relationship Type="http://schemas.openxmlformats.org/officeDocument/2006/relationships/notesMaster" Target="/ppt/notesMasters/notesMaster1.xml" Id="Rfe1c607d29074f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0b25c88e244c0a" /><Relationship Type="http://schemas.openxmlformats.org/officeDocument/2006/relationships/notesMaster" Target="/ppt/notesMasters/notesMaster1.xml" Id="R6cdbc6fb213440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a9a5d6a53544a6" /><Relationship Type="http://schemas.openxmlformats.org/officeDocument/2006/relationships/notesMaster" Target="/ppt/notesMasters/notesMaster1.xml" Id="R79434e7cd2d443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3ea62e5d404de8" /><Relationship Type="http://schemas.openxmlformats.org/officeDocument/2006/relationships/notesMaster" Target="/ppt/notesMasters/notesMaster1.xml" Id="R43ae296dcb2d48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6dc6c98f0b44d3" /><Relationship Type="http://schemas.openxmlformats.org/officeDocument/2006/relationships/notesMaster" Target="/ppt/notesMasters/notesMaster1.xml" Id="Ra8306744a8c94c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8643c8c34c47ab" /><Relationship Type="http://schemas.openxmlformats.org/officeDocument/2006/relationships/notesMaster" Target="/ppt/notesMasters/notesMaster1.xml" Id="R3ccbd7ebf37749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4a3af76e944ab5" /><Relationship Type="http://schemas.openxmlformats.org/officeDocument/2006/relationships/notesMaster" Target="/ppt/notesMasters/notesMaster1.xml" Id="Rfb3c08bce31547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5e56482d2e46f8" /><Relationship Type="http://schemas.openxmlformats.org/officeDocument/2006/relationships/notesMaster" Target="/ppt/notesMasters/notesMaster1.xml" Id="R5930dc6021c243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211a01daa2481f" /><Relationship Type="http://schemas.openxmlformats.org/officeDocument/2006/relationships/notesMaster" Target="/ppt/notesMasters/notesMaster1.xml" Id="Rcd605c9eff5042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000 — VISTA Agentic Visual Products Recognition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Welcome to the technical introduction to VISTA's image uploader and analyser.</a:t>
            </a:r>
          </a:p>
          <a:p xmlns:a="http://schemas.openxmlformats.org/drawingml/2006/main">
            <a:r>
              <a:t>We will follow a shelf photo from the user's upload to a reviewable item report.</a:t>
            </a:r>
          </a:p>
          <a:p xmlns:a="http://schemas.openxmlformats.org/drawingml/2006/main">
            <a:r>
              <a:t>The story connects the user journey, the architecture, and the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with the short business refresher on the next slide.</a:t>
            </a:r>
          </a:p>
          <a:p xmlns:a="http://schemas.openxmlformats.org/drawingml/2006/main">
            <a:r>
              <a:t>Then explain how the interface, server, storage, and AI work together.</a:t>
            </a:r>
          </a:p>
          <a:p xmlns:a="http://schemas.openxmlformats.org/drawingml/2006/main">
            <a:r>
              <a:t>Use the broader VISTA overview as background for the wider product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cover's three words—Capture, Analyse, Review—introduce the user journey.</a:t>
            </a:r>
          </a:p>
          <a:p xmlns:a="http://schemas.openxmlformats.org/drawingml/2006/main">
            <a:r>
              <a:t>They are a conceptual sequence; the component and API details follow later.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VISTA Agentic Visual Products Recognition.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000-title/000-visual.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 — Business Context: Understand What Is on the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One-minute introduction</a:t>
            </a:r>
          </a:p>
          <a:p xmlns:a="http://schemas.openxmlformats.org/drawingml/2006/main">
            <a:r>
              <a:t>VISTA helps retail teams understand what is happening on store shelves.</a:t>
            </a:r>
          </a:p>
          <a:p xmlns:a="http://schemas.openxmlformats.org/drawingml/2006/main">
            <a:r>
              <a:t>They need to know which products are visible, how many facings each has,</a:t>
            </a:r>
          </a:p>
          <a:p xmlns:a="http://schemas.openxmlformats.org/drawingml/2006/main">
            <a:r>
              <a:t>and what changes between observations, to support inventory decisions,</a:t>
            </a:r>
          </a:p>
          <a:p xmlns:a="http://schemas.openxmlformats.org/drawingml/2006/main">
            <a:r>
              <a:t>brand presentation, and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 at the two shelf photos: they make the business question concrete.</a:t>
            </a:r>
          </a:p>
          <a:p xmlns:a="http://schemas.openxmlformats.org/drawingml/2006/main">
            <a:r>
              <a:t>A person captures shelf evidence so it can be analysed and reviewed.</a:t>
            </a:r>
          </a:p>
          <a:p xmlns:a="http://schemas.openxmlformats.org/drawingml/2006/main">
            <a:r>
              <a:t>The aim is to reduce manual inspection effort while retaining the image</a:t>
            </a:r>
          </a:p>
          <a:p xmlns:a="http://schemas.openxmlformats.org/drawingml/2006/main">
            <a:r>
              <a:t>that lets someone check the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module we are about to explore handles one part of that bigger story.</a:t>
            </a:r>
          </a:p>
          <a:p xmlns:a="http://schemas.openxmlformats.org/drawingml/2006/main">
            <a:r>
              <a:t>A user uploads a shelf photo, the server coordinates AI analysis,</a:t>
            </a:r>
          </a:p>
          <a:p xmlns:a="http://schemas.openxmlformats.org/drawingml/2006/main">
            <a:r>
              <a:t>and the browser presents identified products and visible facing counts.</a:t>
            </a:r>
          </a:p>
          <a:p xmlns:a="http://schemas.openxmlformats.org/drawingml/2006/main">
            <a:r>
              <a:t>A facing is a visible product front, not the stock hidden behind it.</a:t>
            </a:r>
          </a:p>
          <a:p xmlns:a="http://schemas.openxmlformats.org/drawingml/2006/main">
            <a:r>
              <a:t>The observations can be uncertain and need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that user journey in mind as we move into the architecture:</a:t>
            </a:r>
          </a:p>
          <a:p xmlns:a="http://schemas.openxmlformats.org/drawingml/2006/main">
            <a:r>
              <a:t>photo in, reviewable item report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context and scope</a:t>
            </a:r>
          </a:p>
          <a:p xmlns:a="http://schemas.openxmlformats.org/drawingml/2006/main">
            <a:r>
              <a:t>The broader introduction is the [VISTA LinkedIn overview](../../VISTA-Linkedin-Overview-Presentation.pdf).</a:t>
            </a:r>
          </a:p>
          <a:p xmlns:a="http://schemas.openxmlformats.org/drawingml/2006/main">
            <a:r>
              <a:t>This technical guide assumes that background; this slide is a brief refresher.</a:t>
            </a:r>
          </a:p>
          <a:p xmlns:a="http://schemas.openxmlformats.org/drawingml/2006/main">
            <a:r>
              <a:t>Selected visual: PDF page 2, “Teams need to understand what is happening across stores”.</a:t>
            </a:r>
          </a:p>
          <a:p xmlns:a="http://schemas.openxmlformats.org/drawingml/2006/main">
            <a:r>
              <a:t>It uses original field examples and connects the images to the business questions.</a:t>
            </a:r>
          </a:p>
          <a:p xmlns:a="http://schemas.openxmlformats.org/drawingml/2006/main">
            <a:r>
              <a:t>Comparisons across visits describe the wider business intent, not a claim that</a:t>
            </a:r>
          </a:p>
          <a:p xmlns:a="http://schemas.openxmlformats.org/drawingml/2006/main">
            <a:r>
              <a:t>this uploader module already performs automatic change detection.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Point to the before-and-after photos, then the three questions on the right.</a:t>
            </a:r>
          </a:p>
          <a:p xmlns:a="http://schemas.openxmlformats.org/drawingml/2006/main">
            <a:r>
              <a:t>Close with the need for readable shelf images and move to slide 01's architecture.</a:t>
            </a:r>
          </a:p>
          <a:p xmlns:a="http://schemas.openxmlformats.org/drawingml/2006/main">
            <a:r>
              <a:t>The visual retains its original PDF footer number, 02; this guide numbers it 00.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Understand What Is on the Shelf.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00-business-context/00-visual.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005 - AI Shop Through the 12-Step SDLC2 Lifecycle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has two connected purposes.</a:t>
            </a:r>
          </a:p>
          <a:p xmlns:a="http://schemas.openxmlformats.org/drawingml/2006/main">
            <a:r>
              <a:t>It is a real application for analysing shelf images and producing item reports.</a:t>
            </a:r>
          </a:p>
          <a:p xmlns:a="http://schemas.openxmlformats.org/drawingml/2006/main">
            <a:r>
              <a:t>It is also a case study showing how SDLC2 evaluates and develops an AI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introduces the twelve steps lightly.</a:t>
            </a:r>
          </a:p>
          <a:p xmlns:a="http://schemas.openxmlformats.org/drawingml/2006/main">
            <a:r>
              <a:t>The remainder of the presentation uses concrete AI Shop evidence to examine them.</a:t>
            </a:r>
          </a:p>
          <a:p xmlns:a="http://schemas.openxmlformats.org/drawingml/2006/main">
            <a:r>
              <a:t>The steps form a lifecycle, but learning can send the team back to an earlier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Understand</a:t>
            </a:r>
          </a:p>
          <a:p xmlns:a="http://schemas.openxmlformats.org/drawingml/2006/main">
            <a:r>
              <a:t>Business and Technical Context establishes the retail problem and technical environment.</a:t>
            </a:r>
          </a:p>
          <a:p xmlns:a="http://schemas.openxmlformats.org/drawingml/2006/main">
            <a:r>
              <a:t>Intent states the outcome the application should create for its users.</a:t>
            </a:r>
          </a:p>
          <a:p xmlns:a="http://schemas.openxmlformats.org/drawingml/2006/main">
            <a:r>
              <a:t>Use Cases and System Model identify the people, system boundaries, and important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Evaluate</a:t>
            </a:r>
          </a:p>
          <a:p xmlns:a="http://schemas.openxmlformats.org/drawingml/2006/main">
            <a:r>
              <a:t>Benchmarks and Test Strategy define how usefulness, accuracy, and reliability will be judged.</a:t>
            </a:r>
          </a:p>
          <a:p xmlns:a="http://schemas.openxmlformats.org/drawingml/2006/main">
            <a:r>
              <a:t>High-Level Architecture assigns responsibilities across the browser, server, storage, and AI.</a:t>
            </a:r>
          </a:p>
          <a:p xmlns:a="http://schemas.openxmlformats.org/drawingml/2006/main">
            <a:r>
              <a:t>The Working Proof of Concept tests whether that architecture can produce useful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Build</a:t>
            </a:r>
          </a:p>
          <a:p xmlns:a="http://schemas.openxmlformats.org/drawingml/2006/main">
            <a:r>
              <a:t>Planning turns the validated direction into small, reviewable increments.</a:t>
            </a:r>
          </a:p>
          <a:p xmlns:a="http://schemas.openxmlformats.org/drawingml/2006/main">
            <a:r>
              <a:t>Low-Level Design and Specifications define interfaces, records, states, and component behaviour.</a:t>
            </a:r>
          </a:p>
          <a:p xmlns:a="http://schemas.openxmlformats.org/drawingml/2006/main">
            <a:r>
              <a:t>Build, Code, and Test implements those decisions and checks each increment.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Operate and Learn</a:t>
            </a:r>
          </a:p>
          <a:p xmlns:a="http://schemas.openxmlformats.org/drawingml/2006/main">
            <a:r>
              <a:t>Deployment, Infrastructure, and Operational Reality expose the system to real constraints.</a:t>
            </a:r>
          </a:p>
          <a:p xmlns:a="http://schemas.openxmlformats.org/drawingml/2006/main">
            <a:r>
              <a:t>Review, Human QA, and Release confirm that the result is useful and ready for its audience.</a:t>
            </a:r>
          </a:p>
          <a:p xmlns:a="http://schemas.openxmlformats.org/drawingml/2006/main">
            <a:r>
              <a:t>Observability and Learning turn runtime evidence, defects, and feedback into better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 to the technical story</a:t>
            </a:r>
          </a:p>
          <a:p xmlns:a="http://schemas.openxmlformats.org/drawingml/2006/main">
            <a:r>
              <a:t>The next slides move from the framework into the actual Items Vision implementation.</a:t>
            </a:r>
          </a:p>
          <a:p xmlns:a="http://schemas.openxmlformats.org/drawingml/2006/main">
            <a:r>
              <a:t>They follow a shelf photo from the browser to the server, storage, AI analysis, and report.</a:t>
            </a:r>
          </a:p>
          <a:p xmlns:a="http://schemas.openxmlformats.org/drawingml/2006/main">
            <a:r>
              <a:t>Later sections return to benchmarks, tests, deployment evidence, human review, and learning.</a:t>
            </a:r>
          </a:p>
          <a:p xmlns:a="http://schemas.openxmlformats.org/drawingml/2006/main">
            <a:r>
              <a:t>The purpose is not to claim that a diagram proves the architecture.</a:t>
            </a:r>
          </a:p>
          <a:p xmlns:a="http://schemas.openxmlformats.org/drawingml/2006/main">
            <a:r>
              <a:t>The purpose is to show how decisions and evidence accumulate across the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one continuous horizontal lifecycle divided into four clearly labelled phases.</a:t>
            </a:r>
          </a:p>
          <a:p xmlns:a="http://schemas.openxmlformats.org/drawingml/2006/main">
            <a:r>
              <a:t>Place three numbered steps in each phase and retain the full step names.</a:t>
            </a:r>
          </a:p>
          <a:p xmlns:a="http://schemas.openxmlformats.org/drawingml/2006/main">
            <a:r>
              <a:t>Use a return path from step 12 toward the beginning to represent continued learning.</a:t>
            </a:r>
          </a:p>
          <a:p xmlns:a="http://schemas.openxmlformats.org/drawingml/2006/main">
            <a:r>
              <a:t>Keep the composition readable as an overview rather than a detailed process diagram.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AI Shop Through the 12-Step SDLC2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005-sdlc2-framework/005-visual.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01 — Intent: Items Vision — From Image to Item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VISTA Agentic Visual Products Recognition is the presentation title.</a:t>
            </a:r>
          </a:p>
          <a:p xmlns:a="http://schemas.openxmlformats.org/drawingml/2006/main">
            <a:r>
              <a:t>It explains AI Shop's image uploader and analyser implementation.</a:t>
            </a:r>
          </a:p>
          <a:p xmlns:a="http://schemas.openxmlformats.org/drawingml/2006/main">
            <a:r>
              <a:t>The intended outcome is simple: understand how a photo becomes an item report.</a:t>
            </a:r>
          </a:p>
          <a:p xmlns:a="http://schemas.openxmlformats.org/drawingml/2006/main">
            <a:r>
              <a:t>The audience should follow the story without needing to read source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endpoint: the server's front door</a:t>
            </a:r>
          </a:p>
          <a:p xmlns:a="http://schemas.openxmlformats.org/drawingml/2006/main">
            <a:r>
              <a:t>The API entry point is `/v1/agent/analyses`.</a:t>
            </a:r>
          </a:p>
          <a:p xmlns:a="http://schemas.openxmlformats.org/drawingml/2006/main">
            <a:r>
              <a:t>An endpoint is an address where the interface asks the server to do something.</a:t>
            </a:r>
          </a:p>
          <a:p xmlns:a="http://schemas.openxmlformats.org/drawingml/2006/main">
            <a:r>
              <a:t>`POST /v1/agent/analyses` uploads an image and creates its analysis record.</a:t>
            </a:r>
          </a:p>
          <a:p xmlns:a="http://schemas.openxmlformats.org/drawingml/2006/main">
            <a:r>
              <a:t>`POST /v1/agent/analyses/{id}/run` requests analysis of a saved image.</a:t>
            </a:r>
          </a:p>
          <a:p xmlns:a="http://schemas.openxmlformats.org/drawingml/2006/main">
            <a:r>
              <a:t>`GET /v1/agent/analyses/{id}` retrieves its recorded status and result.</a:t>
            </a:r>
          </a:p>
          <a:p xmlns:a="http://schemas.openxmlformats.org/drawingml/2006/main">
            <a:r>
              <a:t>Upload, analysis, and reading results have distinct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user interface: what the person sees</a:t>
            </a:r>
          </a:p>
          <a:p xmlns:a="http://schemas.openxmlformats.org/drawingml/2006/main">
            <a:r>
              <a:t>The browser's Agent page lets an authorised user sign in and upload a JPEG photo.</a:t>
            </a:r>
          </a:p>
          <a:p xmlns:a="http://schemas.openxmlformats.org/drawingml/2006/main">
            <a:r>
              <a:t>It guides the user through uploading, waiting, and reading the result.</a:t>
            </a:r>
          </a:p>
          <a:p xmlns:a="http://schemas.openxmlformats.org/drawingml/2006/main">
            <a:r>
              <a:t>The report shows identified products and their visible facing counts.</a:t>
            </a:r>
          </a:p>
          <a:p xmlns:a="http://schemas.openxmlformats.org/drawingml/2006/main">
            <a:r>
              <a:t>A facing is a visible product front; it does not reveal stock hidden behind it.</a:t>
            </a:r>
          </a:p>
          <a:p xmlns:a="http://schemas.openxmlformats.org/drawingml/2006/main">
            <a:r>
              <a:t>The interface also offers retry or refinement where the record allows it.</a:t>
            </a:r>
          </a:p>
          <a:p xmlns:a="http://schemas.openxmlformats.org/drawingml/2006/main">
            <a:r>
              <a:t>The Agent uses visual evidence and learned product knowledge to identify and count visible items.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server side: where the work is coordinated</a:t>
            </a:r>
          </a:p>
          <a:p xmlns:a="http://schemas.openxmlformats.org/drawingml/2006/main">
            <a:r>
              <a:t>The server checks identity and permission before accepting a request.</a:t>
            </a:r>
          </a:p>
          <a:p xmlns:a="http://schemas.openxmlformats.org/drawingml/2006/main">
            <a:r>
              <a:t>Cloud Storage holds the source image; Firestore holds status and reports.</a:t>
            </a:r>
          </a:p>
          <a:p xmlns:a="http://schemas.openxmlformats.org/drawingml/2006/main">
            <a:r>
              <a:t>The server submits the image and analysis instructions to OpenAI.</a:t>
            </a:r>
          </a:p>
          <a:p xmlns:a="http://schemas.openxmlformats.org/drawingml/2006/main">
            <a:r>
              <a:t>The background implementation collects the result through server-side tasks.</a:t>
            </a:r>
          </a:p>
          <a:p xmlns:a="http://schemas.openxmlformats.org/drawingml/2006/main">
            <a:r>
              <a:t>The browser reads progress; it does not have to keep the AI request alive.</a:t>
            </a:r>
          </a:p>
          <a:p xmlns:a="http://schemas.openxmlformats.org/drawingml/2006/main">
            <a:r>
              <a:t>Success and failure are recorded so the user can see what happened.</a:t>
            </a:r>
          </a:p>
          <a:p xmlns:a="http://schemas.openxmlformats.org/drawingml/2006/main">
            <a:r>
              <a:t>Model observations remain subject to uncertainty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Presentation Agenda</a:t>
            </a:r>
          </a:p>
          <a:p xmlns:a="http://schemas.openxmlformats.org/drawingml/2006/main">
            <a:r>
              <a:t>The sections take inspiration from SDLC2 and follow the presentation's own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Context and Domain: the shelf-photo problem and why item recognition matters.</a:t>
            </a:r>
          </a:p>
          <a:p xmlns:a="http://schemas.openxmlformats.org/drawingml/2006/main">
            <a:r>
              <a:t>2. Intent: what the system should achieve and what the audience will understand.</a:t>
            </a:r>
          </a:p>
          <a:p xmlns:a="http://schemas.openxmlformats.org/drawingml/2006/main">
            <a:r>
              <a:t>3. System and Use Cases: follow one user's photo from upload to report.</a:t>
            </a:r>
          </a:p>
          <a:p xmlns:a="http://schemas.openxmlformats.org/drawingml/2006/main">
            <a:r>
              <a:t>4. Success Criteria: explain how we assess useful, accurate, and reliable results.</a:t>
            </a:r>
          </a:p>
          <a:p xmlns:a="http://schemas.openxmlformats.org/drawingml/2006/main">
            <a:r>
              <a:t>5. Visual Example: show the uploaded image, interface states, and resulting report.</a:t>
            </a:r>
          </a:p>
          <a:p xmlns:a="http://schemas.openxmlformats.org/drawingml/2006/main">
            <a:r>
              <a:t>6. Solution Architecture: map the interface, endpoints, storage, AI, and data flow.</a:t>
            </a:r>
          </a:p>
          <a:p xmlns:a="http://schemas.openxmlformats.org/drawingml/2006/main">
            <a:r>
              <a:t>7. Low-Level Design and Code: connect key requests and processing steps to code.</a:t>
            </a:r>
          </a:p>
          <a:p xmlns:a="http://schemas.openxmlformats.org/drawingml/2006/main">
            <a:r>
              <a:t>8. Operational Reality: show what is implemented, deployed, and verified in use.</a:t>
            </a:r>
          </a:p>
          <a:p xmlns:a="http://schemas.openxmlformats.org/drawingml/2006/main">
            <a:r>
              <a:t>9. Observability and Learning: explain diagnostics, failures, and lessons learned.</a:t>
            </a:r>
          </a:p>
          <a:p xmlns:a="http://schemas.openxmlformats.org/drawingml/2006/main">
            <a:r>
              <a:t>10. Future Steps: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Start with the user uploading a photo through the browser interface.</a:t>
            </a:r>
          </a:p>
          <a:p xmlns:a="http://schemas.openxmlformats.org/drawingml/2006/main">
            <a:r>
              <a:t>Follow the request to the server, which coordinates storage and AI analysis.</a:t>
            </a:r>
          </a:p>
          <a:p xmlns:a="http://schemas.openxmlformats.org/drawingml/2006/main">
            <a:r>
              <a:t>The server keeps the source image and analysis record, then saves the outcome.</a:t>
            </a:r>
          </a:p>
          <a:p xmlns:a="http://schemas.openxmlformats.org/drawingml/2006/main">
            <a:r>
              <a:t>Return to the browser, where the user reads status and the saved item report.</a:t>
            </a:r>
          </a:p>
          <a:p xmlns:a="http://schemas.openxmlformats.org/drawingml/2006/main">
            <a:r>
              <a:t>The diagram simplifies the flow; collection tasks and individual API calls come later.</a:t>
            </a:r>
          </a:p>
          <a:p xmlns:a="http://schemas.openxmlformats.org/drawingml/2006/main">
            <a:r>
              <a:t>The SVG is the editable visual source; the PNG is its presentation render.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VISTA Agentic Visual Products Recognition.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01-intent/01-visual.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02 - Main Use Cases and System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and VISTA are related iPhone-led product experiences.</a:t>
            </a:r>
          </a:p>
          <a:p xmlns:a="http://schemas.openxmlformats.org/drawingml/2006/main">
            <a:r>
              <a:t>They serve different people and decisions while sharing much of the server foundation.</a:t>
            </a:r>
          </a:p>
          <a:p xmlns:a="http://schemas.openxmlformats.org/drawingml/2006/main">
            <a:r>
              <a:t>This slide introduces those use cases before the presentation explains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1: AI Shop shopping experience</a:t>
            </a:r>
          </a:p>
          <a:p xmlns:a="http://schemas.openxmlformats.org/drawingml/2006/main">
            <a:r>
              <a:t>A shopper uses the AI Shop iPhone app while considering a product or shelf.</a:t>
            </a:r>
          </a:p>
          <a:p xmlns:a="http://schemas.openxmlformats.org/drawingml/2006/main">
            <a:r>
              <a:t>The phone captures visual evidence and can perform part of the image processing locally.</a:t>
            </a:r>
          </a:p>
          <a:p xmlns:a="http://schemas.openxmlformats.org/drawingml/2006/main">
            <a:r>
              <a:t>Server-side AI adds capabilities that are better protected, coordinated, or processed remotely.</a:t>
            </a:r>
          </a:p>
          <a:p xmlns:a="http://schemas.openxmlformats.org/drawingml/2006/main">
            <a:r>
              <a:t>The result helps the shopper make a better-informed purchasing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earlier AI Shop product path.</a:t>
            </a:r>
          </a:p>
          <a:p xmlns:a="http://schemas.openxmlformats.org/drawingml/2006/main">
            <a:r>
              <a:t>Its iPhone client and individual server endpoints remain relevant to the complete product intent.</a:t>
            </a:r>
          </a:p>
          <a:p xmlns:a="http://schemas.openxmlformats.org/drawingml/2006/main">
            <a:r>
              <a:t>Later slides should state which functions are implemented and which remain immature.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2: VISTA shelf inspection</a:t>
            </a:r>
          </a:p>
          <a:p xmlns:a="http://schemas.openxmlformats.org/drawingml/2006/main">
            <a:r>
              <a:t>A retail team uses VISTA to inspect products and presentation across store shelves.</a:t>
            </a:r>
          </a:p>
          <a:p xmlns:a="http://schemas.openxmlformats.org/drawingml/2006/main">
            <a:r>
              <a:t>The goal is to identify visible products, count facings, and retain evidence for review.</a:t>
            </a:r>
          </a:p>
          <a:p xmlns:a="http://schemas.openxmlformats.org/drawingml/2006/main">
            <a:r>
              <a:t>Today, a person can upload a shelf photograph or video manually through `agent.html`.</a:t>
            </a:r>
          </a:p>
          <a:p xmlns:a="http://schemas.openxmlformats.org/drawingml/2006/main">
            <a:r>
              <a:t>The web Agent provides the more robust current analysis and review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intended destination is integration with the separate VISTA iPhone application.</a:t>
            </a:r>
          </a:p>
          <a:p xmlns:a="http://schemas.openxmlformats.org/drawingml/2006/main">
            <a:r>
              <a:t>That application would capture shelf evidence during an inspection and use the same server capabilities.</a:t>
            </a:r>
          </a:p>
          <a:p xmlns:a="http://schemas.openxmlformats.org/drawingml/2006/main">
            <a:r>
              <a:t>The presentation must label this integration as intended until end-to-end evidence confirms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Shared system model</a:t>
            </a:r>
          </a:p>
          <a:p xmlns:a="http://schemas.openxmlformats.org/drawingml/2006/main">
            <a:r>
              <a:t>Both use cases need secure access, image intake, AI coordination, and result handling.</a:t>
            </a:r>
          </a:p>
          <a:p xmlns:a="http://schemas.openxmlformats.org/drawingml/2006/main">
            <a:r>
              <a:t>The server protects provider credentials and centralises reusable analysis behaviour.</a:t>
            </a:r>
          </a:p>
          <a:p xmlns:a="http://schemas.openxmlformats.org/drawingml/2006/main">
            <a:r>
              <a:t>Shared capabilities reduce duplicated implementation across AI Shop and VISTA.</a:t>
            </a:r>
          </a:p>
          <a:p xmlns:a="http://schemas.openxmlformats.org/drawingml/2006/main">
            <a:r>
              <a:t>The products can still use different prompts, records, interfaces, and decision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infrastructure does not make the two products identical.</a:t>
            </a:r>
          </a:p>
          <a:p xmlns:a="http://schemas.openxmlformats.org/drawingml/2006/main">
            <a:r>
              <a:t>AI Shop supports shopper decisions.</a:t>
            </a:r>
          </a:p>
          <a:p xmlns:a="http://schemas.openxmlformats.org/drawingml/2006/main">
            <a:r>
              <a:t>VISTA supports shelf and store inspection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</a:t>
            </a:r>
          </a:p>
          <a:p xmlns:a="http://schemas.openxmlformats.org/drawingml/2006/main">
            <a:r>
              <a:t>The next slides can follow each user path in more detail.</a:t>
            </a:r>
          </a:p>
          <a:p xmlns:a="http://schemas.openxmlformats.org/drawingml/2006/main">
            <a:r>
              <a:t>The Low-Level Design and Architecture section will focus on the web Vision Agent.</a:t>
            </a:r>
          </a:p>
          <a:p xmlns:a="http://schemas.openxmlformats.org/drawingml/2006/main">
            <a:r>
              <a:t>It will also show how the earlier endpoints and iPhone clients relate to the common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Place the shared vision service as one horizontal foundation.</a:t>
            </a:r>
          </a:p>
          <a:p xmlns:a="http://schemas.openxmlformats.org/drawingml/2006/main">
            <a:r>
              <a:t>Above it, show the AI Shop iPhone shopper path and the VISTA inspection path.</a:t>
            </a:r>
          </a:p>
          <a:p xmlns:a="http://schemas.openxmlformats.org/drawingml/2006/main">
            <a:r>
              <a:t>Within VISTA, distinguish the current manual web Agent from the intended iPhone integration.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Two Product Use Cases Share One Vision Foundation.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02-user-journey/02-visual.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03 - What AI Shop Must Improve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Benchmarks begin with the useful processes people already have.</a:t>
            </a:r>
          </a:p>
          <a:p xmlns:a="http://schemas.openxmlformats.org/drawingml/2006/main">
            <a:r>
              <a:t>An AI response alone does not establish that AI Shop improves those processes.</a:t>
            </a:r>
          </a:p>
          <a:p xmlns:a="http://schemas.openxmlformats.org/drawingml/2006/main">
            <a:r>
              <a:t>The repository documents three practical baselines.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shopping assistance</a:t>
            </a:r>
          </a:p>
          <a:p xmlns:a="http://schemas.openxmlformats.org/drawingml/2006/main">
            <a:r>
              <a:t>A shopper can already photograph a product and ask ChatGPT for advice.</a:t>
            </a:r>
          </a:p>
          <a:p xmlns:a="http://schemas.openxmlformats.org/drawingml/2006/main">
            <a:r>
              <a:t>That process can consider quality, price, preferences, and purchase context.</a:t>
            </a:r>
          </a:p>
          <a:p xmlns:a="http://schemas.openxmlformats.org/drawingml/2006/main">
            <a:r>
              <a:t>Its friction comes from moving between tools and repeatedly explaining the situation.</a:t>
            </a:r>
          </a:p>
          <a:p xmlns:a="http://schemas.openxmlformats.org/drawingml/2006/main">
            <a:r>
              <a:t>AI Shop should require fewer actions and reuse relevant shopping context.</a:t>
            </a:r>
          </a:p>
          <a:p xmlns:a="http://schemas.openxmlformats.org/drawingml/2006/main">
            <a:r>
              <a:t>The recommendation should become clear faster and with less reading or typing.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Human product identification</a:t>
            </a:r>
          </a:p>
          <a:p xmlns:a="http://schemas.openxmlformats.org/drawingml/2006/main">
            <a:r>
              <a:t>A person can inspect labels, packaging, and surrounding context directly.</a:t>
            </a:r>
          </a:p>
          <a:p xmlns:a="http://schemas.openxmlformats.org/drawingml/2006/main">
            <a:r>
              <a:t>Human judgment needs no application, server, or network connection.</a:t>
            </a:r>
          </a:p>
          <a:p xmlns:a="http://schemas.openxmlformats.org/drawingml/2006/main">
            <a:r>
              <a:t>Dense scenes still take time and can hide small or obscured products.</a:t>
            </a:r>
          </a:p>
          <a:p xmlns:a="http://schemas.openxmlformats.org/drawingml/2006/main">
            <a:r>
              <a:t>AI Shop should organise visible products while declaring uncertain identification.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shelf inspection and review</a:t>
            </a:r>
          </a:p>
          <a:p xmlns:a="http://schemas.openxmlformats.org/drawingml/2006/main">
            <a:r>
              <a:t>An inspector can photograph a shelf and record observations in notes or a spreadsheet.</a:t>
            </a:r>
          </a:p>
          <a:p xmlns:a="http://schemas.openxmlformats.org/drawingml/2006/main">
            <a:r>
              <a:t>A second person can compare those findings with the original photograph.</a:t>
            </a:r>
          </a:p>
          <a:p xmlns:a="http://schemas.openxmlformats.org/drawingml/2006/main">
            <a:r>
              <a:t>The manual process becomes difficult when evidence, findings, and corrections separate.</a:t>
            </a:r>
          </a:p>
          <a:p xmlns:a="http://schemas.openxmlformats.org/drawingml/2006/main">
            <a:r>
              <a:t>AI Shop should preserve one traceable relationship across those materials.</a:t>
            </a:r>
          </a:p>
          <a:p xmlns:a="http://schemas.openxmlformats.org/drawingml/2006/main">
            <a:r>
              <a:t>Reviewer identity, decisions, corrections, and timing should remain attributable.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Benchmark principle</a:t>
            </a:r>
          </a:p>
          <a:p xmlns:a="http://schemas.openxmlformats.org/drawingml/2006/main">
            <a:r>
              <a:t>The application should reduce manual effort without replacing human authority.</a:t>
            </a:r>
          </a:p>
          <a:p xmlns:a="http://schemas.openxmlformats.org/drawingml/2006/main">
            <a:r>
              <a:t>Each product use case needs its own comparison with the process it intends to improve.</a:t>
            </a:r>
          </a:p>
          <a:p xmlns:a="http://schemas.openxmlformats.org/drawingml/2006/main">
            <a:r>
              <a:t>AI Shop shopping support and VISTA inspection therefore share methods but not one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Evidence boundary</a:t>
            </a:r>
          </a:p>
          <a:p xmlns:a="http://schemas.openxmlformats.org/drawingml/2006/main">
            <a:r>
              <a:t>These documents define comparison standards rather than measured acceptance thresholds.</a:t>
            </a:r>
          </a:p>
          <a:p xmlns:a="http://schemas.openxmlformats.org/drawingml/2006/main">
            <a:r>
              <a:t>The presentation should not claim that AI Shop already beats every baseline.</a:t>
            </a:r>
          </a:p>
          <a:p xmlns:a="http://schemas.openxmlformats.org/drawingml/2006/main">
            <a:r>
              <a:t>Later slides will show current recognition evidence and the remaining verification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three existing human workflows feeding one evaluation question.</a:t>
            </a:r>
          </a:p>
          <a:p xmlns:a="http://schemas.openxmlformats.org/drawingml/2006/main">
            <a:r>
              <a:t>Make the outcome about reduced effort, preserved evidence, and human authority.</a:t>
            </a:r>
          </a:p>
          <a:p xmlns:a="http://schemas.openxmlformats.org/drawingml/2006/main">
            <a:r>
              <a:t>Avoid model names and implementation details on this slide.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What AI Shop Must Improve.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03-benchmark-purpose/03-visual.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031 - One Shelf, Three Different Readings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uses the actual dense pharmacy shelf and recorded analysis artifacts.</a:t>
            </a:r>
          </a:p>
          <a:p xmlns:a="http://schemas.openxmlformats.org/drawingml/2006/main">
            <a:r>
              <a:t>The concrete disagreement explains why benchmark design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original evidence</a:t>
            </a:r>
          </a:p>
          <a:p xmlns:a="http://schemas.openxmlformats.org/drawingml/2006/main">
            <a:r>
              <a:t>All three readings use the same 1152 by 1536 shelf photograph.</a:t>
            </a:r>
          </a:p>
          <a:p xmlns:a="http://schemas.openxmlformats.org/drawingml/2006/main">
            <a:r>
              <a:t>It contains small labels, occlusion, stacked products, edge cropping, and a carton.</a:t>
            </a:r>
          </a:p>
          <a:p xmlns:a="http://schemas.openxmlformats.org/drawingml/2006/main">
            <a:r>
              <a:t>Those conditions make both identification and counting difficult.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1: provisional reference</a:t>
            </a:r>
          </a:p>
          <a:p xmlns:a="http://schemas.openxmlformats.org/drawingml/2006/main">
            <a:r>
              <a:t>The numbered overlay maps 42 product groups across four shelf regions.</a:t>
            </a:r>
          </a:p>
          <a:p xmlns:a="http://schemas.openxmlformats.org/drawingml/2006/main">
            <a:r>
              <a:t>Its associated GPT report counts 94 visible physical units.</a:t>
            </a:r>
          </a:p>
          <a:p xmlns:a="http://schemas.openxmlformats.org/drawingml/2006/main">
            <a:r>
              <a:t>This reference was obtained by hand from GPT and is not human-approved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2: Agent first run</a:t>
            </a:r>
          </a:p>
          <a:p xmlns:a="http://schemas.openxmlformats.org/drawingml/2006/main">
            <a:r>
              <a:t>The deployed Agent returned 23 product rows totalling 62 facings.</a:t>
            </a:r>
          </a:p>
          <a:p xmlns:a="http://schemas.openxmlformats.org/drawingml/2006/main">
            <a:r>
              <a:t>It also recorded three uncertain entries.</a:t>
            </a:r>
          </a:p>
          <a:p xmlns:a="http://schemas.openxmlformats.org/drawingml/2006/main">
            <a:r>
              <a:t>The run completed and produced a reviewable report, but benchmark parity was not demonstrated.</a:t>
            </a:r>
          </a:p>
          <a:p xmlns:a="http://schemas.openxmlformats.org/drawingml/2006/main">
            <a:r>
              <a:t>Some products were missed, grouped differently, or given an incorrect brand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3: independent visual review</a:t>
            </a:r>
          </a:p>
          <a:p xmlns:a="http://schemas.openxmlformats.org/drawingml/2006/main">
            <a:r>
              <a:t>A separate shelf-by-shelf reading estimated about 57 front facings.</a:t>
            </a:r>
          </a:p>
          <a:p xmlns:a="http://schemas.openxmlformats.org/drawingml/2006/main">
            <a:r>
              <a:t>It also identified 21 units stacked behind those fronts.</a:t>
            </a:r>
          </a:p>
          <a:p xmlns:a="http://schemas.openxmlformats.org/drawingml/2006/main">
            <a:r>
              <a:t>That reading remained a model-assisted opinion rather than verified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Why the totals disagree</a:t>
            </a:r>
          </a:p>
          <a:p xmlns:a="http://schemas.openxmlformats.org/drawingml/2006/main">
            <a:r>
              <a:t>The provisional reference counts visible physical units.</a:t>
            </a:r>
          </a:p>
          <a:p xmlns:a="http://schemas.openxmlformats.org/drawingml/2006/main">
            <a:r>
              <a:t>The Agent contract asks for front facings.</a:t>
            </a:r>
          </a:p>
          <a:p xmlns:a="http://schemas.openxmlformats.org/drawingml/2006/main">
            <a:r>
              <a:t>The independent reading reports both measures separately.</a:t>
            </a:r>
          </a:p>
          <a:p xmlns:a="http://schemas.openxmlformats.org/drawingml/2006/main">
            <a:r>
              <a:t>Product grouping and identity depth also differ across the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Dividing 62 by 94 would produce a misleading number, not an accuracy score.</a:t>
            </a:r>
          </a:p>
          <a:p xmlns:a="http://schemas.openxmlformats.org/drawingml/2006/main">
            <a:r>
              <a:t>The comparison must first fix the counting rule and required identification level.</a:t>
            </a:r>
          </a:p>
          <a:p xmlns:a="http://schemas.openxmlformats.org/drawingml/2006/main">
            <a:r>
              <a:t>A human reviewer must then validate the reference against the source photograph.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the actual photograph, numbered overlay, and Agent screenshot prominently.</a:t>
            </a:r>
          </a:p>
          <a:p xmlns:a="http://schemas.openxmlformats.org/drawingml/2006/main">
            <a:r>
              <a:t>Use the real totals as evidence, with a warning that they answer different questions.</a:t>
            </a:r>
          </a:p>
          <a:p xmlns:a="http://schemas.openxmlformats.org/drawingml/2006/main">
            <a:r>
              <a:t>Keep the conclusion simple: define and verify the reference before scoring the model.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One Shelf, Three Different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031-vision-quality-benchmark/031-visual.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032 - Vision Quality and System Reliability Need Different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can complete a request while producing a poor visual interpretation.</a:t>
            </a:r>
          </a:p>
          <a:p xmlns:a="http://schemas.openxmlformats.org/drawingml/2006/main">
            <a:r>
              <a:t>It can also identify products well while the surrounding application fails.</a:t>
            </a:r>
          </a:p>
          <a:p xmlns:a="http://schemas.openxmlformats.org/drawingml/2006/main">
            <a:r>
              <a:t>The test strategy therefore needs two connected but distinct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Vision-quality experiments</a:t>
            </a:r>
          </a:p>
          <a:p xmlns:a="http://schemas.openxmlformats.org/drawingml/2006/main">
            <a:r>
              <a:t>Start with the same original image and a human-verified reference inventory.</a:t>
            </a:r>
          </a:p>
          <a:p xmlns:a="http://schemas.openxmlformats.org/drawingml/2006/main">
            <a:r>
              <a:t>Freeze the counting contract, identity depth, prompt, output schema, and reference revision.</a:t>
            </a:r>
          </a:p>
          <a:p xmlns:a="http://schemas.openxmlformats.org/drawingml/2006/main">
            <a:r>
              <a:t>Change one factor at a time so the comparison can support a causal conclusion.</a:t>
            </a:r>
          </a:p>
          <a:p xmlns:a="http://schemas.openxmlformats.org/drawingml/2006/main">
            <a:r>
              <a:t>Possible factors include model, reasoning setting, context, image detail, and prompt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identification errors, missed products, incorrect counts, and invented products.</a:t>
            </a:r>
          </a:p>
          <a:p xmlns:a="http://schemas.openxmlformats.org/drawingml/2006/main">
            <a:r>
              <a:t>Score responsible uncertainty separately from confident incorrect identification.</a:t>
            </a:r>
          </a:p>
          <a:p xmlns:a="http://schemas.openxmlformats.org/drawingml/2006/main">
            <a:r>
              <a:t>Retain requested and returned model identifiers, usage, latency, cost, and retries.</a:t>
            </a:r>
          </a:p>
          <a:p xmlns:a="http://schemas.openxmlformats.org/drawingml/2006/main">
            <a:r>
              <a:t>Include human review time because cheap output can become expensive to correct.</a:t>
            </a:r>
          </a:p>
          <a:p xmlns:a="http://schemas.openxmlformats.org/drawingml/2006/main">
            <a:r>
              <a:t>Repeat promising settings and then test them on unseen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System-reliability tests</a:t>
            </a:r>
          </a:p>
          <a:p xmlns:a="http://schemas.openxmlformats.org/drawingml/2006/main">
            <a:r>
              <a:t>Verify authentication and the separation of each account's analyses.</a:t>
            </a:r>
          </a:p>
          <a:p xmlns:a="http://schemas.openxmlformats.org/drawingml/2006/main">
            <a:r>
              <a:t>Confirm that uploads preserve the original source evidence.</a:t>
            </a:r>
          </a:p>
          <a:p xmlns:a="http://schemas.openxmlformats.org/drawingml/2006/main">
            <a:r>
              <a:t>Exercise recorded progress, browser refresh, terminal states, and result retrieval.</a:t>
            </a:r>
          </a:p>
          <a:p xmlns:a="http://schemas.openxmlformats.org/drawingml/2006/main">
            <a:r>
              <a:t>Refinement and retry must create traceable runs without erasing earlier evidence.</a:t>
            </a:r>
          </a:p>
          <a:p xmlns:a="http://schemas.openxmlformats.org/drawingml/2006/main">
            <a:r>
              <a:t>Failures should retain safe diagnostic references without exposing private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Video adds its own requirements.</a:t>
            </a:r>
          </a:p>
          <a:p xmlns:a="http://schemas.openxmlformats.org/drawingml/2006/main">
            <a:r>
              <a:t>The system must handle upload interruption, frame extraction, analysis, and playback.</a:t>
            </a:r>
          </a:p>
          <a:p xmlns:a="http://schemas.openxmlformats.org/drawingml/2006/main">
            <a:r>
              <a:t>Sampled frames represent one continuous scan rather than independent photographs.</a:t>
            </a:r>
          </a:p>
          <a:p xmlns:a="http://schemas.openxmlformats.org/drawingml/2006/main">
            <a:r>
              <a:t>The result should retain frame provenance and avoid counting the same facing twice.</a:t>
            </a:r>
          </a:p>
          <a:p xmlns:a="http://schemas.openxmlformats.org/drawingml/2006/main">
            <a:r>
              <a:t>Refresh, task replay, and reconnection should not create duplicate analyses or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Release boundary</a:t>
            </a:r>
          </a:p>
          <a:p xmlns:a="http://schemas.openxmlformats.org/drawingml/2006/main">
            <a:r>
              <a:t>Automated tests, manual QA, and model-quality benchmarks answer different questions.</a:t>
            </a:r>
          </a:p>
          <a:p xmlns:a="http://schemas.openxmlformats.org/drawingml/2006/main">
            <a:r>
              <a:t>No single green check proves visual accuracy, deployment, or human acceptance.</a:t>
            </a:r>
          </a:p>
          <a:p xmlns:a="http://schemas.openxmlformats.org/drawingml/2006/main">
            <a:r>
              <a:t>A release decision needs evidence from both quality and reliability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two test rails running in parallel toward one evidence-based release decision.</a:t>
            </a:r>
          </a:p>
          <a:p xmlns:a="http://schemas.openxmlformats.org/drawingml/2006/main">
            <a:r>
              <a:t>Use distinct colours for visual interpretation and application reliability.</a:t>
            </a:r>
          </a:p>
          <a:p xmlns:a="http://schemas.openxmlformats.org/drawingml/2006/main">
            <a:r>
              <a:t>Join the rails only at the final decision gate.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companion for Vision Quality and System Reliability Need Different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Continue the explanation from the preceding editable text slide. This slide is the rendered visual artifact from 032-test-strategy/032-visual. The source narrative and detailed presenter guidance remain in the preceding slide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b8984367143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1393a42c674379" /><Relationship Type="http://schemas.openxmlformats.org/officeDocument/2006/relationships/slideLayout" Target="/ppt/slideLayouts/slideLayout1.xml" Id="R2353b80a81cd4a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53b80a81cd4a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9ebc20d954a97" /><Relationship Type="http://schemas.openxmlformats.org/officeDocument/2006/relationships/notesSlide" Target="/ppt/notesSlides/notesSlide1.xml" Id="R8f754e8773b94f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2760acd734cdb" /><Relationship Type="http://schemas.openxmlformats.org/officeDocument/2006/relationships/image" Target="/ppt/media/image.png" Id="R16c279f7c8064199" /><Relationship Type="http://schemas.openxmlformats.org/officeDocument/2006/relationships/notesSlide" Target="/ppt/notesSlides/notesSlide2.xml" Id="Rd41fb8e0640343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eb1d22ab44983" /><Relationship Type="http://schemas.openxmlformats.org/officeDocument/2006/relationships/notesSlide" Target="/ppt/notesSlides/notesSlide3.xml" Id="Rfc7278dfe48349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b9f9d528f40de" /><Relationship Type="http://schemas.openxmlformats.org/officeDocument/2006/relationships/image" Target="/ppt/media/image2.png" Id="R69ef98253c3a4860" /><Relationship Type="http://schemas.openxmlformats.org/officeDocument/2006/relationships/notesSlide" Target="/ppt/notesSlides/notesSlide4.xml" Id="R05f70cf7027b43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9171a50504817" /><Relationship Type="http://schemas.openxmlformats.org/officeDocument/2006/relationships/notesSlide" Target="/ppt/notesSlides/notesSlide5.xml" Id="R35bc15868d1d43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e8d01af3b4f30" /><Relationship Type="http://schemas.openxmlformats.org/officeDocument/2006/relationships/image" Target="/ppt/media/image3.png" Id="R84b7709f3d3a4faa" /><Relationship Type="http://schemas.openxmlformats.org/officeDocument/2006/relationships/notesSlide" Target="/ppt/notesSlides/notesSlide6.xml" Id="Ra5e66bf3528d42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748ce00024b48" /><Relationship Type="http://schemas.openxmlformats.org/officeDocument/2006/relationships/notesSlide" Target="/ppt/notesSlides/notesSlide7.xml" Id="R119a59ce7ab04b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123129f9f4bce" /><Relationship Type="http://schemas.openxmlformats.org/officeDocument/2006/relationships/image" Target="/ppt/media/image4.png" Id="R726ffba64e80483e" /><Relationship Type="http://schemas.openxmlformats.org/officeDocument/2006/relationships/notesSlide" Target="/ppt/notesSlides/notesSlide8.xml" Id="Rb9aa2c98d2f242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da2824a644444" /><Relationship Type="http://schemas.openxmlformats.org/officeDocument/2006/relationships/notesSlide" Target="/ppt/notesSlides/notesSlide9.xml" Id="R5139fe1091f14d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7c5f606fa4bbb" /><Relationship Type="http://schemas.openxmlformats.org/officeDocument/2006/relationships/image" Target="/ppt/media/image5.png" Id="R882a6d8429694201" /><Relationship Type="http://schemas.openxmlformats.org/officeDocument/2006/relationships/notesSlide" Target="/ppt/notesSlides/notesSlide10.xml" Id="Rcd52b9af059b48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7d0b565c6450d" /><Relationship Type="http://schemas.openxmlformats.org/officeDocument/2006/relationships/notesSlide" Target="/ppt/notesSlides/notesSlide11.xml" Id="Rb8c233b4302943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64f58e7a74f36" /><Relationship Type="http://schemas.openxmlformats.org/officeDocument/2006/relationships/image" Target="/ppt/media/image6.png" Id="Rd905e593c4d1434d" /><Relationship Type="http://schemas.openxmlformats.org/officeDocument/2006/relationships/notesSlide" Target="/ppt/notesSlides/notesSlide12.xml" Id="Refee0fedd0a045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3708d17c04111" /><Relationship Type="http://schemas.openxmlformats.org/officeDocument/2006/relationships/notesSlide" Target="/ppt/notesSlides/notesSlide13.xml" Id="Rcf2ab8e4a48942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985dea883418d" /><Relationship Type="http://schemas.openxmlformats.org/officeDocument/2006/relationships/image" Target="/ppt/media/image7.png" Id="R867972186ca046f7" /><Relationship Type="http://schemas.openxmlformats.org/officeDocument/2006/relationships/notesSlide" Target="/ppt/notesSlides/notesSlide14.xml" Id="Re5adbdb03f9446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beb93a2ff466e" /><Relationship Type="http://schemas.openxmlformats.org/officeDocument/2006/relationships/notesSlide" Target="/ppt/notesSlides/notesSlide15.xml" Id="Rcd7f229ff75f4a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8084a445e4a2f" /><Relationship Type="http://schemas.openxmlformats.org/officeDocument/2006/relationships/image" Target="/ppt/media/image8.png" Id="R0d45f9c76ea845b3" /><Relationship Type="http://schemas.openxmlformats.org/officeDocument/2006/relationships/notesSlide" Target="/ppt/notesSlides/notesSlide16.xml" Id="R9a0701234c9348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89BA1-2825-4259-B011-41003E08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D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CD685-E582-466A-A5B9-35498635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808F9-FCB8-4DBB-A4C2-A6CEE273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52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AI SHOP · VISTA · SDLC2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A6BAF-0BC5-4068-97C9-D20DF27D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238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56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VISTA Agentic Visual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Products Recognition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5DCD7-11F1-4A43-B96E-8D044C90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From Shelf Photo to Item Report</a:t>
            </a:r>
          </a:p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User Journey, Architecture, and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C86E5-2FA6-4E96-A437-CD1DD152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353F9-7275-4335-A6D3-C2442465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D1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D1D4"/>
                </a:solidFill>
                <a:latin typeface="Arial"/>
                <a:ea typeface="Arial"/>
                <a:cs typeface="Arial"/>
              </a:rPr>
              <a:t>A real application evaluated through a complete software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4E876-4BAE-4AB8-875D-916FE276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524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232289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279f7c8064199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04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B7801-24CF-4FD8-A6C1-D840BFF2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09F37-81AB-4845-9B0F-6C2E53B6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A8896-5165-451D-87E6-DFC87BD6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866CD-A0E6-4117-9759-795E6F02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Understand What Is on the Shelf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19EE9-2937-43A6-8D45-1E69F1FD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97CCC-8A69-433A-B2E2-370B4BA5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3CDE3-BE64-4FE1-8E7B-B7735139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A7E80-A50C-470A-97E9-45090187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Capture shelf photos as evidence for inspection.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5A7EE-EF22-44D0-9003-BDC59D3F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74057-E5C5-4427-9FDF-F7950BF5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Identify visible products and count their facings.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4D7CC-8437-462B-A96A-2D2B6FFB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17E3B-D857-48DB-ACE7-CBADF58D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Help teams understand shelf presence and changes over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41CF4-5BA9-4998-A268-B93E865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FEA0D-329D-4613-83AA-A10950AA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Support inventory decisions, brand presentation, and sales.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2D294-8F7D-48A2-8427-C229C4D7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143E7-AEBF-4D7A-8BBC-3D18C877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This module turns an uploaded photo into a reviewable item report.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27B93-5D68-4869-A421-E94FC40B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894901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f98253c3a486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93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8709E6-DCA5-44C3-AE06-B402A543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B4A3D-D45F-4321-B947-09D610C1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6F9F7-6F88-4B07-A1F4-FF70A1C6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933C5-3F5A-4E0A-B8D0-C1888CF8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Through the 12-Step SDLC2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FFF97-6175-45CE-AFB4-60F3283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45CFD-744B-450D-9866-232E3778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1E7B2-CDF9-458F-95C4-C44971E2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is both a working application and an SDLC2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FD22F-1BCD-4C3F-BD0C-8241246A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5A769-B21C-4FE3-95EB-3EAED526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CE8D2-7C1F-4028-BC45-60CD9651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7DA6E-BBBB-48DB-8BD2-A69AFE7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1. Business and Technical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A49F8-C427-4AC6-9BB0-D185BFA6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DA1C0-E56F-4391-93E5-FA572808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2.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76869-2C81-48E3-A4AD-06266107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91EBE-0026-4B24-B44B-1F622916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3. Use Cases and System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E5344-A455-44F9-A3BA-6357D205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338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BD83D-9598-4D00-BB5F-59564F43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AC3D6-75F4-4DCB-8A47-DD945EA9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A3B9B-BFF3-476A-A3D1-038D06E0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4. Benchmarks and Test 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BC5AF-CA0F-4614-8CC9-5E5EC460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83B48-5558-462B-9712-5ED5653D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5. High-Level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E16596-7271-456C-A699-43FEC766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E8130-57A4-4E4F-BE89-2FD212D4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6. Working Proof of 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C01E0-7C74-4561-869C-A707B847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1F679-CA68-46EA-97D0-30A5CD00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77FFF-F8AD-4978-9B8D-3AB96BCE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17F44-6AF7-408F-842E-8402C797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7. Planning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B3958-CFCB-4154-AD57-8F89DFE6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09884-F611-4079-BA35-BBF4CD29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8. Low-Level Design and Specifications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E7AD01-081F-44D9-A822-D90A9F63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134CA5-2CBB-4DBC-B6D1-EDB0F1A5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9. Build, Code, and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5B3824-4485-4D04-9538-D566227A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263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37F267-6570-4621-934E-35C44F64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963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Operate and Learn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F06B91-799E-4082-A6AE-74422EC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1FF2C1-6F7B-4C49-A5EA-D7437E7D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3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10. Deployment, Infrastructure, and Operational Reality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D654A8-4DFA-4BF3-A3EB-64821F4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A175C0-39E6-4026-9152-0F29979E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11. Review, Human QA, and Release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68081-9F76-40EA-B641-22CE441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DC35A1-CE5B-4C5F-982D-035DA69E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12. Observability and Learning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36EADE-61CD-4356-BF0D-43AAA5A2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020960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7709f3d3a4fa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834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31234-56B5-4A43-BB9A-B8F48E4F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2EA28-7248-4BD7-988F-1C299761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511B7-6A08-4D9B-9E5A-098078E1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7B896-1A1D-412D-A773-3D15B94D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VISTA Agentic Visual Products Recognition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F8881-40E3-4895-AC36-41F66F80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755C1-3446-41B8-8036-C92B0F1A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9A20F-FB95-4B50-938E-F1CE8E3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From image to item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5A1F8-A744-4B34-9522-64532A3D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5E14-0A46-4190-B3B7-D5703F79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Upload a shelf photo through the browser interface.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66631-4C52-4C16-852E-36F17573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C0E8B-2603-4790-AF56-09D61E8E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server checks access, saves the image, and coordinates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80CED-E51F-42F6-813C-3C151A8F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9C5DB-D164-4AA5-B317-5DE91CB8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AI identifies products and counts visible facings.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8A03F-255C-4F07-95C1-0B4CAD6F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E798F-14F7-493F-A4F2-F5EABE1C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Read progress and the saved report in the browser.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DFA5F-E8D6-49BD-8A0B-FE62B2AB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24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79A08-685B-401E-9D04-68C1BD13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Review the observations: recognition can be uncertain.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CD9C3-431E-451E-99AD-A0549B0B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5576899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ffba64e80483e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780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2B2113-3757-4102-AB42-2BD3EEAB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409C5-6581-44CF-8350-FD6036E0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42A42-02F5-4A44-BE49-09FE5CFF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CC692-DB63-41C9-8D8B-7C94C98E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Two Product Use Cases Share One Vision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42155-2EF9-408C-94B7-63F97BDE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7BB66-E39E-418C-BC2B-BA959C01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57F8B-5774-4D4D-AF0F-6BE008D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AI Shop shopping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DCD53-0C5C-417C-88DC-613F56AC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3C82E-195C-4211-8486-34AB024C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AI Shop iPhone app scans products for shoppers.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F1176-B6DB-4DEC-9888-614863DE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69274-DE27-4A6F-942E-1EF47F63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Image processing can occur on the iPhone and through server-side AI.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461BC-6E42-47F9-A482-5F3BCAFB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6EE61-01F5-4F78-81EF-7F047989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help shoppers make better-informed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624F7-6F68-475B-A7C0-950AB239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5D46B-1C68-4F50-B082-5B73E878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VISTA shelf inspection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C4049-1288-4FFE-93FC-3978549B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8A804-83A7-4A3D-97E6-D295870B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web Agent manually analyses shelf photographs and videos today.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C3D55-7DD9-4830-A3D4-F674322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19D87-CF57-420C-96CE-85919D1E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intended VISTA iPhone app will capture evidence during store inspections.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34AD7-6940-456D-8982-CFB35AA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426CD-43A6-4264-A4CF-C04E124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identify shelf products and count visible facings.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2F2F0-9509-4692-9BA1-C8C0331F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7A31B-7A6C-450D-AC85-4BAEF137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Both experiences reuse common server capabilities while serving different users.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736D6-04A7-4D78-BC7A-40CCE627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7388062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a6d8429694201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786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25EF28-7DC3-4C5C-BB1F-A4E7D5B2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CA8C6-7054-4A85-800D-F156345F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7B85C-0984-450E-B27C-72664EFD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95800-B7FE-43D6-8736-E00510B1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What AI Shop Must Improve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07120-47F3-4CBD-A9F6-2A5375D0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82A61-660B-4D5E-9C15-1EA199E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7A8E4-8FDA-4CB7-9D6C-27FA94E8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must outperform useful human workflows, not merely return an AI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F88C8-A5C4-49AF-8FE7-D6462D56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CFBD1-C258-4FA0-BE20-1DF86C68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Shopping assistance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AAB57-DCE2-491B-A19F-EABE6A3D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36F55-86B2-4378-A6E7-B0D9360E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Reach a decision with less image handling, repeated context, and conversation.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CD8F0-B211-421C-BD15-3BD0C009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D3AC2-66E4-4085-9104-5FAF4067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Product identification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468AF-3643-42B8-9881-20167926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F79F5-ED3C-4595-8B59-78A6F174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Make a complex scene faster to understand while showing uncertainty honestly.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B541B-9BBD-4031-9974-52D13611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73D32-AF33-448A-94D8-0068DC3A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9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Shelf inspection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232D0-D1DA-49E8-84AF-A4F0C1C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BCB0F-33DB-43A3-878E-6C8228FB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Keep the source image, AI findings, corrections, reviewer, and timing connected.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05CB3-7CE4-4A6E-B381-7DFC8682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42932-3DCE-440A-AA12-4F66A35A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application should reduce effort without weakening human judgment.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05074-E256-4E67-9D2E-EF5E45CF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342173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5e593c4d1434d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81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57E42-6C08-4C65-9C48-7B62F6B8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84DE4-DC76-4A25-A0E1-B62FC61A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89122-6C7E-460E-9A9C-14F2E7E0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C06AE-2D77-45AB-AA5A-808341D7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One Shelf, Three Different Readings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25C26-45DF-47D5-8007-EA7CE962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8BCD1-61E0-48D1-BC2A-D12D8780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A361A-548D-4649-8FFB-A8EF7C15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D1A55-CB38-4B06-993F-DB74C655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same dense shelf produced three incompatible descriptions.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241FC-933A-44AD-BA8C-E9C4B335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62879-0D80-4801-994E-085B5E0B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Provisional GPT reference: 42 product groups and 94 visible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DBBC4-9CDE-423D-9A8C-D038E275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4DE8D-57BE-4020-82E0-B99F7718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Agent first run: 23 rows, 62 facings, and 3 uncertain entries.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E659B-3CF7-4B29-A3AE-82EEFDA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B0447-3826-41EE-ABCC-9A902908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Independent visual read: about 57 facings plus 21 stacked units.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35F6D-83C1-4A62-96AF-C3E220F3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F2880-4EBA-4605-9564-BC307E92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These totals answer different counting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55AE4-401C-40FC-A1B7-892AE7E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D0ADC-EAD4-4E38-A90A-24CC7293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They cannot be converted into an accuracy percentage.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C4A3E-9D45-4667-B6AA-0BC86F64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341E8-B9A1-45D0-8D37-8BB76CA6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 human-verified reference and an agreed counting contract must come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471F5-8A57-4B25-B8B0-6561995E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9658431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972186ca046f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2718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E4ADBC-4027-4E29-83ED-13E0496D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9704D-FB58-42DC-8457-F00D086F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F0632-0DD6-4810-9EE4-CA7D0715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6FF4D-047F-4AC5-AC7A-584D0F39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Quality and System Reliability Need Different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EEC17-32E7-42FF-BDC4-DA4BDADE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C6399-4A25-4B02-9559-B643D07C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FF3FA-BB27-4B15-9A91-9394B98D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Vision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2D6A5-540F-4F30-92E2-EBAC2717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77568-D9F9-4AF9-A55B-C8DB3BBA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Freeze the source image, prompt, schema, and human-verified reference.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6A35E-E845-4573-80E0-EDA9534E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C1E7C-9201-40CB-829D-AEFD3047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Change one model, reasoning, context, or image setting at a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AFC67-6AAF-4735-BFA7-8FB8BD45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61F72-2B40-4623-91BC-C24937DF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2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Score identification, omissions, counts, inventions, and uncertainty.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200F4-D149-4DFE-B7B4-30E84FDC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DDE6D-F0EE-4FE3-B1E9-E379EE19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Record latency, usage, cost, retries, and review effort.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8D7E3-C202-4650-8871-6773A53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FFE8A-599E-4FE6-BB85-14E73DA9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System reliability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DB08C-A629-460A-81AE-32C8176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C7B36-C152-4CD7-8751-1B99A6B1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7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Prove access control, upload, durable progress, and saved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FAF95-8AD6-431C-8D93-FDCF182D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93C5C-05D3-44F8-9BEF-795EB170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Test refresh, refinement, retry, and failure diagnostics.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E57C0-6466-4D67-914D-D580C334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565A3-F36E-4552-86AB-4D061E0D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7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For video, preserve frame provenance and prevent duplicate counts.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27FEC-D73F-4EF5-B172-D9CB3903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8C1BD-9590-4EC0-84F1-B72DB4CA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Release decisions require evidence from both test paths.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56463-C396-46A2-BECC-E3AA04CD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846930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5f9c76ea845b3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55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2026-09-15T05:08:52.4570000Z</dcterms:created>
  <dcterms:modified xsi:type="dcterms:W3CDTF">2026-09-15T05:08:52.4570000Z</dcterms:modified>
</coreProperties>
</file>