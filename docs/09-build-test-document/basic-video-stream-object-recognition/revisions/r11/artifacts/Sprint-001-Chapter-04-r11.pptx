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e88846b25d348b7" /><Relationship Type="http://schemas.openxmlformats.org/officeDocument/2006/relationships/extended-properties" Target="/docProps/app.xml" Id="R76a8529fbb8d420d" /><Relationship Type="http://schemas.openxmlformats.org/officeDocument/2006/relationships/officeDocument" Target="/ppt/presentation.xml" Id="R2144d26a7050448b" /></Relationships>
</file>

<file path=ppt/presentation.xml><?xml version="1.0" encoding="utf-8"?>
<p:presentation xmlns:p="http://schemas.openxmlformats.org/presentationml/2006/main">
  <p:sldMasterIdLst>
    <p:sldMasterId xmlns:r="http://schemas.openxmlformats.org/officeDocument/2006/relationships" id="2147483648" r:id="R9571d66e4bbc46d9"/>
  </p:sldMasterIdLst>
  <p:notesMasterIdLst>
    <p:notesMasterId xmlns:r="http://schemas.openxmlformats.org/officeDocument/2006/relationships" r:id="Rbdb2d5f91c9b4654"/>
  </p:notesMasterIdLst>
  <p:sldIdLst>
    <p:sldId xmlns:r="http://schemas.openxmlformats.org/officeDocument/2006/relationships" id="256" r:id="Rf6aadaa3de4748ec"/>
    <p:sldId xmlns:r="http://schemas.openxmlformats.org/officeDocument/2006/relationships" id="257" r:id="R0251705d5b52490f"/>
    <p:sldId xmlns:r="http://schemas.openxmlformats.org/officeDocument/2006/relationships" id="258" r:id="R77a8ed0e8e474c61"/>
    <p:sldId xmlns:r="http://schemas.openxmlformats.org/officeDocument/2006/relationships" id="259" r:id="R0228b74e6fd04465"/>
    <p:sldId xmlns:r="http://schemas.openxmlformats.org/officeDocument/2006/relationships" id="260" r:id="Rd360b0e1c7a44f78"/>
    <p:sldId xmlns:r="http://schemas.openxmlformats.org/officeDocument/2006/relationships" id="261" r:id="R9e68facd77044122"/>
    <p:sldId xmlns:r="http://schemas.openxmlformats.org/officeDocument/2006/relationships" id="262" r:id="R1544247273b2470b"/>
    <p:sldId xmlns:r="http://schemas.openxmlformats.org/officeDocument/2006/relationships" id="263" r:id="Rb43bdfd19b89490a"/>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ac0ce3b0b4f44c8" /><Relationship Type="http://schemas.openxmlformats.org/officeDocument/2006/relationships/slideMaster" Target="/ppt/slideMasters/slideMaster1.xml" Id="R9571d66e4bbc46d9" /><Relationship Type="http://schemas.openxmlformats.org/officeDocument/2006/relationships/notesMaster" Target="/ppt/notesMasters/notesMaster1.xml" Id="Rbdb2d5f91c9b4654" /><Relationship Type="http://schemas.openxmlformats.org/officeDocument/2006/relationships/presProps" Target="/ppt/presProps.xml" Id="Rddb6b6f2bc6b4959" /><Relationship Type="http://schemas.openxmlformats.org/officeDocument/2006/relationships/tableStyles" Target="/ppt/tableStyles.xml" Id="R9141a2270ed5445c" /><Relationship Type="http://schemas.openxmlformats.org/officeDocument/2006/relationships/slide" Target="/ppt/slides/slide1.xml" Id="Rf6aadaa3de4748ec" /><Relationship Type="http://schemas.openxmlformats.org/officeDocument/2006/relationships/slide" Target="/ppt/slides/slide2.xml" Id="R0251705d5b52490f" /><Relationship Type="http://schemas.openxmlformats.org/officeDocument/2006/relationships/slide" Target="/ppt/slides/slide3.xml" Id="R77a8ed0e8e474c61" /><Relationship Type="http://schemas.openxmlformats.org/officeDocument/2006/relationships/slide" Target="/ppt/slides/slide4.xml" Id="R0228b74e6fd04465" /><Relationship Type="http://schemas.openxmlformats.org/officeDocument/2006/relationships/slide" Target="/ppt/slides/slide5.xml" Id="Rd360b0e1c7a44f78" /><Relationship Type="http://schemas.openxmlformats.org/officeDocument/2006/relationships/slide" Target="/ppt/slides/slide6.xml" Id="R9e68facd77044122" /><Relationship Type="http://schemas.openxmlformats.org/officeDocument/2006/relationships/slide" Target="/ppt/slides/slide7.xml" Id="R1544247273b2470b" /><Relationship Type="http://schemas.openxmlformats.org/officeDocument/2006/relationships/slide" Target="/ppt/slides/slide8.xml" Id="Rb43bdfd19b89490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bda1ffeb6b6446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7ae5e2ce83543ab" /><Relationship Type="http://schemas.openxmlformats.org/officeDocument/2006/relationships/notesMaster" Target="/ppt/notesMasters/notesMaster1.xml" Id="Rb1b381fc05324b8f" /></Relationships>
</file>

<file path=ppt/notesSlides/_rels/notesSlide2.xml.rels>&#65279;<?xml version="1.0" encoding="utf-8"?><Relationships xmlns="http://schemas.openxmlformats.org/package/2006/relationships"><Relationship Type="http://schemas.openxmlformats.org/officeDocument/2006/relationships/slide" Target="/ppt/slides/slide2.xml" Id="R4d8ba7358a2d4daf" /><Relationship Type="http://schemas.openxmlformats.org/officeDocument/2006/relationships/notesMaster" Target="/ppt/notesMasters/notesMaster1.xml" Id="Rd7ee9171eee947aa" /></Relationships>
</file>

<file path=ppt/notesSlides/_rels/notesSlide3.xml.rels>&#65279;<?xml version="1.0" encoding="utf-8"?><Relationships xmlns="http://schemas.openxmlformats.org/package/2006/relationships"><Relationship Type="http://schemas.openxmlformats.org/officeDocument/2006/relationships/slide" Target="/ppt/slides/slide3.xml" Id="R6edb8be3ae4e4992" /><Relationship Type="http://schemas.openxmlformats.org/officeDocument/2006/relationships/notesMaster" Target="/ppt/notesMasters/notesMaster1.xml" Id="R716e4a0ba4cd4fcb" /></Relationships>
</file>

<file path=ppt/notesSlides/_rels/notesSlide4.xml.rels>&#65279;<?xml version="1.0" encoding="utf-8"?><Relationships xmlns="http://schemas.openxmlformats.org/package/2006/relationships"><Relationship Type="http://schemas.openxmlformats.org/officeDocument/2006/relationships/slide" Target="/ppt/slides/slide4.xml" Id="R7cccd8b6e613472c" /><Relationship Type="http://schemas.openxmlformats.org/officeDocument/2006/relationships/notesMaster" Target="/ppt/notesMasters/notesMaster1.xml" Id="Re035894b5a28490c" /></Relationships>
</file>

<file path=ppt/notesSlides/_rels/notesSlide5.xml.rels>&#65279;<?xml version="1.0" encoding="utf-8"?><Relationships xmlns="http://schemas.openxmlformats.org/package/2006/relationships"><Relationship Type="http://schemas.openxmlformats.org/officeDocument/2006/relationships/slide" Target="/ppt/slides/slide5.xml" Id="Red4a689cdd234115" /><Relationship Type="http://schemas.openxmlformats.org/officeDocument/2006/relationships/notesMaster" Target="/ppt/notesMasters/notesMaster1.xml" Id="Rd8e1a55376d846d8" /></Relationships>
</file>

<file path=ppt/notesSlides/_rels/notesSlide6.xml.rels>&#65279;<?xml version="1.0" encoding="utf-8"?><Relationships xmlns="http://schemas.openxmlformats.org/package/2006/relationships"><Relationship Type="http://schemas.openxmlformats.org/officeDocument/2006/relationships/slide" Target="/ppt/slides/slide6.xml" Id="R2eea46adeca44cab" /><Relationship Type="http://schemas.openxmlformats.org/officeDocument/2006/relationships/notesMaster" Target="/ppt/notesMasters/notesMaster1.xml" Id="Rc2c05be96c4d47bc" /></Relationships>
</file>

<file path=ppt/notesSlides/_rels/notesSlide7.xml.rels>&#65279;<?xml version="1.0" encoding="utf-8"?><Relationships xmlns="http://schemas.openxmlformats.org/package/2006/relationships"><Relationship Type="http://schemas.openxmlformats.org/officeDocument/2006/relationships/slide" Target="/ppt/slides/slide7.xml" Id="R63244111a5b14af2" /><Relationship Type="http://schemas.openxmlformats.org/officeDocument/2006/relationships/notesMaster" Target="/ppt/notesMasters/notesMaster1.xml" Id="Rd1bf9de40658426f" /></Relationships>
</file>

<file path=ppt/notesSlides/_rels/notesSlide8.xml.rels>&#65279;<?xml version="1.0" encoding="utf-8"?><Relationships xmlns="http://schemas.openxmlformats.org/package/2006/relationships"><Relationship Type="http://schemas.openxmlformats.org/officeDocument/2006/relationships/slide" Target="/ppt/slides/slide8.xml" Id="R2ff8025cb4e54c29" /><Relationship Type="http://schemas.openxmlformats.org/officeDocument/2006/relationships/notesMaster" Target="/ppt/notesMasters/notesMaster1.xml" Id="Rfdcf16b9ad3b401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chapter separates measured evidence from acceptance. The fixture evaluator is independent of the application and reads the annotation file plus a completed session log.</a:t>
            </a:r>
          </a:p>
          <a:p xmlns:a="http://schemas.openxmlformats.org/drawingml/2006/main">
            <a:r>
              <a:t/>
            </a:r>
          </a:p>
          <a:p xmlns:a="http://schemas.openxmlformats.org/drawingml/2006/main">
            <a:r>
              <a:t>Before evaluating outcomes, it validates the input hashes and frozen profile, checks score consistency, and rebuilds the episodes. It then judges episode opening times against annotation zones.</a:t>
            </a:r>
          </a:p>
          <a:p xmlns:a="http://schemas.openxmlformats.org/drawingml/2006/main">
            <a:r>
              <a:t/>
            </a:r>
          </a:p>
          <a:p xmlns:a="http://schemas.openxmlformats.org/drawingml/2006/main">
            <a:r>
              <a:t>The positive fixture must open an episode in its expected interval. Neither fixture may open an episode in a false-positive zone. Do-not-care and unannotated times do not count as the required positive detection.</a:t>
            </a:r>
          </a:p>
          <a:p xmlns:a="http://schemas.openxmlformats.org/drawingml/2006/main">
            <a:r>
              <a:t/>
            </a:r>
          </a:p>
          <a:p xmlns:a="http://schemas.openxmlformats.org/drawingml/2006/main">
            <a:r>
              <a:t>These rules evaluate openings, not frame-by-frame object accuracy or every moment an episode remains visible. The two fixtures support this bounded experiment, not a claim of general precision or recall.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Saved Mac evidence shows one episode in the positive fixture and none in the negative fixture. The runs analyze fifty-six and twenty-six frames respectively, with no dropped frames in deterministic mode.</a:t>
            </a:r>
          </a:p>
          <a:p xmlns:a="http://schemas.openxmlformats.org/drawingml/2006/main">
            <a:r>
              <a:t/>
            </a:r>
          </a:p>
          <a:p xmlns:a="http://schemas.openxmlformats.org/drawingml/2006/main">
            <a:r>
              <a:t>The positive episode opens at twenty-four point five seconds. The expected interval begins at eighteen point three, so the first signal delay is six point two seconds. That delay is a real finding, even though the acceptance rule passes.</a:t>
            </a:r>
          </a:p>
          <a:p xmlns:a="http://schemas.openxmlformats.org/drawingml/2006/main">
            <a:r>
              <a:t/>
            </a:r>
          </a:p>
          <a:p xmlns:a="http://schemas.openxmlformats.org/drawingml/2006/main">
            <a:r>
              <a:t>The strongest evidence occurs at twenty-five seconds, with distance about zero point three four nine. The nearest frame in either false-positive zone is much farther away, about zero point nine zero six.</a:t>
            </a:r>
          </a:p>
          <a:p xmlns:a="http://schemas.openxmlformats.org/drawingml/2006/main">
            <a:r>
              <a:t/>
            </a:r>
          </a:p>
          <a:p xmlns:a="http://schemas.openxmlformats.org/drawingml/2006/main">
            <a:r>
              <a:t>These are measurements of the named fixtures on this Mac. They say nothing yet about shelf clutter, device latency, or general recognition accuracy.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Calibration compares complete Mac and phone runs of the same fixtures. It checks host identity, input hashes, profile, frame identities, timestamps, and sampling slots. Missing fixtures or dropped samples make evidence incomplete.</a:t>
            </a:r>
          </a:p>
          <a:p xmlns:a="http://schemas.openxmlformats.org/drawingml/2006/main">
            <a:r>
              <a:t/>
            </a:r>
          </a:p>
          <a:p xmlns:a="http://schemas.openxmlformats.org/drawingml/2006/main">
            <a:r>
              <a:t>For corresponding frames, it records the largest raw-distance drift and every support-decision disagreement. The command returns zero for agreement. It returns two when decisions differ but the phone's fixture outcomes still pass. That is a major finding which blocks Sprint Two threshold work. One means an outcome failed or evidence was rejected.</a:t>
            </a:r>
          </a:p>
          <a:p xmlns:a="http://schemas.openxmlformats.org/drawingml/2006/main">
            <a:r>
              <a:t/>
            </a:r>
          </a:p>
          <a:p xmlns:a="http://schemas.openxmlformats.org/drawingml/2006/main">
            <a:r>
              <a:t>Synthetic phone labels in tests exercise this comparator only. They are not device evidence. The threshold must remain frozen during the real phone session.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app boundary makes the package demonstrable without turning a diagnostic experiment into the normal product experience. Bootstrap selects the diagnostic route before creating Firebase or the authentication session.</a:t>
            </a:r>
          </a:p>
          <a:p xmlns:a="http://schemas.openxmlformats.org/drawingml/2006/main">
            <a:r>
              <a:t/>
            </a:r>
          </a:p>
          <a:p xmlns:a="http://schemas.openxmlformats.org/drawingml/2006/main">
            <a:r>
              <a:t>The harness model is on the main actor. It prevents overlapping starts, uses a generation token for updates, pauses playback on completion or failure, and writes a report beside the log. The screen exposes local log export.</a:t>
            </a:r>
          </a:p>
          <a:p xmlns:a="http://schemas.openxmlformats.org/drawingml/2006/main">
            <a:r>
              <a:t/>
            </a:r>
          </a:p>
          <a:p xmlns:a="http://schemas.openxmlformats.org/drawingml/2006/main">
            <a:r>
              <a:t>Debug builds copy only the approved reference and trimmed videos. Release excludes the diagnostic route and fixture assets. The evaluator and its annotation file stay outside the app.</a:t>
            </a:r>
          </a:p>
          <a:p xmlns:a="http://schemas.openxmlformats.org/drawingml/2006/main">
            <a:r>
              <a:t/>
            </a:r>
          </a:p>
          <a:p xmlns:a="http://schemas.openxmlformats.org/drawingml/2006/main">
            <a:r>
              <a:t>The saved Simulator tests include a check that the diagnostic host has no Firebase instance. That test depends on running the diagnostic scheme.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phone session remains manual and unperformed. Connect the iPhone, choose the diagnostic scheme in Xcode, and run on that device. The normal app icon does not provide these launch arguments.</a:t>
            </a:r>
          </a:p>
          <a:p xmlns:a="http://schemas.openxmlformats.org/drawingml/2006/main">
            <a:r>
              <a:t/>
            </a:r>
          </a:p>
          <a:p xmlns:a="http://schemas.openxmlformats.org/drawingml/2006/main">
            <a:r>
              <a:t>Run banana present to completion. The HITL, Human in the Loop, must see a possible match before playback ends and inspect the final report. Repeat with no banana. Export both logs. Preserve reports and retained images from the app container.</a:t>
            </a:r>
          </a:p>
          <a:p xmlns:a="http://schemas.openxmlformats.org/drawingml/2006/main">
            <a:r>
              <a:t/>
            </a:r>
          </a:p>
          <a:p xmlns:a="http://schemas.openxmlformats.org/drawingml/2006/main">
            <a:r>
              <a:t>Run the Mac gate for matching baseline evidence, then use the companion runbook comparison command. Check for zero dropped frames before comparison.</a:t>
            </a:r>
          </a:p>
          <a:p xmlns:a="http://schemas.openxmlformats.org/drawingml/2006/main">
            <a:r>
              <a:t/>
            </a:r>
          </a:p>
          <a:p xmlns:a="http://schemas.openxmlformats.org/drawingml/2006/main">
            <a:r>
              <a:t>Record device model, operating system, build, date, and findings. The demonstration and the HITL's committed acceptance record complete a gate that Mac tests cannot replace.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Four areas deserve close review. First, the harness only offers paced replay, which can drop frames under load, while calibration rejects any dropped-frame evidence. The device run may therefore expose an evidence gap even when the interface appears useful.</a:t>
            </a:r>
          </a:p>
          <a:p xmlns:a="http://schemas.openxmlformats.org/drawingml/2006/main">
            <a:r>
              <a:t/>
            </a:r>
          </a:p>
          <a:p xmlns:a="http://schemas.openxmlformats.org/drawingml/2006/main">
            <a:r>
              <a:t>Second, both the diagnostic startup path and one app test depend on the diagnostic Xcode scheme. Ordinary launch is intentionally different.</a:t>
            </a:r>
          </a:p>
          <a:p xmlns:a="http://schemas.openxmlformats.org/drawingml/2006/main">
            <a:r>
              <a:t/>
            </a:r>
          </a:p>
          <a:p xmlns:a="http://schemas.openxmlformats.org/drawingml/2006/main">
            <a:r>
              <a:t>Third, the stream applies a track transform, but current fixtures do not establish correct behavior for rotated video. A concern about rotation exists in the review material; this walkthrough does not claim to reproduce that defect.</a:t>
            </a:r>
          </a:p>
          <a:p xmlns:a="http://schemas.openxmlformats.org/drawingml/2006/main">
            <a:r>
              <a:t/>
            </a:r>
          </a:p>
          <a:p xmlns:a="http://schemas.openxmlformats.org/drawingml/2006/main">
            <a:r>
              <a:t>Finally, the bounded frame queue does not bound latency history or retained image files. Long-session resource behavior remains an engineering question.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foundation is separation of responsibilities. Hosts provide input and display results, while one production pipeline owns analysis and evidence. Stable frame identities and frozen settings make runs comparable.</a:t>
            </a:r>
          </a:p>
          <a:p xmlns:a="http://schemas.openxmlformats.org/drawingml/2006/main">
            <a:r>
              <a:t/>
            </a:r>
          </a:p>
          <a:p xmlns:a="http://schemas.openxmlformats.org/drawingml/2006/main">
            <a:r>
              <a:t>The event log explains how a report was produced, and replay checks that explanation against the live result. Independent annotation evaluation keeps the expected answers outside production inference. These mechanisms support later work.</a:t>
            </a:r>
          </a:p>
          <a:p xmlns:a="http://schemas.openxmlformats.org/drawingml/2006/main">
            <a:r>
              <a:t/>
            </a:r>
          </a:p>
          <a:p xmlns:a="http://schemas.openxmlformats.org/drawingml/2006/main">
            <a:r>
              <a:t>The implementation still has a narrow scope. It compares one target against the whole image and a fixed central crop. Live camera capture, detected regions, multiple products, and general accuracy require new work and evidence.</a:t>
            </a:r>
          </a:p>
          <a:p xmlns:a="http://schemas.openxmlformats.org/drawingml/2006/main">
            <a:r>
              <a:t/>
            </a:r>
          </a:p>
          <a:p xmlns:a="http://schemas.openxmlformats.org/drawingml/2006/main">
            <a:r>
              <a:t>A passing fixture experiment is a base to build on. It is not completion of the application or acceptance on iPhone.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companion walkthrough maps the implementation. Each technical slide has a small set of clickable source, test, or evidence links. The notes explain the meaning before you open those files.</a:t>
            </a:r>
          </a:p>
          <a:p xmlns:a="http://schemas.openxmlformats.org/drawingml/2006/main">
            <a:r>
              <a:t/>
            </a:r>
          </a:p>
          <a:p xmlns:a="http://schemas.openxmlformats.org/drawingml/2006/main">
            <a:r>
              <a:t>A separate file-coverage index maps changes since the sprint baseline to the relevant subjects. It records exceptions such as original media and unrelated documentation moves. That index is a completeness backstop, not the main explanation.</a:t>
            </a:r>
          </a:p>
          <a:p xmlns:a="http://schemas.openxmlformats.org/drawingml/2006/main">
            <a:r>
              <a:t/>
            </a:r>
          </a:p>
          <a:p xmlns:a="http://schemas.openxmlformats.org/drawingml/2006/main">
            <a:r>
              <a:t>The maintained slide content also supplies the narration, so the video and written explanation can be revised together. Four subject-based videos keep each review session short. Return to any chapter independently, and pause to inspect the code.</a:t>
            </a:r>
          </a:p>
          <a:p xmlns:a="http://schemas.openxmlformats.org/drawingml/2006/main">
            <a:r>
              <a:t/>
            </a:r>
          </a:p>
          <a:p xmlns:a="http://schemas.openxmlformats.org/drawingml/2006/main">
            <a:r>
              <a:t>The next human decision is about the review findings and the required iPhone demonstration.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0840636f98a472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76dcb543fbf4091" /><Relationship Type="http://schemas.openxmlformats.org/officeDocument/2006/relationships/slideLayout" Target="/ppt/slideLayouts/slideLayout1.xml" Id="R92029f841655419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2029f841655419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2a2fc4475de43bd" /><Relationship Type="http://schemas.openxmlformats.org/officeDocument/2006/relationships/hyperlink" Target="file:///Users/paboelustodo/Library/CloudStorage/GoogleDrive-pablo.elustondo@gmail.com/My%20Drive%202/1-GIT-PROJECTS/aishop/ios/AIShop/AIShopVision/Sources/AIShopVisionEvaluation/FixtureEvaluator.swift" TargetMode="External" Id="R702188de96e84ae0" /><Relationship Type="http://schemas.openxmlformats.org/officeDocument/2006/relationships/hyperlink" Target="file:///Users/paboelustodo/Library/CloudStorage/GoogleDrive-pablo.elustondo@gmail.com/My%20Drive%202/1-GIT-PROJECTS/aishop/ios/AIShop/AIShopVision/Tests/AIShopVisionTests/Resources/annotations.json" TargetMode="External" Id="R482877f8601b4cb4" /><Relationship Type="http://schemas.openxmlformats.org/officeDocument/2006/relationships/hyperlink" Target="file:///Users/paboelustodo/Library/CloudStorage/GoogleDrive-pablo.elustondo@gmail.com/My%20Drive%202/1-GIT-PROJECTS/aishop/ios/AIShop/AIShopVision/Tests/AIShopVisionTests/FixtureEvaluatorTests.swift" TargetMode="External" Id="R4c23614df45b40b8" /><Relationship Type="http://schemas.openxmlformats.org/officeDocument/2006/relationships/notesSlide" Target="/ppt/notesSlides/notesSlide1.xml" Id="Re03e6ab3545649a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f62c99ec6be4213" /><Relationship Type="http://schemas.openxmlformats.org/officeDocument/2006/relationships/hyperlink" Target="file:///Users/paboelustodo/Library/CloudStorage/GoogleDrive-pablo.elustondo@gmail.com/My%20Drive%202/1-GIT-PROJECTS/aishop/docs/09-build-test-document/basic-video-stream-object-recognition/artifacts/evidence/mac-positive/evaluation.json" TargetMode="External" Id="R596fe28b6afe4104" /><Relationship Type="http://schemas.openxmlformats.org/officeDocument/2006/relationships/hyperlink" Target="file:///Users/paboelustodo/Library/CloudStorage/GoogleDrive-pablo.elustondo@gmail.com/My%20Drive%202/1-GIT-PROJECTS/aishop/docs/09-build-test-document/basic-video-stream-object-recognition/artifacts/evidence/mac-negative/evaluation.json" TargetMode="External" Id="Re42b4e40c22049b0" /><Relationship Type="http://schemas.openxmlformats.org/officeDocument/2006/relationships/hyperlink" Target="file:///Users/paboelustodo/Library/CloudStorage/GoogleDrive-pablo.elustondo@gmail.com/My%20Drive%202/1-GIT-PROJECTS/aishop/docs/09-build-test-document/basic-video-stream-object-recognition/artifacts/evidence/mac-positive/report.json" TargetMode="External" Id="Rd7633458efb24b80" /><Relationship Type="http://schemas.openxmlformats.org/officeDocument/2006/relationships/notesSlide" Target="/ppt/notesSlides/notesSlide2.xml" Id="R96c3442c740f4a3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2705efa3b164735" /><Relationship Type="http://schemas.openxmlformats.org/officeDocument/2006/relationships/hyperlink" Target="file:///Users/paboelustodo/Library/CloudStorage/GoogleDrive-pablo.elustondo@gmail.com/My%20Drive%202/1-GIT-PROJECTS/aishop/ios/AIShop/AIShopVision/Sources/AIShopVisionEvaluation/FixtureEvaluator.swift" TargetMode="External" Id="Rbbb59a69c00044e0" /><Relationship Type="http://schemas.openxmlformats.org/officeDocument/2006/relationships/hyperlink" Target="file:///Users/paboelustodo/Library/CloudStorage/GoogleDrive-pablo.elustondo@gmail.com/My%20Drive%202/1-GIT-PROJECTS/aishop/ios/AIShop/AIShopVision/Sources/AIShopVisionEvaluate/main.swift" TargetMode="External" Id="R1c69e01ff28b4aa1" /><Relationship Type="http://schemas.openxmlformats.org/officeDocument/2006/relationships/hyperlink" Target="file:///Users/paboelustodo/Library/CloudStorage/GoogleDrive-pablo.elustondo@gmail.com/My%20Drive%202/1-GIT-PROJECTS/aishop/ios/AIShop/AIShopVision/Tests/AIShopVisionTests/PipelineIntegrationSuite.swift" TargetMode="External" Id="Rb1567dd57eee49e1" /><Relationship Type="http://schemas.openxmlformats.org/officeDocument/2006/relationships/notesSlide" Target="/ppt/notesSlides/notesSlide3.xml" Id="R7625d8f2ab0141c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88680b3921543e6" /><Relationship Type="http://schemas.openxmlformats.org/officeDocument/2006/relationships/hyperlink" Target="file:///Users/paboelustodo/Library/CloudStorage/GoogleDrive-pablo.elustondo@gmail.com/My%20Drive%202/1-GIT-PROJECTS/aishop/ios/AIShop/AIShop/App/ApplicationBootstrap.swift" TargetMode="External" Id="R55c3f71112514988" /><Relationship Type="http://schemas.openxmlformats.org/officeDocument/2006/relationships/hyperlink" Target="file:///Users/paboelustodo/Library/CloudStorage/GoogleDrive-pablo.elustondo@gmail.com/My%20Drive%202/1-GIT-PROJECTS/aishop/ios/AIShop/AIShop/Diagnostics/VisionHarnessModel.swift" TargetMode="External" Id="R17d5123fd84a4758" /><Relationship Type="http://schemas.openxmlformats.org/officeDocument/2006/relationships/hyperlink" Target="file:///Users/paboelustodo/Library/CloudStorage/GoogleDrive-pablo.elustondo@gmail.com/My%20Drive%202/1-GIT-PROJECTS/aishop/e2e/ios/verify-app-bundle.rb" TargetMode="External" Id="R7d240d54955f4210" /><Relationship Type="http://schemas.openxmlformats.org/officeDocument/2006/relationships/notesSlide" Target="/ppt/notesSlides/notesSlide4.xml" Id="R9c12d7e63bab44b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2363353a8d940c3" /><Relationship Type="http://schemas.openxmlformats.org/officeDocument/2006/relationships/hyperlink" Target="file:///Users/paboelustodo/Library/CloudStorage/GoogleDrive-pablo.elustondo@gmail.com/My%20Drive%202/1-GIT-PROJECTS/aishop/ios/AIShop/AIShop.xcodeproj/xcshareddata/xcschemes/AIShop-VisionDiagnostics.xcscheme" TargetMode="External" Id="Rd6367dc9abac442f" /><Relationship Type="http://schemas.openxmlformats.org/officeDocument/2006/relationships/hyperlink" Target="file:///Users/paboelustodo/Library/CloudStorage/GoogleDrive-pablo.elustondo@gmail.com/My%20Drive%202/1-GIT-PROJECTS/aishop/ios/AIShop/AIShop/Diagnostics/VisionDiagnosticHarness.swift" TargetMode="External" Id="R7ec1777d07674127" /><Relationship Type="http://schemas.openxmlformats.org/officeDocument/2006/relationships/hyperlink" Target="file:///Users/paboelustodo/Library/CloudStorage/GoogleDrive-pablo.elustondo@gmail.com/My%20Drive%202/1-GIT-PROJECTS/aishop/ios/AIShop/01-docs/04-benchmarks-test-strategy-and-success-criteria/sprint-001-iphone-verification.md" TargetMode="External" Id="Rfa534ad4965b4408" /><Relationship Type="http://schemas.openxmlformats.org/officeDocument/2006/relationships/notesSlide" Target="/ppt/notesSlides/notesSlide5.xml" Id="Rbe6f289cb7e74bd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72025c1299c43d3" /><Relationship Type="http://schemas.openxmlformats.org/officeDocument/2006/relationships/hyperlink" Target="file:///Users/paboelustodo/Library/CloudStorage/GoogleDrive-pablo.elustondo@gmail.com/My%20Drive%202/1-GIT-PROJECTS/aishop/ios/AIShop/AIShop/Diagnostics/VisionHarnessModel.swift" TargetMode="External" Id="R6392d895179d4304" /><Relationship Type="http://schemas.openxmlformats.org/officeDocument/2006/relationships/hyperlink" Target="file:///Users/paboelustodo/Library/CloudStorage/GoogleDrive-pablo.elustondo@gmail.com/My%20Drive%202/1-GIT-PROJECTS/aishop/ios/AIShop/AIShopVision/Sources/AIShopVisionEvaluation/FixtureEvaluator.swift" TargetMode="External" Id="R419b6b31f61646d7" /><Relationship Type="http://schemas.openxmlformats.org/officeDocument/2006/relationships/hyperlink" Target="file:///Users/paboelustodo/Library/CloudStorage/GoogleDrive-pablo.elustondo@gmail.com/My%20Drive%202/1-GIT-PROJECTS/aishop/ios/AIShop/AIShopVision/Sources/AIShopVision/SessionReportBuilder/SessionReportBuilder.swift" TargetMode="External" Id="Re3a43f0af16d4105" /><Relationship Type="http://schemas.openxmlformats.org/officeDocument/2006/relationships/notesSlide" Target="/ppt/notesSlides/notesSlide6.xml" Id="R1cab0bab0a6f444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7955d44a77540bf" /><Relationship Type="http://schemas.openxmlformats.org/officeDocument/2006/relationships/hyperlink" Target="file:///Users/paboelustodo/Library/CloudStorage/GoogleDrive-pablo.elustondo@gmail.com/My%20Drive%202/1-GIT-PROJECTS/aishop/ios/AIShop/AIShopVision/Sources/AIShopVision/CandidateAnalysisPipeline/CandidateAnalysisPipeline.swift" TargetMode="External" Id="Re7b078bd831e417c" /><Relationship Type="http://schemas.openxmlformats.org/officeDocument/2006/relationships/hyperlink" Target="file:///Users/paboelustodo/Library/CloudStorage/GoogleDrive-pablo.elustondo@gmail.com/My%20Drive%202/1-GIT-PROJECTS/aishop/ios/AIShop/AIShopVision/Tests/AIShopVisionTests/PipelineIntegrationSuite.swift" TargetMode="External" Id="Ra28afbcd0e98455c" /><Relationship Type="http://schemas.openxmlformats.org/officeDocument/2006/relationships/hyperlink" Target="file:///Users/paboelustodo/Library/CloudStorage/GoogleDrive-pablo.elustondo@gmail.com/My%20Drive%202/1-GIT-PROJECTS/aishop/ios/AIShop/AIShopVision/Package.swift" TargetMode="External" Id="Ra4ab81f49b984644" /><Relationship Type="http://schemas.openxmlformats.org/officeDocument/2006/relationships/notesSlide" Target="/ppt/notesSlides/notesSlide7.xml" Id="R64ebc18b1c57473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f0e2a8f38204a5f" /><Relationship Type="http://schemas.openxmlformats.org/officeDocument/2006/relationships/hyperlink" Target="file:///Users/paboelustodo/Library/CloudStorage/GoogleDrive-pablo.elustondo@gmail.com/My%20Drive%202/1-GIT-PROJECTS/aishop/ios/AIShop/AIShopVision/Sources/AIShopVision/" TargetMode="External" Id="R609e98d7d84c48ea" /><Relationship Type="http://schemas.openxmlformats.org/officeDocument/2006/relationships/hyperlink" Target="file:///Users/paboelustodo/Library/CloudStorage/GoogleDrive-pablo.elustondo@gmail.com/My%20Drive%202/1-GIT-PROJECTS/aishop/ios/AIShop/AIShopVision/Tests/AIShopVisionTests/" TargetMode="External" Id="R4b779b594a544d5c" /><Relationship Type="http://schemas.openxmlformats.org/officeDocument/2006/relationships/hyperlink" Target="file:///Users/paboelustodo/Library/CloudStorage/GoogleDrive-pablo.elustondo@gmail.com/My%20Drive%202/1-GIT-PROJECTS/aishop/ios/AIShop/01-docs/04-benchmarks-test-strategy-and-success-criteria/sprint-001-iphone-verification.md" TargetMode="External" Id="R8e6721cc5dfb4425" /><Relationship Type="http://schemas.openxmlformats.org/officeDocument/2006/relationships/notesSlide" Target="/ppt/notesSlides/notesSlide8.xml" Id="R34fcb20570784818"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4626886B-9374-4E09-9F05-7BAA450546AF}"/>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Independent fixture evaluation</a:t>
            </a:r>
          </a:p>
        </p:txBody>
      </p:sp>
      <p:sp>
        <p:nvSpPr>
          <p:cNvPr id="2" name="text-1">
            <a:extLst xmlns:a="http://schemas.openxmlformats.org/drawingml/2006/main">
              <a:ext uri="{FF2B5EF4-FFF2-40B4-BE49-F238E27FC236}">
                <a16:creationId xmlns:a16="http://schemas.microsoft.com/office/drawing/2014/main" id="{EC5850F2-A073-4DCF-B785-24210FCEA067}"/>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Chapter 4: what the evidence proves, and what it does not</a:t>
            </a:r>
          </a:p>
        </p:txBody>
      </p:sp>
      <p:sp>
        <p:nvSpPr>
          <p:cNvPr id="3" name="text-2">
            <a:extLst xmlns:a="http://schemas.openxmlformats.org/drawingml/2006/main">
              <a:ext uri="{FF2B5EF4-FFF2-40B4-BE49-F238E27FC236}">
                <a16:creationId xmlns:a16="http://schemas.microsoft.com/office/drawing/2014/main" id="{3EB0CA3F-935A-4C2C-90F1-0DC8237E77B8}"/>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Expected zone</a:t>
            </a:r>
          </a:p>
        </p:txBody>
      </p:sp>
      <p:sp>
        <p:nvSpPr>
          <p:cNvPr id="4" name="text-3">
            <a:extLst xmlns:a="http://schemas.openxmlformats.org/drawingml/2006/main">
              <a:ext uri="{FF2B5EF4-FFF2-40B4-BE49-F238E27FC236}">
                <a16:creationId xmlns:a16="http://schemas.microsoft.com/office/drawing/2014/main" id="{8EF781DB-F111-4297-88CF-755CBC01A9E7}"/>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At least one candidate episode opens in the positive interval</a:t>
            </a:r>
          </a:p>
        </p:txBody>
      </p:sp>
      <p:sp>
        <p:nvSpPr>
          <p:cNvPr id="5" name="">
            <a:extLst xmlns:a="http://schemas.openxmlformats.org/drawingml/2006/main">
              <a:ext uri="{FF2B5EF4-FFF2-40B4-BE49-F238E27FC236}">
                <a16:creationId xmlns:a16="http://schemas.microsoft.com/office/drawing/2014/main" id="{85FF4A19-7AF3-4506-A5DF-E73246C7CCA1}"/>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73D86FDB-B7FB-44CF-B48B-73CB9F507BE2}"/>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False-positive zone</a:t>
            </a:r>
          </a:p>
        </p:txBody>
      </p:sp>
      <p:sp>
        <p:nvSpPr>
          <p:cNvPr id="7" name="text-5">
            <a:extLst xmlns:a="http://schemas.openxmlformats.org/drawingml/2006/main">
              <a:ext uri="{FF2B5EF4-FFF2-40B4-BE49-F238E27FC236}">
                <a16:creationId xmlns:a16="http://schemas.microsoft.com/office/drawing/2014/main" id="{22D6D04E-5302-4BFF-9252-784A93AE4C89}"/>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No candidate episode may open there</a:t>
            </a:r>
          </a:p>
        </p:txBody>
      </p:sp>
      <p:sp>
        <p:nvSpPr>
          <p:cNvPr id="8" name="">
            <a:extLst xmlns:a="http://schemas.openxmlformats.org/drawingml/2006/main">
              <a:ext uri="{FF2B5EF4-FFF2-40B4-BE49-F238E27FC236}">
                <a16:creationId xmlns:a16="http://schemas.microsoft.com/office/drawing/2014/main" id="{6CF41054-5650-41D4-8368-273538F996A1}"/>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2D3885C9-DB28-4A4B-8A1F-1BBBFEFC2F08}"/>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Do-not-care or unannotated time</a:t>
            </a:r>
          </a:p>
        </p:txBody>
      </p:sp>
      <p:sp>
        <p:nvSpPr>
          <p:cNvPr id="10" name="text-7">
            <a:extLst xmlns:a="http://schemas.openxmlformats.org/drawingml/2006/main">
              <a:ext uri="{FF2B5EF4-FFF2-40B4-BE49-F238E27FC236}">
                <a16:creationId xmlns:a16="http://schemas.microsoft.com/office/drawing/2014/main" id="{C30A8EA0-E1CA-4655-BF11-763E72166C91}"/>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Does not satisfy the expected-zone requirement</a:t>
            </a:r>
          </a:p>
        </p:txBody>
      </p:sp>
      <p:sp>
        <p:nvSpPr>
          <p:cNvPr id="11" name="">
            <a:extLst xmlns:a="http://schemas.openxmlformats.org/drawingml/2006/main">
              <a:ext uri="{FF2B5EF4-FFF2-40B4-BE49-F238E27FC236}">
                <a16:creationId xmlns:a16="http://schemas.microsoft.com/office/drawing/2014/main" id="{AE4CEEAF-2B6C-49AB-883E-121B0407153A}"/>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08F6A277-EAFC-4C4C-ABFB-0366CC800D1D}"/>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Evaluation boundary</a:t>
            </a:r>
          </a:p>
        </p:txBody>
      </p:sp>
      <p:sp>
        <p:nvSpPr>
          <p:cNvPr id="13" name="text-9">
            <a:extLst xmlns:a="http://schemas.openxmlformats.org/drawingml/2006/main">
              <a:ext uri="{FF2B5EF4-FFF2-40B4-BE49-F238E27FC236}">
                <a16:creationId xmlns:a16="http://schemas.microsoft.com/office/drawing/2014/main" id="{E626770C-D4C1-4E80-BF9C-D9A7311400B8}"/>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Check hashes, profile, scores, and rebuilt episodes first</a:t>
            </a:r>
          </a:p>
        </p:txBody>
      </p:sp>
      <p:sp>
        <p:nvSpPr>
          <p:cNvPr id="14" name="text-10">
            <a:extLst xmlns:a="http://schemas.openxmlformats.org/drawingml/2006/main">
              <a:ext uri="{FF2B5EF4-FFF2-40B4-BE49-F238E27FC236}">
                <a16:creationId xmlns:a16="http://schemas.microsoft.com/office/drawing/2014/main" id="{3D315358-44C0-4646-93B9-96EB0C094631}"/>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1">
            <a:extLst xmlns:a="http://schemas.openxmlformats.org/drawingml/2006/main">
              <a:ext uri="{FF2B5EF4-FFF2-40B4-BE49-F238E27FC236}">
                <a16:creationId xmlns:a16="http://schemas.microsoft.com/office/drawing/2014/main" id="{5FAB8DD5-813B-4729-8C9E-7B1B47DB40E4}"/>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702188de96e84ae0"/>
              </a:rPr>
              <a:t>Fixture evaluator</a:t>
            </a:r>
          </a:p>
        </p:txBody>
      </p:sp>
      <p:sp>
        <p:nvSpPr>
          <p:cNvPr id="16" name="text-12">
            <a:extLst xmlns:a="http://schemas.openxmlformats.org/drawingml/2006/main">
              <a:ext uri="{FF2B5EF4-FFF2-40B4-BE49-F238E27FC236}">
                <a16:creationId xmlns:a16="http://schemas.microsoft.com/office/drawing/2014/main" id="{FB29BEA6-2214-4974-88A1-52287B652DC7}"/>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482877f8601b4cb4"/>
              </a:rPr>
              <a:t>Annotation data</a:t>
            </a:r>
          </a:p>
        </p:txBody>
      </p:sp>
      <p:sp>
        <p:nvSpPr>
          <p:cNvPr id="17" name="text-13">
            <a:extLst xmlns:a="http://schemas.openxmlformats.org/drawingml/2006/main">
              <a:ext uri="{FF2B5EF4-FFF2-40B4-BE49-F238E27FC236}">
                <a16:creationId xmlns:a16="http://schemas.microsoft.com/office/drawing/2014/main" id="{CB8BA3EF-6E12-43B8-8672-2A037066023A}"/>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4c23614df45b40b8"/>
              </a:rPr>
              <a:t>Evaluator tests</a:t>
            </a:r>
          </a:p>
        </p:txBody>
      </p:sp>
      <p:sp>
        <p:nvSpPr>
          <p:cNvPr id="18" name="text-14">
            <a:extLst xmlns:a="http://schemas.openxmlformats.org/drawingml/2006/main">
              <a:ext uri="{FF2B5EF4-FFF2-40B4-BE49-F238E27FC236}">
                <a16:creationId xmlns:a16="http://schemas.microsoft.com/office/drawing/2014/main" id="{98C2F0E2-E005-46F7-A040-50DE20BD61F5}"/>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23</a:t>
            </a:r>
          </a:p>
        </p:txBody>
      </p:sp>
    </p:spTree>
    <p:extLst>
      <p:ext uri="{BB962C8B-B14F-4D97-AF65-F5344CB8AC3E}">
        <p14:creationId xmlns:p14="http://schemas.microsoft.com/office/powerpoint/2010/main" val="41828622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text-0">
            <a:extLst xmlns:a="http://schemas.openxmlformats.org/drawingml/2006/main">
              <a:ext uri="{FF2B5EF4-FFF2-40B4-BE49-F238E27FC236}">
                <a16:creationId xmlns:a16="http://schemas.microsoft.com/office/drawing/2014/main" id="{0262DDA7-0877-4AC6-8C08-68DF90BC3A25}"/>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Measured fixture results</a:t>
            </a:r>
          </a:p>
        </p:txBody>
      </p:sp>
      <p:sp>
        <p:nvSpPr>
          <p:cNvPr id="2" name="text-1">
            <a:extLst xmlns:a="http://schemas.openxmlformats.org/drawingml/2006/main">
              <a:ext uri="{FF2B5EF4-FFF2-40B4-BE49-F238E27FC236}">
                <a16:creationId xmlns:a16="http://schemas.microsoft.com/office/drawing/2014/main" id="{89BF03DC-8699-4955-BD44-1853893AC01E}"/>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Saved macOS evidence from 20 September 2026</a:t>
            </a:r>
          </a:p>
        </p:txBody>
      </p:sp>
      <p:sp>
        <p:nvSpPr>
          <p:cNvPr id="3" name="text-2">
            <a:extLst xmlns:a="http://schemas.openxmlformats.org/drawingml/2006/main">
              <a:ext uri="{FF2B5EF4-FFF2-40B4-BE49-F238E27FC236}">
                <a16:creationId xmlns:a16="http://schemas.microsoft.com/office/drawing/2014/main" id="{CA338003-80B5-45E1-A640-412C4E3C1425}"/>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Positive fixture</a:t>
            </a:r>
          </a:p>
        </p:txBody>
      </p:sp>
      <p:sp>
        <p:nvSpPr>
          <p:cNvPr id="4" name="text-3">
            <a:extLst xmlns:a="http://schemas.openxmlformats.org/drawingml/2006/main">
              <a:ext uri="{FF2B5EF4-FFF2-40B4-BE49-F238E27FC236}">
                <a16:creationId xmlns:a16="http://schemas.microsoft.com/office/drawing/2014/main" id="{16FDDB66-53F8-407D-81E2-7CC0A534F7E6}"/>
              </a:ext>
            </a:extLst>
          </p:cNvPr>
          <p:cNvSpPr>
            <a:spLocks xmlns:a="http://schemas.openxmlformats.org/drawingml/2006/main" noGrp="1"/>
          </p:cNvSpPr>
          <p:nvPr/>
        </p:nvSpPr>
        <p:spPr>
          <a:xfrm xmlns:a="http://schemas.openxmlformats.org/drawingml/2006/main">
            <a:off x="723900" y="2324100"/>
            <a:ext cx="13792200" cy="4903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550" b="1">
                <a:solidFill>
                  <a:srgbClr val="102C43"/>
                </a:solidFill>
                <a:latin typeface="Arial"/>
                <a:ea typeface="Arial"/>
                <a:cs typeface="Arial"/>
              </a:defRPr>
            </a:pPr>
            <a:r>
              <a:rPr sz="2550" b="1">
                <a:solidFill>
                  <a:srgbClr val="102C43"/>
                </a:solidFill>
                <a:latin typeface="Arial"/>
                <a:ea typeface="Arial"/>
                <a:cs typeface="Arial"/>
              </a:rPr>
              <a:t>56 analyzed frames; 1 episode</a:t>
            </a:r>
          </a:p>
        </p:txBody>
      </p:sp>
      <p:sp>
        <p:nvSpPr>
          <p:cNvPr id="5" name="text-4">
            <a:extLst xmlns:a="http://schemas.openxmlformats.org/drawingml/2006/main">
              <a:ext uri="{FF2B5EF4-FFF2-40B4-BE49-F238E27FC236}">
                <a16:creationId xmlns:a16="http://schemas.microsoft.com/office/drawing/2014/main" id="{2F5A1BCE-AF00-450E-B753-8A632D782173}"/>
              </a:ext>
            </a:extLst>
          </p:cNvPr>
          <p:cNvSpPr>
            <a:spLocks xmlns:a="http://schemas.openxmlformats.org/drawingml/2006/main" noGrp="1"/>
          </p:cNvSpPr>
          <p:nvPr/>
        </p:nvSpPr>
        <p:spPr>
          <a:xfrm xmlns:a="http://schemas.openxmlformats.org/drawingml/2006/main">
            <a:off x="723900" y="2762250"/>
            <a:ext cx="13792200" cy="4090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506476"/>
                </a:solidFill>
                <a:latin typeface="Arial"/>
                <a:ea typeface="Arial"/>
                <a:cs typeface="Arial"/>
              </a:defRPr>
            </a:pPr>
            <a:r>
              <a:rPr sz="2025" b="0">
                <a:solidFill>
                  <a:srgbClr val="506476"/>
                </a:solidFill>
                <a:latin typeface="Arial"/>
                <a:ea typeface="Arial"/>
                <a:cs typeface="Arial"/>
              </a:rPr>
              <a:t>Opened at 24.5 s; best frame at 25.0 s</a:t>
            </a:r>
          </a:p>
        </p:txBody>
      </p:sp>
      <p:sp>
        <p:nvSpPr>
          <p:cNvPr id="6" name="">
            <a:extLst xmlns:a="http://schemas.openxmlformats.org/drawingml/2006/main">
              <a:ext uri="{FF2B5EF4-FFF2-40B4-BE49-F238E27FC236}">
                <a16:creationId xmlns:a16="http://schemas.microsoft.com/office/drawing/2014/main" id="{35BBD3EA-8F85-485B-AF97-156C27BB206E}"/>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7" name="text-5">
            <a:extLst xmlns:a="http://schemas.openxmlformats.org/drawingml/2006/main">
              <a:ext uri="{FF2B5EF4-FFF2-40B4-BE49-F238E27FC236}">
                <a16:creationId xmlns:a16="http://schemas.microsoft.com/office/drawing/2014/main" id="{528D5CA0-5CE4-462F-8384-A0DFDFACE86D}"/>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Negative fixture</a:t>
            </a:r>
          </a:p>
        </p:txBody>
      </p:sp>
      <p:sp>
        <p:nvSpPr>
          <p:cNvPr id="8" name="text-6">
            <a:extLst xmlns:a="http://schemas.openxmlformats.org/drawingml/2006/main">
              <a:ext uri="{FF2B5EF4-FFF2-40B4-BE49-F238E27FC236}">
                <a16:creationId xmlns:a16="http://schemas.microsoft.com/office/drawing/2014/main" id="{BD2DBF7C-E4E6-45A6-8EE4-2FEF86B6E75E}"/>
              </a:ext>
            </a:extLst>
          </p:cNvPr>
          <p:cNvSpPr>
            <a:spLocks xmlns:a="http://schemas.openxmlformats.org/drawingml/2006/main" noGrp="1"/>
          </p:cNvSpPr>
          <p:nvPr/>
        </p:nvSpPr>
        <p:spPr>
          <a:xfrm xmlns:a="http://schemas.openxmlformats.org/drawingml/2006/main">
            <a:off x="723900" y="3714750"/>
            <a:ext cx="13792200" cy="4903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550" b="1">
                <a:solidFill>
                  <a:srgbClr val="102C43"/>
                </a:solidFill>
                <a:latin typeface="Arial"/>
                <a:ea typeface="Arial"/>
                <a:cs typeface="Arial"/>
              </a:defRPr>
            </a:pPr>
            <a:r>
              <a:rPr sz="2550" b="1">
                <a:solidFill>
                  <a:srgbClr val="102C43"/>
                </a:solidFill>
                <a:latin typeface="Arial"/>
                <a:ea typeface="Arial"/>
                <a:cs typeface="Arial"/>
              </a:rPr>
              <a:t>26 analyzed frames; 0 episodes</a:t>
            </a:r>
          </a:p>
        </p:txBody>
      </p:sp>
      <p:sp>
        <p:nvSpPr>
          <p:cNvPr id="9" name="text-7">
            <a:extLst xmlns:a="http://schemas.openxmlformats.org/drawingml/2006/main">
              <a:ext uri="{FF2B5EF4-FFF2-40B4-BE49-F238E27FC236}">
                <a16:creationId xmlns:a16="http://schemas.microsoft.com/office/drawing/2014/main" id="{66A105B2-81C2-41AB-A14B-98B71E1789BB}"/>
              </a:ext>
            </a:extLst>
          </p:cNvPr>
          <p:cNvSpPr>
            <a:spLocks xmlns:a="http://schemas.openxmlformats.org/drawingml/2006/main" noGrp="1"/>
          </p:cNvSpPr>
          <p:nvPr/>
        </p:nvSpPr>
        <p:spPr>
          <a:xfrm xmlns:a="http://schemas.openxmlformats.org/drawingml/2006/main">
            <a:off x="723900" y="4152900"/>
            <a:ext cx="13792200" cy="4090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506476"/>
                </a:solidFill>
                <a:latin typeface="Arial"/>
                <a:ea typeface="Arial"/>
                <a:cs typeface="Arial"/>
              </a:defRPr>
            </a:pPr>
            <a:r>
              <a:rPr sz="2025" b="0">
                <a:solidFill>
                  <a:srgbClr val="506476"/>
                </a:solidFill>
                <a:latin typeface="Arial"/>
                <a:ea typeface="Arial"/>
                <a:cs typeface="Arial"/>
              </a:rPr>
              <a:t>No openings in either fixture's false-positive zones</a:t>
            </a:r>
          </a:p>
        </p:txBody>
      </p:sp>
      <p:sp>
        <p:nvSpPr>
          <p:cNvPr id="10" name="">
            <a:extLst xmlns:a="http://schemas.openxmlformats.org/drawingml/2006/main">
              <a:ext uri="{FF2B5EF4-FFF2-40B4-BE49-F238E27FC236}">
                <a16:creationId xmlns:a16="http://schemas.microsoft.com/office/drawing/2014/main" id="{23DFFFB3-D248-425C-90CD-7FC32FAC4841}"/>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1" name="text-8">
            <a:extLst xmlns:a="http://schemas.openxmlformats.org/drawingml/2006/main">
              <a:ext uri="{FF2B5EF4-FFF2-40B4-BE49-F238E27FC236}">
                <a16:creationId xmlns:a16="http://schemas.microsoft.com/office/drawing/2014/main" id="{6A3812B9-EAE8-41F0-ACA6-666572153380}"/>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Detection delay</a:t>
            </a:r>
          </a:p>
        </p:txBody>
      </p:sp>
      <p:sp>
        <p:nvSpPr>
          <p:cNvPr id="12" name="text-9">
            <a:extLst xmlns:a="http://schemas.openxmlformats.org/drawingml/2006/main">
              <a:ext uri="{FF2B5EF4-FFF2-40B4-BE49-F238E27FC236}">
                <a16:creationId xmlns:a16="http://schemas.microsoft.com/office/drawing/2014/main" id="{CDC6D0DB-184A-4B32-BBB7-F57018C02F73}"/>
              </a:ext>
            </a:extLst>
          </p:cNvPr>
          <p:cNvSpPr>
            <a:spLocks xmlns:a="http://schemas.openxmlformats.org/drawingml/2006/main" noGrp="1"/>
          </p:cNvSpPr>
          <p:nvPr/>
        </p:nvSpPr>
        <p:spPr>
          <a:xfrm xmlns:a="http://schemas.openxmlformats.org/drawingml/2006/main">
            <a:off x="723900" y="5105400"/>
            <a:ext cx="13792200" cy="4903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550" b="1">
                <a:solidFill>
                  <a:srgbClr val="102C43"/>
                </a:solidFill>
                <a:latin typeface="Arial"/>
                <a:ea typeface="Arial"/>
                <a:cs typeface="Arial"/>
              </a:defRPr>
            </a:pPr>
            <a:r>
              <a:rPr sz="2550" b="1">
                <a:solidFill>
                  <a:srgbClr val="102C43"/>
                </a:solidFill>
                <a:latin typeface="Arial"/>
                <a:ea typeface="Arial"/>
                <a:cs typeface="Arial"/>
              </a:rPr>
              <a:t>6.2 s after the expected zone begins</a:t>
            </a:r>
          </a:p>
        </p:txBody>
      </p:sp>
      <p:sp>
        <p:nvSpPr>
          <p:cNvPr id="13" name="text-10">
            <a:extLst xmlns:a="http://schemas.openxmlformats.org/drawingml/2006/main">
              <a:ext uri="{FF2B5EF4-FFF2-40B4-BE49-F238E27FC236}">
                <a16:creationId xmlns:a16="http://schemas.microsoft.com/office/drawing/2014/main" id="{41DEA36F-AE61-4C3B-8103-8ED06E6D59B7}"/>
              </a:ext>
            </a:extLst>
          </p:cNvPr>
          <p:cNvSpPr>
            <a:spLocks xmlns:a="http://schemas.openxmlformats.org/drawingml/2006/main" noGrp="1"/>
          </p:cNvSpPr>
          <p:nvPr/>
        </p:nvSpPr>
        <p:spPr>
          <a:xfrm xmlns:a="http://schemas.openxmlformats.org/drawingml/2006/main">
            <a:off x="723900" y="5543550"/>
            <a:ext cx="13792200" cy="4090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506476"/>
                </a:solidFill>
                <a:latin typeface="Arial"/>
                <a:ea typeface="Arial"/>
                <a:cs typeface="Arial"/>
              </a:defRPr>
            </a:pPr>
            <a:r>
              <a:rPr sz="2025" b="0">
                <a:solidFill>
                  <a:srgbClr val="506476"/>
                </a:solidFill>
                <a:latin typeface="Arial"/>
                <a:ea typeface="Arial"/>
                <a:cs typeface="Arial"/>
              </a:rPr>
              <a:t>The expected interval begins at 18.3 s</a:t>
            </a:r>
          </a:p>
        </p:txBody>
      </p:sp>
      <p:sp>
        <p:nvSpPr>
          <p:cNvPr id="14" name="">
            <a:extLst xmlns:a="http://schemas.openxmlformats.org/drawingml/2006/main">
              <a:ext uri="{FF2B5EF4-FFF2-40B4-BE49-F238E27FC236}">
                <a16:creationId xmlns:a16="http://schemas.microsoft.com/office/drawing/2014/main" id="{9E23D28F-555D-4940-8ED1-F540BC254E9B}"/>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5" name="text-11">
            <a:extLst xmlns:a="http://schemas.openxmlformats.org/drawingml/2006/main">
              <a:ext uri="{FF2B5EF4-FFF2-40B4-BE49-F238E27FC236}">
                <a16:creationId xmlns:a16="http://schemas.microsoft.com/office/drawing/2014/main" id="{F5EF7BFF-3908-4BD0-BE60-52871E453915}"/>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Evidence strength</a:t>
            </a:r>
          </a:p>
        </p:txBody>
      </p:sp>
      <p:sp>
        <p:nvSpPr>
          <p:cNvPr id="16" name="text-12">
            <a:extLst xmlns:a="http://schemas.openxmlformats.org/drawingml/2006/main">
              <a:ext uri="{FF2B5EF4-FFF2-40B4-BE49-F238E27FC236}">
                <a16:creationId xmlns:a16="http://schemas.microsoft.com/office/drawing/2014/main" id="{C93ECEFC-5250-47F2-BB4D-C8549D1EA3BD}"/>
              </a:ext>
            </a:extLst>
          </p:cNvPr>
          <p:cNvSpPr>
            <a:spLocks xmlns:a="http://schemas.openxmlformats.org/drawingml/2006/main" noGrp="1"/>
          </p:cNvSpPr>
          <p:nvPr/>
        </p:nvSpPr>
        <p:spPr>
          <a:xfrm xmlns:a="http://schemas.openxmlformats.org/drawingml/2006/main">
            <a:off x="723900" y="6496050"/>
            <a:ext cx="13792200" cy="4903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550" b="1">
                <a:solidFill>
                  <a:srgbClr val="102C43"/>
                </a:solidFill>
                <a:latin typeface="Arial"/>
                <a:ea typeface="Arial"/>
                <a:cs typeface="Arial"/>
              </a:defRPr>
            </a:pPr>
            <a:r>
              <a:rPr sz="2550" b="1">
                <a:solidFill>
                  <a:srgbClr val="102C43"/>
                </a:solidFill>
                <a:latin typeface="Arial"/>
                <a:ea typeface="Arial"/>
                <a:cs typeface="Arial"/>
              </a:rPr>
              <a:t>Best distance 0.34894; threshold 0.42939</a:t>
            </a:r>
          </a:p>
        </p:txBody>
      </p:sp>
      <p:sp>
        <p:nvSpPr>
          <p:cNvPr id="17" name="text-13">
            <a:extLst xmlns:a="http://schemas.openxmlformats.org/drawingml/2006/main">
              <a:ext uri="{FF2B5EF4-FFF2-40B4-BE49-F238E27FC236}">
                <a16:creationId xmlns:a16="http://schemas.microsoft.com/office/drawing/2014/main" id="{E94F7F49-290B-40C2-84AD-BF2870C498CC}"/>
              </a:ext>
            </a:extLst>
          </p:cNvPr>
          <p:cNvSpPr>
            <a:spLocks xmlns:a="http://schemas.openxmlformats.org/drawingml/2006/main" noGrp="1"/>
          </p:cNvSpPr>
          <p:nvPr/>
        </p:nvSpPr>
        <p:spPr>
          <a:xfrm xmlns:a="http://schemas.openxmlformats.org/drawingml/2006/main">
            <a:off x="723900" y="6934200"/>
            <a:ext cx="13792200" cy="4090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506476"/>
                </a:solidFill>
                <a:latin typeface="Arial"/>
                <a:ea typeface="Arial"/>
                <a:cs typeface="Arial"/>
              </a:defRPr>
            </a:pPr>
            <a:r>
              <a:rPr sz="2025" b="0">
                <a:solidFill>
                  <a:srgbClr val="506476"/>
                </a:solidFill>
                <a:latin typeface="Arial"/>
                <a:ea typeface="Arial"/>
                <a:cs typeface="Arial"/>
              </a:rPr>
              <a:t>Closest false-positive-zone distance across fixtures: 0.90553</a:t>
            </a:r>
          </a:p>
        </p:txBody>
      </p:sp>
      <p:sp>
        <p:nvSpPr>
          <p:cNvPr id="18" name="text-14">
            <a:extLst xmlns:a="http://schemas.openxmlformats.org/drawingml/2006/main">
              <a:ext uri="{FF2B5EF4-FFF2-40B4-BE49-F238E27FC236}">
                <a16:creationId xmlns:a16="http://schemas.microsoft.com/office/drawing/2014/main" id="{899030AF-94E8-4B7B-A5EC-EC4AE6472DD5}"/>
              </a:ext>
            </a:extLst>
          </p:cNvPr>
          <p:cNvSpPr>
            <a:spLocks xmlns:a="http://schemas.openxmlformats.org/drawingml/2006/main" noGrp="1"/>
          </p:cNvSpPr>
          <p:nvPr/>
        </p:nvSpPr>
        <p:spPr>
          <a:xfrm xmlns:a="http://schemas.openxmlformats.org/drawingml/2006/main">
            <a:off x="723900" y="7648575"/>
            <a:ext cx="137922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506476"/>
                </a:solidFill>
                <a:latin typeface="Arial"/>
                <a:ea typeface="Arial"/>
                <a:cs typeface="Arial"/>
              </a:defRPr>
            </a:pPr>
            <a:r>
              <a:rPr sz="1875" b="0">
                <a:solidFill>
                  <a:srgbClr val="506476"/>
                </a:solidFill>
                <a:latin typeface="Arial"/>
                <a:ea typeface="Arial"/>
                <a:cs typeface="Arial"/>
              </a:rPr>
              <a:t>Zero dropped frames in these deterministic runs. Phone behavior is unmeasured.</a:t>
            </a:r>
          </a:p>
        </p:txBody>
      </p:sp>
      <p:sp>
        <p:nvSpPr>
          <p:cNvPr id="19" name="text-15">
            <a:extLst xmlns:a="http://schemas.openxmlformats.org/drawingml/2006/main">
              <a:ext uri="{FF2B5EF4-FFF2-40B4-BE49-F238E27FC236}">
                <a16:creationId xmlns:a16="http://schemas.microsoft.com/office/drawing/2014/main" id="{B93549F6-B326-44EF-AFDD-3338AA87F4CD}"/>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20" name="text-16">
            <a:extLst xmlns:a="http://schemas.openxmlformats.org/drawingml/2006/main">
              <a:ext uri="{FF2B5EF4-FFF2-40B4-BE49-F238E27FC236}">
                <a16:creationId xmlns:a16="http://schemas.microsoft.com/office/drawing/2014/main" id="{F1977488-DCBF-4F80-93CF-77CB4351BA7B}"/>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596fe28b6afe4104"/>
              </a:rPr>
              <a:t>Positive evaluation</a:t>
            </a:r>
          </a:p>
        </p:txBody>
      </p:sp>
      <p:sp>
        <p:nvSpPr>
          <p:cNvPr id="21" name="text-17">
            <a:extLst xmlns:a="http://schemas.openxmlformats.org/drawingml/2006/main">
              <a:ext uri="{FF2B5EF4-FFF2-40B4-BE49-F238E27FC236}">
                <a16:creationId xmlns:a16="http://schemas.microsoft.com/office/drawing/2014/main" id="{6ECA65BA-23B7-472A-A0F4-3BC23CBAF1C6}"/>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e42b4e40c22049b0"/>
              </a:rPr>
              <a:t>Negative evaluation</a:t>
            </a:r>
          </a:p>
        </p:txBody>
      </p:sp>
      <p:sp>
        <p:nvSpPr>
          <p:cNvPr id="22" name="text-18">
            <a:extLst xmlns:a="http://schemas.openxmlformats.org/drawingml/2006/main">
              <a:ext uri="{FF2B5EF4-FFF2-40B4-BE49-F238E27FC236}">
                <a16:creationId xmlns:a16="http://schemas.microsoft.com/office/drawing/2014/main" id="{223059DA-0501-400F-8BBF-EF809BF720D7}"/>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d7633458efb24b80"/>
              </a:rPr>
              <a:t>Positive report</a:t>
            </a:r>
          </a:p>
        </p:txBody>
      </p:sp>
      <p:sp>
        <p:nvSpPr>
          <p:cNvPr id="23" name="text-19">
            <a:extLst xmlns:a="http://schemas.openxmlformats.org/drawingml/2006/main">
              <a:ext uri="{FF2B5EF4-FFF2-40B4-BE49-F238E27FC236}">
                <a16:creationId xmlns:a16="http://schemas.microsoft.com/office/drawing/2014/main" id="{F6C88562-F37D-493F-9841-A2D6EA09F205}"/>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24</a:t>
            </a:r>
          </a:p>
        </p:txBody>
      </p:sp>
    </p:spTree>
    <p:extLst>
      <p:ext uri="{BB962C8B-B14F-4D97-AF65-F5344CB8AC3E}">
        <p14:creationId xmlns:p14="http://schemas.microsoft.com/office/powerpoint/2010/main" val="103523041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ED552FE0-17E1-41EF-B12A-6151C2E6CAF8}"/>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Mac and iPhone comparison</a:t>
            </a:r>
          </a:p>
        </p:txBody>
      </p:sp>
      <p:sp>
        <p:nvSpPr>
          <p:cNvPr id="2" name="text-1">
            <a:extLst xmlns:a="http://schemas.openxmlformats.org/drawingml/2006/main">
              <a:ext uri="{FF2B5EF4-FFF2-40B4-BE49-F238E27FC236}">
                <a16:creationId xmlns:a16="http://schemas.microsoft.com/office/drawing/2014/main" id="{47129E74-7F84-42C6-8DD9-2ADF16CA4FB6}"/>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Match evidence first, then compare decisions</a:t>
            </a:r>
          </a:p>
        </p:txBody>
      </p:sp>
      <p:sp>
        <p:nvSpPr>
          <p:cNvPr id="3" name="text-2">
            <a:extLst xmlns:a="http://schemas.openxmlformats.org/drawingml/2006/main">
              <a:ext uri="{FF2B5EF4-FFF2-40B4-BE49-F238E27FC236}">
                <a16:creationId xmlns:a16="http://schemas.microsoft.com/office/drawing/2014/main" id="{8EF5A937-0A37-46DA-AEF8-65D1CBD42C90}"/>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Prerequisites</a:t>
            </a:r>
          </a:p>
        </p:txBody>
      </p:sp>
      <p:sp>
        <p:nvSpPr>
          <p:cNvPr id="4" name="text-3">
            <a:extLst xmlns:a="http://schemas.openxmlformats.org/drawingml/2006/main">
              <a:ext uri="{FF2B5EF4-FFF2-40B4-BE49-F238E27FC236}">
                <a16:creationId xmlns:a16="http://schemas.microsoft.com/office/drawing/2014/main" id="{83BF7872-FA1C-4B9D-AB1A-DD2828A8BEB2}"/>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Same inputs, reference, profile, frame IDs, and timestamps</a:t>
            </a:r>
          </a:p>
        </p:txBody>
      </p:sp>
      <p:sp>
        <p:nvSpPr>
          <p:cNvPr id="5" name="">
            <a:extLst xmlns:a="http://schemas.openxmlformats.org/drawingml/2006/main">
              <a:ext uri="{FF2B5EF4-FFF2-40B4-BE49-F238E27FC236}">
                <a16:creationId xmlns:a16="http://schemas.microsoft.com/office/drawing/2014/main" id="{90C6F4A7-9D0B-4B87-ACF8-54166DD0474D}"/>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8ACA125E-E742-4D15-8B29-2ACEE1F80454}"/>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Completeness</a:t>
            </a:r>
          </a:p>
        </p:txBody>
      </p:sp>
      <p:sp>
        <p:nvSpPr>
          <p:cNvPr id="7" name="text-5">
            <a:extLst xmlns:a="http://schemas.openxmlformats.org/drawingml/2006/main">
              <a:ext uri="{FF2B5EF4-FFF2-40B4-BE49-F238E27FC236}">
                <a16:creationId xmlns:a16="http://schemas.microsoft.com/office/drawing/2014/main" id="{401C83C5-1AAC-4586-92DA-80CF1F8B50B7}"/>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Both fixtures, normal exhaustion, zero drops, contiguous slots</a:t>
            </a:r>
          </a:p>
        </p:txBody>
      </p:sp>
      <p:sp>
        <p:nvSpPr>
          <p:cNvPr id="8" name="">
            <a:extLst xmlns:a="http://schemas.openxmlformats.org/drawingml/2006/main">
              <a:ext uri="{FF2B5EF4-FFF2-40B4-BE49-F238E27FC236}">
                <a16:creationId xmlns:a16="http://schemas.microsoft.com/office/drawing/2014/main" id="{81503047-78AE-4B15-ACFC-28C910BB14B4}"/>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DC86CBC4-0216-43AA-BE81-494773C49977}"/>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Agreement</a:t>
            </a:r>
          </a:p>
        </p:txBody>
      </p:sp>
      <p:sp>
        <p:nvSpPr>
          <p:cNvPr id="10" name="text-7">
            <a:extLst xmlns:a="http://schemas.openxmlformats.org/drawingml/2006/main">
              <a:ext uri="{FF2B5EF4-FFF2-40B4-BE49-F238E27FC236}">
                <a16:creationId xmlns:a16="http://schemas.microsoft.com/office/drawing/2014/main" id="{8AC51944-9C1B-4EEA-9F96-69D60AB0BE8C}"/>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Every sampled frame is on the same side of the threshold</a:t>
            </a:r>
          </a:p>
        </p:txBody>
      </p:sp>
      <p:sp>
        <p:nvSpPr>
          <p:cNvPr id="11" name="">
            <a:extLst xmlns:a="http://schemas.openxmlformats.org/drawingml/2006/main">
              <a:ext uri="{FF2B5EF4-FFF2-40B4-BE49-F238E27FC236}">
                <a16:creationId xmlns:a16="http://schemas.microsoft.com/office/drawing/2014/main" id="{3DCF039A-500E-401B-A1BD-50F0DEAF1B3E}"/>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1A2B14AC-51AB-482F-8B34-7349D0F4EF94}"/>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Outcomes</a:t>
            </a:r>
          </a:p>
        </p:txBody>
      </p:sp>
      <p:sp>
        <p:nvSpPr>
          <p:cNvPr id="13" name="text-9">
            <a:extLst xmlns:a="http://schemas.openxmlformats.org/drawingml/2006/main">
              <a:ext uri="{FF2B5EF4-FFF2-40B4-BE49-F238E27FC236}">
                <a16:creationId xmlns:a16="http://schemas.microsoft.com/office/drawing/2014/main" id="{C5500146-4593-4493-B4EC-B771DF10C177}"/>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0 = agreement; 2 = changed decisions; 1 = failed or invalid evidence</a:t>
            </a:r>
          </a:p>
        </p:txBody>
      </p:sp>
      <p:sp>
        <p:nvSpPr>
          <p:cNvPr id="14" name="text-10">
            <a:extLst xmlns:a="http://schemas.openxmlformats.org/drawingml/2006/main">
              <a:ext uri="{FF2B5EF4-FFF2-40B4-BE49-F238E27FC236}">
                <a16:creationId xmlns:a16="http://schemas.microsoft.com/office/drawing/2014/main" id="{9AD6D2D2-FD46-47AF-BB3B-6FD3AB8E2802}"/>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1">
            <a:extLst xmlns:a="http://schemas.openxmlformats.org/drawingml/2006/main">
              <a:ext uri="{FF2B5EF4-FFF2-40B4-BE49-F238E27FC236}">
                <a16:creationId xmlns:a16="http://schemas.microsoft.com/office/drawing/2014/main" id="{E2A77C7E-3684-4F7D-96AD-8CCD505A6E19}"/>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bbb59a69c00044e0"/>
              </a:rPr>
              <a:t>Comparator</a:t>
            </a:r>
          </a:p>
        </p:txBody>
      </p:sp>
      <p:sp>
        <p:nvSpPr>
          <p:cNvPr id="16" name="text-12">
            <a:extLst xmlns:a="http://schemas.openxmlformats.org/drawingml/2006/main">
              <a:ext uri="{FF2B5EF4-FFF2-40B4-BE49-F238E27FC236}">
                <a16:creationId xmlns:a16="http://schemas.microsoft.com/office/drawing/2014/main" id="{8BB5543D-E914-456E-9641-51051D1A80BC}"/>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1c69e01ff28b4aa1"/>
              </a:rPr>
              <a:t>Evaluation CLI</a:t>
            </a:r>
          </a:p>
        </p:txBody>
      </p:sp>
      <p:sp>
        <p:nvSpPr>
          <p:cNvPr id="17" name="text-13">
            <a:extLst xmlns:a="http://schemas.openxmlformats.org/drawingml/2006/main">
              <a:ext uri="{FF2B5EF4-FFF2-40B4-BE49-F238E27FC236}">
                <a16:creationId xmlns:a16="http://schemas.microsoft.com/office/drawing/2014/main" id="{E1D5B296-9D0D-4796-B6AE-F7E72A558936}"/>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b1567dd57eee49e1"/>
              </a:rPr>
              <a:t>Comparator tests</a:t>
            </a:r>
          </a:p>
        </p:txBody>
      </p:sp>
      <p:sp>
        <p:nvSpPr>
          <p:cNvPr id="18" name="text-14">
            <a:extLst xmlns:a="http://schemas.openxmlformats.org/drawingml/2006/main">
              <a:ext uri="{FF2B5EF4-FFF2-40B4-BE49-F238E27FC236}">
                <a16:creationId xmlns:a16="http://schemas.microsoft.com/office/drawing/2014/main" id="{D418A3F8-D2BC-41C3-B4A4-4FFD1E9A691C}"/>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25</a:t>
            </a:r>
          </a:p>
        </p:txBody>
      </p:sp>
    </p:spTree>
    <p:extLst>
      <p:ext uri="{BB962C8B-B14F-4D97-AF65-F5344CB8AC3E}">
        <p14:creationId xmlns:p14="http://schemas.microsoft.com/office/powerpoint/2010/main" val="187140031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text-0">
            <a:extLst xmlns:a="http://schemas.openxmlformats.org/drawingml/2006/main">
              <a:ext uri="{FF2B5EF4-FFF2-40B4-BE49-F238E27FC236}">
                <a16:creationId xmlns:a16="http://schemas.microsoft.com/office/drawing/2014/main" id="{0DD35D5D-6D4A-46FB-9C8C-4BACFF135CE5}"/>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Diagnostic app boundary</a:t>
            </a:r>
          </a:p>
        </p:txBody>
      </p:sp>
      <p:sp>
        <p:nvSpPr>
          <p:cNvPr id="2" name="text-1">
            <a:extLst xmlns:a="http://schemas.openxmlformats.org/drawingml/2006/main">
              <a:ext uri="{FF2B5EF4-FFF2-40B4-BE49-F238E27FC236}">
                <a16:creationId xmlns:a16="http://schemas.microsoft.com/office/drawing/2014/main" id="{D25A32D0-4AA9-4FBB-B0EF-B573F6D062DD}"/>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Offline package behavior inside a debug-only host</a:t>
            </a:r>
          </a:p>
        </p:txBody>
      </p:sp>
      <p:sp>
        <p:nvSpPr>
          <p:cNvPr id="3" name="">
            <a:extLst xmlns:a="http://schemas.openxmlformats.org/drawingml/2006/main">
              <a:ext uri="{FF2B5EF4-FFF2-40B4-BE49-F238E27FC236}">
                <a16:creationId xmlns:a16="http://schemas.microsoft.com/office/drawing/2014/main" id="{6D9678EB-5040-454D-84CE-DAD4348C6A52}"/>
              </a:ext>
            </a:extLst>
          </p:cNvPr>
          <p:cNvSpPr>
            <a:spLocks xmlns:a="http://schemas.openxmlformats.org/drawingml/2006/main" noGrp="1"/>
          </p:cNvSpPr>
          <p:nvPr/>
        </p:nvSpPr>
        <p:spPr>
          <a:xfrm xmlns:a="http://schemas.openxmlformats.org/drawingml/2006/main">
            <a:off x="1714500" y="20193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4" name="text-2">
            <a:extLst xmlns:a="http://schemas.openxmlformats.org/drawingml/2006/main">
              <a:ext uri="{FF2B5EF4-FFF2-40B4-BE49-F238E27FC236}">
                <a16:creationId xmlns:a16="http://schemas.microsoft.com/office/drawing/2014/main" id="{7B4DF727-EB63-4AD5-AF73-D7B797EA3D9C}"/>
              </a:ext>
            </a:extLst>
          </p:cNvPr>
          <p:cNvSpPr>
            <a:spLocks xmlns:a="http://schemas.openxmlformats.org/drawingml/2006/main" noGrp="1"/>
          </p:cNvSpPr>
          <p:nvPr/>
        </p:nvSpPr>
        <p:spPr>
          <a:xfrm xmlns:a="http://schemas.openxmlformats.org/drawingml/2006/main">
            <a:off x="1905000" y="21050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Choose the diagnostic startup route</a:t>
            </a:r>
          </a:p>
        </p:txBody>
      </p:sp>
      <p:sp>
        <p:nvSpPr>
          <p:cNvPr id="5" name="text-3">
            <a:extLst xmlns:a="http://schemas.openxmlformats.org/drawingml/2006/main">
              <a:ext uri="{FF2B5EF4-FFF2-40B4-BE49-F238E27FC236}">
                <a16:creationId xmlns:a16="http://schemas.microsoft.com/office/drawing/2014/main" id="{666F950A-496D-4E09-8281-6C0667A2348B}"/>
              </a:ext>
            </a:extLst>
          </p:cNvPr>
          <p:cNvSpPr>
            <a:spLocks xmlns:a="http://schemas.openxmlformats.org/drawingml/2006/main" noGrp="1"/>
          </p:cNvSpPr>
          <p:nvPr/>
        </p:nvSpPr>
        <p:spPr>
          <a:xfrm xmlns:a="http://schemas.openxmlformats.org/drawingml/2006/main">
            <a:off x="1905000" y="25050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Xcode arguments or environment select the harness</a:t>
            </a:r>
          </a:p>
        </p:txBody>
      </p:sp>
      <p:sp>
        <p:nvSpPr>
          <p:cNvPr id="6" name="">
            <a:extLst xmlns:a="http://schemas.openxmlformats.org/drawingml/2006/main">
              <a:ext uri="{FF2B5EF4-FFF2-40B4-BE49-F238E27FC236}">
                <a16:creationId xmlns:a16="http://schemas.microsoft.com/office/drawing/2014/main" id="{DAD4D621-1667-4852-BA8C-037901B985BB}"/>
              </a:ext>
            </a:extLst>
          </p:cNvPr>
          <p:cNvSpPr>
            <a:spLocks xmlns:a="http://schemas.openxmlformats.org/drawingml/2006/main" noGrp="1"/>
          </p:cNvSpPr>
          <p:nvPr/>
        </p:nvSpPr>
        <p:spPr>
          <a:xfrm xmlns:a="http://schemas.openxmlformats.org/drawingml/2006/main">
            <a:off x="7524750" y="30575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ABDF2B8B-B56D-423C-AD0F-ACC32AA7C8EE}"/>
              </a:ext>
            </a:extLst>
          </p:cNvPr>
          <p:cNvSpPr>
            <a:spLocks xmlns:a="http://schemas.openxmlformats.org/drawingml/2006/main" noGrp="1"/>
          </p:cNvSpPr>
          <p:nvPr/>
        </p:nvSpPr>
        <p:spPr>
          <a:xfrm xmlns:a="http://schemas.openxmlformats.org/drawingml/2006/main">
            <a:off x="1714500" y="34290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8" name="text-4">
            <a:extLst xmlns:a="http://schemas.openxmlformats.org/drawingml/2006/main">
              <a:ext uri="{FF2B5EF4-FFF2-40B4-BE49-F238E27FC236}">
                <a16:creationId xmlns:a16="http://schemas.microsoft.com/office/drawing/2014/main" id="{32D52B57-F58F-476A-873B-32ED4757A62E}"/>
              </a:ext>
            </a:extLst>
          </p:cNvPr>
          <p:cNvSpPr>
            <a:spLocks xmlns:a="http://schemas.openxmlformats.org/drawingml/2006/main" noGrp="1"/>
          </p:cNvSpPr>
          <p:nvPr/>
        </p:nvSpPr>
        <p:spPr>
          <a:xfrm xmlns:a="http://schemas.openxmlformats.org/drawingml/2006/main">
            <a:off x="1905000" y="35147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Bypass normal services</a:t>
            </a:r>
          </a:p>
        </p:txBody>
      </p:sp>
      <p:sp>
        <p:nvSpPr>
          <p:cNvPr id="9" name="text-5">
            <a:extLst xmlns:a="http://schemas.openxmlformats.org/drawingml/2006/main">
              <a:ext uri="{FF2B5EF4-FFF2-40B4-BE49-F238E27FC236}">
                <a16:creationId xmlns:a16="http://schemas.microsoft.com/office/drawing/2014/main" id="{EC45C1B0-3655-4C62-A0E8-ACD402DCAEEF}"/>
              </a:ext>
            </a:extLst>
          </p:cNvPr>
          <p:cNvSpPr>
            <a:spLocks xmlns:a="http://schemas.openxmlformats.org/drawingml/2006/main" noGrp="1"/>
          </p:cNvSpPr>
          <p:nvPr/>
        </p:nvSpPr>
        <p:spPr>
          <a:xfrm xmlns:a="http://schemas.openxmlformats.org/drawingml/2006/main">
            <a:off x="1905000" y="39147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Do not initialize Firebase or authentication</a:t>
            </a:r>
          </a:p>
        </p:txBody>
      </p:sp>
      <p:sp>
        <p:nvSpPr>
          <p:cNvPr id="10" name="">
            <a:extLst xmlns:a="http://schemas.openxmlformats.org/drawingml/2006/main">
              <a:ext uri="{FF2B5EF4-FFF2-40B4-BE49-F238E27FC236}">
                <a16:creationId xmlns:a16="http://schemas.microsoft.com/office/drawing/2014/main" id="{70112CFA-ED99-4C81-8E59-F8B0573555AC}"/>
              </a:ext>
            </a:extLst>
          </p:cNvPr>
          <p:cNvSpPr>
            <a:spLocks xmlns:a="http://schemas.openxmlformats.org/drawingml/2006/main" noGrp="1"/>
          </p:cNvSpPr>
          <p:nvPr/>
        </p:nvSpPr>
        <p:spPr>
          <a:xfrm xmlns:a="http://schemas.openxmlformats.org/drawingml/2006/main">
            <a:off x="7524750" y="44672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2E2847C2-DFE3-4756-898B-A54CE4F2988F}"/>
              </a:ext>
            </a:extLst>
          </p:cNvPr>
          <p:cNvSpPr>
            <a:spLocks xmlns:a="http://schemas.openxmlformats.org/drawingml/2006/main" noGrp="1"/>
          </p:cNvSpPr>
          <p:nvPr/>
        </p:nvSpPr>
        <p:spPr>
          <a:xfrm xmlns:a="http://schemas.openxmlformats.org/drawingml/2006/main">
            <a:off x="1714500" y="48387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2" name="text-6">
            <a:extLst xmlns:a="http://schemas.openxmlformats.org/drawingml/2006/main">
              <a:ext uri="{FF2B5EF4-FFF2-40B4-BE49-F238E27FC236}">
                <a16:creationId xmlns:a16="http://schemas.microsoft.com/office/drawing/2014/main" id="{31BA6FDB-815C-44AA-A4EA-D26564A9B184}"/>
              </a:ext>
            </a:extLst>
          </p:cNvPr>
          <p:cNvSpPr>
            <a:spLocks xmlns:a="http://schemas.openxmlformats.org/drawingml/2006/main" noGrp="1"/>
          </p:cNvSpPr>
          <p:nvPr/>
        </p:nvSpPr>
        <p:spPr>
          <a:xfrm xmlns:a="http://schemas.openxmlformats.org/drawingml/2006/main">
            <a:off x="1905000" y="49244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Run the shared pipeline</a:t>
            </a:r>
          </a:p>
        </p:txBody>
      </p:sp>
      <p:sp>
        <p:nvSpPr>
          <p:cNvPr id="13" name="text-7">
            <a:extLst xmlns:a="http://schemas.openxmlformats.org/drawingml/2006/main">
              <a:ext uri="{FF2B5EF4-FFF2-40B4-BE49-F238E27FC236}">
                <a16:creationId xmlns:a16="http://schemas.microsoft.com/office/drawing/2014/main" id="{3E738F38-D20F-460C-AA76-E7B321F0A875}"/>
              </a:ext>
            </a:extLst>
          </p:cNvPr>
          <p:cNvSpPr>
            <a:spLocks xmlns:a="http://schemas.openxmlformats.org/drawingml/2006/main" noGrp="1"/>
          </p:cNvSpPr>
          <p:nvPr/>
        </p:nvSpPr>
        <p:spPr>
          <a:xfrm xmlns:a="http://schemas.openxmlformats.org/drawingml/2006/main">
            <a:off x="1905000" y="53244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Main-actor model manages playback, updates, and reports</a:t>
            </a:r>
          </a:p>
        </p:txBody>
      </p:sp>
      <p:sp>
        <p:nvSpPr>
          <p:cNvPr id="14" name="">
            <a:extLst xmlns:a="http://schemas.openxmlformats.org/drawingml/2006/main">
              <a:ext uri="{FF2B5EF4-FFF2-40B4-BE49-F238E27FC236}">
                <a16:creationId xmlns:a16="http://schemas.microsoft.com/office/drawing/2014/main" id="{AE4A6D12-B609-491A-BE8E-C493B5D15BB8}"/>
              </a:ext>
            </a:extLst>
          </p:cNvPr>
          <p:cNvSpPr>
            <a:spLocks xmlns:a="http://schemas.openxmlformats.org/drawingml/2006/main" noGrp="1"/>
          </p:cNvSpPr>
          <p:nvPr/>
        </p:nvSpPr>
        <p:spPr>
          <a:xfrm xmlns:a="http://schemas.openxmlformats.org/drawingml/2006/main">
            <a:off x="7524750" y="58769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124722D0-1A4D-498E-A255-A91E20F134D7}"/>
              </a:ext>
            </a:extLst>
          </p:cNvPr>
          <p:cNvSpPr>
            <a:spLocks xmlns:a="http://schemas.openxmlformats.org/drawingml/2006/main" noGrp="1"/>
          </p:cNvSpPr>
          <p:nvPr/>
        </p:nvSpPr>
        <p:spPr>
          <a:xfrm xmlns:a="http://schemas.openxmlformats.org/drawingml/2006/main">
            <a:off x="1714500" y="62484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6" name="text-8">
            <a:extLst xmlns:a="http://schemas.openxmlformats.org/drawingml/2006/main">
              <a:ext uri="{FF2B5EF4-FFF2-40B4-BE49-F238E27FC236}">
                <a16:creationId xmlns:a16="http://schemas.microsoft.com/office/drawing/2014/main" id="{D4B48FFD-2BE9-4D1E-89E5-C8BD8DCC5B4C}"/>
              </a:ext>
            </a:extLst>
          </p:cNvPr>
          <p:cNvSpPr>
            <a:spLocks xmlns:a="http://schemas.openxmlformats.org/drawingml/2006/main" noGrp="1"/>
          </p:cNvSpPr>
          <p:nvPr/>
        </p:nvSpPr>
        <p:spPr>
          <a:xfrm xmlns:a="http://schemas.openxmlformats.org/drawingml/2006/main">
            <a:off x="1905000" y="63341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Keep Release separate</a:t>
            </a:r>
          </a:p>
        </p:txBody>
      </p:sp>
      <p:sp>
        <p:nvSpPr>
          <p:cNvPr id="17" name="text-9">
            <a:extLst xmlns:a="http://schemas.openxmlformats.org/drawingml/2006/main">
              <a:ext uri="{FF2B5EF4-FFF2-40B4-BE49-F238E27FC236}">
                <a16:creationId xmlns:a16="http://schemas.microsoft.com/office/drawing/2014/main" id="{F957CF9E-7CDA-45B9-90A9-5F9334EDAF86}"/>
              </a:ext>
            </a:extLst>
          </p:cNvPr>
          <p:cNvSpPr>
            <a:spLocks xmlns:a="http://schemas.openxmlformats.org/drawingml/2006/main" noGrp="1"/>
          </p:cNvSpPr>
          <p:nvPr/>
        </p:nvSpPr>
        <p:spPr>
          <a:xfrm xmlns:a="http://schemas.openxmlformats.org/drawingml/2006/main">
            <a:off x="1905000" y="67341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Exclude diagnostic code and fixture media</a:t>
            </a:r>
          </a:p>
        </p:txBody>
      </p:sp>
      <p:sp>
        <p:nvSpPr>
          <p:cNvPr id="18" name="text-10">
            <a:extLst xmlns:a="http://schemas.openxmlformats.org/drawingml/2006/main">
              <a:ext uri="{FF2B5EF4-FFF2-40B4-BE49-F238E27FC236}">
                <a16:creationId xmlns:a16="http://schemas.microsoft.com/office/drawing/2014/main" id="{F7D9517A-3D25-455A-B04D-08C87389C380}"/>
              </a:ext>
            </a:extLst>
          </p:cNvPr>
          <p:cNvSpPr>
            <a:spLocks xmlns:a="http://schemas.openxmlformats.org/drawingml/2006/main" noGrp="1"/>
          </p:cNvSpPr>
          <p:nvPr/>
        </p:nvSpPr>
        <p:spPr>
          <a:xfrm xmlns:a="http://schemas.openxmlformats.org/drawingml/2006/main">
            <a:off x="723900" y="7648575"/>
            <a:ext cx="13792200" cy="3973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506476"/>
                </a:solidFill>
                <a:latin typeface="Arial"/>
                <a:ea typeface="Arial"/>
                <a:cs typeface="Arial"/>
              </a:defRPr>
            </a:pPr>
            <a:r>
              <a:rPr sz="1950" b="0">
                <a:solidFill>
                  <a:srgbClr val="506476"/>
                </a:solidFill>
                <a:latin typeface="Arial"/>
                <a:ea typeface="Arial"/>
                <a:cs typeface="Arial"/>
              </a:rPr>
              <a:t>The ordinary app launch follows the normal sign-in route.</a:t>
            </a:r>
          </a:p>
        </p:txBody>
      </p:sp>
      <p:sp>
        <p:nvSpPr>
          <p:cNvPr id="19" name="text-11">
            <a:extLst xmlns:a="http://schemas.openxmlformats.org/drawingml/2006/main">
              <a:ext uri="{FF2B5EF4-FFF2-40B4-BE49-F238E27FC236}">
                <a16:creationId xmlns:a16="http://schemas.microsoft.com/office/drawing/2014/main" id="{459CDF21-331A-4846-BEAA-67B3D54EF854}"/>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20" name="text-12">
            <a:extLst xmlns:a="http://schemas.openxmlformats.org/drawingml/2006/main">
              <a:ext uri="{FF2B5EF4-FFF2-40B4-BE49-F238E27FC236}">
                <a16:creationId xmlns:a16="http://schemas.microsoft.com/office/drawing/2014/main" id="{C1736DF6-8A07-441F-91D0-185E1110A0EA}"/>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55c3f71112514988"/>
              </a:rPr>
              <a:t>Bootstrap</a:t>
            </a:r>
          </a:p>
        </p:txBody>
      </p:sp>
      <p:sp>
        <p:nvSpPr>
          <p:cNvPr id="21" name="text-13">
            <a:extLst xmlns:a="http://schemas.openxmlformats.org/drawingml/2006/main">
              <a:ext uri="{FF2B5EF4-FFF2-40B4-BE49-F238E27FC236}">
                <a16:creationId xmlns:a16="http://schemas.microsoft.com/office/drawing/2014/main" id="{C50651F4-F887-4647-8CA9-380016076346}"/>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17d5123fd84a4758"/>
              </a:rPr>
              <a:t>Harness model</a:t>
            </a:r>
          </a:p>
        </p:txBody>
      </p:sp>
      <p:sp>
        <p:nvSpPr>
          <p:cNvPr id="22" name="text-14">
            <a:extLst xmlns:a="http://schemas.openxmlformats.org/drawingml/2006/main">
              <a:ext uri="{FF2B5EF4-FFF2-40B4-BE49-F238E27FC236}">
                <a16:creationId xmlns:a16="http://schemas.microsoft.com/office/drawing/2014/main" id="{FD71A6CB-A4A9-4513-995C-CCF5CCA3D326}"/>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7d240d54955f4210"/>
              </a:rPr>
              <a:t>Bundle checks</a:t>
            </a:r>
          </a:p>
        </p:txBody>
      </p:sp>
      <p:sp>
        <p:nvSpPr>
          <p:cNvPr id="23" name="text-15">
            <a:extLst xmlns:a="http://schemas.openxmlformats.org/drawingml/2006/main">
              <a:ext uri="{FF2B5EF4-FFF2-40B4-BE49-F238E27FC236}">
                <a16:creationId xmlns:a16="http://schemas.microsoft.com/office/drawing/2014/main" id="{648DE176-60BE-4F6D-8598-34424D4890B3}"/>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26</a:t>
            </a:r>
          </a:p>
        </p:txBody>
      </p:sp>
    </p:spTree>
    <p:extLst>
      <p:ext uri="{BB962C8B-B14F-4D97-AF65-F5344CB8AC3E}">
        <p14:creationId xmlns:p14="http://schemas.microsoft.com/office/powerpoint/2010/main" val="83644339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text-0">
            <a:extLst xmlns:a="http://schemas.openxmlformats.org/drawingml/2006/main">
              <a:ext uri="{FF2B5EF4-FFF2-40B4-BE49-F238E27FC236}">
                <a16:creationId xmlns:a16="http://schemas.microsoft.com/office/drawing/2014/main" id="{B53056E9-1C47-4C1F-B523-21E96EA3B865}"/>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The physical-iPhone session</a:t>
            </a:r>
          </a:p>
        </p:txBody>
      </p:sp>
      <p:sp>
        <p:nvSpPr>
          <p:cNvPr id="2" name="text-1">
            <a:extLst xmlns:a="http://schemas.openxmlformats.org/drawingml/2006/main">
              <a:ext uri="{FF2B5EF4-FFF2-40B4-BE49-F238E27FC236}">
                <a16:creationId xmlns:a16="http://schemas.microsoft.com/office/drawing/2014/main" id="{E89FC5E5-4AFF-4A58-AD47-26E6CF78AB83}"/>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Manual acceptance steps still to be performed</a:t>
            </a:r>
          </a:p>
        </p:txBody>
      </p:sp>
      <p:sp>
        <p:nvSpPr>
          <p:cNvPr id="3" name="text-2">
            <a:extLst xmlns:a="http://schemas.openxmlformats.org/drawingml/2006/main">
              <a:ext uri="{FF2B5EF4-FFF2-40B4-BE49-F238E27FC236}">
                <a16:creationId xmlns:a16="http://schemas.microsoft.com/office/drawing/2014/main" id="{771BC339-752C-44B1-8AEA-BC147C085AA0}"/>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1  Launch from Xcode</a:t>
            </a:r>
          </a:p>
        </p:txBody>
      </p:sp>
      <p:sp>
        <p:nvSpPr>
          <p:cNvPr id="4" name="text-3">
            <a:extLst xmlns:a="http://schemas.openxmlformats.org/drawingml/2006/main">
              <a:ext uri="{FF2B5EF4-FFF2-40B4-BE49-F238E27FC236}">
                <a16:creationId xmlns:a16="http://schemas.microsoft.com/office/drawing/2014/main" id="{053AD340-9F1B-4E0B-9870-7C23C1928655}"/>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Select AIShop-VisionDiagnostics and the connected phone</a:t>
            </a:r>
          </a:p>
        </p:txBody>
      </p:sp>
      <p:sp>
        <p:nvSpPr>
          <p:cNvPr id="5" name="">
            <a:extLst xmlns:a="http://schemas.openxmlformats.org/drawingml/2006/main">
              <a:ext uri="{FF2B5EF4-FFF2-40B4-BE49-F238E27FC236}">
                <a16:creationId xmlns:a16="http://schemas.microsoft.com/office/drawing/2014/main" id="{55AC1C2B-533D-45B7-90D7-F2EAD794B797}"/>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B1713526-EA57-47AF-8D3A-CE26115F997B}"/>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2  Observe both fixtures</a:t>
            </a:r>
          </a:p>
        </p:txBody>
      </p:sp>
      <p:sp>
        <p:nvSpPr>
          <p:cNvPr id="7" name="text-5">
            <a:extLst xmlns:a="http://schemas.openxmlformats.org/drawingml/2006/main">
              <a:ext uri="{FF2B5EF4-FFF2-40B4-BE49-F238E27FC236}">
                <a16:creationId xmlns:a16="http://schemas.microsoft.com/office/drawing/2014/main" id="{531FF039-41FD-468A-9B1A-153C76F470AF}"/>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Run to the end; inspect possible match and the final report</a:t>
            </a:r>
          </a:p>
        </p:txBody>
      </p:sp>
      <p:sp>
        <p:nvSpPr>
          <p:cNvPr id="8" name="">
            <a:extLst xmlns:a="http://schemas.openxmlformats.org/drawingml/2006/main">
              <a:ext uri="{FF2B5EF4-FFF2-40B4-BE49-F238E27FC236}">
                <a16:creationId xmlns:a16="http://schemas.microsoft.com/office/drawing/2014/main" id="{469328BB-E1F3-4BC4-A479-ACA0DB6C423E}"/>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7BBC27F6-C42F-4957-9420-E31C4DCA45A2}"/>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3  Export complete evidence</a:t>
            </a:r>
          </a:p>
        </p:txBody>
      </p:sp>
      <p:sp>
        <p:nvSpPr>
          <p:cNvPr id="10" name="text-7">
            <a:extLst xmlns:a="http://schemas.openxmlformats.org/drawingml/2006/main">
              <a:ext uri="{FF2B5EF4-FFF2-40B4-BE49-F238E27FC236}">
                <a16:creationId xmlns:a16="http://schemas.microsoft.com/office/drawing/2014/main" id="{AB81E515-DEF5-400F-867D-F7ACE69E6EF1}"/>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Save both session logs plus reports and retained images</a:t>
            </a:r>
          </a:p>
        </p:txBody>
      </p:sp>
      <p:sp>
        <p:nvSpPr>
          <p:cNvPr id="11" name="">
            <a:extLst xmlns:a="http://schemas.openxmlformats.org/drawingml/2006/main">
              <a:ext uri="{FF2B5EF4-FFF2-40B4-BE49-F238E27FC236}">
                <a16:creationId xmlns:a16="http://schemas.microsoft.com/office/drawing/2014/main" id="{084D5A7F-1FFD-4502-9070-BCE541386AF1}"/>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F3710E08-A538-4A18-9295-5D25421BC667}"/>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4  Compare on the Mac</a:t>
            </a:r>
          </a:p>
        </p:txBody>
      </p:sp>
      <p:sp>
        <p:nvSpPr>
          <p:cNvPr id="13" name="text-9">
            <a:extLst xmlns:a="http://schemas.openxmlformats.org/drawingml/2006/main">
              <a:ext uri="{FF2B5EF4-FFF2-40B4-BE49-F238E27FC236}">
                <a16:creationId xmlns:a16="http://schemas.microsoft.com/office/drawing/2014/main" id="{F091F7A3-5593-4B93-BF00-FD58E90B4E18}"/>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Use AIShopVisionEvaluate --compare; record device and outcome</a:t>
            </a:r>
          </a:p>
        </p:txBody>
      </p:sp>
      <p:sp>
        <p:nvSpPr>
          <p:cNvPr id="14" name="text-10">
            <a:extLst xmlns:a="http://schemas.openxmlformats.org/drawingml/2006/main">
              <a:ext uri="{FF2B5EF4-FFF2-40B4-BE49-F238E27FC236}">
                <a16:creationId xmlns:a16="http://schemas.microsoft.com/office/drawing/2014/main" id="{5A4D540B-1E58-4897-8F83-D6E9787CDA2A}"/>
              </a:ext>
            </a:extLst>
          </p:cNvPr>
          <p:cNvSpPr>
            <a:spLocks xmlns:a="http://schemas.openxmlformats.org/drawingml/2006/main" noGrp="1"/>
          </p:cNvSpPr>
          <p:nvPr/>
        </p:nvSpPr>
        <p:spPr>
          <a:xfrm xmlns:a="http://schemas.openxmlformats.org/drawingml/2006/main">
            <a:off x="723900" y="7648575"/>
            <a:ext cx="137922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506476"/>
                </a:solidFill>
                <a:latin typeface="Arial"/>
                <a:ea typeface="Arial"/>
                <a:cs typeface="Arial"/>
              </a:defRPr>
            </a:pPr>
            <a:r>
              <a:rPr sz="1875" b="0">
                <a:solidFill>
                  <a:srgbClr val="506476"/>
                </a:solidFill>
                <a:latin typeface="Arial"/>
                <a:ea typeface="Arial"/>
                <a:cs typeface="Arial"/>
              </a:rPr>
              <a:t>Do not retune on phone values. HITL must observe the actual device run.</a:t>
            </a:r>
          </a:p>
        </p:txBody>
      </p:sp>
      <p:sp>
        <p:nvSpPr>
          <p:cNvPr id="15" name="text-11">
            <a:extLst xmlns:a="http://schemas.openxmlformats.org/drawingml/2006/main">
              <a:ext uri="{FF2B5EF4-FFF2-40B4-BE49-F238E27FC236}">
                <a16:creationId xmlns:a16="http://schemas.microsoft.com/office/drawing/2014/main" id="{968DBA64-9C8A-4BAD-A687-A55F721C3622}"/>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6" name="text-12">
            <a:extLst xmlns:a="http://schemas.openxmlformats.org/drawingml/2006/main">
              <a:ext uri="{FF2B5EF4-FFF2-40B4-BE49-F238E27FC236}">
                <a16:creationId xmlns:a16="http://schemas.microsoft.com/office/drawing/2014/main" id="{DFAB9664-98A9-461B-A50D-D65E8AD2B82B}"/>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d6367dc9abac442f"/>
              </a:rPr>
              <a:t>Diagnostic scheme</a:t>
            </a:r>
          </a:p>
        </p:txBody>
      </p:sp>
      <p:sp>
        <p:nvSpPr>
          <p:cNvPr id="17" name="text-13">
            <a:extLst xmlns:a="http://schemas.openxmlformats.org/drawingml/2006/main">
              <a:ext uri="{FF2B5EF4-FFF2-40B4-BE49-F238E27FC236}">
                <a16:creationId xmlns:a16="http://schemas.microsoft.com/office/drawing/2014/main" id="{BD1C47C7-ED86-4781-B0F5-30D9F0494537}"/>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7ec1777d07674127"/>
              </a:rPr>
              <a:t>Harness export</a:t>
            </a:r>
          </a:p>
        </p:txBody>
      </p:sp>
      <p:sp>
        <p:nvSpPr>
          <p:cNvPr id="18" name="text-14">
            <a:extLst xmlns:a="http://schemas.openxmlformats.org/drawingml/2006/main">
              <a:ext uri="{FF2B5EF4-FFF2-40B4-BE49-F238E27FC236}">
                <a16:creationId xmlns:a16="http://schemas.microsoft.com/office/drawing/2014/main" id="{68D577AD-F9AF-4222-810C-080A2572D5B6}"/>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fa534ad4965b4408"/>
              </a:rPr>
              <a:t>Phone verification</a:t>
            </a:r>
          </a:p>
        </p:txBody>
      </p:sp>
      <p:sp>
        <p:nvSpPr>
          <p:cNvPr id="19" name="text-15">
            <a:extLst xmlns:a="http://schemas.openxmlformats.org/drawingml/2006/main">
              <a:ext uri="{FF2B5EF4-FFF2-40B4-BE49-F238E27FC236}">
                <a16:creationId xmlns:a16="http://schemas.microsoft.com/office/drawing/2014/main" id="{A70D2BB8-9E95-463D-8B0D-DB72E2EFCD06}"/>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27</a:t>
            </a:r>
          </a:p>
        </p:txBody>
      </p:sp>
    </p:spTree>
    <p:extLst>
      <p:ext uri="{BB962C8B-B14F-4D97-AF65-F5344CB8AC3E}">
        <p14:creationId xmlns:p14="http://schemas.microsoft.com/office/powerpoint/2010/main" val="112692121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text-0">
            <a:extLst xmlns:a="http://schemas.openxmlformats.org/drawingml/2006/main">
              <a:ext uri="{FF2B5EF4-FFF2-40B4-BE49-F238E27FC236}">
                <a16:creationId xmlns:a16="http://schemas.microsoft.com/office/drawing/2014/main" id="{498C2195-F931-43A1-ABAD-2CDEE209BEC9}"/>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Where to look hardest</a:t>
            </a:r>
          </a:p>
        </p:txBody>
      </p:sp>
      <p:sp>
        <p:nvSpPr>
          <p:cNvPr id="2" name="text-1">
            <a:extLst xmlns:a="http://schemas.openxmlformats.org/drawingml/2006/main">
              <a:ext uri="{FF2B5EF4-FFF2-40B4-BE49-F238E27FC236}">
                <a16:creationId xmlns:a16="http://schemas.microsoft.com/office/drawing/2014/main" id="{FF090029-8845-4825-B524-1E5FDC9824C1}"/>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Review concerns visible in the current working tree</a:t>
            </a:r>
          </a:p>
        </p:txBody>
      </p:sp>
      <p:sp>
        <p:nvSpPr>
          <p:cNvPr id="3" name="text-2">
            <a:extLst xmlns:a="http://schemas.openxmlformats.org/drawingml/2006/main">
              <a:ext uri="{FF2B5EF4-FFF2-40B4-BE49-F238E27FC236}">
                <a16:creationId xmlns:a16="http://schemas.microsoft.com/office/drawing/2014/main" id="{75D0D3C4-D671-4CB0-96F7-75029EB85823}"/>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Paced replay versus calibration</a:t>
            </a:r>
          </a:p>
        </p:txBody>
      </p:sp>
      <p:sp>
        <p:nvSpPr>
          <p:cNvPr id="4" name="text-3">
            <a:extLst xmlns:a="http://schemas.openxmlformats.org/drawingml/2006/main">
              <a:ext uri="{FF2B5EF4-FFF2-40B4-BE49-F238E27FC236}">
                <a16:creationId xmlns:a16="http://schemas.microsoft.com/office/drawing/2014/main" id="{0C41C5F4-A2F3-4708-8ED9-8EF6C182170C}"/>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The harness may drop frames; comparison requires zero drops</a:t>
            </a:r>
          </a:p>
        </p:txBody>
      </p:sp>
      <p:sp>
        <p:nvSpPr>
          <p:cNvPr id="5" name="">
            <a:extLst xmlns:a="http://schemas.openxmlformats.org/drawingml/2006/main">
              <a:ext uri="{FF2B5EF4-FFF2-40B4-BE49-F238E27FC236}">
                <a16:creationId xmlns:a16="http://schemas.microsoft.com/office/drawing/2014/main" id="{30AC73F6-544F-45E5-BB4B-77612561894E}"/>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A79CBFFD-22AD-4DCF-8D33-B402270C3197}"/>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Diagnostic launch and tests</a:t>
            </a:r>
          </a:p>
        </p:txBody>
      </p:sp>
      <p:sp>
        <p:nvSpPr>
          <p:cNvPr id="7" name="text-5">
            <a:extLst xmlns:a="http://schemas.openxmlformats.org/drawingml/2006/main">
              <a:ext uri="{FF2B5EF4-FFF2-40B4-BE49-F238E27FC236}">
                <a16:creationId xmlns:a16="http://schemas.microsoft.com/office/drawing/2014/main" id="{9E72FE56-0272-4474-9020-6A6CB7A06CB5}"/>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Xcode scheme selects the route; ordinary launch does not</a:t>
            </a:r>
          </a:p>
        </p:txBody>
      </p:sp>
      <p:sp>
        <p:nvSpPr>
          <p:cNvPr id="8" name="">
            <a:extLst xmlns:a="http://schemas.openxmlformats.org/drawingml/2006/main">
              <a:ext uri="{FF2B5EF4-FFF2-40B4-BE49-F238E27FC236}">
                <a16:creationId xmlns:a16="http://schemas.microsoft.com/office/drawing/2014/main" id="{35B9550E-9F12-4685-859C-BC7E9E2A912F}"/>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BF4F8971-762C-455A-894D-E192F20BE4AC}"/>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Orientation coverage</a:t>
            </a:r>
          </a:p>
        </p:txBody>
      </p:sp>
      <p:sp>
        <p:nvSpPr>
          <p:cNvPr id="10" name="text-7">
            <a:extLst xmlns:a="http://schemas.openxmlformats.org/drawingml/2006/main">
              <a:ext uri="{FF2B5EF4-FFF2-40B4-BE49-F238E27FC236}">
                <a16:creationId xmlns:a16="http://schemas.microsoft.com/office/drawing/2014/main" id="{91BC38F7-146F-4C02-A477-5DCE4F278EE9}"/>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Current fixtures are upright; rotated-track behavior needs a test</a:t>
            </a:r>
          </a:p>
        </p:txBody>
      </p:sp>
      <p:sp>
        <p:nvSpPr>
          <p:cNvPr id="11" name="">
            <a:extLst xmlns:a="http://schemas.openxmlformats.org/drawingml/2006/main">
              <a:ext uri="{FF2B5EF4-FFF2-40B4-BE49-F238E27FC236}">
                <a16:creationId xmlns:a16="http://schemas.microsoft.com/office/drawing/2014/main" id="{FBED1977-BECF-47B4-A83A-C856A9FFC8D1}"/>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B6511E98-C42D-47D0-A661-2B0AC15DA4D0}"/>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Long-session resources</a:t>
            </a:r>
          </a:p>
        </p:txBody>
      </p:sp>
      <p:sp>
        <p:nvSpPr>
          <p:cNvPr id="13" name="text-9">
            <a:extLst xmlns:a="http://schemas.openxmlformats.org/drawingml/2006/main">
              <a:ext uri="{FF2B5EF4-FFF2-40B4-BE49-F238E27FC236}">
                <a16:creationId xmlns:a16="http://schemas.microsoft.com/office/drawing/2014/main" id="{79C154A8-2128-47E4-B073-A5CE4C4C57EC}"/>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Bounded frame queue does not bound latency history or saved images</a:t>
            </a:r>
          </a:p>
        </p:txBody>
      </p:sp>
      <p:sp>
        <p:nvSpPr>
          <p:cNvPr id="14" name="text-10">
            <a:extLst xmlns:a="http://schemas.openxmlformats.org/drawingml/2006/main">
              <a:ext uri="{FF2B5EF4-FFF2-40B4-BE49-F238E27FC236}">
                <a16:creationId xmlns:a16="http://schemas.microsoft.com/office/drawing/2014/main" id="{8929F537-0F4E-4D49-9F9B-8F6095CE1291}"/>
              </a:ext>
            </a:extLst>
          </p:cNvPr>
          <p:cNvSpPr>
            <a:spLocks xmlns:a="http://schemas.openxmlformats.org/drawingml/2006/main" noGrp="1"/>
          </p:cNvSpPr>
          <p:nvPr/>
        </p:nvSpPr>
        <p:spPr>
          <a:xfrm xmlns:a="http://schemas.openxmlformats.org/drawingml/2006/main">
            <a:off x="723900" y="7648575"/>
            <a:ext cx="137922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506476"/>
                </a:solidFill>
                <a:latin typeface="Arial"/>
                <a:ea typeface="Arial"/>
                <a:cs typeface="Arial"/>
              </a:defRPr>
            </a:pPr>
            <a:r>
              <a:rPr sz="1875" b="0">
                <a:solidFill>
                  <a:srgbClr val="506476"/>
                </a:solidFill>
                <a:latin typeface="Arial"/>
                <a:ea typeface="Arial"/>
                <a:cs typeface="Arial"/>
              </a:rPr>
              <a:t>These are review concerns, not fixes silently included in this walkthrough.</a:t>
            </a:r>
          </a:p>
        </p:txBody>
      </p:sp>
      <p:sp>
        <p:nvSpPr>
          <p:cNvPr id="15" name="text-11">
            <a:extLst xmlns:a="http://schemas.openxmlformats.org/drawingml/2006/main">
              <a:ext uri="{FF2B5EF4-FFF2-40B4-BE49-F238E27FC236}">
                <a16:creationId xmlns:a16="http://schemas.microsoft.com/office/drawing/2014/main" id="{74D2C9E2-4DFD-416B-9C86-F2FA7D9F7D5F}"/>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6" name="text-12">
            <a:extLst xmlns:a="http://schemas.openxmlformats.org/drawingml/2006/main">
              <a:ext uri="{FF2B5EF4-FFF2-40B4-BE49-F238E27FC236}">
                <a16:creationId xmlns:a16="http://schemas.microsoft.com/office/drawing/2014/main" id="{71108D9B-C502-4664-8108-44EAB57F4984}"/>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6392d895179d4304"/>
              </a:rPr>
              <a:t>Harness replay</a:t>
            </a:r>
          </a:p>
        </p:txBody>
      </p:sp>
      <p:sp>
        <p:nvSpPr>
          <p:cNvPr id="17" name="text-13">
            <a:extLst xmlns:a="http://schemas.openxmlformats.org/drawingml/2006/main">
              <a:ext uri="{FF2B5EF4-FFF2-40B4-BE49-F238E27FC236}">
                <a16:creationId xmlns:a16="http://schemas.microsoft.com/office/drawing/2014/main" id="{89C9CFD1-6E07-464B-BF10-8C21366E2C74}"/>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419b6b31f61646d7"/>
              </a:rPr>
              <a:t>Comparator preconditions</a:t>
            </a:r>
          </a:p>
        </p:txBody>
      </p:sp>
      <p:sp>
        <p:nvSpPr>
          <p:cNvPr id="18" name="text-14">
            <a:extLst xmlns:a="http://schemas.openxmlformats.org/drawingml/2006/main">
              <a:ext uri="{FF2B5EF4-FFF2-40B4-BE49-F238E27FC236}">
                <a16:creationId xmlns:a16="http://schemas.microsoft.com/office/drawing/2014/main" id="{F5D3EB0D-27DC-439C-9DA9-288028F6B625}"/>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e3a43f0af16d4105"/>
              </a:rPr>
              <a:t>Report resources</a:t>
            </a:r>
          </a:p>
        </p:txBody>
      </p:sp>
      <p:sp>
        <p:nvSpPr>
          <p:cNvPr id="19" name="text-15">
            <a:extLst xmlns:a="http://schemas.openxmlformats.org/drawingml/2006/main">
              <a:ext uri="{FF2B5EF4-FFF2-40B4-BE49-F238E27FC236}">
                <a16:creationId xmlns:a16="http://schemas.microsoft.com/office/drawing/2014/main" id="{32C037FF-5B3C-41AA-BB05-284E515C3161}"/>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28</a:t>
            </a:r>
          </a:p>
        </p:txBody>
      </p:sp>
    </p:spTree>
    <p:extLst>
      <p:ext uri="{BB962C8B-B14F-4D97-AF65-F5344CB8AC3E}">
        <p14:creationId xmlns:p14="http://schemas.microsoft.com/office/powerpoint/2010/main" val="19660443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533C9230-D1BF-46AF-8544-131252F7D681}"/>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What this foundation gives us</a:t>
            </a:r>
          </a:p>
        </p:txBody>
      </p:sp>
      <p:sp>
        <p:nvSpPr>
          <p:cNvPr id="2" name="text-1">
            <a:extLst xmlns:a="http://schemas.openxmlformats.org/drawingml/2006/main">
              <a:ext uri="{FF2B5EF4-FFF2-40B4-BE49-F238E27FC236}">
                <a16:creationId xmlns:a16="http://schemas.microsoft.com/office/drawing/2014/main" id="{F77AC246-C500-4E36-9389-192E4188C67D}"/>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Reusable mechanisms with explicit next-step boundaries</a:t>
            </a:r>
          </a:p>
        </p:txBody>
      </p:sp>
      <p:sp>
        <p:nvSpPr>
          <p:cNvPr id="3" name="text-2">
            <a:extLst xmlns:a="http://schemas.openxmlformats.org/drawingml/2006/main">
              <a:ext uri="{FF2B5EF4-FFF2-40B4-BE49-F238E27FC236}">
                <a16:creationId xmlns:a16="http://schemas.microsoft.com/office/drawing/2014/main" id="{72EAF86F-B445-4188-B72B-8F6D35550936}"/>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A shared processing path</a:t>
            </a:r>
          </a:p>
        </p:txBody>
      </p:sp>
      <p:sp>
        <p:nvSpPr>
          <p:cNvPr id="4" name="text-3">
            <a:extLst xmlns:a="http://schemas.openxmlformats.org/drawingml/2006/main">
              <a:ext uri="{FF2B5EF4-FFF2-40B4-BE49-F238E27FC236}">
                <a16:creationId xmlns:a16="http://schemas.microsoft.com/office/drawing/2014/main" id="{FC02B1DB-A84B-4C58-A7E1-4F99D0E0F236}"/>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Hosts change; core analysis and evidence stay together</a:t>
            </a:r>
          </a:p>
        </p:txBody>
      </p:sp>
      <p:sp>
        <p:nvSpPr>
          <p:cNvPr id="5" name="">
            <a:extLst xmlns:a="http://schemas.openxmlformats.org/drawingml/2006/main">
              <a:ext uri="{FF2B5EF4-FFF2-40B4-BE49-F238E27FC236}">
                <a16:creationId xmlns:a16="http://schemas.microsoft.com/office/drawing/2014/main" id="{C70452F0-D637-42BA-BEF7-9D579CB799C4}"/>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3B6B283A-A52D-400B-BA03-E0C754B2E4AD}"/>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Observable decisions</a:t>
            </a:r>
          </a:p>
        </p:txBody>
      </p:sp>
      <p:sp>
        <p:nvSpPr>
          <p:cNvPr id="7" name="text-5">
            <a:extLst xmlns:a="http://schemas.openxmlformats.org/drawingml/2006/main">
              <a:ext uri="{FF2B5EF4-FFF2-40B4-BE49-F238E27FC236}">
                <a16:creationId xmlns:a16="http://schemas.microsoft.com/office/drawing/2014/main" id="{E07128D7-69C1-477F-8DD2-3E0BDFA3354A}"/>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Stable identities, frozen rules, ordered events, replayable reports</a:t>
            </a:r>
          </a:p>
        </p:txBody>
      </p:sp>
      <p:sp>
        <p:nvSpPr>
          <p:cNvPr id="8" name="">
            <a:extLst xmlns:a="http://schemas.openxmlformats.org/drawingml/2006/main">
              <a:ext uri="{FF2B5EF4-FFF2-40B4-BE49-F238E27FC236}">
                <a16:creationId xmlns:a16="http://schemas.microsoft.com/office/drawing/2014/main" id="{F7594C52-8208-4836-AE9B-387D5006FD06}"/>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4C234B55-C19E-468C-87D2-81649B43D9F1}"/>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Testable separation</a:t>
            </a:r>
          </a:p>
        </p:txBody>
      </p:sp>
      <p:sp>
        <p:nvSpPr>
          <p:cNvPr id="10" name="text-7">
            <a:extLst xmlns:a="http://schemas.openxmlformats.org/drawingml/2006/main">
              <a:ext uri="{FF2B5EF4-FFF2-40B4-BE49-F238E27FC236}">
                <a16:creationId xmlns:a16="http://schemas.microsoft.com/office/drawing/2014/main" id="{1A53005A-D10E-4273-B444-1244CB5A8128}"/>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Fixture input, production inference, independent evaluation</a:t>
            </a:r>
          </a:p>
        </p:txBody>
      </p:sp>
      <p:sp>
        <p:nvSpPr>
          <p:cNvPr id="11" name="">
            <a:extLst xmlns:a="http://schemas.openxmlformats.org/drawingml/2006/main">
              <a:ext uri="{FF2B5EF4-FFF2-40B4-BE49-F238E27FC236}">
                <a16:creationId xmlns:a16="http://schemas.microsoft.com/office/drawing/2014/main" id="{DFCA9FCB-C229-43F4-85A5-CFA109B80BBD}"/>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01D9959E-5723-4D1E-AF7E-9015A690E3C1}"/>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Still to establish</a:t>
            </a:r>
          </a:p>
        </p:txBody>
      </p:sp>
      <p:sp>
        <p:nvSpPr>
          <p:cNvPr id="13" name="text-9">
            <a:extLst xmlns:a="http://schemas.openxmlformats.org/drawingml/2006/main">
              <a:ext uri="{FF2B5EF4-FFF2-40B4-BE49-F238E27FC236}">
                <a16:creationId xmlns:a16="http://schemas.microsoft.com/office/drawing/2014/main" id="{977913C4-6767-4CF8-9545-0EE239EB57CB}"/>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Physical iPhone acceptance, live camera, regions, and broader accuracy</a:t>
            </a:r>
          </a:p>
        </p:txBody>
      </p:sp>
      <p:sp>
        <p:nvSpPr>
          <p:cNvPr id="14" name="text-10">
            <a:extLst xmlns:a="http://schemas.openxmlformats.org/drawingml/2006/main">
              <a:ext uri="{FF2B5EF4-FFF2-40B4-BE49-F238E27FC236}">
                <a16:creationId xmlns:a16="http://schemas.microsoft.com/office/drawing/2014/main" id="{C841B543-18A6-4149-9CD1-8ECD30D5F3B4}"/>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1">
            <a:extLst xmlns:a="http://schemas.openxmlformats.org/drawingml/2006/main">
              <a:ext uri="{FF2B5EF4-FFF2-40B4-BE49-F238E27FC236}">
                <a16:creationId xmlns:a16="http://schemas.microsoft.com/office/drawing/2014/main" id="{AAA652D6-BE18-44F0-9827-FE5BCF9141CC}"/>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e7b078bd831e417c"/>
              </a:rPr>
              <a:t>Production pipeline</a:t>
            </a:r>
          </a:p>
        </p:txBody>
      </p:sp>
      <p:sp>
        <p:nvSpPr>
          <p:cNvPr id="16" name="text-12">
            <a:extLst xmlns:a="http://schemas.openxmlformats.org/drawingml/2006/main">
              <a:ext uri="{FF2B5EF4-FFF2-40B4-BE49-F238E27FC236}">
                <a16:creationId xmlns:a16="http://schemas.microsoft.com/office/drawing/2014/main" id="{A70C0B27-EF42-4792-911C-732CEECDA88B}"/>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a28afbcd0e98455c"/>
              </a:rPr>
              <a:t>Integration suite</a:t>
            </a:r>
          </a:p>
        </p:txBody>
      </p:sp>
      <p:sp>
        <p:nvSpPr>
          <p:cNvPr id="17" name="text-13">
            <a:extLst xmlns:a="http://schemas.openxmlformats.org/drawingml/2006/main">
              <a:ext uri="{FF2B5EF4-FFF2-40B4-BE49-F238E27FC236}">
                <a16:creationId xmlns:a16="http://schemas.microsoft.com/office/drawing/2014/main" id="{83979C3C-B82B-469A-84F4-4329673ED30D}"/>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a4ab81f49b984644"/>
              </a:rPr>
              <a:t>Package boundaries</a:t>
            </a:r>
          </a:p>
        </p:txBody>
      </p:sp>
      <p:sp>
        <p:nvSpPr>
          <p:cNvPr id="18" name="text-14">
            <a:extLst xmlns:a="http://schemas.openxmlformats.org/drawingml/2006/main">
              <a:ext uri="{FF2B5EF4-FFF2-40B4-BE49-F238E27FC236}">
                <a16:creationId xmlns:a16="http://schemas.microsoft.com/office/drawing/2014/main" id="{3A3BE8BD-A684-406E-AB22-C7E93E56452F}"/>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29</a:t>
            </a:r>
          </a:p>
        </p:txBody>
      </p:sp>
    </p:spTree>
    <p:extLst>
      <p:ext uri="{BB962C8B-B14F-4D97-AF65-F5344CB8AC3E}">
        <p14:creationId xmlns:p14="http://schemas.microsoft.com/office/powerpoint/2010/main" val="69478354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20D2E0C7-E74B-4E68-AB60-6010FB787D51}"/>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The fine-print map</a:t>
            </a:r>
          </a:p>
        </p:txBody>
      </p:sp>
      <p:sp>
        <p:nvSpPr>
          <p:cNvPr id="2" name="text-1">
            <a:extLst xmlns:a="http://schemas.openxmlformats.org/drawingml/2006/main">
              <a:ext uri="{FF2B5EF4-FFF2-40B4-BE49-F238E27FC236}">
                <a16:creationId xmlns:a16="http://schemas.microsoft.com/office/drawing/2014/main" id="{9FF8DB73-C588-4C09-8CFF-5F42A31C0464}"/>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A route into the implementation whenever you need detail</a:t>
            </a:r>
          </a:p>
        </p:txBody>
      </p:sp>
      <p:sp>
        <p:nvSpPr>
          <p:cNvPr id="3" name="text-2">
            <a:extLst xmlns:a="http://schemas.openxmlformats.org/drawingml/2006/main">
              <a:ext uri="{FF2B5EF4-FFF2-40B4-BE49-F238E27FC236}">
                <a16:creationId xmlns:a16="http://schemas.microsoft.com/office/drawing/2014/main" id="{12A8685A-A325-440D-8B8D-08BB3DC0111A}"/>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Foundations</a:t>
            </a:r>
          </a:p>
        </p:txBody>
      </p:sp>
      <p:sp>
        <p:nvSpPr>
          <p:cNvPr id="4" name="text-3">
            <a:extLst xmlns:a="http://schemas.openxmlformats.org/drawingml/2006/main">
              <a:ext uri="{FF2B5EF4-FFF2-40B4-BE49-F238E27FC236}">
                <a16:creationId xmlns:a16="http://schemas.microsoft.com/office/drawing/2014/main" id="{4B234A65-99C9-45D7-82DE-A495D08D2E55}"/>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Intent, test hosts, architecture, frame flow, concurrency</a:t>
            </a:r>
          </a:p>
        </p:txBody>
      </p:sp>
      <p:sp>
        <p:nvSpPr>
          <p:cNvPr id="5" name="">
            <a:extLst xmlns:a="http://schemas.openxmlformats.org/drawingml/2006/main">
              <a:ext uri="{FF2B5EF4-FFF2-40B4-BE49-F238E27FC236}">
                <a16:creationId xmlns:a16="http://schemas.microsoft.com/office/drawing/2014/main" id="{16C329E8-65A1-4DD2-BB24-6AEE8F714238}"/>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E98276E3-D432-4AB9-9961-DB3E84B71FF4}"/>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Frame analysis</a:t>
            </a:r>
          </a:p>
        </p:txBody>
      </p:sp>
      <p:sp>
        <p:nvSpPr>
          <p:cNvPr id="7" name="text-5">
            <a:extLst xmlns:a="http://schemas.openxmlformats.org/drawingml/2006/main">
              <a:ext uri="{FF2B5EF4-FFF2-40B4-BE49-F238E27FC236}">
                <a16:creationId xmlns:a16="http://schemas.microsoft.com/office/drawing/2014/main" id="{54653808-8FAC-41BA-B1BB-11FBC6E6DCD8}"/>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Input contracts, decoding, load, reference, Vision, scoring</a:t>
            </a:r>
          </a:p>
        </p:txBody>
      </p:sp>
      <p:sp>
        <p:nvSpPr>
          <p:cNvPr id="8" name="">
            <a:extLst xmlns:a="http://schemas.openxmlformats.org/drawingml/2006/main">
              <a:ext uri="{FF2B5EF4-FFF2-40B4-BE49-F238E27FC236}">
                <a16:creationId xmlns:a16="http://schemas.microsoft.com/office/drawing/2014/main" id="{07C79D1E-06D6-4A45-8C73-DB5F82FBA47D}"/>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231C9891-6A9C-4B1D-A531-9251520FF36B}"/>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Episodes and evidence</a:t>
            </a:r>
          </a:p>
        </p:txBody>
      </p:sp>
      <p:sp>
        <p:nvSpPr>
          <p:cNvPr id="10" name="text-7">
            <a:extLst xmlns:a="http://schemas.openxmlformats.org/drawingml/2006/main">
              <a:ext uri="{FF2B5EF4-FFF2-40B4-BE49-F238E27FC236}">
                <a16:creationId xmlns:a16="http://schemas.microsoft.com/office/drawing/2014/main" id="{A39466CE-E492-45C1-8152-EA647DE80EAC}"/>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State, records, storage, replay, lifecycle, failures</a:t>
            </a:r>
          </a:p>
        </p:txBody>
      </p:sp>
      <p:sp>
        <p:nvSpPr>
          <p:cNvPr id="11" name="">
            <a:extLst xmlns:a="http://schemas.openxmlformats.org/drawingml/2006/main">
              <a:ext uri="{FF2B5EF4-FFF2-40B4-BE49-F238E27FC236}">
                <a16:creationId xmlns:a16="http://schemas.microsoft.com/office/drawing/2014/main" id="{A9E2B9F7-6BBC-43CA-B308-CD324749AD60}"/>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EE7E4FE4-2004-4A79-A5E8-8A96BD2031AF}"/>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Verification</a:t>
            </a:r>
          </a:p>
        </p:txBody>
      </p:sp>
      <p:sp>
        <p:nvSpPr>
          <p:cNvPr id="13" name="text-9">
            <a:extLst xmlns:a="http://schemas.openxmlformats.org/drawingml/2006/main">
              <a:ext uri="{FF2B5EF4-FFF2-40B4-BE49-F238E27FC236}">
                <a16:creationId xmlns:a16="http://schemas.microsoft.com/office/drawing/2014/main" id="{8C2301B5-18A8-450D-B080-626FC2140717}"/>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Annotations, measured outcomes, calibration, app and phone</a:t>
            </a:r>
          </a:p>
        </p:txBody>
      </p:sp>
      <p:sp>
        <p:nvSpPr>
          <p:cNvPr id="14" name="text-10">
            <a:extLst xmlns:a="http://schemas.openxmlformats.org/drawingml/2006/main">
              <a:ext uri="{FF2B5EF4-FFF2-40B4-BE49-F238E27FC236}">
                <a16:creationId xmlns:a16="http://schemas.microsoft.com/office/drawing/2014/main" id="{D578842A-2552-4F54-88A4-8AC918726ECD}"/>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1">
            <a:extLst xmlns:a="http://schemas.openxmlformats.org/drawingml/2006/main">
              <a:ext uri="{FF2B5EF4-FFF2-40B4-BE49-F238E27FC236}">
                <a16:creationId xmlns:a16="http://schemas.microsoft.com/office/drawing/2014/main" id="{BAD42087-7484-4617-9628-8A1D238D052D}"/>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609e98d7d84c48ea"/>
              </a:rPr>
              <a:t>Source package</a:t>
            </a:r>
          </a:p>
        </p:txBody>
      </p:sp>
      <p:sp>
        <p:nvSpPr>
          <p:cNvPr id="16" name="text-12">
            <a:extLst xmlns:a="http://schemas.openxmlformats.org/drawingml/2006/main">
              <a:ext uri="{FF2B5EF4-FFF2-40B4-BE49-F238E27FC236}">
                <a16:creationId xmlns:a16="http://schemas.microsoft.com/office/drawing/2014/main" id="{B5CFA868-06FD-4A4D-8B42-5B99F61F723A}"/>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4b779b594a544d5c"/>
              </a:rPr>
              <a:t>Test package</a:t>
            </a:r>
          </a:p>
        </p:txBody>
      </p:sp>
      <p:sp>
        <p:nvSpPr>
          <p:cNvPr id="17" name="text-13">
            <a:extLst xmlns:a="http://schemas.openxmlformats.org/drawingml/2006/main">
              <a:ext uri="{FF2B5EF4-FFF2-40B4-BE49-F238E27FC236}">
                <a16:creationId xmlns:a16="http://schemas.microsoft.com/office/drawing/2014/main" id="{1232DA04-F88F-42AF-8DC3-A7F87F9C9C8E}"/>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8e6721cc5dfb4425"/>
              </a:rPr>
              <a:t>Acceptance record</a:t>
            </a:r>
          </a:p>
        </p:txBody>
      </p:sp>
      <p:sp>
        <p:nvSpPr>
          <p:cNvPr id="18" name="text-14">
            <a:extLst xmlns:a="http://schemas.openxmlformats.org/drawingml/2006/main">
              <a:ext uri="{FF2B5EF4-FFF2-40B4-BE49-F238E27FC236}">
                <a16:creationId xmlns:a16="http://schemas.microsoft.com/office/drawing/2014/main" id="{233FE755-B371-48CF-BE93-AD96F88440B3}"/>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30</a:t>
            </a:r>
          </a:p>
        </p:txBody>
      </p:sp>
    </p:spTree>
    <p:extLst>
      <p:ext uri="{BB962C8B-B14F-4D97-AF65-F5344CB8AC3E}">
        <p14:creationId xmlns:p14="http://schemas.microsoft.com/office/powerpoint/2010/main" val="28294222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2026-09-21T02:13:45.0200000Z</dcterms:created>
  <dcterms:modified xsi:type="dcterms:W3CDTF">2026-09-21T02:13:45.0200000Z</dcterms:modified>
</coreProperties>
</file>