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b6aeebbe46b4725" /><Relationship Type="http://schemas.openxmlformats.org/officeDocument/2006/relationships/extended-properties" Target="/docProps/app.xml" Id="R0373a8d418684cfe" /><Relationship Type="http://schemas.openxmlformats.org/officeDocument/2006/relationships/officeDocument" Target="/ppt/presentation.xml" Id="R671abbba590d4f37" /></Relationships>
</file>

<file path=ppt/presentation.xml><?xml version="1.0" encoding="utf-8"?>
<p:presentation xmlns:p="http://schemas.openxmlformats.org/presentationml/2006/main">
  <p:sldMasterIdLst>
    <p:sldMasterId xmlns:r="http://schemas.openxmlformats.org/officeDocument/2006/relationships" id="2147483648" r:id="Rde79aa4cdddb4ee0"/>
  </p:sldMasterIdLst>
  <p:notesMasterIdLst>
    <p:notesMasterId xmlns:r="http://schemas.openxmlformats.org/officeDocument/2006/relationships" r:id="R037e5c0871554088"/>
  </p:notesMasterIdLst>
  <p:sldIdLst>
    <p:sldId xmlns:r="http://schemas.openxmlformats.org/officeDocument/2006/relationships" id="256" r:id="R3a8ef713cd0e463d"/>
    <p:sldId xmlns:r="http://schemas.openxmlformats.org/officeDocument/2006/relationships" id="257" r:id="Rec8923b68edf4187"/>
    <p:sldId xmlns:r="http://schemas.openxmlformats.org/officeDocument/2006/relationships" id="258" r:id="R213facdb66ec410c"/>
    <p:sldId xmlns:r="http://schemas.openxmlformats.org/officeDocument/2006/relationships" id="259" r:id="Rf127ccfedb644fc1"/>
    <p:sldId xmlns:r="http://schemas.openxmlformats.org/officeDocument/2006/relationships" id="260" r:id="Rcd07939ca26742a4"/>
    <p:sldId xmlns:r="http://schemas.openxmlformats.org/officeDocument/2006/relationships" id="261" r:id="R031f1c5c72474297"/>
    <p:sldId xmlns:r="http://schemas.openxmlformats.org/officeDocument/2006/relationships" id="262" r:id="Rb65c7aab00204cbb"/>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64ef6aa76764a90" /><Relationship Type="http://schemas.openxmlformats.org/officeDocument/2006/relationships/slideMaster" Target="/ppt/slideMasters/slideMaster1.xml" Id="Rde79aa4cdddb4ee0" /><Relationship Type="http://schemas.openxmlformats.org/officeDocument/2006/relationships/notesMaster" Target="/ppt/notesMasters/notesMaster1.xml" Id="R037e5c0871554088" /><Relationship Type="http://schemas.openxmlformats.org/officeDocument/2006/relationships/presProps" Target="/ppt/presProps.xml" Id="Re28d81ff658d476f" /><Relationship Type="http://schemas.openxmlformats.org/officeDocument/2006/relationships/tableStyles" Target="/ppt/tableStyles.xml" Id="Rf5abc11bfe7a4772" /><Relationship Type="http://schemas.openxmlformats.org/officeDocument/2006/relationships/slide" Target="/ppt/slides/slide1.xml" Id="R3a8ef713cd0e463d" /><Relationship Type="http://schemas.openxmlformats.org/officeDocument/2006/relationships/slide" Target="/ppt/slides/slide2.xml" Id="Rec8923b68edf4187" /><Relationship Type="http://schemas.openxmlformats.org/officeDocument/2006/relationships/slide" Target="/ppt/slides/slide3.xml" Id="R213facdb66ec410c" /><Relationship Type="http://schemas.openxmlformats.org/officeDocument/2006/relationships/slide" Target="/ppt/slides/slide4.xml" Id="Rf127ccfedb644fc1" /><Relationship Type="http://schemas.openxmlformats.org/officeDocument/2006/relationships/slide" Target="/ppt/slides/slide5.xml" Id="Rcd07939ca26742a4" /><Relationship Type="http://schemas.openxmlformats.org/officeDocument/2006/relationships/slide" Target="/ppt/slides/slide6.xml" Id="R031f1c5c72474297" /><Relationship Type="http://schemas.openxmlformats.org/officeDocument/2006/relationships/slide" Target="/ppt/slides/slide7.xml" Id="Rb65c7aab00204cb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d50a5dbb1d144a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568540066d94cee" /><Relationship Type="http://schemas.openxmlformats.org/officeDocument/2006/relationships/notesMaster" Target="/ppt/notesMasters/notesMaster1.xml" Id="Rc0926eb857b6438e" /></Relationships>
</file>

<file path=ppt/notesSlides/_rels/notesSlide2.xml.rels>&#65279;<?xml version="1.0" encoding="utf-8"?><Relationships xmlns="http://schemas.openxmlformats.org/package/2006/relationships"><Relationship Type="http://schemas.openxmlformats.org/officeDocument/2006/relationships/slide" Target="/ppt/slides/slide2.xml" Id="Red12d32f4d994309" /><Relationship Type="http://schemas.openxmlformats.org/officeDocument/2006/relationships/notesMaster" Target="/ppt/notesMasters/notesMaster1.xml" Id="R3202683dc1fd4057" /></Relationships>
</file>

<file path=ppt/notesSlides/_rels/notesSlide3.xml.rels>&#65279;<?xml version="1.0" encoding="utf-8"?><Relationships xmlns="http://schemas.openxmlformats.org/package/2006/relationships"><Relationship Type="http://schemas.openxmlformats.org/officeDocument/2006/relationships/slide" Target="/ppt/slides/slide3.xml" Id="R0719cd09ec904437" /><Relationship Type="http://schemas.openxmlformats.org/officeDocument/2006/relationships/notesMaster" Target="/ppt/notesMasters/notesMaster1.xml" Id="R9ddd8ab9fb1f4c53" /></Relationships>
</file>

<file path=ppt/notesSlides/_rels/notesSlide4.xml.rels>&#65279;<?xml version="1.0" encoding="utf-8"?><Relationships xmlns="http://schemas.openxmlformats.org/package/2006/relationships"><Relationship Type="http://schemas.openxmlformats.org/officeDocument/2006/relationships/slide" Target="/ppt/slides/slide4.xml" Id="R1f5f7c0465eb4424" /><Relationship Type="http://schemas.openxmlformats.org/officeDocument/2006/relationships/notesMaster" Target="/ppt/notesMasters/notesMaster1.xml" Id="Reb148d33d4574c5e" /></Relationships>
</file>

<file path=ppt/notesSlides/_rels/notesSlide5.xml.rels>&#65279;<?xml version="1.0" encoding="utf-8"?><Relationships xmlns="http://schemas.openxmlformats.org/package/2006/relationships"><Relationship Type="http://schemas.openxmlformats.org/officeDocument/2006/relationships/slide" Target="/ppt/slides/slide5.xml" Id="Rde7919b3694c4d6d" /><Relationship Type="http://schemas.openxmlformats.org/officeDocument/2006/relationships/notesMaster" Target="/ppt/notesMasters/notesMaster1.xml" Id="Rdf649f040b8a4d8b" /></Relationships>
</file>

<file path=ppt/notesSlides/_rels/notesSlide6.xml.rels>&#65279;<?xml version="1.0" encoding="utf-8"?><Relationships xmlns="http://schemas.openxmlformats.org/package/2006/relationships"><Relationship Type="http://schemas.openxmlformats.org/officeDocument/2006/relationships/slide" Target="/ppt/slides/slide6.xml" Id="R7a7ae249c5324958" /><Relationship Type="http://schemas.openxmlformats.org/officeDocument/2006/relationships/notesMaster" Target="/ppt/notesMasters/notesMaster1.xml" Id="R5f7abe1fdbd34acc" /></Relationships>
</file>

<file path=ppt/notesSlides/_rels/notesSlide7.xml.rels>&#65279;<?xml version="1.0" encoding="utf-8"?><Relationships xmlns="http://schemas.openxmlformats.org/package/2006/relationships"><Relationship Type="http://schemas.openxmlformats.org/officeDocument/2006/relationships/slide" Target="/ppt/slides/slide7.xml" Id="R4471df1a6df24c5e" /><Relationship Type="http://schemas.openxmlformats.org/officeDocument/2006/relationships/notesMaster" Target="/ppt/notesMasters/notesMaster1.xml" Id="R0a542aac9c5047d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chapter follows the input from recorded video to a candidate score. The frame-stream contract is the first boundary.</a:t>
            </a:r>
          </a:p>
          <a:p xmlns:a="http://schemas.openxmlformats.org/drawingml/2006/main">
            <a:r>
              <a:t/>
            </a:r>
          </a:p>
          <a:p xmlns:a="http://schemas.openxmlformats.org/drawingml/2006/main">
            <a:r>
              <a:t>Each frame has an identity derived from the fixture name and original presentation timestamp. That identity remains stable when the same media runs on another host. A separate timestamp in seconds drives episode timing.</a:t>
            </a:r>
          </a:p>
          <a:p xmlns:a="http://schemas.openxmlformats.org/drawingml/2006/main">
            <a:r>
              <a:t/>
            </a:r>
          </a:p>
          <a:p xmlns:a="http://schemas.openxmlformats.org/drawingml/2006/main">
            <a:r>
              <a:t>The sample index identifies an eligible sampling slot, not a raw decoded-frame number. Missing slots must stay visible, because the aggregator must not treat separated observations as consecutive support.</a:t>
            </a:r>
          </a:p>
          <a:p xmlns:a="http://schemas.openxmlformats.org/drawingml/2006/main">
            <a:r>
              <a:t/>
            </a:r>
          </a:p>
          <a:p xmlns:a="http://schemas.openxmlformats.org/drawingml/2006/main">
            <a:r>
              <a:t>The stream also reports received, skipped, and dropped frames. Its interface permits another source later, but replacing the fixture stream with a camera would still require camera-specific work and tests.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frame stream owns decoding and sampling. It opens a local video track with Apple's asset reader and advances one decoded sample at a time.</a:t>
            </a:r>
          </a:p>
          <a:p xmlns:a="http://schemas.openxmlformats.org/drawingml/2006/main">
            <a:r>
              <a:t/>
            </a:r>
          </a:p>
          <a:p xmlns:a="http://schemas.openxmlformats.org/drawingml/2006/main">
            <a:r>
              <a:t>Every sample contributes to the received count. Samples before the next eligible slot become skipped frames. Eligible samples become images with their original media timestamps and stable identities.</a:t>
            </a:r>
          </a:p>
          <a:p xmlns:a="http://schemas.openxmlformats.org/drawingml/2006/main">
            <a:r>
              <a:t/>
            </a:r>
          </a:p>
          <a:p xmlns:a="http://schemas.openxmlformats.org/drawingml/2006/main">
            <a:r>
              <a:t>The default cadence is two samples per second. The implementation applies the track transform before creating the image. The current tests cover the upright fixtures; rotated-video behavior needs a dedicated regression case.</a:t>
            </a:r>
          </a:p>
          <a:p xmlns:a="http://schemas.openxmlformats.org/drawingml/2006/main">
            <a:r>
              <a:t/>
            </a:r>
          </a:p>
          <a:p xmlns:a="http://schemas.openxmlformats.org/drawingml/2006/main">
            <a:r>
              <a:t>Invalid rates and unreadable input fail explicitly. The stream is single-use. It must not score targets, inspect annotations, or wait for the whole file before delivering the first frame.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Two delivery modes serve two different purposes. Deterministic mode waits for analysis and preserves every eligible sample. This supports repeatable scoring and calibration.</a:t>
            </a:r>
          </a:p>
          <a:p xmlns:a="http://schemas.openxmlformats.org/drawingml/2006/main">
            <a:r>
              <a:t/>
            </a:r>
          </a:p>
          <a:p xmlns:a="http://schemas.openxmlformats.org/drawingml/2006/main">
            <a:r>
              <a:t>Timestamp-paced mode advances according to media time. If analysis is slower than playback, it keeps one pending eligible frame and replaces stale pending work. Dropped frames become explicit events rather than an invisible backlog.</a:t>
            </a:r>
          </a:p>
          <a:p xmlns:a="http://schemas.openxmlformats.org/drawingml/2006/main">
            <a:r>
              <a:t/>
            </a:r>
          </a:p>
          <a:p xmlns:a="http://schemas.openxmlformats.org/drawingml/2006/main">
            <a:r>
              <a:t>The selected Swift lines show the newest-frame buffer. A slow-consumer integration test forces drops and verifies clean stopping and report replay.</a:t>
            </a:r>
          </a:p>
          <a:p xmlns:a="http://schemas.openxmlformats.org/drawingml/2006/main">
            <a:r>
              <a:t/>
            </a:r>
          </a:p>
          <a:p xmlns:a="http://schemas.openxmlformats.org/drawingml/2006/main">
            <a:r>
              <a:t>This bounds the frame queue, not every form of session memory. The report builder retains latency samples, and saved evidence can grow with the session. Those limits matter before applying this design to long-running camera input.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local catalog has one responsibility: produce the reference descriptor used by scoring. Its caller supplies a local image URL, so the catalog does not depend on the app bundle or a server.</a:t>
            </a:r>
          </a:p>
          <a:p xmlns:a="http://schemas.openxmlformats.org/drawingml/2006/main">
            <a:r>
              <a:t/>
            </a:r>
          </a:p>
          <a:p xmlns:a="http://schemas.openxmlformats.org/drawingml/2006/main">
            <a:r>
              <a:t>The descriptor includes a stable product identity, display name, reference-image identity, and a hash of the source bytes. The catalog computes the reference feature print once and caches the result behind a lock.</a:t>
            </a:r>
          </a:p>
          <a:p xmlns:a="http://schemas.openxmlformats.org/drawingml/2006/main">
            <a:r>
              <a:t/>
            </a:r>
          </a:p>
          <a:p xmlns:a="http://schemas.openxmlformats.org/drawingml/2006/main">
            <a:r>
              <a:t>That avoids repeating inference on an unchanged reference for every video frame. The hash later helps the evaluator reject evidence made from a different image.</a:t>
            </a:r>
          </a:p>
          <a:p xmlns:a="http://schemas.openxmlformats.org/drawingml/2006/main">
            <a:r>
              <a:t/>
            </a:r>
          </a:p>
          <a:p xmlns:a="http://schemas.openxmlformats.org/drawingml/2006/main">
            <a:r>
              <a:t>This is one hard-coded banana probe, not a general product database. Missing or invalid reference data is an error. The cache test checks that repeated loads do not repeat feature extraction.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Vision adapter translates an oriented image into Apple's feature print. The reference loader preserves its encoded orientation, and the request fixes revision two and the scale-fill policy.</a:t>
            </a:r>
          </a:p>
          <a:p xmlns:a="http://schemas.openxmlformats.org/drawingml/2006/main">
            <a:r>
              <a:t/>
            </a:r>
          </a:p>
          <a:p xmlns:a="http://schemas.openxmlformats.org/drawingml/2006/main">
            <a:r>
              <a:t>A feature print is a visual representation used for distance comparison. It does not return a product label or an object box. The wrapper rejects incompatible revisions and distances that are negative or non-finite.</a:t>
            </a:r>
          </a:p>
          <a:p xmlns:a="http://schemas.openxmlformats.org/drawingml/2006/main">
            <a:r>
              <a:t/>
            </a:r>
          </a:p>
          <a:p xmlns:a="http://schemas.openxmlformats.org/drawingml/2006/main">
            <a:r>
              <a:t>The selected request lines show the framework boundary. Tests exercise real inference, bad input, and orientation. The adapter preserves Apple's underlying errors, which made the Simulator failure visible.</a:t>
            </a:r>
          </a:p>
          <a:p xmlns:a="http://schemas.openxmlformats.org/drawingml/2006/main">
            <a:r>
              <a:t/>
            </a:r>
          </a:p>
          <a:p xmlns:a="http://schemas.openxmlformats.org/drawingml/2006/main">
            <a:r>
              <a:t>Real development validation therefore runs on the Mac. The phone must still establish that the same inputs and profile behave acceptably on device.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scorer compares two views of each sampled frame with the same target feature: the complete image and a centered crop covering sixty percent of each dimension.</a:t>
            </a:r>
          </a:p>
          <a:p xmlns:a="http://schemas.openxmlformats.org/drawingml/2006/main">
            <a:r>
              <a:t/>
            </a:r>
          </a:p>
          <a:p xmlns:a="http://schemas.openxmlformats.org/drawingml/2006/main">
            <a:r>
              <a:t>It keeps both raw distances. The smaller distance determines the selected variant and support decision. A displayed similarity is one divided by one plus distance. That conversion is a convenience score, not a calibrated probability.</a:t>
            </a:r>
          </a:p>
          <a:p xmlns:a="http://schemas.openxmlformats.org/drawingml/2006/main">
            <a:r>
              <a:t/>
            </a:r>
          </a:p>
          <a:p xmlns:a="http://schemas.openxmlformats.org/drawingml/2006/main">
            <a:r>
              <a:t>The score record carries frame identity, media time, sample slot, and measurement latency. The aggregator consumes its support decision, while reports and calibration retain the raw measurements.</a:t>
            </a:r>
          </a:p>
          <a:p xmlns:a="http://schemas.openxmlformats.org/drawingml/2006/main">
            <a:r>
              <a:t/>
            </a:r>
          </a:p>
          <a:p xmlns:a="http://schemas.openxmlformats.org/drawingml/2006/main">
            <a:r>
              <a:t>The scorer does not choose thresholds or read annotations. A central crop is a fixed view of the image, not a detected object region.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profile records the experiment's fixed settings. Two samples per second limit work. Two consecutive supporting slots avoid opening an episode on one isolated hit. A one-point-five-second gap closes an active episode.</a:t>
            </a:r>
          </a:p>
          <a:p xmlns:a="http://schemas.openxmlformats.org/drawingml/2006/main">
            <a:r>
              <a:t/>
            </a:r>
          </a:p>
          <a:p xmlns:a="http://schemas.openxmlformats.org/drawingml/2006/main">
            <a:r>
              <a:t>The threshold is approximately zero point four two nine four. The exact value stays in the profile and every session header. The calibration script selected a wide decision-margin interval that passed the approved fixture rules.</a:t>
            </a:r>
          </a:p>
          <a:p xmlns:a="http://schemas.openxmlformats.org/drawingml/2006/main">
            <a:r>
              <a:t/>
            </a:r>
          </a:p>
          <a:p xmlns:a="http://schemas.openxmlformats.org/drawingml/2006/main">
            <a:r>
              <a:t>These values come from a small Mac fixture set. Broader reliability is unmeasured. Tests and phone verification must use the frozen values, not select new ones to pass.</a:t>
            </a:r>
          </a:p>
          <a:p xmlns:a="http://schemas.openxmlformats.org/drawingml/2006/main">
            <a:r>
              <a:t/>
            </a:r>
          </a:p>
          <a:p xmlns:a="http://schemas.openxmlformats.org/drawingml/2006/main">
            <a:r>
              <a:t>Some settings are implemented directly in the scorer or aggregator as well as recorded in the profile. Changing the profile alone is not a general configuration mechanism.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66ea7708f9a4b9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6c062e9cc1c4240" /><Relationship Type="http://schemas.openxmlformats.org/officeDocument/2006/relationships/slideLayout" Target="/ppt/slideLayouts/slideLayout1.xml" Id="R462e202cb4aa4cc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62e202cb4aa4cc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5ec258add824490" /><Relationship Type="http://schemas.openxmlformats.org/officeDocument/2006/relationships/hyperlink" Target="file:///Users/paboelustodo/Library/CloudStorage/GoogleDrive-pablo.elustondo@gmail.com/My%20Drive%202/1-GIT-PROJECTS/aishop/ios/AIShop/AIShopVision/Sources/AIShopVision/VideoFixtureFrameStream/FrameStream.swift" TargetMode="External" Id="Ra445071b11204120" /><Relationship Type="http://schemas.openxmlformats.org/officeDocument/2006/relationships/hyperlink" Target="file:///Users/paboelustodo/Library/CloudStorage/GoogleDrive-pablo.elustondo@gmail.com/My%20Drive%202/1-GIT-PROJECTS/aishop/ios/AIShop/AIShopVision/Sources/AIShopVision/VideoFixtureFrameStream/VideoFixtureFrameStream.swift" TargetMode="External" Id="R0e2ac393bcb54a47" /><Relationship Type="http://schemas.openxmlformats.org/officeDocument/2006/relationships/hyperlink" Target="file:///Users/paboelustodo/Library/CloudStorage/GoogleDrive-pablo.elustondo@gmail.com/My%20Drive%202/1-GIT-PROJECTS/aishop/ios/AIShop/AIShopVision/Tests/AIShopVisionTests/VideoFixtureFrameStreamTests.swift" TargetMode="External" Id="R9808f377efd740f7" /><Relationship Type="http://schemas.openxmlformats.org/officeDocument/2006/relationships/notesSlide" Target="/ppt/notesSlides/notesSlide1.xml" Id="Reca404ac6da94a3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07b0bede48ac4d0d" /><Relationship Type="http://schemas.openxmlformats.org/officeDocument/2006/relationships/hyperlink" Target="file:///Users/paboelustodo/Library/CloudStorage/GoogleDrive-pablo.elustondo@gmail.com/My%20Drive%202/1-GIT-PROJECTS/aishop/ios/AIShop/AIShopVision/Sources/AIShopVision/VideoFixtureFrameStream/VideoFixtureFrameStream.swift" TargetMode="External" Id="Rc14e2a8ea6ff4501" /><Relationship Type="http://schemas.openxmlformats.org/officeDocument/2006/relationships/hyperlink" Target="file:///Users/paboelustodo/Library/CloudStorage/GoogleDrive-pablo.elustondo@gmail.com/My%20Drive%202/1-GIT-PROJECTS/aishop/ios/AIShop/AIShopVision/Tests/AIShopVisionTests/VideoFixtureFrameStreamTests.swift" TargetMode="External" Id="R11c2805f4ff84ef8" /><Relationship Type="http://schemas.openxmlformats.org/officeDocument/2006/relationships/notesSlide" Target="/ppt/notesSlides/notesSlide2.xml" Id="R2b8883447b9f434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368672e1ea0b4550" /><Relationship Type="http://schemas.openxmlformats.org/officeDocument/2006/relationships/hyperlink" Target="file:///Users/paboelustodo/Library/CloudStorage/GoogleDrive-pablo.elustondo@gmail.com/My%20Drive%202/1-GIT-PROJECTS/aishop/ios/AIShop/AIShopVision/Sources/AIShopVision/VideoFixtureFrameStream/VideoFixtureFrameStream.swift" TargetMode="External" Id="R7c716772233f44e9" /><Relationship Type="http://schemas.openxmlformats.org/officeDocument/2006/relationships/hyperlink" Target="file:///Users/paboelustodo/Library/CloudStorage/GoogleDrive-pablo.elustondo@gmail.com/My%20Drive%202/1-GIT-PROJECTS/aishop/ios/AIShop/AIShopVision/Tests/AIShopVisionTests/PipelineIntegrationSuite.swift" TargetMode="External" Id="R79c25223dca74f6b" /><Relationship Type="http://schemas.openxmlformats.org/officeDocument/2006/relationships/hyperlink" Target="file:///Users/paboelustodo/Library/CloudStorage/GoogleDrive-pablo.elustondo@gmail.com/My%20Drive%202/1-GIT-PROJECTS/aishop/ios/AIShop/AIShopVision/Sources/AIShopVision/SessionReportBuilder/SessionReportBuilder.swift" TargetMode="External" Id="R659e1707908743e5" /><Relationship Type="http://schemas.openxmlformats.org/officeDocument/2006/relationships/notesSlide" Target="/ppt/notesSlides/notesSlide3.xml" Id="R8ce94671cf5a4a2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6a9d18ee3a64450d" /><Relationship Type="http://schemas.openxmlformats.org/officeDocument/2006/relationships/hyperlink" Target="file:///Users/paboelustodo/Library/CloudStorage/GoogleDrive-pablo.elustondo@gmail.com/My%20Drive%202/1-GIT-PROJECTS/aishop/ios/AIShop/AIShopVision/Sources/AIShopVision/LocalTargetCatalog/LocalTargetCatalog.swift" TargetMode="External" Id="R1bb89d0eae504140" /><Relationship Type="http://schemas.openxmlformats.org/officeDocument/2006/relationships/hyperlink" Target="file:///Users/paboelustodo/Library/CloudStorage/GoogleDrive-pablo.elustondo@gmail.com/My%20Drive%202/1-GIT-PROJECTS/aishop/ios/AIShop/AIShopVision/Tests/AIShopVisionTests/LocalTargetCatalogTests.swift" TargetMode="External" Id="Rc43d901764114058" /><Relationship Type="http://schemas.openxmlformats.org/officeDocument/2006/relationships/hyperlink" Target="file:///Users/paboelustodo/Library/CloudStorage/GoogleDrive-pablo.elustondo@gmail.com/My%20Drive%202/1-GIT-PROJECTS/aishop/ios/AIShop/AIShop/Diagnostics/DiagnosticFixture.swift" TargetMode="External" Id="Rc7ad5e8ae9de4c13" /><Relationship Type="http://schemas.openxmlformats.org/officeDocument/2006/relationships/notesSlide" Target="/ppt/notesSlides/notesSlide4.xml" Id="R0ce03e26b87a48b2"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823fe6f7c02f43ed" /><Relationship Type="http://schemas.openxmlformats.org/officeDocument/2006/relationships/hyperlink" Target="file:///Users/paboelustodo/Library/CloudStorage/GoogleDrive-pablo.elustondo@gmail.com/My%20Drive%202/1-GIT-PROJECTS/aishop/ios/AIShop/AIShopVision/Sources/AIShopVision/VisionFeatureAdapter.swift" TargetMode="External" Id="Rcbae19b612cf47ec" /><Relationship Type="http://schemas.openxmlformats.org/officeDocument/2006/relationships/hyperlink" Target="file:///Users/paboelustodo/Library/CloudStorage/GoogleDrive-pablo.elustondo@gmail.com/My%20Drive%202/1-GIT-PROJECTS/aishop/ios/AIShop/AIShopVision/Tests/AIShopVisionTests/VisionFeatureAdapterTests.swift" TargetMode="External" Id="Ra43f900a77ba4bc6" /><Relationship Type="http://schemas.openxmlformats.org/officeDocument/2006/relationships/notesSlide" Target="/ppt/notesSlides/notesSlide5.xml" Id="R3c519728a4f443ed"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5a822e33d0744359" /><Relationship Type="http://schemas.openxmlformats.org/officeDocument/2006/relationships/hyperlink" Target="file:///Users/paboelustodo/Library/CloudStorage/GoogleDrive-pablo.elustondo@gmail.com/My%20Drive%202/1-GIT-PROJECTS/aishop/ios/AIShop/AIShopVision/Sources/AIShopVision/CandidateScorer/CandidateScorer.swift" TargetMode="External" Id="Ra943a314ba4a4ce3" /><Relationship Type="http://schemas.openxmlformats.org/officeDocument/2006/relationships/hyperlink" Target="file:///Users/paboelustodo/Library/CloudStorage/GoogleDrive-pablo.elustondo@gmail.com/My%20Drive%202/1-GIT-PROJECTS/aishop/ios/AIShop/AIShopVision/Tests/AIShopVisionTests/CandidateScorerTests.swift" TargetMode="External" Id="R9006a078e8b144e2" /><Relationship Type="http://schemas.openxmlformats.org/officeDocument/2006/relationships/hyperlink" Target="file:///Users/paboelustodo/Library/CloudStorage/GoogleDrive-pablo.elustondo@gmail.com/My%20Drive%202/1-GIT-PROJECTS/aishop/ios/AIShop/AIShopVision/Sources/AIShopVision/CandidateScorer/ScoringProfile.swift" TargetMode="External" Id="R3258e85794d04be6" /><Relationship Type="http://schemas.openxmlformats.org/officeDocument/2006/relationships/notesSlide" Target="/ppt/notesSlides/notesSlide6.xml" Id="Ra98e387ad145431f"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5f809ca0a1d9478c" /><Relationship Type="http://schemas.openxmlformats.org/officeDocument/2006/relationships/hyperlink" Target="file:///Users/paboelustodo/Library/CloudStorage/GoogleDrive-pablo.elustondo@gmail.com/My%20Drive%202/1-GIT-PROJECTS/aishop/ios/AIShop/AIShopVision/Sources/AIShopVision/CandidateScorer/ScoringProfile.swift" TargetMode="External" Id="Rbdf516210b7b40a7" /><Relationship Type="http://schemas.openxmlformats.org/officeDocument/2006/relationships/hyperlink" Target="file:///Users/paboelustodo/Library/CloudStorage/GoogleDrive-pablo.elustondo@gmail.com/My%20Drive%202/1-GIT-PROJECTS/aishop/e2e/ios/calibrate-scorer.rb" TargetMode="External" Id="R70526e47f06c4d0a" /><Relationship Type="http://schemas.openxmlformats.org/officeDocument/2006/relationships/hyperlink" Target="file:///Users/paboelustodo/Library/CloudStorage/GoogleDrive-pablo.elustondo@gmail.com/My%20Drive%202/1-GIT-PROJECTS/aishop/ios/AIShop/AIShopVision/Sources/AIShopVision/CandidateEpisodeAggregator/CandidateEpisodeAggregator.swift" TargetMode="External" Id="R7bbfa8a7c40b4953" /><Relationship Type="http://schemas.openxmlformats.org/officeDocument/2006/relationships/notesSlide" Target="/ppt/notesSlides/notesSlide7.xml" Id="R4baaa4c5e299455f"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ext-0">
            <a:extLst xmlns:a="http://schemas.openxmlformats.org/drawingml/2006/main">
              <a:ext uri="{FF2B5EF4-FFF2-40B4-BE49-F238E27FC236}">
                <a16:creationId xmlns:a16="http://schemas.microsoft.com/office/drawing/2014/main" id="{A184DE1D-1B9F-478E-B8AB-3A862ED28E5E}"/>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The frame-stream contract</a:t>
            </a:r>
          </a:p>
        </p:txBody>
      </p:sp>
      <p:sp>
        <p:nvSpPr>
          <p:cNvPr id="2" name="text-1">
            <a:extLst xmlns:a="http://schemas.openxmlformats.org/drawingml/2006/main">
              <a:ext uri="{FF2B5EF4-FFF2-40B4-BE49-F238E27FC236}">
                <a16:creationId xmlns:a16="http://schemas.microsoft.com/office/drawing/2014/main" id="{2D500623-7CC8-44D1-BFDF-EBC67E5A428E}"/>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Chapter 2: from local video to visual evidence</a:t>
            </a:r>
          </a:p>
        </p:txBody>
      </p:sp>
      <p:sp>
        <p:nvSpPr>
          <p:cNvPr id="3" name="text-2">
            <a:extLst xmlns:a="http://schemas.openxmlformats.org/drawingml/2006/main">
              <a:ext uri="{FF2B5EF4-FFF2-40B4-BE49-F238E27FC236}">
                <a16:creationId xmlns:a16="http://schemas.microsoft.com/office/drawing/2014/main" id="{9173AC7B-B574-40AF-91F1-D3AAC6B47911}"/>
              </a:ext>
            </a:extLst>
          </p:cNvPr>
          <p:cNvSpPr>
            <a:spLocks xmlns:a="http://schemas.openxmlformats.org/drawingml/2006/main" noGrp="1"/>
          </p:cNvSpPr>
          <p:nvPr/>
        </p:nvSpPr>
        <p:spPr>
          <a:xfrm xmlns:a="http://schemas.openxmlformats.org/drawingml/2006/main">
            <a:off x="723900" y="19240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Identity</a:t>
            </a:r>
          </a:p>
        </p:txBody>
      </p:sp>
      <p:sp>
        <p:nvSpPr>
          <p:cNvPr id="4" name="text-3">
            <a:extLst xmlns:a="http://schemas.openxmlformats.org/drawingml/2006/main">
              <a:ext uri="{FF2B5EF4-FFF2-40B4-BE49-F238E27FC236}">
                <a16:creationId xmlns:a16="http://schemas.microsoft.com/office/drawing/2014/main" id="{536CB53B-D6F0-4C58-815E-D67DEBAB5EC7}"/>
              </a:ext>
            </a:extLst>
          </p:cNvPr>
          <p:cNvSpPr>
            <a:spLocks xmlns:a="http://schemas.openxmlformats.org/drawingml/2006/main" noGrp="1"/>
          </p:cNvSpPr>
          <p:nvPr/>
        </p:nvSpPr>
        <p:spPr>
          <a:xfrm xmlns:a="http://schemas.openxmlformats.org/drawingml/2006/main">
            <a:off x="723900" y="23241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Fixture ID plus the original media timestamp</a:t>
            </a:r>
          </a:p>
        </p:txBody>
      </p:sp>
      <p:sp>
        <p:nvSpPr>
          <p:cNvPr id="5" name="">
            <a:extLst xmlns:a="http://schemas.openxmlformats.org/drawingml/2006/main">
              <a:ext uri="{FF2B5EF4-FFF2-40B4-BE49-F238E27FC236}">
                <a16:creationId xmlns:a16="http://schemas.microsoft.com/office/drawing/2014/main" id="{FE8A7A08-5F66-4485-A524-32DE0ACD5ECA}"/>
              </a:ext>
            </a:extLst>
          </p:cNvPr>
          <p:cNvSpPr>
            <a:spLocks xmlns:a="http://schemas.openxmlformats.org/drawingml/2006/main" noGrp="1"/>
          </p:cNvSpPr>
          <p:nvPr/>
        </p:nvSpPr>
        <p:spPr>
          <a:xfrm xmlns:a="http://schemas.openxmlformats.org/drawingml/2006/main">
            <a:off x="723900" y="31718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6" name="text-4">
            <a:extLst xmlns:a="http://schemas.openxmlformats.org/drawingml/2006/main">
              <a:ext uri="{FF2B5EF4-FFF2-40B4-BE49-F238E27FC236}">
                <a16:creationId xmlns:a16="http://schemas.microsoft.com/office/drawing/2014/main" id="{2E55DD4F-8064-478B-8459-6760045B6B1E}"/>
              </a:ext>
            </a:extLst>
          </p:cNvPr>
          <p:cNvSpPr>
            <a:spLocks xmlns:a="http://schemas.openxmlformats.org/drawingml/2006/main" noGrp="1"/>
          </p:cNvSpPr>
          <p:nvPr/>
        </p:nvSpPr>
        <p:spPr>
          <a:xfrm xmlns:a="http://schemas.openxmlformats.org/drawingml/2006/main">
            <a:off x="723900" y="33147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Time</a:t>
            </a:r>
          </a:p>
        </p:txBody>
      </p:sp>
      <p:sp>
        <p:nvSpPr>
          <p:cNvPr id="7" name="text-5">
            <a:extLst xmlns:a="http://schemas.openxmlformats.org/drawingml/2006/main">
              <a:ext uri="{FF2B5EF4-FFF2-40B4-BE49-F238E27FC236}">
                <a16:creationId xmlns:a16="http://schemas.microsoft.com/office/drawing/2014/main" id="{0EAED6DB-F447-4FDF-AE5C-788DB139F665}"/>
              </a:ext>
            </a:extLst>
          </p:cNvPr>
          <p:cNvSpPr>
            <a:spLocks xmlns:a="http://schemas.openxmlformats.org/drawingml/2006/main" noGrp="1"/>
          </p:cNvSpPr>
          <p:nvPr/>
        </p:nvSpPr>
        <p:spPr>
          <a:xfrm xmlns:a="http://schemas.openxmlformats.org/drawingml/2006/main">
            <a:off x="723900" y="37147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Seconds within the video, not wall-clock time</a:t>
            </a:r>
          </a:p>
        </p:txBody>
      </p:sp>
      <p:sp>
        <p:nvSpPr>
          <p:cNvPr id="8" name="">
            <a:extLst xmlns:a="http://schemas.openxmlformats.org/drawingml/2006/main">
              <a:ext uri="{FF2B5EF4-FFF2-40B4-BE49-F238E27FC236}">
                <a16:creationId xmlns:a16="http://schemas.microsoft.com/office/drawing/2014/main" id="{0AA98D74-3B7B-447F-9618-81F681E266ED}"/>
              </a:ext>
            </a:extLst>
          </p:cNvPr>
          <p:cNvSpPr>
            <a:spLocks xmlns:a="http://schemas.openxmlformats.org/drawingml/2006/main" noGrp="1"/>
          </p:cNvSpPr>
          <p:nvPr/>
        </p:nvSpPr>
        <p:spPr>
          <a:xfrm xmlns:a="http://schemas.openxmlformats.org/drawingml/2006/main">
            <a:off x="723900" y="456247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9" name="text-6">
            <a:extLst xmlns:a="http://schemas.openxmlformats.org/drawingml/2006/main">
              <a:ext uri="{FF2B5EF4-FFF2-40B4-BE49-F238E27FC236}">
                <a16:creationId xmlns:a16="http://schemas.microsoft.com/office/drawing/2014/main" id="{B7BA3DC1-5C42-4FF2-8508-38127212B22A}"/>
              </a:ext>
            </a:extLst>
          </p:cNvPr>
          <p:cNvSpPr>
            <a:spLocks xmlns:a="http://schemas.openxmlformats.org/drawingml/2006/main" noGrp="1"/>
          </p:cNvSpPr>
          <p:nvPr/>
        </p:nvSpPr>
        <p:spPr>
          <a:xfrm xmlns:a="http://schemas.openxmlformats.org/drawingml/2006/main">
            <a:off x="723900" y="47053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Sample index</a:t>
            </a:r>
          </a:p>
        </p:txBody>
      </p:sp>
      <p:sp>
        <p:nvSpPr>
          <p:cNvPr id="10" name="text-7">
            <a:extLst xmlns:a="http://schemas.openxmlformats.org/drawingml/2006/main">
              <a:ext uri="{FF2B5EF4-FFF2-40B4-BE49-F238E27FC236}">
                <a16:creationId xmlns:a16="http://schemas.microsoft.com/office/drawing/2014/main" id="{75FE867C-C414-42C1-A6AD-C74C12D8CC93}"/>
              </a:ext>
            </a:extLst>
          </p:cNvPr>
          <p:cNvSpPr>
            <a:spLocks xmlns:a="http://schemas.openxmlformats.org/drawingml/2006/main" noGrp="1"/>
          </p:cNvSpPr>
          <p:nvPr/>
        </p:nvSpPr>
        <p:spPr>
          <a:xfrm xmlns:a="http://schemas.openxmlformats.org/drawingml/2006/main">
            <a:off x="723900" y="51054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Eligible sample slot; a gap means work was missed</a:t>
            </a:r>
          </a:p>
        </p:txBody>
      </p:sp>
      <p:sp>
        <p:nvSpPr>
          <p:cNvPr id="11" name="">
            <a:extLst xmlns:a="http://schemas.openxmlformats.org/drawingml/2006/main">
              <a:ext uri="{FF2B5EF4-FFF2-40B4-BE49-F238E27FC236}">
                <a16:creationId xmlns:a16="http://schemas.microsoft.com/office/drawing/2014/main" id="{EFF7E25A-4CD2-4A70-9604-5DE3300EC70D}"/>
              </a:ext>
            </a:extLst>
          </p:cNvPr>
          <p:cNvSpPr>
            <a:spLocks xmlns:a="http://schemas.openxmlformats.org/drawingml/2006/main" noGrp="1"/>
          </p:cNvSpPr>
          <p:nvPr/>
        </p:nvSpPr>
        <p:spPr>
          <a:xfrm xmlns:a="http://schemas.openxmlformats.org/drawingml/2006/main">
            <a:off x="723900" y="59531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12" name="text-8">
            <a:extLst xmlns:a="http://schemas.openxmlformats.org/drawingml/2006/main">
              <a:ext uri="{FF2B5EF4-FFF2-40B4-BE49-F238E27FC236}">
                <a16:creationId xmlns:a16="http://schemas.microsoft.com/office/drawing/2014/main" id="{EF694ABD-4E35-4EA0-9D62-E6DB91ADC879}"/>
              </a:ext>
            </a:extLst>
          </p:cNvPr>
          <p:cNvSpPr>
            <a:spLocks xmlns:a="http://schemas.openxmlformats.org/drawingml/2006/main" noGrp="1"/>
          </p:cNvSpPr>
          <p:nvPr/>
        </p:nvSpPr>
        <p:spPr>
          <a:xfrm xmlns:a="http://schemas.openxmlformats.org/drawingml/2006/main">
            <a:off x="723900" y="60960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Pixels</a:t>
            </a:r>
          </a:p>
        </p:txBody>
      </p:sp>
      <p:sp>
        <p:nvSpPr>
          <p:cNvPr id="13" name="text-9">
            <a:extLst xmlns:a="http://schemas.openxmlformats.org/drawingml/2006/main">
              <a:ext uri="{FF2B5EF4-FFF2-40B4-BE49-F238E27FC236}">
                <a16:creationId xmlns:a16="http://schemas.microsoft.com/office/drawing/2014/main" id="{0C545551-5616-461E-9C14-6A422D49B068}"/>
              </a:ext>
            </a:extLst>
          </p:cNvPr>
          <p:cNvSpPr>
            <a:spLocks xmlns:a="http://schemas.openxmlformats.org/drawingml/2006/main" noGrp="1"/>
          </p:cNvSpPr>
          <p:nvPr/>
        </p:nvSpPr>
        <p:spPr>
          <a:xfrm xmlns:a="http://schemas.openxmlformats.org/drawingml/2006/main">
            <a:off x="723900" y="64960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One decoded image passed to one async consumer</a:t>
            </a:r>
          </a:p>
        </p:txBody>
      </p:sp>
      <p:sp>
        <p:nvSpPr>
          <p:cNvPr id="14" name="text-10">
            <a:extLst xmlns:a="http://schemas.openxmlformats.org/drawingml/2006/main">
              <a:ext uri="{FF2B5EF4-FFF2-40B4-BE49-F238E27FC236}">
                <a16:creationId xmlns:a16="http://schemas.microsoft.com/office/drawing/2014/main" id="{CBA69C0E-4CF7-4EA9-A0C6-1AADA949AA46}"/>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5" name="text-11">
            <a:extLst xmlns:a="http://schemas.openxmlformats.org/drawingml/2006/main">
              <a:ext uri="{FF2B5EF4-FFF2-40B4-BE49-F238E27FC236}">
                <a16:creationId xmlns:a16="http://schemas.microsoft.com/office/drawing/2014/main" id="{4084ACE2-5D9E-44B1-8F09-EBB90EACACA8}"/>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a445071b11204120"/>
              </a:rPr>
              <a:t>Frame contract</a:t>
            </a:r>
          </a:p>
        </p:txBody>
      </p:sp>
      <p:sp>
        <p:nvSpPr>
          <p:cNvPr id="16" name="text-12">
            <a:extLst xmlns:a="http://schemas.openxmlformats.org/drawingml/2006/main">
              <a:ext uri="{FF2B5EF4-FFF2-40B4-BE49-F238E27FC236}">
                <a16:creationId xmlns:a16="http://schemas.microsoft.com/office/drawing/2014/main" id="{E8467386-7838-437B-9CA7-018486135AB2}"/>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0e2ac393bcb54a47"/>
              </a:rPr>
              <a:t>Frame stream</a:t>
            </a:r>
          </a:p>
        </p:txBody>
      </p:sp>
      <p:sp>
        <p:nvSpPr>
          <p:cNvPr id="17" name="text-13">
            <a:extLst xmlns:a="http://schemas.openxmlformats.org/drawingml/2006/main">
              <a:ext uri="{FF2B5EF4-FFF2-40B4-BE49-F238E27FC236}">
                <a16:creationId xmlns:a16="http://schemas.microsoft.com/office/drawing/2014/main" id="{D34DEF95-2D62-400C-964F-5953BE02E348}"/>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9808f377efd740f7"/>
              </a:rPr>
              <a:t>Stream tests</a:t>
            </a:r>
          </a:p>
        </p:txBody>
      </p:sp>
      <p:sp>
        <p:nvSpPr>
          <p:cNvPr id="18" name="text-14">
            <a:extLst xmlns:a="http://schemas.openxmlformats.org/drawingml/2006/main">
              <a:ext uri="{FF2B5EF4-FFF2-40B4-BE49-F238E27FC236}">
                <a16:creationId xmlns:a16="http://schemas.microsoft.com/office/drawing/2014/main" id="{8D13A7C3-53B6-49C6-B921-5B734D794D2F}"/>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08</a:t>
            </a:r>
          </a:p>
        </p:txBody>
      </p:sp>
    </p:spTree>
    <p:extLst>
      <p:ext uri="{BB962C8B-B14F-4D97-AF65-F5344CB8AC3E}">
        <p14:creationId xmlns:p14="http://schemas.microsoft.com/office/powerpoint/2010/main" val="37650720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text-0">
            <a:extLst xmlns:a="http://schemas.openxmlformats.org/drawingml/2006/main">
              <a:ext uri="{FF2B5EF4-FFF2-40B4-BE49-F238E27FC236}">
                <a16:creationId xmlns:a16="http://schemas.microsoft.com/office/drawing/2014/main" id="{D6865D2C-D8C3-4F50-9528-8D23561FE319}"/>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Incremental video decoding</a:t>
            </a:r>
          </a:p>
        </p:txBody>
      </p:sp>
      <p:sp>
        <p:nvSpPr>
          <p:cNvPr id="2" name="text-1">
            <a:extLst xmlns:a="http://schemas.openxmlformats.org/drawingml/2006/main">
              <a:ext uri="{FF2B5EF4-FFF2-40B4-BE49-F238E27FC236}">
                <a16:creationId xmlns:a16="http://schemas.microsoft.com/office/drawing/2014/main" id="{4AD09DEF-F3C7-4CAF-A935-4915E22C1D3C}"/>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VideoFixtureFrameStream owns input delivery</a:t>
            </a:r>
          </a:p>
        </p:txBody>
      </p:sp>
      <p:sp>
        <p:nvSpPr>
          <p:cNvPr id="3" name="">
            <a:extLst xmlns:a="http://schemas.openxmlformats.org/drawingml/2006/main">
              <a:ext uri="{FF2B5EF4-FFF2-40B4-BE49-F238E27FC236}">
                <a16:creationId xmlns:a16="http://schemas.microsoft.com/office/drawing/2014/main" id="{F61CBDD5-865E-4FD3-ADFF-B45FD9CC2DB0}"/>
              </a:ext>
            </a:extLst>
          </p:cNvPr>
          <p:cNvSpPr>
            <a:spLocks xmlns:a="http://schemas.openxmlformats.org/drawingml/2006/main" noGrp="1"/>
          </p:cNvSpPr>
          <p:nvPr/>
        </p:nvSpPr>
        <p:spPr>
          <a:xfrm xmlns:a="http://schemas.openxmlformats.org/drawingml/2006/main">
            <a:off x="1714500" y="20193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4" name="text-2">
            <a:extLst xmlns:a="http://schemas.openxmlformats.org/drawingml/2006/main">
              <a:ext uri="{FF2B5EF4-FFF2-40B4-BE49-F238E27FC236}">
                <a16:creationId xmlns:a16="http://schemas.microsoft.com/office/drawing/2014/main" id="{2E439F65-5748-4BA4-8A45-27F9E80C0E8B}"/>
              </a:ext>
            </a:extLst>
          </p:cNvPr>
          <p:cNvSpPr>
            <a:spLocks xmlns:a="http://schemas.openxmlformats.org/drawingml/2006/main" noGrp="1"/>
          </p:cNvSpPr>
          <p:nvPr/>
        </p:nvSpPr>
        <p:spPr>
          <a:xfrm xmlns:a="http://schemas.openxmlformats.org/drawingml/2006/main">
            <a:off x="1905000" y="21050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Open the local video track</a:t>
            </a:r>
          </a:p>
        </p:txBody>
      </p:sp>
      <p:sp>
        <p:nvSpPr>
          <p:cNvPr id="5" name="text-3">
            <a:extLst xmlns:a="http://schemas.openxmlformats.org/drawingml/2006/main">
              <a:ext uri="{FF2B5EF4-FFF2-40B4-BE49-F238E27FC236}">
                <a16:creationId xmlns:a16="http://schemas.microsoft.com/office/drawing/2014/main" id="{90F87A6B-D8A2-417E-8446-CAC01D317EAF}"/>
              </a:ext>
            </a:extLst>
          </p:cNvPr>
          <p:cNvSpPr>
            <a:spLocks xmlns:a="http://schemas.openxmlformats.org/drawingml/2006/main" noGrp="1"/>
          </p:cNvSpPr>
          <p:nvPr/>
        </p:nvSpPr>
        <p:spPr>
          <a:xfrm xmlns:a="http://schemas.openxmlformats.org/drawingml/2006/main">
            <a:off x="1905000" y="25050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AVAssetReader decodes incrementally</a:t>
            </a:r>
          </a:p>
        </p:txBody>
      </p:sp>
      <p:sp>
        <p:nvSpPr>
          <p:cNvPr id="6" name="">
            <a:extLst xmlns:a="http://schemas.openxmlformats.org/drawingml/2006/main">
              <a:ext uri="{FF2B5EF4-FFF2-40B4-BE49-F238E27FC236}">
                <a16:creationId xmlns:a16="http://schemas.microsoft.com/office/drawing/2014/main" id="{086E1C0E-95CD-408B-9A55-42F3C76301FE}"/>
              </a:ext>
            </a:extLst>
          </p:cNvPr>
          <p:cNvSpPr>
            <a:spLocks xmlns:a="http://schemas.openxmlformats.org/drawingml/2006/main" noGrp="1"/>
          </p:cNvSpPr>
          <p:nvPr/>
        </p:nvSpPr>
        <p:spPr>
          <a:xfrm xmlns:a="http://schemas.openxmlformats.org/drawingml/2006/main">
            <a:off x="7524750" y="30575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1EBAF472-C5E5-470C-9909-80E6963F4080}"/>
              </a:ext>
            </a:extLst>
          </p:cNvPr>
          <p:cNvSpPr>
            <a:spLocks xmlns:a="http://schemas.openxmlformats.org/drawingml/2006/main" noGrp="1"/>
          </p:cNvSpPr>
          <p:nvPr/>
        </p:nvSpPr>
        <p:spPr>
          <a:xfrm xmlns:a="http://schemas.openxmlformats.org/drawingml/2006/main">
            <a:off x="1714500" y="34290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8" name="text-4">
            <a:extLst xmlns:a="http://schemas.openxmlformats.org/drawingml/2006/main">
              <a:ext uri="{FF2B5EF4-FFF2-40B4-BE49-F238E27FC236}">
                <a16:creationId xmlns:a16="http://schemas.microsoft.com/office/drawing/2014/main" id="{6059E9CF-692B-41A0-8F8C-9ACB71BFA7D4}"/>
              </a:ext>
            </a:extLst>
          </p:cNvPr>
          <p:cNvSpPr>
            <a:spLocks xmlns:a="http://schemas.openxmlformats.org/drawingml/2006/main" noGrp="1"/>
          </p:cNvSpPr>
          <p:nvPr/>
        </p:nvSpPr>
        <p:spPr>
          <a:xfrm xmlns:a="http://schemas.openxmlformats.org/drawingml/2006/main">
            <a:off x="1905000" y="35147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Read its presentation timestamp</a:t>
            </a:r>
          </a:p>
        </p:txBody>
      </p:sp>
      <p:sp>
        <p:nvSpPr>
          <p:cNvPr id="9" name="text-5">
            <a:extLst xmlns:a="http://schemas.openxmlformats.org/drawingml/2006/main">
              <a:ext uri="{FF2B5EF4-FFF2-40B4-BE49-F238E27FC236}">
                <a16:creationId xmlns:a16="http://schemas.microsoft.com/office/drawing/2014/main" id="{CA13127A-FCE9-4264-A9C7-52C6BB29AFEC}"/>
              </a:ext>
            </a:extLst>
          </p:cNvPr>
          <p:cNvSpPr>
            <a:spLocks xmlns:a="http://schemas.openxmlformats.org/drawingml/2006/main" noGrp="1"/>
          </p:cNvSpPr>
          <p:nvPr/>
        </p:nvSpPr>
        <p:spPr>
          <a:xfrm xmlns:a="http://schemas.openxmlformats.org/drawingml/2006/main">
            <a:off x="1905000" y="39147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Keep media identity and received-frame accounting</a:t>
            </a:r>
          </a:p>
        </p:txBody>
      </p:sp>
      <p:sp>
        <p:nvSpPr>
          <p:cNvPr id="10" name="">
            <a:extLst xmlns:a="http://schemas.openxmlformats.org/drawingml/2006/main">
              <a:ext uri="{FF2B5EF4-FFF2-40B4-BE49-F238E27FC236}">
                <a16:creationId xmlns:a16="http://schemas.microsoft.com/office/drawing/2014/main" id="{D032AF78-B030-4C77-B1BD-D9EB0EE78F78}"/>
              </a:ext>
            </a:extLst>
          </p:cNvPr>
          <p:cNvSpPr>
            <a:spLocks xmlns:a="http://schemas.openxmlformats.org/drawingml/2006/main" noGrp="1"/>
          </p:cNvSpPr>
          <p:nvPr/>
        </p:nvSpPr>
        <p:spPr>
          <a:xfrm xmlns:a="http://schemas.openxmlformats.org/drawingml/2006/main">
            <a:off x="7524750" y="44672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2A1C4266-8A18-4B4B-9F1C-F2EA9AD2C3BF}"/>
              </a:ext>
            </a:extLst>
          </p:cNvPr>
          <p:cNvSpPr>
            <a:spLocks xmlns:a="http://schemas.openxmlformats.org/drawingml/2006/main" noGrp="1"/>
          </p:cNvSpPr>
          <p:nvPr/>
        </p:nvSpPr>
        <p:spPr>
          <a:xfrm xmlns:a="http://schemas.openxmlformats.org/drawingml/2006/main">
            <a:off x="1714500" y="48387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12" name="text-6">
            <a:extLst xmlns:a="http://schemas.openxmlformats.org/drawingml/2006/main">
              <a:ext uri="{FF2B5EF4-FFF2-40B4-BE49-F238E27FC236}">
                <a16:creationId xmlns:a16="http://schemas.microsoft.com/office/drawing/2014/main" id="{D117EB29-BB97-4F3C-8268-545BA10546B2}"/>
              </a:ext>
            </a:extLst>
          </p:cNvPr>
          <p:cNvSpPr>
            <a:spLocks xmlns:a="http://schemas.openxmlformats.org/drawingml/2006/main" noGrp="1"/>
          </p:cNvSpPr>
          <p:nvPr/>
        </p:nvSpPr>
        <p:spPr>
          <a:xfrm xmlns:a="http://schemas.openxmlformats.org/drawingml/2006/main">
            <a:off x="1905000" y="49244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Select an eligible sample slot</a:t>
            </a:r>
          </a:p>
        </p:txBody>
      </p:sp>
      <p:sp>
        <p:nvSpPr>
          <p:cNvPr id="13" name="text-7">
            <a:extLst xmlns:a="http://schemas.openxmlformats.org/drawingml/2006/main">
              <a:ext uri="{FF2B5EF4-FFF2-40B4-BE49-F238E27FC236}">
                <a16:creationId xmlns:a16="http://schemas.microsoft.com/office/drawing/2014/main" id="{3FD99A57-ECDE-4122-9E8E-509CDE785CFA}"/>
              </a:ext>
            </a:extLst>
          </p:cNvPr>
          <p:cNvSpPr>
            <a:spLocks xmlns:a="http://schemas.openxmlformats.org/drawingml/2006/main" noGrp="1"/>
          </p:cNvSpPr>
          <p:nvPr/>
        </p:nvSpPr>
        <p:spPr>
          <a:xfrm xmlns:a="http://schemas.openxmlformats.org/drawingml/2006/main">
            <a:off x="1905000" y="53244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Default cadence: 2 frames per second</a:t>
            </a:r>
          </a:p>
        </p:txBody>
      </p:sp>
      <p:sp>
        <p:nvSpPr>
          <p:cNvPr id="14" name="">
            <a:extLst xmlns:a="http://schemas.openxmlformats.org/drawingml/2006/main">
              <a:ext uri="{FF2B5EF4-FFF2-40B4-BE49-F238E27FC236}">
                <a16:creationId xmlns:a16="http://schemas.microsoft.com/office/drawing/2014/main" id="{A3E519AB-4D67-4761-8C58-9C92327088F7}"/>
              </a:ext>
            </a:extLst>
          </p:cNvPr>
          <p:cNvSpPr>
            <a:spLocks xmlns:a="http://schemas.openxmlformats.org/drawingml/2006/main" noGrp="1"/>
          </p:cNvSpPr>
          <p:nvPr/>
        </p:nvSpPr>
        <p:spPr>
          <a:xfrm xmlns:a="http://schemas.openxmlformats.org/drawingml/2006/main">
            <a:off x="7524750" y="58769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7B4482EE-877B-4B33-9291-CB4C0527148E}"/>
              </a:ext>
            </a:extLst>
          </p:cNvPr>
          <p:cNvSpPr>
            <a:spLocks xmlns:a="http://schemas.openxmlformats.org/drawingml/2006/main" noGrp="1"/>
          </p:cNvSpPr>
          <p:nvPr/>
        </p:nvSpPr>
        <p:spPr>
          <a:xfrm xmlns:a="http://schemas.openxmlformats.org/drawingml/2006/main">
            <a:off x="1714500" y="62484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16" name="text-8">
            <a:extLst xmlns:a="http://schemas.openxmlformats.org/drawingml/2006/main">
              <a:ext uri="{FF2B5EF4-FFF2-40B4-BE49-F238E27FC236}">
                <a16:creationId xmlns:a16="http://schemas.microsoft.com/office/drawing/2014/main" id="{BCAB64D2-AE66-45AD-ADD2-830695320EEF}"/>
              </a:ext>
            </a:extLst>
          </p:cNvPr>
          <p:cNvSpPr>
            <a:spLocks xmlns:a="http://schemas.openxmlformats.org/drawingml/2006/main" noGrp="1"/>
          </p:cNvSpPr>
          <p:nvPr/>
        </p:nvSpPr>
        <p:spPr>
          <a:xfrm xmlns:a="http://schemas.openxmlformats.org/drawingml/2006/main">
            <a:off x="1905000" y="63341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Create an image and deliver it</a:t>
            </a:r>
          </a:p>
        </p:txBody>
      </p:sp>
      <p:sp>
        <p:nvSpPr>
          <p:cNvPr id="17" name="text-9">
            <a:extLst xmlns:a="http://schemas.openxmlformats.org/drawingml/2006/main">
              <a:ext uri="{FF2B5EF4-FFF2-40B4-BE49-F238E27FC236}">
                <a16:creationId xmlns:a16="http://schemas.microsoft.com/office/drawing/2014/main" id="{1F12FFCB-FEE7-41B4-803E-673FEAA8F539}"/>
              </a:ext>
            </a:extLst>
          </p:cNvPr>
          <p:cNvSpPr>
            <a:spLocks xmlns:a="http://schemas.openxmlformats.org/drawingml/2006/main" noGrp="1"/>
          </p:cNvSpPr>
          <p:nvPr/>
        </p:nvSpPr>
        <p:spPr>
          <a:xfrm xmlns:a="http://schemas.openxmlformats.org/drawingml/2006/main">
            <a:off x="1905000" y="67341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Continue without loading the complete video</a:t>
            </a:r>
          </a:p>
        </p:txBody>
      </p:sp>
      <p:sp>
        <p:nvSpPr>
          <p:cNvPr id="18" name="text-10">
            <a:extLst xmlns:a="http://schemas.openxmlformats.org/drawingml/2006/main">
              <a:ext uri="{FF2B5EF4-FFF2-40B4-BE49-F238E27FC236}">
                <a16:creationId xmlns:a16="http://schemas.microsoft.com/office/drawing/2014/main" id="{81CCDC98-DAF5-424A-AA6A-3CC8F6FF48B4}"/>
              </a:ext>
            </a:extLst>
          </p:cNvPr>
          <p:cNvSpPr>
            <a:spLocks xmlns:a="http://schemas.openxmlformats.org/drawingml/2006/main" noGrp="1"/>
          </p:cNvSpPr>
          <p:nvPr/>
        </p:nvSpPr>
        <p:spPr>
          <a:xfrm xmlns:a="http://schemas.openxmlformats.org/drawingml/2006/main">
            <a:off x="723900" y="7648575"/>
            <a:ext cx="13792200" cy="3973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506476"/>
                </a:solidFill>
                <a:latin typeface="Arial"/>
                <a:ea typeface="Arial"/>
                <a:cs typeface="Arial"/>
              </a:defRPr>
            </a:pPr>
            <a:r>
              <a:rPr sz="1950" b="0">
                <a:solidFill>
                  <a:srgbClr val="506476"/>
                </a:solidFill>
                <a:latin typeface="Arial"/>
                <a:ea typeface="Arial"/>
                <a:cs typeface="Arial"/>
              </a:rPr>
              <a:t>Invalid rate, unreadable video, or decode failure is an error.</a:t>
            </a:r>
          </a:p>
        </p:txBody>
      </p:sp>
      <p:sp>
        <p:nvSpPr>
          <p:cNvPr id="19" name="text-11">
            <a:extLst xmlns:a="http://schemas.openxmlformats.org/drawingml/2006/main">
              <a:ext uri="{FF2B5EF4-FFF2-40B4-BE49-F238E27FC236}">
                <a16:creationId xmlns:a16="http://schemas.microsoft.com/office/drawing/2014/main" id="{53C5C559-E243-4C8E-9A30-D0CA4C59AEC4}"/>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20" name="text-12">
            <a:extLst xmlns:a="http://schemas.openxmlformats.org/drawingml/2006/main">
              <a:ext uri="{FF2B5EF4-FFF2-40B4-BE49-F238E27FC236}">
                <a16:creationId xmlns:a16="http://schemas.microsoft.com/office/drawing/2014/main" id="{E24B0F05-771B-412B-818F-DA20CBC98404}"/>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c14e2a8ea6ff4501"/>
              </a:rPr>
              <a:t>Stream implementation</a:t>
            </a:r>
          </a:p>
        </p:txBody>
      </p:sp>
      <p:sp>
        <p:nvSpPr>
          <p:cNvPr id="21" name="text-13">
            <a:extLst xmlns:a="http://schemas.openxmlformats.org/drawingml/2006/main">
              <a:ext uri="{FF2B5EF4-FFF2-40B4-BE49-F238E27FC236}">
                <a16:creationId xmlns:a16="http://schemas.microsoft.com/office/drawing/2014/main" id="{CCBC2593-B6BB-4178-8948-C77E322D78D2}"/>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11c2805f4ff84ef8"/>
              </a:rPr>
              <a:t>Stream tests</a:t>
            </a:r>
          </a:p>
        </p:txBody>
      </p:sp>
      <p:sp>
        <p:nvSpPr>
          <p:cNvPr id="22" name="text-14">
            <a:extLst xmlns:a="http://schemas.openxmlformats.org/drawingml/2006/main">
              <a:ext uri="{FF2B5EF4-FFF2-40B4-BE49-F238E27FC236}">
                <a16:creationId xmlns:a16="http://schemas.microsoft.com/office/drawing/2014/main" id="{82797920-5AFA-4776-8CA0-7D1EA641AF5B}"/>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09</a:t>
            </a:r>
          </a:p>
        </p:txBody>
      </p:sp>
    </p:spTree>
    <p:extLst>
      <p:ext uri="{BB962C8B-B14F-4D97-AF65-F5344CB8AC3E}">
        <p14:creationId xmlns:p14="http://schemas.microsoft.com/office/powerpoint/2010/main" val="165671050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ext-0">
            <a:extLst xmlns:a="http://schemas.openxmlformats.org/drawingml/2006/main">
              <a:ext uri="{FF2B5EF4-FFF2-40B4-BE49-F238E27FC236}">
                <a16:creationId xmlns:a16="http://schemas.microsoft.com/office/drawing/2014/main" id="{AAF66ADE-7F6B-4336-9A28-2316552EC490}"/>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Replay under load</a:t>
            </a:r>
          </a:p>
        </p:txBody>
      </p:sp>
      <p:sp>
        <p:nvSpPr>
          <p:cNvPr id="2" name="text-1">
            <a:extLst xmlns:a="http://schemas.openxmlformats.org/drawingml/2006/main">
              <a:ext uri="{FF2B5EF4-FFF2-40B4-BE49-F238E27FC236}">
                <a16:creationId xmlns:a16="http://schemas.microsoft.com/office/drawing/2014/main" id="{A4DA2B54-05B3-43FE-A45B-A6CEE8AD73EF}"/>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A bounded queue favors current evidence</a:t>
            </a:r>
          </a:p>
        </p:txBody>
      </p:sp>
      <p:sp>
        <p:nvSpPr>
          <p:cNvPr id="3" name="text-2">
            <a:extLst xmlns:a="http://schemas.openxmlformats.org/drawingml/2006/main">
              <a:ext uri="{FF2B5EF4-FFF2-40B4-BE49-F238E27FC236}">
                <a16:creationId xmlns:a16="http://schemas.microsoft.com/office/drawing/2014/main" id="{9DA460AE-CACD-4DCB-A989-9F0D2EC731A0}"/>
              </a:ext>
            </a:extLst>
          </p:cNvPr>
          <p:cNvSpPr>
            <a:spLocks xmlns:a="http://schemas.openxmlformats.org/drawingml/2006/main" noGrp="1"/>
          </p:cNvSpPr>
          <p:nvPr/>
        </p:nvSpPr>
        <p:spPr>
          <a:xfrm xmlns:a="http://schemas.openxmlformats.org/drawingml/2006/main">
            <a:off x="723900" y="1905000"/>
            <a:ext cx="619125" cy="443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17667B"/>
                </a:solidFill>
                <a:latin typeface="Arial"/>
                <a:ea typeface="Arial"/>
                <a:cs typeface="Arial"/>
              </a:defRPr>
            </a:pPr>
            <a:r>
              <a:rPr sz="2250" b="1">
                <a:solidFill>
                  <a:srgbClr val="17667B"/>
                </a:solidFill>
                <a:latin typeface="Arial"/>
                <a:ea typeface="Arial"/>
                <a:cs typeface="Arial"/>
              </a:rPr>
              <a:t>01</a:t>
            </a:r>
          </a:p>
        </p:txBody>
      </p:sp>
      <p:sp>
        <p:nvSpPr>
          <p:cNvPr id="4" name="text-3">
            <a:extLst xmlns:a="http://schemas.openxmlformats.org/drawingml/2006/main">
              <a:ext uri="{FF2B5EF4-FFF2-40B4-BE49-F238E27FC236}">
                <a16:creationId xmlns:a16="http://schemas.microsoft.com/office/drawing/2014/main" id="{2EF1493B-E073-4A94-8101-9869EB020D40}"/>
              </a:ext>
            </a:extLst>
          </p:cNvPr>
          <p:cNvSpPr>
            <a:spLocks xmlns:a="http://schemas.openxmlformats.org/drawingml/2006/main" noGrp="1"/>
          </p:cNvSpPr>
          <p:nvPr/>
        </p:nvSpPr>
        <p:spPr>
          <a:xfrm xmlns:a="http://schemas.openxmlformats.org/drawingml/2006/main">
            <a:off x="1524000" y="1885950"/>
            <a:ext cx="129921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0">
                <a:solidFill>
                  <a:srgbClr val="102C43"/>
                </a:solidFill>
                <a:latin typeface="Arial"/>
                <a:ea typeface="Arial"/>
                <a:cs typeface="Arial"/>
              </a:defRPr>
            </a:pPr>
            <a:r>
              <a:rPr sz="2400" b="0">
                <a:solidFill>
                  <a:srgbClr val="102C43"/>
                </a:solidFill>
                <a:latin typeface="Arial"/>
                <a:ea typeface="Arial"/>
                <a:cs typeface="Arial"/>
              </a:rPr>
              <a:t>Deterministic mode waits for the consumer</a:t>
            </a:r>
          </a:p>
        </p:txBody>
      </p:sp>
      <p:sp>
        <p:nvSpPr>
          <p:cNvPr id="5" name="text-4">
            <a:extLst xmlns:a="http://schemas.openxmlformats.org/drawingml/2006/main">
              <a:ext uri="{FF2B5EF4-FFF2-40B4-BE49-F238E27FC236}">
                <a16:creationId xmlns:a16="http://schemas.microsoft.com/office/drawing/2014/main" id="{64DE051C-BFC8-4F98-8C2A-569EF5EC8A2B}"/>
              </a:ext>
            </a:extLst>
          </p:cNvPr>
          <p:cNvSpPr>
            <a:spLocks xmlns:a="http://schemas.openxmlformats.org/drawingml/2006/main" noGrp="1"/>
          </p:cNvSpPr>
          <p:nvPr/>
        </p:nvSpPr>
        <p:spPr>
          <a:xfrm xmlns:a="http://schemas.openxmlformats.org/drawingml/2006/main">
            <a:off x="723900" y="2562225"/>
            <a:ext cx="619125" cy="443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17667B"/>
                </a:solidFill>
                <a:latin typeface="Arial"/>
                <a:ea typeface="Arial"/>
                <a:cs typeface="Arial"/>
              </a:defRPr>
            </a:pPr>
            <a:r>
              <a:rPr sz="2250" b="1">
                <a:solidFill>
                  <a:srgbClr val="17667B"/>
                </a:solidFill>
                <a:latin typeface="Arial"/>
                <a:ea typeface="Arial"/>
                <a:cs typeface="Arial"/>
              </a:rPr>
              <a:t>02</a:t>
            </a:r>
          </a:p>
        </p:txBody>
      </p:sp>
      <p:sp>
        <p:nvSpPr>
          <p:cNvPr id="6" name="text-5">
            <a:extLst xmlns:a="http://schemas.openxmlformats.org/drawingml/2006/main">
              <a:ext uri="{FF2B5EF4-FFF2-40B4-BE49-F238E27FC236}">
                <a16:creationId xmlns:a16="http://schemas.microsoft.com/office/drawing/2014/main" id="{7AEF9D46-DAA8-4ED3-A502-DDBE00F09BC1}"/>
              </a:ext>
            </a:extLst>
          </p:cNvPr>
          <p:cNvSpPr>
            <a:spLocks xmlns:a="http://schemas.openxmlformats.org/drawingml/2006/main" noGrp="1"/>
          </p:cNvSpPr>
          <p:nvPr/>
        </p:nvSpPr>
        <p:spPr>
          <a:xfrm xmlns:a="http://schemas.openxmlformats.org/drawingml/2006/main">
            <a:off x="1524000" y="2543175"/>
            <a:ext cx="129921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0">
                <a:solidFill>
                  <a:srgbClr val="102C43"/>
                </a:solidFill>
                <a:latin typeface="Arial"/>
                <a:ea typeface="Arial"/>
                <a:cs typeface="Arial"/>
              </a:defRPr>
            </a:pPr>
            <a:r>
              <a:rPr sz="2400" b="0">
                <a:solidFill>
                  <a:srgbClr val="102C43"/>
                </a:solidFill>
                <a:latin typeface="Arial"/>
                <a:ea typeface="Arial"/>
                <a:cs typeface="Arial"/>
              </a:rPr>
              <a:t>Paced mode keeps one pending eligible frame</a:t>
            </a:r>
          </a:p>
        </p:txBody>
      </p:sp>
      <p:sp>
        <p:nvSpPr>
          <p:cNvPr id="7" name="text-6">
            <a:extLst xmlns:a="http://schemas.openxmlformats.org/drawingml/2006/main">
              <a:ext uri="{FF2B5EF4-FFF2-40B4-BE49-F238E27FC236}">
                <a16:creationId xmlns:a16="http://schemas.microsoft.com/office/drawing/2014/main" id="{B0D4843D-64D8-4895-91D6-191DB88B004B}"/>
              </a:ext>
            </a:extLst>
          </p:cNvPr>
          <p:cNvSpPr>
            <a:spLocks xmlns:a="http://schemas.openxmlformats.org/drawingml/2006/main" noGrp="1"/>
          </p:cNvSpPr>
          <p:nvPr/>
        </p:nvSpPr>
        <p:spPr>
          <a:xfrm xmlns:a="http://schemas.openxmlformats.org/drawingml/2006/main">
            <a:off x="723900" y="3219450"/>
            <a:ext cx="619125" cy="443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17667B"/>
                </a:solidFill>
                <a:latin typeface="Arial"/>
                <a:ea typeface="Arial"/>
                <a:cs typeface="Arial"/>
              </a:defRPr>
            </a:pPr>
            <a:r>
              <a:rPr sz="2250" b="1">
                <a:solidFill>
                  <a:srgbClr val="17667B"/>
                </a:solidFill>
                <a:latin typeface="Arial"/>
                <a:ea typeface="Arial"/>
                <a:cs typeface="Arial"/>
              </a:rPr>
              <a:t>03</a:t>
            </a:r>
          </a:p>
        </p:txBody>
      </p:sp>
      <p:sp>
        <p:nvSpPr>
          <p:cNvPr id="8" name="text-7">
            <a:extLst xmlns:a="http://schemas.openxmlformats.org/drawingml/2006/main">
              <a:ext uri="{FF2B5EF4-FFF2-40B4-BE49-F238E27FC236}">
                <a16:creationId xmlns:a16="http://schemas.microsoft.com/office/drawing/2014/main" id="{D650FB67-4BF9-4581-BFCD-784BD03D1AC8}"/>
              </a:ext>
            </a:extLst>
          </p:cNvPr>
          <p:cNvSpPr>
            <a:spLocks xmlns:a="http://schemas.openxmlformats.org/drawingml/2006/main" noGrp="1"/>
          </p:cNvSpPr>
          <p:nvPr/>
        </p:nvSpPr>
        <p:spPr>
          <a:xfrm xmlns:a="http://schemas.openxmlformats.org/drawingml/2006/main">
            <a:off x="1524000" y="3200400"/>
            <a:ext cx="129921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0">
                <a:solidFill>
                  <a:srgbClr val="102C43"/>
                </a:solidFill>
                <a:latin typeface="Arial"/>
                <a:ea typeface="Arial"/>
                <a:cs typeface="Arial"/>
              </a:defRPr>
            </a:pPr>
            <a:r>
              <a:rPr sz="2400" b="0">
                <a:solidFill>
                  <a:srgbClr val="102C43"/>
                </a:solidFill>
                <a:latin typeface="Arial"/>
                <a:ea typeface="Arial"/>
                <a:cs typeface="Arial"/>
              </a:rPr>
              <a:t>A newer pending frame replaces stale work</a:t>
            </a:r>
          </a:p>
        </p:txBody>
      </p:sp>
      <p:sp>
        <p:nvSpPr>
          <p:cNvPr id="9" name="text-8">
            <a:extLst xmlns:a="http://schemas.openxmlformats.org/drawingml/2006/main">
              <a:ext uri="{FF2B5EF4-FFF2-40B4-BE49-F238E27FC236}">
                <a16:creationId xmlns:a16="http://schemas.microsoft.com/office/drawing/2014/main" id="{A5F4819B-BFFE-469A-B2B1-E953FE1D6629}"/>
              </a:ext>
            </a:extLst>
          </p:cNvPr>
          <p:cNvSpPr>
            <a:spLocks xmlns:a="http://schemas.openxmlformats.org/drawingml/2006/main" noGrp="1"/>
          </p:cNvSpPr>
          <p:nvPr/>
        </p:nvSpPr>
        <p:spPr>
          <a:xfrm xmlns:a="http://schemas.openxmlformats.org/drawingml/2006/main">
            <a:off x="723900" y="4038600"/>
            <a:ext cx="1379220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Selected Swift lines</a:t>
            </a:r>
          </a:p>
        </p:txBody>
      </p:sp>
      <p:sp>
        <p:nvSpPr>
          <p:cNvPr id="10" name="">
            <a:extLst xmlns:a="http://schemas.openxmlformats.org/drawingml/2006/main">
              <a:ext uri="{FF2B5EF4-FFF2-40B4-BE49-F238E27FC236}">
                <a16:creationId xmlns:a16="http://schemas.microsoft.com/office/drawing/2014/main" id="{3EB97F0A-3AD1-453C-88CD-AFCC0E1F5BF0}"/>
              </a:ext>
            </a:extLst>
          </p:cNvPr>
          <p:cNvSpPr>
            <a:spLocks xmlns:a="http://schemas.openxmlformats.org/drawingml/2006/main" noGrp="1"/>
          </p:cNvSpPr>
          <p:nvPr/>
        </p:nvSpPr>
        <p:spPr>
          <a:xfrm xmlns:a="http://schemas.openxmlformats.org/drawingml/2006/main">
            <a:off x="723900" y="4362450"/>
            <a:ext cx="13792200" cy="1724025"/>
          </a:xfrm>
          <a:prstGeom xmlns:a="http://schemas.openxmlformats.org/drawingml/2006/main" prst="rect">
            <a:avLst/>
          </a:prstGeom>
          <a:solidFill xmlns:a="http://schemas.openxmlformats.org/drawingml/2006/main">
            <a:srgbClr val="EEF5F6"/>
          </a:solidFill>
          <a:ln xmlns:a="http://schemas.openxmlformats.org/drawingml/2006/main" w="0">
            <a:noFill/>
          </a:ln>
        </p:spPr>
      </p:sp>
      <p:sp>
        <p:nvSpPr>
          <p:cNvPr id="11" name="text-9">
            <a:extLst xmlns:a="http://schemas.openxmlformats.org/drawingml/2006/main">
              <a:ext uri="{FF2B5EF4-FFF2-40B4-BE49-F238E27FC236}">
                <a16:creationId xmlns:a16="http://schemas.microsoft.com/office/drawing/2014/main" id="{1A588D4F-D815-4DFB-B245-D44163159A32}"/>
              </a:ext>
            </a:extLst>
          </p:cNvPr>
          <p:cNvSpPr>
            <a:spLocks xmlns:a="http://schemas.openxmlformats.org/drawingml/2006/main" noGrp="1"/>
          </p:cNvSpPr>
          <p:nvPr/>
        </p:nvSpPr>
        <p:spPr>
          <a:xfrm xmlns:a="http://schemas.openxmlformats.org/drawingml/2006/main">
            <a:off x="933450" y="4438650"/>
            <a:ext cx="13373100" cy="15687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let (frames, continuation) = AsyncThrowingStream&lt;VideoFrame, Error&gt;.makeStream(</a:t>
            </a:r>
          </a:p>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    bufferingPolicy: .bufferingNewest(1))</a:t>
            </a:r>
          </a:p>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if case .dropped(let old) = continuation.yield(frame) {</a:t>
            </a:r>
          </a:p>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    try self.drop(old, observer: observer)</a:t>
            </a:r>
          </a:p>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a:t>
            </a:r>
          </a:p>
        </p:txBody>
      </p:sp>
      <p:sp>
        <p:nvSpPr>
          <p:cNvPr id="12" name="text-10">
            <a:extLst xmlns:a="http://schemas.openxmlformats.org/drawingml/2006/main">
              <a:ext uri="{FF2B5EF4-FFF2-40B4-BE49-F238E27FC236}">
                <a16:creationId xmlns:a16="http://schemas.microsoft.com/office/drawing/2014/main" id="{5060E5F1-2A50-4BE5-A3D7-C52CF8B922C9}"/>
              </a:ext>
            </a:extLst>
          </p:cNvPr>
          <p:cNvSpPr>
            <a:spLocks xmlns:a="http://schemas.openxmlformats.org/drawingml/2006/main" noGrp="1"/>
          </p:cNvSpPr>
          <p:nvPr/>
        </p:nvSpPr>
        <p:spPr>
          <a:xfrm xmlns:a="http://schemas.openxmlformats.org/drawingml/2006/main">
            <a:off x="723900" y="7077075"/>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Slow-consumer tests force drops and then stop</a:t>
            </a:r>
          </a:p>
        </p:txBody>
      </p:sp>
      <p:sp>
        <p:nvSpPr>
          <p:cNvPr id="13" name="text-11">
            <a:extLst xmlns:a="http://schemas.openxmlformats.org/drawingml/2006/main">
              <a:ext uri="{FF2B5EF4-FFF2-40B4-BE49-F238E27FC236}">
                <a16:creationId xmlns:a16="http://schemas.microsoft.com/office/drawing/2014/main" id="{39DDA13F-09B0-44A9-8F50-3BDE1B38C5CC}"/>
              </a:ext>
            </a:extLst>
          </p:cNvPr>
          <p:cNvSpPr>
            <a:spLocks xmlns:a="http://schemas.openxmlformats.org/drawingml/2006/main" noGrp="1"/>
          </p:cNvSpPr>
          <p:nvPr/>
        </p:nvSpPr>
        <p:spPr>
          <a:xfrm xmlns:a="http://schemas.openxmlformats.org/drawingml/2006/main">
            <a:off x="723900" y="7534275"/>
            <a:ext cx="13792200" cy="4090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0">
                <a:solidFill>
                  <a:srgbClr val="506476"/>
                </a:solidFill>
                <a:latin typeface="Arial"/>
                <a:ea typeface="Arial"/>
                <a:cs typeface="Arial"/>
              </a:defRPr>
            </a:pPr>
            <a:r>
              <a:rPr sz="2025" b="0">
                <a:solidFill>
                  <a:srgbClr val="506476"/>
                </a:solidFill>
                <a:latin typeface="Arial"/>
                <a:ea typeface="Arial"/>
                <a:cs typeface="Arial"/>
              </a:rPr>
              <a:t>Received = skipped + dropped + analyzed in a successful session.</a:t>
            </a:r>
          </a:p>
        </p:txBody>
      </p:sp>
      <p:sp>
        <p:nvSpPr>
          <p:cNvPr id="14" name="text-12">
            <a:extLst xmlns:a="http://schemas.openxmlformats.org/drawingml/2006/main">
              <a:ext uri="{FF2B5EF4-FFF2-40B4-BE49-F238E27FC236}">
                <a16:creationId xmlns:a16="http://schemas.microsoft.com/office/drawing/2014/main" id="{FE422169-35A7-4EA7-AE03-4881A794261D}"/>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5" name="text-13">
            <a:extLst xmlns:a="http://schemas.openxmlformats.org/drawingml/2006/main">
              <a:ext uri="{FF2B5EF4-FFF2-40B4-BE49-F238E27FC236}">
                <a16:creationId xmlns:a16="http://schemas.microsoft.com/office/drawing/2014/main" id="{E9617F19-18E1-44D4-8C89-97E023ADFC0A}"/>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7c716772233f44e9"/>
              </a:rPr>
              <a:t>Stream implementation</a:t>
            </a:r>
          </a:p>
        </p:txBody>
      </p:sp>
      <p:sp>
        <p:nvSpPr>
          <p:cNvPr id="16" name="text-14">
            <a:extLst xmlns:a="http://schemas.openxmlformats.org/drawingml/2006/main">
              <a:ext uri="{FF2B5EF4-FFF2-40B4-BE49-F238E27FC236}">
                <a16:creationId xmlns:a16="http://schemas.microsoft.com/office/drawing/2014/main" id="{B4A14490-0097-4F20-8F39-1941C03C10F0}"/>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79c25223dca74f6b"/>
              </a:rPr>
              <a:t>Integration suite</a:t>
            </a:r>
          </a:p>
        </p:txBody>
      </p:sp>
      <p:sp>
        <p:nvSpPr>
          <p:cNvPr id="17" name="text-15">
            <a:extLst xmlns:a="http://schemas.openxmlformats.org/drawingml/2006/main">
              <a:ext uri="{FF2B5EF4-FFF2-40B4-BE49-F238E27FC236}">
                <a16:creationId xmlns:a16="http://schemas.microsoft.com/office/drawing/2014/main" id="{C2D0FCCF-857C-47A1-A3EA-1AB5058699A1}"/>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659e1707908743e5"/>
              </a:rPr>
              <a:t>Report builder</a:t>
            </a:r>
          </a:p>
        </p:txBody>
      </p:sp>
      <p:sp>
        <p:nvSpPr>
          <p:cNvPr id="18" name="text-16">
            <a:extLst xmlns:a="http://schemas.openxmlformats.org/drawingml/2006/main">
              <a:ext uri="{FF2B5EF4-FFF2-40B4-BE49-F238E27FC236}">
                <a16:creationId xmlns:a16="http://schemas.microsoft.com/office/drawing/2014/main" id="{BB5AB8E6-DFDC-470F-B859-8B16A2B660B5}"/>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10</a:t>
            </a:r>
          </a:p>
        </p:txBody>
      </p:sp>
    </p:spTree>
    <p:extLst>
      <p:ext uri="{BB962C8B-B14F-4D97-AF65-F5344CB8AC3E}">
        <p14:creationId xmlns:p14="http://schemas.microsoft.com/office/powerpoint/2010/main" val="180059789"/>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ext-0">
            <a:extLst xmlns:a="http://schemas.openxmlformats.org/drawingml/2006/main">
              <a:ext uri="{FF2B5EF4-FFF2-40B4-BE49-F238E27FC236}">
                <a16:creationId xmlns:a16="http://schemas.microsoft.com/office/drawing/2014/main" id="{4CC8A598-1E27-4934-924D-7D9207963A08}"/>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The local target catalog</a:t>
            </a:r>
          </a:p>
        </p:txBody>
      </p:sp>
      <p:sp>
        <p:nvSpPr>
          <p:cNvPr id="2" name="text-1">
            <a:extLst xmlns:a="http://schemas.openxmlformats.org/drawingml/2006/main">
              <a:ext uri="{FF2B5EF4-FFF2-40B4-BE49-F238E27FC236}">
                <a16:creationId xmlns:a16="http://schemas.microsoft.com/office/drawing/2014/main" id="{C4425D1B-A712-440A-BDEB-64201FCE97A6}"/>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One reference descriptor, computed once</a:t>
            </a:r>
          </a:p>
        </p:txBody>
      </p:sp>
      <p:sp>
        <p:nvSpPr>
          <p:cNvPr id="3" name="text-2">
            <a:extLst xmlns:a="http://schemas.openxmlformats.org/drawingml/2006/main">
              <a:ext uri="{FF2B5EF4-FFF2-40B4-BE49-F238E27FC236}">
                <a16:creationId xmlns:a16="http://schemas.microsoft.com/office/drawing/2014/main" id="{BA398491-755C-49AE-82AD-FFF4EA14A010}"/>
              </a:ext>
            </a:extLst>
          </p:cNvPr>
          <p:cNvSpPr>
            <a:spLocks xmlns:a="http://schemas.openxmlformats.org/drawingml/2006/main" noGrp="1"/>
          </p:cNvSpPr>
          <p:nvPr/>
        </p:nvSpPr>
        <p:spPr>
          <a:xfrm xmlns:a="http://schemas.openxmlformats.org/drawingml/2006/main">
            <a:off x="723900" y="19240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Input</a:t>
            </a:r>
          </a:p>
        </p:txBody>
      </p:sp>
      <p:sp>
        <p:nvSpPr>
          <p:cNvPr id="4" name="text-3">
            <a:extLst xmlns:a="http://schemas.openxmlformats.org/drawingml/2006/main">
              <a:ext uri="{FF2B5EF4-FFF2-40B4-BE49-F238E27FC236}">
                <a16:creationId xmlns:a16="http://schemas.microsoft.com/office/drawing/2014/main" id="{C256D205-B2E4-4AE4-85E5-10C8224A1F6B}"/>
              </a:ext>
            </a:extLst>
          </p:cNvPr>
          <p:cNvSpPr>
            <a:spLocks xmlns:a="http://schemas.openxmlformats.org/drawingml/2006/main" noGrp="1"/>
          </p:cNvSpPr>
          <p:nvPr/>
        </p:nvSpPr>
        <p:spPr>
          <a:xfrm xmlns:a="http://schemas.openxmlformats.org/drawingml/2006/main">
            <a:off x="723900" y="23241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A caller-supplied local reference-image URL</a:t>
            </a:r>
          </a:p>
        </p:txBody>
      </p:sp>
      <p:sp>
        <p:nvSpPr>
          <p:cNvPr id="5" name="">
            <a:extLst xmlns:a="http://schemas.openxmlformats.org/drawingml/2006/main">
              <a:ext uri="{FF2B5EF4-FFF2-40B4-BE49-F238E27FC236}">
                <a16:creationId xmlns:a16="http://schemas.microsoft.com/office/drawing/2014/main" id="{973EB0B3-D435-4660-BF46-AB2290D005E3}"/>
              </a:ext>
            </a:extLst>
          </p:cNvPr>
          <p:cNvSpPr>
            <a:spLocks xmlns:a="http://schemas.openxmlformats.org/drawingml/2006/main" noGrp="1"/>
          </p:cNvSpPr>
          <p:nvPr/>
        </p:nvSpPr>
        <p:spPr>
          <a:xfrm xmlns:a="http://schemas.openxmlformats.org/drawingml/2006/main">
            <a:off x="723900" y="31718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6" name="text-4">
            <a:extLst xmlns:a="http://schemas.openxmlformats.org/drawingml/2006/main">
              <a:ext uri="{FF2B5EF4-FFF2-40B4-BE49-F238E27FC236}">
                <a16:creationId xmlns:a16="http://schemas.microsoft.com/office/drawing/2014/main" id="{68869E0D-36B4-4552-B0EC-9776716C64A8}"/>
              </a:ext>
            </a:extLst>
          </p:cNvPr>
          <p:cNvSpPr>
            <a:spLocks xmlns:a="http://schemas.openxmlformats.org/drawingml/2006/main" noGrp="1"/>
          </p:cNvSpPr>
          <p:nvPr/>
        </p:nvSpPr>
        <p:spPr>
          <a:xfrm xmlns:a="http://schemas.openxmlformats.org/drawingml/2006/main">
            <a:off x="723900" y="33147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Output</a:t>
            </a:r>
          </a:p>
        </p:txBody>
      </p:sp>
      <p:sp>
        <p:nvSpPr>
          <p:cNvPr id="7" name="text-5">
            <a:extLst xmlns:a="http://schemas.openxmlformats.org/drawingml/2006/main">
              <a:ext uri="{FF2B5EF4-FFF2-40B4-BE49-F238E27FC236}">
                <a16:creationId xmlns:a16="http://schemas.microsoft.com/office/drawing/2014/main" id="{9769EFA0-E513-4FE8-B3A1-8638DD9023E5}"/>
              </a:ext>
            </a:extLst>
          </p:cNvPr>
          <p:cNvSpPr>
            <a:spLocks xmlns:a="http://schemas.openxmlformats.org/drawingml/2006/main" noGrp="1"/>
          </p:cNvSpPr>
          <p:nvPr/>
        </p:nvSpPr>
        <p:spPr>
          <a:xfrm xmlns:a="http://schemas.openxmlformats.org/drawingml/2006/main">
            <a:off x="723900" y="37147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Product identity, reference hash, cached feature print</a:t>
            </a:r>
          </a:p>
        </p:txBody>
      </p:sp>
      <p:sp>
        <p:nvSpPr>
          <p:cNvPr id="8" name="">
            <a:extLst xmlns:a="http://schemas.openxmlformats.org/drawingml/2006/main">
              <a:ext uri="{FF2B5EF4-FFF2-40B4-BE49-F238E27FC236}">
                <a16:creationId xmlns:a16="http://schemas.microsoft.com/office/drawing/2014/main" id="{74F1E885-FA5D-432B-8FCB-254119734512}"/>
              </a:ext>
            </a:extLst>
          </p:cNvPr>
          <p:cNvSpPr>
            <a:spLocks xmlns:a="http://schemas.openxmlformats.org/drawingml/2006/main" noGrp="1"/>
          </p:cNvSpPr>
          <p:nvPr/>
        </p:nvSpPr>
        <p:spPr>
          <a:xfrm xmlns:a="http://schemas.openxmlformats.org/drawingml/2006/main">
            <a:off x="723900" y="456247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9" name="text-6">
            <a:extLst xmlns:a="http://schemas.openxmlformats.org/drawingml/2006/main">
              <a:ext uri="{FF2B5EF4-FFF2-40B4-BE49-F238E27FC236}">
                <a16:creationId xmlns:a16="http://schemas.microsoft.com/office/drawing/2014/main" id="{1AA6F890-5014-4256-A70C-5B51658B2998}"/>
              </a:ext>
            </a:extLst>
          </p:cNvPr>
          <p:cNvSpPr>
            <a:spLocks xmlns:a="http://schemas.openxmlformats.org/drawingml/2006/main" noGrp="1"/>
          </p:cNvSpPr>
          <p:nvPr/>
        </p:nvSpPr>
        <p:spPr>
          <a:xfrm xmlns:a="http://schemas.openxmlformats.org/drawingml/2006/main">
            <a:off x="723900" y="47053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Responsibility</a:t>
            </a:r>
          </a:p>
        </p:txBody>
      </p:sp>
      <p:sp>
        <p:nvSpPr>
          <p:cNvPr id="10" name="text-7">
            <a:extLst xmlns:a="http://schemas.openxmlformats.org/drawingml/2006/main">
              <a:ext uri="{FF2B5EF4-FFF2-40B4-BE49-F238E27FC236}">
                <a16:creationId xmlns:a16="http://schemas.microsoft.com/office/drawing/2014/main" id="{14870833-1871-443D-AC6B-E9B583B79F99}"/>
              </a:ext>
            </a:extLst>
          </p:cNvPr>
          <p:cNvSpPr>
            <a:spLocks xmlns:a="http://schemas.openxmlformats.org/drawingml/2006/main" noGrp="1"/>
          </p:cNvSpPr>
          <p:nvPr/>
        </p:nvSpPr>
        <p:spPr>
          <a:xfrm xmlns:a="http://schemas.openxmlformats.org/drawingml/2006/main">
            <a:off x="723900" y="51054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Load the banana reference and reuse its descriptor</a:t>
            </a:r>
          </a:p>
        </p:txBody>
      </p:sp>
      <p:sp>
        <p:nvSpPr>
          <p:cNvPr id="11" name="">
            <a:extLst xmlns:a="http://schemas.openxmlformats.org/drawingml/2006/main">
              <a:ext uri="{FF2B5EF4-FFF2-40B4-BE49-F238E27FC236}">
                <a16:creationId xmlns:a16="http://schemas.microsoft.com/office/drawing/2014/main" id="{92ADA4A1-F73A-40E4-BCD4-835574F6EB29}"/>
              </a:ext>
            </a:extLst>
          </p:cNvPr>
          <p:cNvSpPr>
            <a:spLocks xmlns:a="http://schemas.openxmlformats.org/drawingml/2006/main" noGrp="1"/>
          </p:cNvSpPr>
          <p:nvPr/>
        </p:nvSpPr>
        <p:spPr>
          <a:xfrm xmlns:a="http://schemas.openxmlformats.org/drawingml/2006/main">
            <a:off x="723900" y="59531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12" name="text-8">
            <a:extLst xmlns:a="http://schemas.openxmlformats.org/drawingml/2006/main">
              <a:ext uri="{FF2B5EF4-FFF2-40B4-BE49-F238E27FC236}">
                <a16:creationId xmlns:a16="http://schemas.microsoft.com/office/drawing/2014/main" id="{9F97039D-E86E-490E-915E-A93924ABCCE4}"/>
              </a:ext>
            </a:extLst>
          </p:cNvPr>
          <p:cNvSpPr>
            <a:spLocks xmlns:a="http://schemas.openxmlformats.org/drawingml/2006/main" noGrp="1"/>
          </p:cNvSpPr>
          <p:nvPr/>
        </p:nvSpPr>
        <p:spPr>
          <a:xfrm xmlns:a="http://schemas.openxmlformats.org/drawingml/2006/main">
            <a:off x="723900" y="60960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Boundary</a:t>
            </a:r>
          </a:p>
        </p:txBody>
      </p:sp>
      <p:sp>
        <p:nvSpPr>
          <p:cNvPr id="13" name="text-9">
            <a:extLst xmlns:a="http://schemas.openxmlformats.org/drawingml/2006/main">
              <a:ext uri="{FF2B5EF4-FFF2-40B4-BE49-F238E27FC236}">
                <a16:creationId xmlns:a16="http://schemas.microsoft.com/office/drawing/2014/main" id="{A46D3A19-5A05-4351-8494-F01292F85A86}"/>
              </a:ext>
            </a:extLst>
          </p:cNvPr>
          <p:cNvSpPr>
            <a:spLocks xmlns:a="http://schemas.openxmlformats.org/drawingml/2006/main" noGrp="1"/>
          </p:cNvSpPr>
          <p:nvPr/>
        </p:nvSpPr>
        <p:spPr>
          <a:xfrm xmlns:a="http://schemas.openxmlformats.org/drawingml/2006/main">
            <a:off x="723900" y="64960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No app bundle lookup, network request, or annotation access</a:t>
            </a:r>
          </a:p>
        </p:txBody>
      </p:sp>
      <p:sp>
        <p:nvSpPr>
          <p:cNvPr id="14" name="text-10">
            <a:extLst xmlns:a="http://schemas.openxmlformats.org/drawingml/2006/main">
              <a:ext uri="{FF2B5EF4-FFF2-40B4-BE49-F238E27FC236}">
                <a16:creationId xmlns:a16="http://schemas.microsoft.com/office/drawing/2014/main" id="{DA16DCC7-B097-4F4A-B649-962C0E3C1757}"/>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5" name="text-11">
            <a:extLst xmlns:a="http://schemas.openxmlformats.org/drawingml/2006/main">
              <a:ext uri="{FF2B5EF4-FFF2-40B4-BE49-F238E27FC236}">
                <a16:creationId xmlns:a16="http://schemas.microsoft.com/office/drawing/2014/main" id="{580494ED-0290-442F-81AC-A86C9D1F9ABF}"/>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1bb89d0eae504140"/>
              </a:rPr>
              <a:t>Local catalog</a:t>
            </a:r>
          </a:p>
        </p:txBody>
      </p:sp>
      <p:sp>
        <p:nvSpPr>
          <p:cNvPr id="16" name="text-12">
            <a:extLst xmlns:a="http://schemas.openxmlformats.org/drawingml/2006/main">
              <a:ext uri="{FF2B5EF4-FFF2-40B4-BE49-F238E27FC236}">
                <a16:creationId xmlns:a16="http://schemas.microsoft.com/office/drawing/2014/main" id="{7B7514A6-7100-48CA-A7A9-5F07DC96CDE6}"/>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c43d901764114058"/>
              </a:rPr>
              <a:t>Catalog tests</a:t>
            </a:r>
          </a:p>
        </p:txBody>
      </p:sp>
      <p:sp>
        <p:nvSpPr>
          <p:cNvPr id="17" name="text-13">
            <a:extLst xmlns:a="http://schemas.openxmlformats.org/drawingml/2006/main">
              <a:ext uri="{FF2B5EF4-FFF2-40B4-BE49-F238E27FC236}">
                <a16:creationId xmlns:a16="http://schemas.microsoft.com/office/drawing/2014/main" id="{E8FD88DD-C175-46BC-A014-0E9B20EFAD9B}"/>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c7ad5e8ae9de4c13"/>
              </a:rPr>
              <a:t>Diagnostic inputs</a:t>
            </a:r>
          </a:p>
        </p:txBody>
      </p:sp>
      <p:sp>
        <p:nvSpPr>
          <p:cNvPr id="18" name="text-14">
            <a:extLst xmlns:a="http://schemas.openxmlformats.org/drawingml/2006/main">
              <a:ext uri="{FF2B5EF4-FFF2-40B4-BE49-F238E27FC236}">
                <a16:creationId xmlns:a16="http://schemas.microsoft.com/office/drawing/2014/main" id="{F6332562-8322-4A6F-9822-89E2B3B70C87}"/>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11</a:t>
            </a:r>
          </a:p>
        </p:txBody>
      </p:sp>
    </p:spTree>
    <p:extLst>
      <p:ext uri="{BB962C8B-B14F-4D97-AF65-F5344CB8AC3E}">
        <p14:creationId xmlns:p14="http://schemas.microsoft.com/office/powerpoint/2010/main" val="631115751"/>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text-0">
            <a:extLst xmlns:a="http://schemas.openxmlformats.org/drawingml/2006/main">
              <a:ext uri="{FF2B5EF4-FFF2-40B4-BE49-F238E27FC236}">
                <a16:creationId xmlns:a16="http://schemas.microsoft.com/office/drawing/2014/main" id="{0B74774F-F172-4615-97F7-46D331538561}"/>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The Vision adapter</a:t>
            </a:r>
          </a:p>
        </p:txBody>
      </p:sp>
      <p:sp>
        <p:nvSpPr>
          <p:cNvPr id="2" name="text-1">
            <a:extLst xmlns:a="http://schemas.openxmlformats.org/drawingml/2006/main">
              <a:ext uri="{FF2B5EF4-FFF2-40B4-BE49-F238E27FC236}">
                <a16:creationId xmlns:a16="http://schemas.microsoft.com/office/drawing/2014/main" id="{DB65A4C9-D13B-4DB1-BBDA-71868C27D072}"/>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A small boundary around Apple's feature-print request</a:t>
            </a:r>
          </a:p>
        </p:txBody>
      </p:sp>
      <p:sp>
        <p:nvSpPr>
          <p:cNvPr id="3" name="text-2">
            <a:extLst xmlns:a="http://schemas.openxmlformats.org/drawingml/2006/main">
              <a:ext uri="{FF2B5EF4-FFF2-40B4-BE49-F238E27FC236}">
                <a16:creationId xmlns:a16="http://schemas.microsoft.com/office/drawing/2014/main" id="{399E2806-8B24-4B58-8032-EA36F00B4D64}"/>
              </a:ext>
            </a:extLst>
          </p:cNvPr>
          <p:cNvSpPr>
            <a:spLocks xmlns:a="http://schemas.openxmlformats.org/drawingml/2006/main" noGrp="1"/>
          </p:cNvSpPr>
          <p:nvPr/>
        </p:nvSpPr>
        <p:spPr>
          <a:xfrm xmlns:a="http://schemas.openxmlformats.org/drawingml/2006/main">
            <a:off x="723900" y="1905000"/>
            <a:ext cx="619125" cy="443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17667B"/>
                </a:solidFill>
                <a:latin typeface="Arial"/>
                <a:ea typeface="Arial"/>
                <a:cs typeface="Arial"/>
              </a:defRPr>
            </a:pPr>
            <a:r>
              <a:rPr sz="2250" b="1">
                <a:solidFill>
                  <a:srgbClr val="17667B"/>
                </a:solidFill>
                <a:latin typeface="Arial"/>
                <a:ea typeface="Arial"/>
                <a:cs typeface="Arial"/>
              </a:rPr>
              <a:t>01</a:t>
            </a:r>
          </a:p>
        </p:txBody>
      </p:sp>
      <p:sp>
        <p:nvSpPr>
          <p:cNvPr id="4" name="text-3">
            <a:extLst xmlns:a="http://schemas.openxmlformats.org/drawingml/2006/main">
              <a:ext uri="{FF2B5EF4-FFF2-40B4-BE49-F238E27FC236}">
                <a16:creationId xmlns:a16="http://schemas.microsoft.com/office/drawing/2014/main" id="{6D4E5869-22AC-4427-ABA3-CE09E3A916C8}"/>
              </a:ext>
            </a:extLst>
          </p:cNvPr>
          <p:cNvSpPr>
            <a:spLocks xmlns:a="http://schemas.openxmlformats.org/drawingml/2006/main" noGrp="1"/>
          </p:cNvSpPr>
          <p:nvPr/>
        </p:nvSpPr>
        <p:spPr>
          <a:xfrm xmlns:a="http://schemas.openxmlformats.org/drawingml/2006/main">
            <a:off x="1524000" y="1885950"/>
            <a:ext cx="129921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0">
                <a:solidFill>
                  <a:srgbClr val="102C43"/>
                </a:solidFill>
                <a:latin typeface="Arial"/>
                <a:ea typeface="Arial"/>
                <a:cs typeface="Arial"/>
              </a:defRPr>
            </a:pPr>
            <a:r>
              <a:rPr sz="2400" b="0">
                <a:solidFill>
                  <a:srgbClr val="102C43"/>
                </a:solidFill>
                <a:latin typeface="Arial"/>
                <a:ea typeface="Arial"/>
                <a:cs typeface="Arial"/>
              </a:rPr>
              <a:t>Preserve encoded reference-image orientation</a:t>
            </a:r>
          </a:p>
        </p:txBody>
      </p:sp>
      <p:sp>
        <p:nvSpPr>
          <p:cNvPr id="5" name="text-4">
            <a:extLst xmlns:a="http://schemas.openxmlformats.org/drawingml/2006/main">
              <a:ext uri="{FF2B5EF4-FFF2-40B4-BE49-F238E27FC236}">
                <a16:creationId xmlns:a16="http://schemas.microsoft.com/office/drawing/2014/main" id="{8A1F8A2D-331D-4B5C-AEA2-69F5C7A6D265}"/>
              </a:ext>
            </a:extLst>
          </p:cNvPr>
          <p:cNvSpPr>
            <a:spLocks xmlns:a="http://schemas.openxmlformats.org/drawingml/2006/main" noGrp="1"/>
          </p:cNvSpPr>
          <p:nvPr/>
        </p:nvSpPr>
        <p:spPr>
          <a:xfrm xmlns:a="http://schemas.openxmlformats.org/drawingml/2006/main">
            <a:off x="723900" y="2562225"/>
            <a:ext cx="619125" cy="443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17667B"/>
                </a:solidFill>
                <a:latin typeface="Arial"/>
                <a:ea typeface="Arial"/>
                <a:cs typeface="Arial"/>
              </a:defRPr>
            </a:pPr>
            <a:r>
              <a:rPr sz="2250" b="1">
                <a:solidFill>
                  <a:srgbClr val="17667B"/>
                </a:solidFill>
                <a:latin typeface="Arial"/>
                <a:ea typeface="Arial"/>
                <a:cs typeface="Arial"/>
              </a:rPr>
              <a:t>02</a:t>
            </a:r>
          </a:p>
        </p:txBody>
      </p:sp>
      <p:sp>
        <p:nvSpPr>
          <p:cNvPr id="6" name="text-5">
            <a:extLst xmlns:a="http://schemas.openxmlformats.org/drawingml/2006/main">
              <a:ext uri="{FF2B5EF4-FFF2-40B4-BE49-F238E27FC236}">
                <a16:creationId xmlns:a16="http://schemas.microsoft.com/office/drawing/2014/main" id="{F753478D-BCF2-45A1-86F0-A6628DF35430}"/>
              </a:ext>
            </a:extLst>
          </p:cNvPr>
          <p:cNvSpPr>
            <a:spLocks xmlns:a="http://schemas.openxmlformats.org/drawingml/2006/main" noGrp="1"/>
          </p:cNvSpPr>
          <p:nvPr/>
        </p:nvSpPr>
        <p:spPr>
          <a:xfrm xmlns:a="http://schemas.openxmlformats.org/drawingml/2006/main">
            <a:off x="1524000" y="2543175"/>
            <a:ext cx="129921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0">
                <a:solidFill>
                  <a:srgbClr val="102C43"/>
                </a:solidFill>
                <a:latin typeface="Arial"/>
                <a:ea typeface="Arial"/>
                <a:cs typeface="Arial"/>
              </a:defRPr>
            </a:pPr>
            <a:r>
              <a:rPr sz="2400" b="0">
                <a:solidFill>
                  <a:srgbClr val="102C43"/>
                </a:solidFill>
                <a:latin typeface="Arial"/>
                <a:ea typeface="Arial"/>
                <a:cs typeface="Arial"/>
              </a:rPr>
              <a:t>Use revision 2 with scaleFill preprocessing</a:t>
            </a:r>
          </a:p>
        </p:txBody>
      </p:sp>
      <p:sp>
        <p:nvSpPr>
          <p:cNvPr id="7" name="text-6">
            <a:extLst xmlns:a="http://schemas.openxmlformats.org/drawingml/2006/main">
              <a:ext uri="{FF2B5EF4-FFF2-40B4-BE49-F238E27FC236}">
                <a16:creationId xmlns:a16="http://schemas.microsoft.com/office/drawing/2014/main" id="{399D0BB4-1A0C-4F0E-9F43-C711F45D08BE}"/>
              </a:ext>
            </a:extLst>
          </p:cNvPr>
          <p:cNvSpPr>
            <a:spLocks xmlns:a="http://schemas.openxmlformats.org/drawingml/2006/main" noGrp="1"/>
          </p:cNvSpPr>
          <p:nvPr/>
        </p:nvSpPr>
        <p:spPr>
          <a:xfrm xmlns:a="http://schemas.openxmlformats.org/drawingml/2006/main">
            <a:off x="723900" y="3219450"/>
            <a:ext cx="619125" cy="443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17667B"/>
                </a:solidFill>
                <a:latin typeface="Arial"/>
                <a:ea typeface="Arial"/>
                <a:cs typeface="Arial"/>
              </a:defRPr>
            </a:pPr>
            <a:r>
              <a:rPr sz="2250" b="1">
                <a:solidFill>
                  <a:srgbClr val="17667B"/>
                </a:solidFill>
                <a:latin typeface="Arial"/>
                <a:ea typeface="Arial"/>
                <a:cs typeface="Arial"/>
              </a:rPr>
              <a:t>03</a:t>
            </a:r>
          </a:p>
        </p:txBody>
      </p:sp>
      <p:sp>
        <p:nvSpPr>
          <p:cNvPr id="8" name="text-7">
            <a:extLst xmlns:a="http://schemas.openxmlformats.org/drawingml/2006/main">
              <a:ext uri="{FF2B5EF4-FFF2-40B4-BE49-F238E27FC236}">
                <a16:creationId xmlns:a16="http://schemas.microsoft.com/office/drawing/2014/main" id="{5C8A8254-2A4B-4C45-A5B8-DC894BF13151}"/>
              </a:ext>
            </a:extLst>
          </p:cNvPr>
          <p:cNvSpPr>
            <a:spLocks xmlns:a="http://schemas.openxmlformats.org/drawingml/2006/main" noGrp="1"/>
          </p:cNvSpPr>
          <p:nvPr/>
        </p:nvSpPr>
        <p:spPr>
          <a:xfrm xmlns:a="http://schemas.openxmlformats.org/drawingml/2006/main">
            <a:off x="1524000" y="3200400"/>
            <a:ext cx="129921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0">
                <a:solidFill>
                  <a:srgbClr val="102C43"/>
                </a:solidFill>
                <a:latin typeface="Arial"/>
                <a:ea typeface="Arial"/>
                <a:cs typeface="Arial"/>
              </a:defRPr>
            </a:pPr>
            <a:r>
              <a:rPr sz="2400" b="0">
                <a:solidFill>
                  <a:srgbClr val="102C43"/>
                </a:solidFill>
                <a:latin typeface="Arial"/>
                <a:ea typeface="Arial"/>
                <a:cs typeface="Arial"/>
              </a:rPr>
              <a:t>Reject incompatible revisions or invalid distances</a:t>
            </a:r>
          </a:p>
        </p:txBody>
      </p:sp>
      <p:sp>
        <p:nvSpPr>
          <p:cNvPr id="9" name="text-8">
            <a:extLst xmlns:a="http://schemas.openxmlformats.org/drawingml/2006/main">
              <a:ext uri="{FF2B5EF4-FFF2-40B4-BE49-F238E27FC236}">
                <a16:creationId xmlns:a16="http://schemas.microsoft.com/office/drawing/2014/main" id="{AAC7BB30-0682-4FA2-8585-0222E372E817}"/>
              </a:ext>
            </a:extLst>
          </p:cNvPr>
          <p:cNvSpPr>
            <a:spLocks xmlns:a="http://schemas.openxmlformats.org/drawingml/2006/main" noGrp="1"/>
          </p:cNvSpPr>
          <p:nvPr/>
        </p:nvSpPr>
        <p:spPr>
          <a:xfrm xmlns:a="http://schemas.openxmlformats.org/drawingml/2006/main">
            <a:off x="723900" y="4038600"/>
            <a:ext cx="1379220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Selected Swift lines</a:t>
            </a:r>
          </a:p>
        </p:txBody>
      </p:sp>
      <p:sp>
        <p:nvSpPr>
          <p:cNvPr id="10" name="">
            <a:extLst xmlns:a="http://schemas.openxmlformats.org/drawingml/2006/main">
              <a:ext uri="{FF2B5EF4-FFF2-40B4-BE49-F238E27FC236}">
                <a16:creationId xmlns:a16="http://schemas.microsoft.com/office/drawing/2014/main" id="{CA44E41C-FC00-4295-8E5C-26F20067243D}"/>
              </a:ext>
            </a:extLst>
          </p:cNvPr>
          <p:cNvSpPr>
            <a:spLocks xmlns:a="http://schemas.openxmlformats.org/drawingml/2006/main" noGrp="1"/>
          </p:cNvSpPr>
          <p:nvPr/>
        </p:nvSpPr>
        <p:spPr>
          <a:xfrm xmlns:a="http://schemas.openxmlformats.org/drawingml/2006/main">
            <a:off x="723900" y="4362450"/>
            <a:ext cx="13792200" cy="2019300"/>
          </a:xfrm>
          <a:prstGeom xmlns:a="http://schemas.openxmlformats.org/drawingml/2006/main" prst="rect">
            <a:avLst/>
          </a:prstGeom>
          <a:solidFill xmlns:a="http://schemas.openxmlformats.org/drawingml/2006/main">
            <a:srgbClr val="EEF5F6"/>
          </a:solidFill>
          <a:ln xmlns:a="http://schemas.openxmlformats.org/drawingml/2006/main" w="0">
            <a:noFill/>
          </a:ln>
        </p:spPr>
      </p:sp>
      <p:sp>
        <p:nvSpPr>
          <p:cNvPr id="11" name="text-9">
            <a:extLst xmlns:a="http://schemas.openxmlformats.org/drawingml/2006/main">
              <a:ext uri="{FF2B5EF4-FFF2-40B4-BE49-F238E27FC236}">
                <a16:creationId xmlns:a16="http://schemas.microsoft.com/office/drawing/2014/main" id="{D7BF39B7-E061-4E8C-8F95-26578A3C96E2}"/>
              </a:ext>
            </a:extLst>
          </p:cNvPr>
          <p:cNvSpPr>
            <a:spLocks xmlns:a="http://schemas.openxmlformats.org/drawingml/2006/main" noGrp="1"/>
          </p:cNvSpPr>
          <p:nvPr/>
        </p:nvSpPr>
        <p:spPr>
          <a:xfrm xmlns:a="http://schemas.openxmlformats.org/drawingml/2006/main">
            <a:off x="933450" y="4438650"/>
            <a:ext cx="13373100" cy="186347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let request = VNGenerateImageFeaturePrintRequest()</a:t>
            </a:r>
          </a:p>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request.revision = revision</a:t>
            </a:r>
          </a:p>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request.imageCropAndScaleOption = .scaleFill</a:t>
            </a:r>
          </a:p>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let handler = VNImageRequestHandler(</a:t>
            </a:r>
          </a:p>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    cgImage: image.image, orientation: image.orientation, options: [:]</a:t>
            </a:r>
          </a:p>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a:t>
            </a:r>
          </a:p>
        </p:txBody>
      </p:sp>
      <p:sp>
        <p:nvSpPr>
          <p:cNvPr id="12" name="text-10">
            <a:extLst xmlns:a="http://schemas.openxmlformats.org/drawingml/2006/main">
              <a:ext uri="{FF2B5EF4-FFF2-40B4-BE49-F238E27FC236}">
                <a16:creationId xmlns:a16="http://schemas.microsoft.com/office/drawing/2014/main" id="{F3C2C67B-AAB8-43DD-9ABE-79F8516E5B5C}"/>
              </a:ext>
            </a:extLst>
          </p:cNvPr>
          <p:cNvSpPr>
            <a:spLocks xmlns:a="http://schemas.openxmlformats.org/drawingml/2006/main" noGrp="1"/>
          </p:cNvSpPr>
          <p:nvPr/>
        </p:nvSpPr>
        <p:spPr>
          <a:xfrm xmlns:a="http://schemas.openxmlformats.org/drawingml/2006/main">
            <a:off x="723900" y="7077075"/>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Vision tests exercise real inference and orientation</a:t>
            </a:r>
          </a:p>
        </p:txBody>
      </p:sp>
      <p:sp>
        <p:nvSpPr>
          <p:cNvPr id="13" name="text-11">
            <a:extLst xmlns:a="http://schemas.openxmlformats.org/drawingml/2006/main">
              <a:ext uri="{FF2B5EF4-FFF2-40B4-BE49-F238E27FC236}">
                <a16:creationId xmlns:a16="http://schemas.microsoft.com/office/drawing/2014/main" id="{55EA2769-17E0-451E-A83B-8D1FBA573F9B}"/>
              </a:ext>
            </a:extLst>
          </p:cNvPr>
          <p:cNvSpPr>
            <a:spLocks xmlns:a="http://schemas.openxmlformats.org/drawingml/2006/main" noGrp="1"/>
          </p:cNvSpPr>
          <p:nvPr/>
        </p:nvSpPr>
        <p:spPr>
          <a:xfrm xmlns:a="http://schemas.openxmlformats.org/drawingml/2006/main">
            <a:off x="723900" y="7534275"/>
            <a:ext cx="13792200" cy="4090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0">
                <a:solidFill>
                  <a:srgbClr val="506476"/>
                </a:solidFill>
                <a:latin typeface="Arial"/>
                <a:ea typeface="Arial"/>
                <a:cs typeface="Arial"/>
              </a:defRPr>
            </a:pPr>
            <a:r>
              <a:rPr sz="2025" b="0">
                <a:solidFill>
                  <a:srgbClr val="506476"/>
                </a:solidFill>
                <a:latin typeface="Arial"/>
                <a:ea typeface="Arial"/>
                <a:cs typeface="Arial"/>
              </a:rPr>
              <a:t>Underlying inference errors remain visible. There is no mock fallback.</a:t>
            </a:r>
          </a:p>
        </p:txBody>
      </p:sp>
      <p:sp>
        <p:nvSpPr>
          <p:cNvPr id="14" name="text-12">
            <a:extLst xmlns:a="http://schemas.openxmlformats.org/drawingml/2006/main">
              <a:ext uri="{FF2B5EF4-FFF2-40B4-BE49-F238E27FC236}">
                <a16:creationId xmlns:a16="http://schemas.microsoft.com/office/drawing/2014/main" id="{D0B4106E-7F8B-4D5E-A2CA-91C1C4F1482D}"/>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5" name="text-13">
            <a:extLst xmlns:a="http://schemas.openxmlformats.org/drawingml/2006/main">
              <a:ext uri="{FF2B5EF4-FFF2-40B4-BE49-F238E27FC236}">
                <a16:creationId xmlns:a16="http://schemas.microsoft.com/office/drawing/2014/main" id="{6932407A-0EB3-418F-86F3-0AB48BBA4F41}"/>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cbae19b612cf47ec"/>
              </a:rPr>
              <a:t>Vision adapter</a:t>
            </a:r>
          </a:p>
        </p:txBody>
      </p:sp>
      <p:sp>
        <p:nvSpPr>
          <p:cNvPr id="16" name="text-14">
            <a:extLst xmlns:a="http://schemas.openxmlformats.org/drawingml/2006/main">
              <a:ext uri="{FF2B5EF4-FFF2-40B4-BE49-F238E27FC236}">
                <a16:creationId xmlns:a16="http://schemas.microsoft.com/office/drawing/2014/main" id="{20700285-1305-4D7A-B798-ABCB9EBB54F2}"/>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a43f900a77ba4bc6"/>
              </a:rPr>
              <a:t>Vision tests</a:t>
            </a:r>
          </a:p>
        </p:txBody>
      </p:sp>
      <p:sp>
        <p:nvSpPr>
          <p:cNvPr id="17" name="text-15">
            <a:extLst xmlns:a="http://schemas.openxmlformats.org/drawingml/2006/main">
              <a:ext uri="{FF2B5EF4-FFF2-40B4-BE49-F238E27FC236}">
                <a16:creationId xmlns:a16="http://schemas.microsoft.com/office/drawing/2014/main" id="{2555CF53-AF88-4EA9-80D3-49A9ABDE9E2F}"/>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12</a:t>
            </a:r>
          </a:p>
        </p:txBody>
      </p:sp>
    </p:spTree>
    <p:extLst>
      <p:ext uri="{BB962C8B-B14F-4D97-AF65-F5344CB8AC3E}">
        <p14:creationId xmlns:p14="http://schemas.microsoft.com/office/powerpoint/2010/main" val="429210101"/>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ext-0">
            <a:extLst xmlns:a="http://schemas.openxmlformats.org/drawingml/2006/main">
              <a:ext uri="{FF2B5EF4-FFF2-40B4-BE49-F238E27FC236}">
                <a16:creationId xmlns:a16="http://schemas.microsoft.com/office/drawing/2014/main" id="{DA3479FF-6D5A-4356-B92B-34DB426B6FE3}"/>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Per-frame scoring</a:t>
            </a:r>
          </a:p>
        </p:txBody>
      </p:sp>
      <p:sp>
        <p:nvSpPr>
          <p:cNvPr id="2" name="text-1">
            <a:extLst xmlns:a="http://schemas.openxmlformats.org/drawingml/2006/main">
              <a:ext uri="{FF2B5EF4-FFF2-40B4-BE49-F238E27FC236}">
                <a16:creationId xmlns:a16="http://schemas.microsoft.com/office/drawing/2014/main" id="{1F6C4AD2-FA51-46DE-A0C6-8057F5E0DBEE}"/>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Two distances describe one sampled frame</a:t>
            </a:r>
          </a:p>
        </p:txBody>
      </p:sp>
      <p:sp>
        <p:nvSpPr>
          <p:cNvPr id="3" name="text-2">
            <a:extLst xmlns:a="http://schemas.openxmlformats.org/drawingml/2006/main">
              <a:ext uri="{FF2B5EF4-FFF2-40B4-BE49-F238E27FC236}">
                <a16:creationId xmlns:a16="http://schemas.microsoft.com/office/drawing/2014/main" id="{C5B30D5C-7655-4292-82E9-9CBC2B0376ED}"/>
              </a:ext>
            </a:extLst>
          </p:cNvPr>
          <p:cNvSpPr>
            <a:spLocks xmlns:a="http://schemas.openxmlformats.org/drawingml/2006/main" noGrp="1"/>
          </p:cNvSpPr>
          <p:nvPr/>
        </p:nvSpPr>
        <p:spPr>
          <a:xfrm xmlns:a="http://schemas.openxmlformats.org/drawingml/2006/main">
            <a:off x="723900" y="1905000"/>
            <a:ext cx="619125" cy="443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17667B"/>
                </a:solidFill>
                <a:latin typeface="Arial"/>
                <a:ea typeface="Arial"/>
                <a:cs typeface="Arial"/>
              </a:defRPr>
            </a:pPr>
            <a:r>
              <a:rPr sz="2250" b="1">
                <a:solidFill>
                  <a:srgbClr val="17667B"/>
                </a:solidFill>
                <a:latin typeface="Arial"/>
                <a:ea typeface="Arial"/>
                <a:cs typeface="Arial"/>
              </a:rPr>
              <a:t>01</a:t>
            </a:r>
          </a:p>
        </p:txBody>
      </p:sp>
      <p:sp>
        <p:nvSpPr>
          <p:cNvPr id="4" name="text-3">
            <a:extLst xmlns:a="http://schemas.openxmlformats.org/drawingml/2006/main">
              <a:ext uri="{FF2B5EF4-FFF2-40B4-BE49-F238E27FC236}">
                <a16:creationId xmlns:a16="http://schemas.microsoft.com/office/drawing/2014/main" id="{C2E8C9AF-4CDE-4E9C-AE5F-20AD4BDC9C9D}"/>
              </a:ext>
            </a:extLst>
          </p:cNvPr>
          <p:cNvSpPr>
            <a:spLocks xmlns:a="http://schemas.openxmlformats.org/drawingml/2006/main" noGrp="1"/>
          </p:cNvSpPr>
          <p:nvPr/>
        </p:nvSpPr>
        <p:spPr>
          <a:xfrm xmlns:a="http://schemas.openxmlformats.org/drawingml/2006/main">
            <a:off x="1524000" y="1885950"/>
            <a:ext cx="129921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0">
                <a:solidFill>
                  <a:srgbClr val="102C43"/>
                </a:solidFill>
                <a:latin typeface="Arial"/>
                <a:ea typeface="Arial"/>
                <a:cs typeface="Arial"/>
              </a:defRPr>
            </a:pPr>
            <a:r>
              <a:rPr sz="2400" b="0">
                <a:solidFill>
                  <a:srgbClr val="102C43"/>
                </a:solidFill>
                <a:latin typeface="Arial"/>
                <a:ea typeface="Arial"/>
                <a:cs typeface="Arial"/>
              </a:rPr>
              <a:t>Measure the whole image and a central 60% crop</a:t>
            </a:r>
          </a:p>
        </p:txBody>
      </p:sp>
      <p:sp>
        <p:nvSpPr>
          <p:cNvPr id="5" name="text-4">
            <a:extLst xmlns:a="http://schemas.openxmlformats.org/drawingml/2006/main">
              <a:ext uri="{FF2B5EF4-FFF2-40B4-BE49-F238E27FC236}">
                <a16:creationId xmlns:a16="http://schemas.microsoft.com/office/drawing/2014/main" id="{B7141845-8E8A-4A61-A205-7567B7DFF4CE}"/>
              </a:ext>
            </a:extLst>
          </p:cNvPr>
          <p:cNvSpPr>
            <a:spLocks xmlns:a="http://schemas.openxmlformats.org/drawingml/2006/main" noGrp="1"/>
          </p:cNvSpPr>
          <p:nvPr/>
        </p:nvSpPr>
        <p:spPr>
          <a:xfrm xmlns:a="http://schemas.openxmlformats.org/drawingml/2006/main">
            <a:off x="723900" y="2562225"/>
            <a:ext cx="619125" cy="443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17667B"/>
                </a:solidFill>
                <a:latin typeface="Arial"/>
                <a:ea typeface="Arial"/>
                <a:cs typeface="Arial"/>
              </a:defRPr>
            </a:pPr>
            <a:r>
              <a:rPr sz="2250" b="1">
                <a:solidFill>
                  <a:srgbClr val="17667B"/>
                </a:solidFill>
                <a:latin typeface="Arial"/>
                <a:ea typeface="Arial"/>
                <a:cs typeface="Arial"/>
              </a:rPr>
              <a:t>02</a:t>
            </a:r>
          </a:p>
        </p:txBody>
      </p:sp>
      <p:sp>
        <p:nvSpPr>
          <p:cNvPr id="6" name="text-5">
            <a:extLst xmlns:a="http://schemas.openxmlformats.org/drawingml/2006/main">
              <a:ext uri="{FF2B5EF4-FFF2-40B4-BE49-F238E27FC236}">
                <a16:creationId xmlns:a16="http://schemas.microsoft.com/office/drawing/2014/main" id="{E1B43E4C-2195-4814-8674-ACE7E7162582}"/>
              </a:ext>
            </a:extLst>
          </p:cNvPr>
          <p:cNvSpPr>
            <a:spLocks xmlns:a="http://schemas.openxmlformats.org/drawingml/2006/main" noGrp="1"/>
          </p:cNvSpPr>
          <p:nvPr/>
        </p:nvSpPr>
        <p:spPr>
          <a:xfrm xmlns:a="http://schemas.openxmlformats.org/drawingml/2006/main">
            <a:off x="1524000" y="2543175"/>
            <a:ext cx="129921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0">
                <a:solidFill>
                  <a:srgbClr val="102C43"/>
                </a:solidFill>
                <a:latin typeface="Arial"/>
                <a:ea typeface="Arial"/>
                <a:cs typeface="Arial"/>
              </a:defRPr>
            </a:pPr>
            <a:r>
              <a:rPr sz="2400" b="0">
                <a:solidFill>
                  <a:srgbClr val="102C43"/>
                </a:solidFill>
                <a:latin typeface="Arial"/>
                <a:ea typeface="Arial"/>
                <a:cs typeface="Arial"/>
              </a:rPr>
              <a:t>Keep both distances and select the smaller one</a:t>
            </a:r>
          </a:p>
        </p:txBody>
      </p:sp>
      <p:sp>
        <p:nvSpPr>
          <p:cNvPr id="7" name="text-6">
            <a:extLst xmlns:a="http://schemas.openxmlformats.org/drawingml/2006/main">
              <a:ext uri="{FF2B5EF4-FFF2-40B4-BE49-F238E27FC236}">
                <a16:creationId xmlns:a16="http://schemas.microsoft.com/office/drawing/2014/main" id="{CC4DCE05-9542-4F1E-BE8A-DC6DF1F5EBEB}"/>
              </a:ext>
            </a:extLst>
          </p:cNvPr>
          <p:cNvSpPr>
            <a:spLocks xmlns:a="http://schemas.openxmlformats.org/drawingml/2006/main" noGrp="1"/>
          </p:cNvSpPr>
          <p:nvPr/>
        </p:nvSpPr>
        <p:spPr>
          <a:xfrm xmlns:a="http://schemas.openxmlformats.org/drawingml/2006/main">
            <a:off x="723900" y="3219450"/>
            <a:ext cx="619125" cy="443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17667B"/>
                </a:solidFill>
                <a:latin typeface="Arial"/>
                <a:ea typeface="Arial"/>
                <a:cs typeface="Arial"/>
              </a:defRPr>
            </a:pPr>
            <a:r>
              <a:rPr sz="2250" b="1">
                <a:solidFill>
                  <a:srgbClr val="17667B"/>
                </a:solidFill>
                <a:latin typeface="Arial"/>
                <a:ea typeface="Arial"/>
                <a:cs typeface="Arial"/>
              </a:rPr>
              <a:t>03</a:t>
            </a:r>
          </a:p>
        </p:txBody>
      </p:sp>
      <p:sp>
        <p:nvSpPr>
          <p:cNvPr id="8" name="text-7">
            <a:extLst xmlns:a="http://schemas.openxmlformats.org/drawingml/2006/main">
              <a:ext uri="{FF2B5EF4-FFF2-40B4-BE49-F238E27FC236}">
                <a16:creationId xmlns:a16="http://schemas.microsoft.com/office/drawing/2014/main" id="{09FB1456-DE54-4DC4-9744-C372A52331D7}"/>
              </a:ext>
            </a:extLst>
          </p:cNvPr>
          <p:cNvSpPr>
            <a:spLocks xmlns:a="http://schemas.openxmlformats.org/drawingml/2006/main" noGrp="1"/>
          </p:cNvSpPr>
          <p:nvPr/>
        </p:nvSpPr>
        <p:spPr>
          <a:xfrm xmlns:a="http://schemas.openxmlformats.org/drawingml/2006/main">
            <a:off x="1524000" y="3200400"/>
            <a:ext cx="129921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0">
                <a:solidFill>
                  <a:srgbClr val="102C43"/>
                </a:solidFill>
                <a:latin typeface="Arial"/>
                <a:ea typeface="Arial"/>
                <a:cs typeface="Arial"/>
              </a:defRPr>
            </a:pPr>
            <a:r>
              <a:rPr sz="2400" b="0">
                <a:solidFill>
                  <a:srgbClr val="102C43"/>
                </a:solidFill>
                <a:latin typeface="Arial"/>
                <a:ea typeface="Arial"/>
                <a:cs typeface="Arial"/>
              </a:rPr>
              <a:t>Carry frame identity, sample slot, media time, and latency</a:t>
            </a:r>
          </a:p>
        </p:txBody>
      </p:sp>
      <p:sp>
        <p:nvSpPr>
          <p:cNvPr id="9" name="text-8">
            <a:extLst xmlns:a="http://schemas.openxmlformats.org/drawingml/2006/main">
              <a:ext uri="{FF2B5EF4-FFF2-40B4-BE49-F238E27FC236}">
                <a16:creationId xmlns:a16="http://schemas.microsoft.com/office/drawing/2014/main" id="{372C817A-E0E8-4C1E-BCC8-9B43061557B3}"/>
              </a:ext>
            </a:extLst>
          </p:cNvPr>
          <p:cNvSpPr>
            <a:spLocks xmlns:a="http://schemas.openxmlformats.org/drawingml/2006/main" noGrp="1"/>
          </p:cNvSpPr>
          <p:nvPr/>
        </p:nvSpPr>
        <p:spPr>
          <a:xfrm xmlns:a="http://schemas.openxmlformats.org/drawingml/2006/main">
            <a:off x="723900" y="4038600"/>
            <a:ext cx="1379220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Selected Swift lines</a:t>
            </a:r>
          </a:p>
        </p:txBody>
      </p:sp>
      <p:sp>
        <p:nvSpPr>
          <p:cNvPr id="10" name="">
            <a:extLst xmlns:a="http://schemas.openxmlformats.org/drawingml/2006/main">
              <a:ext uri="{FF2B5EF4-FFF2-40B4-BE49-F238E27FC236}">
                <a16:creationId xmlns:a16="http://schemas.microsoft.com/office/drawing/2014/main" id="{C1DCA397-E40E-4CA1-A6E0-FC1358FEC518}"/>
              </a:ext>
            </a:extLst>
          </p:cNvPr>
          <p:cNvSpPr>
            <a:spLocks xmlns:a="http://schemas.openxmlformats.org/drawingml/2006/main" noGrp="1"/>
          </p:cNvSpPr>
          <p:nvPr/>
        </p:nvSpPr>
        <p:spPr>
          <a:xfrm xmlns:a="http://schemas.openxmlformats.org/drawingml/2006/main">
            <a:off x="723900" y="4362450"/>
            <a:ext cx="13792200" cy="1724025"/>
          </a:xfrm>
          <a:prstGeom xmlns:a="http://schemas.openxmlformats.org/drawingml/2006/main" prst="rect">
            <a:avLst/>
          </a:prstGeom>
          <a:solidFill xmlns:a="http://schemas.openxmlformats.org/drawingml/2006/main">
            <a:srgbClr val="EEF5F6"/>
          </a:solidFill>
          <a:ln xmlns:a="http://schemas.openxmlformats.org/drawingml/2006/main" w="0">
            <a:noFill/>
          </a:ln>
        </p:spPr>
      </p:sp>
      <p:sp>
        <p:nvSpPr>
          <p:cNvPr id="11" name="text-9">
            <a:extLst xmlns:a="http://schemas.openxmlformats.org/drawingml/2006/main">
              <a:ext uri="{FF2B5EF4-FFF2-40B4-BE49-F238E27FC236}">
                <a16:creationId xmlns:a16="http://schemas.microsoft.com/office/drawing/2014/main" id="{F98273F7-D663-4FB5-814A-3586D8A7870D}"/>
              </a:ext>
            </a:extLst>
          </p:cNvPr>
          <p:cNvSpPr>
            <a:spLocks xmlns:a="http://schemas.openxmlformats.org/drawingml/2006/main" noGrp="1"/>
          </p:cNvSpPr>
          <p:nvPr/>
        </p:nvSpPr>
        <p:spPr>
          <a:xfrm xmlns:a="http://schemas.openxmlformats.org/drawingml/2006/main">
            <a:off x="933450" y="4438650"/>
            <a:ext cx="13373100" cy="15687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public var distance: Double { min(wholeDistance, cropDistance) }</a:t>
            </a:r>
          </a:p>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public var similarity: Double { 1 / (1 + distance) }</a:t>
            </a:r>
          </a:p>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public func supports(maximumDistance: Double) -&gt; Bool {</a:t>
            </a:r>
          </a:p>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    distance &lt;= maximumDistance</a:t>
            </a:r>
          </a:p>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a:t>
            </a:r>
          </a:p>
        </p:txBody>
      </p:sp>
      <p:sp>
        <p:nvSpPr>
          <p:cNvPr id="12" name="text-10">
            <a:extLst xmlns:a="http://schemas.openxmlformats.org/drawingml/2006/main">
              <a:ext uri="{FF2B5EF4-FFF2-40B4-BE49-F238E27FC236}">
                <a16:creationId xmlns:a16="http://schemas.microsoft.com/office/drawing/2014/main" id="{F3630BE4-6DB4-4C8D-905D-995532EDE1D2}"/>
              </a:ext>
            </a:extLst>
          </p:cNvPr>
          <p:cNvSpPr>
            <a:spLocks xmlns:a="http://schemas.openxmlformats.org/drawingml/2006/main" noGrp="1"/>
          </p:cNvSpPr>
          <p:nvPr/>
        </p:nvSpPr>
        <p:spPr>
          <a:xfrm xmlns:a="http://schemas.openxmlformats.org/drawingml/2006/main">
            <a:off x="723900" y="7077075"/>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Scorer tests verify variant choice and fixed behavior</a:t>
            </a:r>
          </a:p>
        </p:txBody>
      </p:sp>
      <p:sp>
        <p:nvSpPr>
          <p:cNvPr id="13" name="text-11">
            <a:extLst xmlns:a="http://schemas.openxmlformats.org/drawingml/2006/main">
              <a:ext uri="{FF2B5EF4-FFF2-40B4-BE49-F238E27FC236}">
                <a16:creationId xmlns:a16="http://schemas.microsoft.com/office/drawing/2014/main" id="{4D846B65-A262-4E7D-895F-1B5173EA1B5E}"/>
              </a:ext>
            </a:extLst>
          </p:cNvPr>
          <p:cNvSpPr>
            <a:spLocks xmlns:a="http://schemas.openxmlformats.org/drawingml/2006/main" noGrp="1"/>
          </p:cNvSpPr>
          <p:nvPr/>
        </p:nvSpPr>
        <p:spPr>
          <a:xfrm xmlns:a="http://schemas.openxmlformats.org/drawingml/2006/main">
            <a:off x="723900" y="7534275"/>
            <a:ext cx="13792200" cy="4090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0">
                <a:solidFill>
                  <a:srgbClr val="506476"/>
                </a:solidFill>
                <a:latin typeface="Arial"/>
                <a:ea typeface="Arial"/>
                <a:cs typeface="Arial"/>
              </a:defRPr>
            </a:pPr>
            <a:r>
              <a:rPr sz="2025" b="0">
                <a:solidFill>
                  <a:srgbClr val="506476"/>
                </a:solidFill>
                <a:latin typeface="Arial"/>
                <a:ea typeface="Arial"/>
                <a:cs typeface="Arial"/>
              </a:rPr>
              <a:t>Lower distance is closer. Similarity is not a probability.</a:t>
            </a:r>
          </a:p>
        </p:txBody>
      </p:sp>
      <p:sp>
        <p:nvSpPr>
          <p:cNvPr id="14" name="text-12">
            <a:extLst xmlns:a="http://schemas.openxmlformats.org/drawingml/2006/main">
              <a:ext uri="{FF2B5EF4-FFF2-40B4-BE49-F238E27FC236}">
                <a16:creationId xmlns:a16="http://schemas.microsoft.com/office/drawing/2014/main" id="{2692148C-3F5E-4446-B41A-B2B736E05D7D}"/>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5" name="text-13">
            <a:extLst xmlns:a="http://schemas.openxmlformats.org/drawingml/2006/main">
              <a:ext uri="{FF2B5EF4-FFF2-40B4-BE49-F238E27FC236}">
                <a16:creationId xmlns:a16="http://schemas.microsoft.com/office/drawing/2014/main" id="{2C3DDB58-D11A-4D8E-AC79-576F8EBA40CE}"/>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a943a314ba4a4ce3"/>
              </a:rPr>
              <a:t>Scorer and score type</a:t>
            </a:r>
          </a:p>
        </p:txBody>
      </p:sp>
      <p:sp>
        <p:nvSpPr>
          <p:cNvPr id="16" name="text-14">
            <a:extLst xmlns:a="http://schemas.openxmlformats.org/drawingml/2006/main">
              <a:ext uri="{FF2B5EF4-FFF2-40B4-BE49-F238E27FC236}">
                <a16:creationId xmlns:a16="http://schemas.microsoft.com/office/drawing/2014/main" id="{1D222B92-39E4-449F-A24B-9BA87231CE60}"/>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9006a078e8b144e2"/>
              </a:rPr>
              <a:t>Scorer tests</a:t>
            </a:r>
          </a:p>
        </p:txBody>
      </p:sp>
      <p:sp>
        <p:nvSpPr>
          <p:cNvPr id="17" name="text-15">
            <a:extLst xmlns:a="http://schemas.openxmlformats.org/drawingml/2006/main">
              <a:ext uri="{FF2B5EF4-FFF2-40B4-BE49-F238E27FC236}">
                <a16:creationId xmlns:a16="http://schemas.microsoft.com/office/drawing/2014/main" id="{625D5A6F-3B72-4D64-91F4-B670AF727DDC}"/>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3258e85794d04be6"/>
              </a:rPr>
              <a:t>Frozen profile</a:t>
            </a:r>
          </a:p>
        </p:txBody>
      </p:sp>
      <p:sp>
        <p:nvSpPr>
          <p:cNvPr id="18" name="text-16">
            <a:extLst xmlns:a="http://schemas.openxmlformats.org/drawingml/2006/main">
              <a:ext uri="{FF2B5EF4-FFF2-40B4-BE49-F238E27FC236}">
                <a16:creationId xmlns:a16="http://schemas.microsoft.com/office/drawing/2014/main" id="{919401C0-84AB-49EC-B5E5-C1194C6BEF7F}"/>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13</a:t>
            </a:r>
          </a:p>
        </p:txBody>
      </p:sp>
    </p:spTree>
    <p:extLst>
      <p:ext uri="{BB962C8B-B14F-4D97-AF65-F5344CB8AC3E}">
        <p14:creationId xmlns:p14="http://schemas.microsoft.com/office/powerpoint/2010/main" val="266152871"/>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text-0">
            <a:extLst xmlns:a="http://schemas.openxmlformats.org/drawingml/2006/main">
              <a:ext uri="{FF2B5EF4-FFF2-40B4-BE49-F238E27FC236}">
                <a16:creationId xmlns:a16="http://schemas.microsoft.com/office/drawing/2014/main" id="{21BBD87D-177D-4E5F-8D24-744B71C9D5F8}"/>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Frozen rules and their reasons</a:t>
            </a:r>
          </a:p>
        </p:txBody>
      </p:sp>
      <p:sp>
        <p:nvSpPr>
          <p:cNvPr id="2" name="text-1">
            <a:extLst xmlns:a="http://schemas.openxmlformats.org/drawingml/2006/main">
              <a:ext uri="{FF2B5EF4-FFF2-40B4-BE49-F238E27FC236}">
                <a16:creationId xmlns:a16="http://schemas.microsoft.com/office/drawing/2014/main" id="{E9F24A4C-F388-43FC-BAB0-C28A1030590C}"/>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A repeatable experiment needs stable decisions</a:t>
            </a:r>
          </a:p>
        </p:txBody>
      </p:sp>
      <p:sp>
        <p:nvSpPr>
          <p:cNvPr id="3" name="text-2">
            <a:extLst xmlns:a="http://schemas.openxmlformats.org/drawingml/2006/main">
              <a:ext uri="{FF2B5EF4-FFF2-40B4-BE49-F238E27FC236}">
                <a16:creationId xmlns:a16="http://schemas.microsoft.com/office/drawing/2014/main" id="{6AC1CC9F-9EF5-4832-9479-42C8598B8A6F}"/>
              </a:ext>
            </a:extLst>
          </p:cNvPr>
          <p:cNvSpPr>
            <a:spLocks xmlns:a="http://schemas.openxmlformats.org/drawingml/2006/main" noGrp="1"/>
          </p:cNvSpPr>
          <p:nvPr/>
        </p:nvSpPr>
        <p:spPr>
          <a:xfrm xmlns:a="http://schemas.openxmlformats.org/drawingml/2006/main">
            <a:off x="723900" y="19240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Sampling and preprocessing</a:t>
            </a:r>
          </a:p>
        </p:txBody>
      </p:sp>
      <p:sp>
        <p:nvSpPr>
          <p:cNvPr id="4" name="text-3">
            <a:extLst xmlns:a="http://schemas.openxmlformats.org/drawingml/2006/main">
              <a:ext uri="{FF2B5EF4-FFF2-40B4-BE49-F238E27FC236}">
                <a16:creationId xmlns:a16="http://schemas.microsoft.com/office/drawing/2014/main" id="{F786A55C-5242-43DD-BD86-0BFF87D52C12}"/>
              </a:ext>
            </a:extLst>
          </p:cNvPr>
          <p:cNvSpPr>
            <a:spLocks xmlns:a="http://schemas.openxmlformats.org/drawingml/2006/main" noGrp="1"/>
          </p:cNvSpPr>
          <p:nvPr/>
        </p:nvSpPr>
        <p:spPr>
          <a:xfrm xmlns:a="http://schemas.openxmlformats.org/drawingml/2006/main">
            <a:off x="723900" y="23241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2 samples/s, Vision revision 2, scaleFill, central crop 0.6</a:t>
            </a:r>
          </a:p>
        </p:txBody>
      </p:sp>
      <p:sp>
        <p:nvSpPr>
          <p:cNvPr id="5" name="">
            <a:extLst xmlns:a="http://schemas.openxmlformats.org/drawingml/2006/main">
              <a:ext uri="{FF2B5EF4-FFF2-40B4-BE49-F238E27FC236}">
                <a16:creationId xmlns:a16="http://schemas.microsoft.com/office/drawing/2014/main" id="{BB861FDD-2980-4F98-9F6E-DEC5FC130917}"/>
              </a:ext>
            </a:extLst>
          </p:cNvPr>
          <p:cNvSpPr>
            <a:spLocks xmlns:a="http://schemas.openxmlformats.org/drawingml/2006/main" noGrp="1"/>
          </p:cNvSpPr>
          <p:nvPr/>
        </p:nvSpPr>
        <p:spPr>
          <a:xfrm xmlns:a="http://schemas.openxmlformats.org/drawingml/2006/main">
            <a:off x="723900" y="31718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6" name="text-4">
            <a:extLst xmlns:a="http://schemas.openxmlformats.org/drawingml/2006/main">
              <a:ext uri="{FF2B5EF4-FFF2-40B4-BE49-F238E27FC236}">
                <a16:creationId xmlns:a16="http://schemas.microsoft.com/office/drawing/2014/main" id="{CEDC912D-6398-412E-9489-C93A9FBC03CB}"/>
              </a:ext>
            </a:extLst>
          </p:cNvPr>
          <p:cNvSpPr>
            <a:spLocks xmlns:a="http://schemas.openxmlformats.org/drawingml/2006/main" noGrp="1"/>
          </p:cNvSpPr>
          <p:nvPr/>
        </p:nvSpPr>
        <p:spPr>
          <a:xfrm xmlns:a="http://schemas.openxmlformats.org/drawingml/2006/main">
            <a:off x="723900" y="33147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Support threshold</a:t>
            </a:r>
          </a:p>
        </p:txBody>
      </p:sp>
      <p:sp>
        <p:nvSpPr>
          <p:cNvPr id="7" name="text-5">
            <a:extLst xmlns:a="http://schemas.openxmlformats.org/drawingml/2006/main">
              <a:ext uri="{FF2B5EF4-FFF2-40B4-BE49-F238E27FC236}">
                <a16:creationId xmlns:a16="http://schemas.microsoft.com/office/drawing/2014/main" id="{01F807F5-0006-40A4-B5FA-23D3E579B25F}"/>
              </a:ext>
            </a:extLst>
          </p:cNvPr>
          <p:cNvSpPr>
            <a:spLocks xmlns:a="http://schemas.openxmlformats.org/drawingml/2006/main" noGrp="1"/>
          </p:cNvSpPr>
          <p:nvPr/>
        </p:nvSpPr>
        <p:spPr>
          <a:xfrm xmlns:a="http://schemas.openxmlformats.org/drawingml/2006/main">
            <a:off x="723900" y="37147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Distance ≤ 0.4293864220380783</a:t>
            </a:r>
          </a:p>
        </p:txBody>
      </p:sp>
      <p:sp>
        <p:nvSpPr>
          <p:cNvPr id="8" name="">
            <a:extLst xmlns:a="http://schemas.openxmlformats.org/drawingml/2006/main">
              <a:ext uri="{FF2B5EF4-FFF2-40B4-BE49-F238E27FC236}">
                <a16:creationId xmlns:a16="http://schemas.microsoft.com/office/drawing/2014/main" id="{79D7A314-FC87-494F-AED4-DF60077905DB}"/>
              </a:ext>
            </a:extLst>
          </p:cNvPr>
          <p:cNvSpPr>
            <a:spLocks xmlns:a="http://schemas.openxmlformats.org/drawingml/2006/main" noGrp="1"/>
          </p:cNvSpPr>
          <p:nvPr/>
        </p:nvSpPr>
        <p:spPr>
          <a:xfrm xmlns:a="http://schemas.openxmlformats.org/drawingml/2006/main">
            <a:off x="723900" y="456247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9" name="text-6">
            <a:extLst xmlns:a="http://schemas.openxmlformats.org/drawingml/2006/main">
              <a:ext uri="{FF2B5EF4-FFF2-40B4-BE49-F238E27FC236}">
                <a16:creationId xmlns:a16="http://schemas.microsoft.com/office/drawing/2014/main" id="{2F96F9EF-9188-445D-92FA-DA0AB39B28FC}"/>
              </a:ext>
            </a:extLst>
          </p:cNvPr>
          <p:cNvSpPr>
            <a:spLocks xmlns:a="http://schemas.openxmlformats.org/drawingml/2006/main" noGrp="1"/>
          </p:cNvSpPr>
          <p:nvPr/>
        </p:nvSpPr>
        <p:spPr>
          <a:xfrm xmlns:a="http://schemas.openxmlformats.org/drawingml/2006/main">
            <a:off x="723900" y="47053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Episode rules</a:t>
            </a:r>
          </a:p>
        </p:txBody>
      </p:sp>
      <p:sp>
        <p:nvSpPr>
          <p:cNvPr id="10" name="text-7">
            <a:extLst xmlns:a="http://schemas.openxmlformats.org/drawingml/2006/main">
              <a:ext uri="{FF2B5EF4-FFF2-40B4-BE49-F238E27FC236}">
                <a16:creationId xmlns:a16="http://schemas.microsoft.com/office/drawing/2014/main" id="{48F24E51-0528-4BF0-BD47-F83D6A39BDED}"/>
              </a:ext>
            </a:extLst>
          </p:cNvPr>
          <p:cNvSpPr>
            <a:spLocks xmlns:a="http://schemas.openxmlformats.org/drawingml/2006/main" noGrp="1"/>
          </p:cNvSpPr>
          <p:nvPr/>
        </p:nvSpPr>
        <p:spPr>
          <a:xfrm xmlns:a="http://schemas.openxmlformats.org/drawingml/2006/main">
            <a:off x="723900" y="51054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2 consecutive supporting slots; close after a 1.5 s gap</a:t>
            </a:r>
          </a:p>
        </p:txBody>
      </p:sp>
      <p:sp>
        <p:nvSpPr>
          <p:cNvPr id="11" name="">
            <a:extLst xmlns:a="http://schemas.openxmlformats.org/drawingml/2006/main">
              <a:ext uri="{FF2B5EF4-FFF2-40B4-BE49-F238E27FC236}">
                <a16:creationId xmlns:a16="http://schemas.microsoft.com/office/drawing/2014/main" id="{DF72938C-3726-412D-B2FD-52BD515084AE}"/>
              </a:ext>
            </a:extLst>
          </p:cNvPr>
          <p:cNvSpPr>
            <a:spLocks xmlns:a="http://schemas.openxmlformats.org/drawingml/2006/main" noGrp="1"/>
          </p:cNvSpPr>
          <p:nvPr/>
        </p:nvSpPr>
        <p:spPr>
          <a:xfrm xmlns:a="http://schemas.openxmlformats.org/drawingml/2006/main">
            <a:off x="723900" y="59531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12" name="text-8">
            <a:extLst xmlns:a="http://schemas.openxmlformats.org/drawingml/2006/main">
              <a:ext uri="{FF2B5EF4-FFF2-40B4-BE49-F238E27FC236}">
                <a16:creationId xmlns:a16="http://schemas.microsoft.com/office/drawing/2014/main" id="{DC17835F-CECD-46C3-B0BA-44E85BF84B25}"/>
              </a:ext>
            </a:extLst>
          </p:cNvPr>
          <p:cNvSpPr>
            <a:spLocks xmlns:a="http://schemas.openxmlformats.org/drawingml/2006/main" noGrp="1"/>
          </p:cNvSpPr>
          <p:nvPr/>
        </p:nvSpPr>
        <p:spPr>
          <a:xfrm xmlns:a="http://schemas.openxmlformats.org/drawingml/2006/main">
            <a:off x="723900" y="60960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Reason and limitation</a:t>
            </a:r>
          </a:p>
        </p:txBody>
      </p:sp>
      <p:sp>
        <p:nvSpPr>
          <p:cNvPr id="13" name="text-9">
            <a:extLst xmlns:a="http://schemas.openxmlformats.org/drawingml/2006/main">
              <a:ext uri="{FF2B5EF4-FFF2-40B4-BE49-F238E27FC236}">
                <a16:creationId xmlns:a16="http://schemas.microsoft.com/office/drawing/2014/main" id="{A66AB98E-C19A-4549-81BA-137481705424}"/>
              </a:ext>
            </a:extLst>
          </p:cNvPr>
          <p:cNvSpPr>
            <a:spLocks xmlns:a="http://schemas.openxmlformats.org/drawingml/2006/main" noGrp="1"/>
          </p:cNvSpPr>
          <p:nvPr/>
        </p:nvSpPr>
        <p:spPr>
          <a:xfrm xmlns:a="http://schemas.openxmlformats.org/drawingml/2006/main">
            <a:off x="723900" y="64960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Fixed Mac-fixture experiment, not a universal product model</a:t>
            </a:r>
          </a:p>
        </p:txBody>
      </p:sp>
      <p:sp>
        <p:nvSpPr>
          <p:cNvPr id="14" name="text-10">
            <a:extLst xmlns:a="http://schemas.openxmlformats.org/drawingml/2006/main">
              <a:ext uri="{FF2B5EF4-FFF2-40B4-BE49-F238E27FC236}">
                <a16:creationId xmlns:a16="http://schemas.microsoft.com/office/drawing/2014/main" id="{5B8C69A8-25C5-4B3D-A074-933BD73EBC5E}"/>
              </a:ext>
            </a:extLst>
          </p:cNvPr>
          <p:cNvSpPr>
            <a:spLocks xmlns:a="http://schemas.openxmlformats.org/drawingml/2006/main" noGrp="1"/>
          </p:cNvSpPr>
          <p:nvPr/>
        </p:nvSpPr>
        <p:spPr>
          <a:xfrm xmlns:a="http://schemas.openxmlformats.org/drawingml/2006/main">
            <a:off x="723900" y="7648575"/>
            <a:ext cx="137922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506476"/>
                </a:solidFill>
                <a:latin typeface="Arial"/>
                <a:ea typeface="Arial"/>
                <a:cs typeface="Arial"/>
              </a:defRPr>
            </a:pPr>
            <a:r>
              <a:rPr sz="1875" b="0">
                <a:solidFill>
                  <a:srgbClr val="506476"/>
                </a:solidFill>
                <a:latin typeface="Arial"/>
                <a:ea typeface="Arial"/>
                <a:cs typeface="Arial"/>
              </a:rPr>
              <a:t>Neither tests nor phone runs retune the threshold.</a:t>
            </a:r>
          </a:p>
        </p:txBody>
      </p:sp>
      <p:sp>
        <p:nvSpPr>
          <p:cNvPr id="15" name="text-11">
            <a:extLst xmlns:a="http://schemas.openxmlformats.org/drawingml/2006/main">
              <a:ext uri="{FF2B5EF4-FFF2-40B4-BE49-F238E27FC236}">
                <a16:creationId xmlns:a16="http://schemas.microsoft.com/office/drawing/2014/main" id="{A0842D3E-2050-4827-B773-90AD829BFEC6}"/>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6" name="text-12">
            <a:extLst xmlns:a="http://schemas.openxmlformats.org/drawingml/2006/main">
              <a:ext uri="{FF2B5EF4-FFF2-40B4-BE49-F238E27FC236}">
                <a16:creationId xmlns:a16="http://schemas.microsoft.com/office/drawing/2014/main" id="{0959AB69-60E2-4609-A0E4-21926FC535B5}"/>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bdf516210b7b40a7"/>
              </a:rPr>
              <a:t>Profile</a:t>
            </a:r>
          </a:p>
        </p:txBody>
      </p:sp>
      <p:sp>
        <p:nvSpPr>
          <p:cNvPr id="17" name="text-13">
            <a:extLst xmlns:a="http://schemas.openxmlformats.org/drawingml/2006/main">
              <a:ext uri="{FF2B5EF4-FFF2-40B4-BE49-F238E27FC236}">
                <a16:creationId xmlns:a16="http://schemas.microsoft.com/office/drawing/2014/main" id="{A821E678-83E5-4C19-BC84-BCE85069954A}"/>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70526e47f06c4d0a"/>
              </a:rPr>
              <a:t>Calibration script</a:t>
            </a:r>
          </a:p>
        </p:txBody>
      </p:sp>
      <p:sp>
        <p:nvSpPr>
          <p:cNvPr id="18" name="text-14">
            <a:extLst xmlns:a="http://schemas.openxmlformats.org/drawingml/2006/main">
              <a:ext uri="{FF2B5EF4-FFF2-40B4-BE49-F238E27FC236}">
                <a16:creationId xmlns:a16="http://schemas.microsoft.com/office/drawing/2014/main" id="{398781D0-06FD-4166-A518-410C1A8BDD21}"/>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7bbfa8a7c40b4953"/>
              </a:rPr>
              <a:t>Aggregator</a:t>
            </a:r>
          </a:p>
        </p:txBody>
      </p:sp>
      <p:sp>
        <p:nvSpPr>
          <p:cNvPr id="19" name="text-15">
            <a:extLst xmlns:a="http://schemas.openxmlformats.org/drawingml/2006/main">
              <a:ext uri="{FF2B5EF4-FFF2-40B4-BE49-F238E27FC236}">
                <a16:creationId xmlns:a16="http://schemas.microsoft.com/office/drawing/2014/main" id="{8969FE74-F675-43E9-975B-79F109A061C0}"/>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14</a:t>
            </a:r>
          </a:p>
        </p:txBody>
      </p:sp>
    </p:spTree>
    <p:extLst>
      <p:ext uri="{BB962C8B-B14F-4D97-AF65-F5344CB8AC3E}">
        <p14:creationId xmlns:p14="http://schemas.microsoft.com/office/powerpoint/2010/main" val="187378823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2026-09-21T02:08:21.1890000Z</dcterms:created>
  <dcterms:modified xsi:type="dcterms:W3CDTF">2026-09-21T02:08:21.1890000Z</dcterms:modified>
</coreProperties>
</file>