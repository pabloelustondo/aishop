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a9179d4abd4700" /><Relationship Type="http://schemas.openxmlformats.org/officeDocument/2006/relationships/extended-properties" Target="/docProps/app.xml" Id="Rfeab60ab72e7494b" /><Relationship Type="http://schemas.openxmlformats.org/officeDocument/2006/relationships/officeDocument" Target="/ppt/presentation.xml" Id="Re91b04175fa14c28" /></Relationships>
</file>

<file path=ppt/presentation.xml><?xml version="1.0" encoding="utf-8"?>
<p:presentation xmlns:p="http://schemas.openxmlformats.org/presentationml/2006/main">
  <p:sldMasterIdLst>
    <p:sldMasterId xmlns:r="http://schemas.openxmlformats.org/officeDocument/2006/relationships" id="2147483648" r:id="R35756917c2784d0c"/>
  </p:sldMasterIdLst>
  <p:notesMasterIdLst>
    <p:notesMasterId xmlns:r="http://schemas.openxmlformats.org/officeDocument/2006/relationships" r:id="R59cc7d3b4069440b"/>
  </p:notesMasterIdLst>
  <p:sldIdLst>
    <p:sldId xmlns:r="http://schemas.openxmlformats.org/officeDocument/2006/relationships" id="256" r:id="R677aac7397c14883"/>
    <p:sldId xmlns:r="http://schemas.openxmlformats.org/officeDocument/2006/relationships" id="257" r:id="R627939ff182c4baa"/>
    <p:sldId xmlns:r="http://schemas.openxmlformats.org/officeDocument/2006/relationships" id="258" r:id="Rbe13028848ca4781"/>
    <p:sldId xmlns:r="http://schemas.openxmlformats.org/officeDocument/2006/relationships" id="259" r:id="Rc0a34fd529c54f57"/>
    <p:sldId xmlns:r="http://schemas.openxmlformats.org/officeDocument/2006/relationships" id="260" r:id="Rb545971f65d3442a"/>
    <p:sldId xmlns:r="http://schemas.openxmlformats.org/officeDocument/2006/relationships" id="261" r:id="R222881908c15467d"/>
    <p:sldId xmlns:r="http://schemas.openxmlformats.org/officeDocument/2006/relationships" id="262" r:id="R165456cee2784a5a"/>
    <p:sldId xmlns:r="http://schemas.openxmlformats.org/officeDocument/2006/relationships" id="263" r:id="Ra8baa9b88a9b474e"/>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429a88bb6e43cf" /><Relationship Type="http://schemas.openxmlformats.org/officeDocument/2006/relationships/slideMaster" Target="/ppt/slideMasters/slideMaster1.xml" Id="R35756917c2784d0c" /><Relationship Type="http://schemas.openxmlformats.org/officeDocument/2006/relationships/notesMaster" Target="/ppt/notesMasters/notesMaster1.xml" Id="R59cc7d3b4069440b" /><Relationship Type="http://schemas.openxmlformats.org/officeDocument/2006/relationships/presProps" Target="/ppt/presProps.xml" Id="R71a4ec35cdc74955" /><Relationship Type="http://schemas.openxmlformats.org/officeDocument/2006/relationships/tableStyles" Target="/ppt/tableStyles.xml" Id="R73358e98a4a3479a" /><Relationship Type="http://schemas.openxmlformats.org/officeDocument/2006/relationships/slide" Target="/ppt/slides/slide1.xml" Id="R677aac7397c14883" /><Relationship Type="http://schemas.openxmlformats.org/officeDocument/2006/relationships/slide" Target="/ppt/slides/slide2.xml" Id="R627939ff182c4baa" /><Relationship Type="http://schemas.openxmlformats.org/officeDocument/2006/relationships/slide" Target="/ppt/slides/slide3.xml" Id="Rbe13028848ca4781" /><Relationship Type="http://schemas.openxmlformats.org/officeDocument/2006/relationships/slide" Target="/ppt/slides/slide4.xml" Id="Rc0a34fd529c54f57" /><Relationship Type="http://schemas.openxmlformats.org/officeDocument/2006/relationships/slide" Target="/ppt/slides/slide5.xml" Id="Rb545971f65d3442a" /><Relationship Type="http://schemas.openxmlformats.org/officeDocument/2006/relationships/slide" Target="/ppt/slides/slide6.xml" Id="R222881908c15467d" /><Relationship Type="http://schemas.openxmlformats.org/officeDocument/2006/relationships/slide" Target="/ppt/slides/slide7.xml" Id="R165456cee2784a5a" /><Relationship Type="http://schemas.openxmlformats.org/officeDocument/2006/relationships/slide" Target="/ppt/slides/slide8.xml" Id="Ra8baa9b88a9b47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622610731643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842c2c058e4bbd" /><Relationship Type="http://schemas.openxmlformats.org/officeDocument/2006/relationships/notesMaster" Target="/ppt/notesMasters/notesMaster1.xml" Id="Rb43fcbcd20714c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2188f361ed41e4" /><Relationship Type="http://schemas.openxmlformats.org/officeDocument/2006/relationships/notesMaster" Target="/ppt/notesMasters/notesMaster1.xml" Id="R835dfb03f71a42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0c77a61e0b4450" /><Relationship Type="http://schemas.openxmlformats.org/officeDocument/2006/relationships/notesMaster" Target="/ppt/notesMasters/notesMaster1.xml" Id="R0b03c5092e4b43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203f4575dc482c" /><Relationship Type="http://schemas.openxmlformats.org/officeDocument/2006/relationships/notesMaster" Target="/ppt/notesMasters/notesMaster1.xml" Id="R5bba8cc498c849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2fbabb77a64e71" /><Relationship Type="http://schemas.openxmlformats.org/officeDocument/2006/relationships/notesMaster" Target="/ppt/notesMasters/notesMaster1.xml" Id="R828d45cbc02548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edd2f332c44def" /><Relationship Type="http://schemas.openxmlformats.org/officeDocument/2006/relationships/notesMaster" Target="/ppt/notesMasters/notesMaster1.xml" Id="R303b4be5d6ad47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a671a7745a450a" /><Relationship Type="http://schemas.openxmlformats.org/officeDocument/2006/relationships/notesMaster" Target="/ppt/notesMasters/notesMaster1.xml" Id="R5a79c28a449342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0f42c5f25b4919" /><Relationship Type="http://schemas.openxmlformats.org/officeDocument/2006/relationships/notesMaster" Target="/ppt/notesMasters/notesMaster1.xml" Id="R2407c81ead5c48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explains how frame measurements become episodes and durable evidence. An episode groups repeated support for the same target.</a:t>
            </a:r>
          </a:p>
          <a:p xmlns:a="http://schemas.openxmlformats.org/drawingml/2006/main">
            <a:r>
              <a:t/>
            </a:r>
          </a:p>
          <a:p xmlns:a="http://schemas.openxmlformats.org/drawingml/2006/main">
            <a:r>
              <a:t>The aggregator starts with no active episode. One supporting sample becomes pending. A second supporting sample in the next eligible slot opens the episode. An unsupported sample or missed slot resets the opening streak.</a:t>
            </a:r>
          </a:p>
          <a:p xmlns:a="http://schemas.openxmlformats.org/drawingml/2006/main">
            <a:r>
              <a:t/>
            </a:r>
          </a:p>
          <a:p xmlns:a="http://schemas.openxmlformats.org/drawingml/2006/main">
            <a:r>
              <a:t>While open, more support refreshes the last-supported time. A lower distance replaces the best frame; equal distances keep the earlier one. A support gap of at least one-point-five seconds closes the episode. Stop, cancellation, error, and end of stream also close it.</a:t>
            </a:r>
          </a:p>
          <a:p xmlns:a="http://schemas.openxmlformats.org/drawingml/2006/main">
            <a:r>
              <a:t/>
            </a:r>
          </a:p>
          <a:p xmlns:a="http://schemas.openxmlformats.org/drawingml/2006/main">
            <a:r>
              <a:t>After closure, later support can open a new episode. Episodes are sightings, not deduplicated physical items.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episode is the retained history of a possible sighting. Its start time is the first supporting sample, while its opening time is the second sample that confirms the streak. Keeping both avoids hiding the confirmation delay.</a:t>
            </a:r>
          </a:p>
          <a:p xmlns:a="http://schemas.openxmlformats.org/drawingml/2006/main">
            <a:r>
              <a:t/>
            </a:r>
          </a:p>
          <a:p xmlns:a="http://schemas.openxmlformats.org/drawingml/2006/main">
            <a:r>
              <a:t>The episode stores the strongest frame's identity, time, distance, and comparison variant. It also keeps support count and closure information. The best-image identifier points to a separate JPEG file.</a:t>
            </a:r>
          </a:p>
          <a:p xmlns:a="http://schemas.openxmlformats.org/drawingml/2006/main">
            <a:r>
              <a:t/>
            </a:r>
          </a:p>
          <a:p xmlns:a="http://schemas.openxmlformats.org/drawingml/2006/main">
            <a:r>
              <a:t>A live signal serves the interface. It reports current media time, consecutive support, and latency while an episode is active. The signal can remain visible during the tolerated gap even when the latest frame does not support the target.</a:t>
            </a:r>
          </a:p>
          <a:p xmlns:a="http://schemas.openxmlformats.org/drawingml/2006/main">
            <a:r>
              <a:t/>
            </a:r>
          </a:p>
          <a:p xmlns:a="http://schemas.openxmlformats.org/drawingml/2006/main">
            <a:r>
              <a:t>Both records use possible match. Neither claims an exact product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recorder is the ordering boundary between concurrent activity and session evidence. Stream callbacks and analysis may arrive from different tasks, but each recorder operation holds one lock.</a:t>
            </a:r>
          </a:p>
          <a:p xmlns:a="http://schemas.openxmlformats.org/drawingml/2006/main">
            <a:r>
              <a:t/>
            </a:r>
          </a:p>
          <a:p xmlns:a="http://schemas.openxmlformats.org/drawingml/2006/main">
            <a:r>
              <a:t>Inside that operation, the session log assigns the sequence number and writes the event. The report builder then consumes that exact event before the lock is released.</a:t>
            </a:r>
          </a:p>
          <a:p xmlns:a="http://schemas.openxmlformats.org/drawingml/2006/main">
            <a:r>
              <a:t/>
            </a:r>
          </a:p>
          <a:p xmlns:a="http://schemas.openxmlformats.org/drawingml/2006/main">
            <a:r>
              <a:t>This is stronger than keeping separate counters in the harness. Every host gets the same event vocabulary and report logic. Episode changes also pass through this path, so opened, best-frame-replaced, and closed events share the session order.</a:t>
            </a:r>
          </a:p>
          <a:p xmlns:a="http://schemas.openxmlformats.org/drawingml/2006/main">
            <a:r>
              <a:t/>
            </a:r>
          </a:p>
          <a:p xmlns:a="http://schemas.openxmlformats.org/drawingml/2006/main">
            <a:r>
              <a:t>The recorder owns coordination, while the log owns encoding and the builder owns report meaning. Write or decoding failures propagate instead of manufacturing a successful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evidence is saved while the pipeline still has the image. At episode opening, the best sample can be the first hit rather than the current frame. That is why the pipeline keeps the previous frame available.</a:t>
            </a:r>
          </a:p>
          <a:p xmlns:a="http://schemas.openxmlformats.org/drawingml/2006/main">
            <a:r>
              <a:t/>
            </a:r>
          </a:p>
          <a:p xmlns:a="http://schemas.openxmlformats.org/drawingml/2006/main">
            <a:r>
              <a:t>When evidence improves, it writes the selected whole frame to the retained-image store and records its identifier. Even when a central crop produced the winning distance, the saved evidence is the whole frame, not an object crop.</a:t>
            </a:r>
          </a:p>
          <a:p xmlns:a="http://schemas.openxmlformats.org/drawingml/2006/main">
            <a:r>
              <a:t/>
            </a:r>
          </a:p>
          <a:p xmlns:a="http://schemas.openxmlformats.org/drawingml/2006/main">
            <a:r>
              <a:t>The image store rejects unsafe identifiers and reports write failures. Missing files stay missing; the interface does not substitute another image.</a:t>
            </a:r>
          </a:p>
          <a:p xmlns:a="http://schemas.openxmlformats.org/drawingml/2006/main">
            <a:r>
              <a:t/>
            </a:r>
          </a:p>
          <a:p xmlns:a="http://schemas.openxmlformats.org/drawingml/2006/main">
            <a:r>
              <a:t>Replaying the log can recover report data and image identifiers, but not image pixels. A complete evidence handoff therefore needs the log and retained image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session log is newline-delimited JSON. Each event has a sequence number, session identity, kind, optional frame identity and media time, plus typed fields.</a:t>
            </a:r>
          </a:p>
          <a:p xmlns:a="http://schemas.openxmlformats.org/drawingml/2006/main">
            <a:r>
              <a:t/>
            </a:r>
          </a:p>
          <a:p xmlns:a="http://schemas.openxmlformats.org/drawingml/2006/main">
            <a:r>
              <a:t>The header identifies the schema, host, build, input hashes, and scoring profile. This context matters when two runs appear to disagree. The body records the decisions that led to the result.</a:t>
            </a:r>
          </a:p>
          <a:p xmlns:a="http://schemas.openxmlformats.org/drawingml/2006/main">
            <a:r>
              <a:t/>
            </a:r>
          </a:p>
          <a:p xmlns:a="http://schemas.openxmlformats.org/drawingml/2006/main">
            <a:r>
              <a:t>The reader requires consecutive sequence numbers, one session, one header, one stream-end event, and one final summary. Every sampled frame must have exactly one score. Truncated lines, missing scores, or error events reject a session as successful evidence.</a:t>
            </a:r>
          </a:p>
          <a:p xmlns:a="http://schemas.openxmlformats.org/drawingml/2006/main">
            <a:r>
              <a:t/>
            </a:r>
          </a:p>
          <a:p xmlns:a="http://schemas.openxmlformats.org/drawingml/2006/main">
            <a:r>
              <a:t>These checks detect inconsistency. They are not a cryptographic signature proving who produced a log. Keep that trust boundary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builder reduces events into a session view. It counts received, skipped, and dropped frames, collects measurement latencies, and updates episodes by their stable identifiers.</a:t>
            </a:r>
          </a:p>
          <a:p xmlns:a="http://schemas.openxmlformats.org/drawingml/2006/main">
            <a:r>
              <a:t/>
            </a:r>
          </a:p>
          <a:p xmlns:a="http://schemas.openxmlformats.org/drawingml/2006/main">
            <a:r>
              <a:t>Replay uses the same reducer on the saved log. It checks that the reconstructed report equals the recorded summary, that frame accounting balances, and that every recorded episode is closed.</a:t>
            </a:r>
          </a:p>
          <a:p xmlns:a="http://schemas.openxmlformats.org/drawingml/2006/main">
            <a:r>
              <a:t/>
            </a:r>
          </a:p>
          <a:p xmlns:a="http://schemas.openxmlformats.org/drawingml/2006/main">
            <a:r>
              <a:t>The report contains the mean and ninety-fifth-percentile inference latency. Those measurements describe scoring on the named host, not complete camera-to-screen delay.</a:t>
            </a:r>
          </a:p>
          <a:p xmlns:a="http://schemas.openxmlformats.org/drawingml/2006/main">
            <a:r>
              <a:t/>
            </a:r>
          </a:p>
          <a:p xmlns:a="http://schemas.openxmlformats.org/drawingml/2006/main">
            <a:r>
              <a:t>The excerpt selects the replay operations. Complete validation guards are in the source. Latency values currently accumulate in memory and are sorted for reporting, so long-session behavior needs further profiling.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 exhaustion, user stop, and task cancellation are distinct outcomes. The stream returns its reason, and the pipeline closes any still-open episode with that reason before writing the final report.</a:t>
            </a:r>
          </a:p>
          <a:p xmlns:a="http://schemas.openxmlformats.org/drawingml/2006/main">
            <a:r>
              <a:t/>
            </a:r>
          </a:p>
          <a:p xmlns:a="http://schemas.openxmlformats.org/drawingml/2006/main">
            <a:r>
              <a:t>The pipeline is single-use. Starting it again is an error. Tests cover stopping after the first sample, cancelling a running task, and closing an open episode at either a finite fixture prefix or user stop.</a:t>
            </a:r>
          </a:p>
          <a:p xmlns:a="http://schemas.openxmlformats.org/drawingml/2006/main">
            <a:r>
              <a:t/>
            </a:r>
          </a:p>
          <a:p xmlns:a="http://schemas.openxmlformats.org/drawingml/2006/main">
            <a:r>
              <a:t>The cancellation test verifies exactly one session summary. The prefix test deliberately changes the input edge while keeping the production scorer and aggregator.</a:t>
            </a:r>
          </a:p>
          <a:p xmlns:a="http://schemas.openxmlformats.org/drawingml/2006/main">
            <a:r>
              <a:t/>
            </a:r>
          </a:p>
          <a:p xmlns:a="http://schemas.openxmlformats.org/drawingml/2006/main">
            <a:r>
              <a:t>These are successful finalization paths, not a promise that every failure leaves a complete log. Setup and storage failures can prevent logging itself. The next slide makes that boundary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match and failed analysis are different outcomes. A negative result needs a valid completed run. Invalid input or failed inference must not silently become a low score or an empty successful report.</a:t>
            </a:r>
          </a:p>
          <a:p xmlns:a="http://schemas.openxmlformats.org/drawingml/2006/main">
            <a:r>
              <a:t/>
            </a:r>
          </a:p>
          <a:p xmlns:a="http://schemas.openxmlformats.org/drawingml/2006/main">
            <a:r>
              <a:t>Inside the recorded execution path, the pipeline attempts to log the error, close an open episode, and finish before rethrowing. The error marker keeps that log from being accepted as successful evidence, even though the stream-end field uses stopped.</a:t>
            </a:r>
          </a:p>
          <a:p xmlns:a="http://schemas.openxmlformats.org/drawingml/2006/main">
            <a:r>
              <a:t/>
            </a:r>
          </a:p>
          <a:p xmlns:a="http://schemas.openxmlformats.org/drawingml/2006/main">
            <a:r>
              <a:t>Failures creating the output directory, image store, or log happen earlier. A later write failure can also prevent cleanup. Those paths may have no complete summary.</a:t>
            </a:r>
          </a:p>
          <a:p xmlns:a="http://schemas.openxmlformats.org/drawingml/2006/main">
            <a:r>
              <a:t/>
            </a:r>
          </a:p>
          <a:p xmlns:a="http://schemas.openxmlformats.org/drawingml/2006/main">
            <a:r>
              <a:t>The harness displays a failed state and message. Existing tests cover a missing reference; additional injected storage failures would strengthen lifecycle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3b58b0fecf45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9d2f0b22804edd" /><Relationship Type="http://schemas.openxmlformats.org/officeDocument/2006/relationships/slideLayout" Target="/ppt/slideLayouts/slideLayout1.xml" Id="R88adc63e835a4e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adc63e835a4e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ccaac72a9e4339"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99550b60c0944317"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5a32cead1db348a5"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1231b1b2d9094896" /><Relationship Type="http://schemas.openxmlformats.org/officeDocument/2006/relationships/notesSlide" Target="/ppt/notesSlides/notesSlide1.xml" Id="R177dc2a279dd46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d94a36ce054748"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aeb8df5d6d284b2b"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349aae2530b143ed" /><Relationship Type="http://schemas.openxmlformats.org/officeDocument/2006/relationships/hyperlink" Target="file:///Users/paboelustodo/Library/CloudStorage/GoogleDrive-pablo.elustondo@gmail.com/My%20Drive%202/1-GIT-PROJECTS/aishop/ios/AIShop/AIShop/Diagnostics/VisionDiagnosticHarness.swift" TargetMode="External" Id="Rb3cbd3ee86c04b8d" /><Relationship Type="http://schemas.openxmlformats.org/officeDocument/2006/relationships/notesSlide" Target="/ppt/notesSlides/notesSlide2.xml" Id="Rf70b249708af4e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d2aacecd5604594"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5ebe2df071544984"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a24bc8bab73f4531"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517c89772b794a93" /><Relationship Type="http://schemas.openxmlformats.org/officeDocument/2006/relationships/notesSlide" Target="/ppt/notesSlides/notesSlide3.xml" Id="Rd3899533f7c74b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a65738af63f48d5" /><Relationship Type="http://schemas.openxmlformats.org/officeDocument/2006/relationships/hyperlink" Target="file:///Users/paboelustodo/Library/CloudStorage/GoogleDrive-pablo.elustondo@gmail.com/My%20Drive%202/1-GIT-PROJECTS/aishop/ios/AIShop/AIShopVision/Sources/AIShopVision/SessionReportBuilder/RetainedImageStore.swift" TargetMode="External" Id="R1012a6973a0c4784"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74802bbf4b364a4b"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4d4a93d0b2d54425" /><Relationship Type="http://schemas.openxmlformats.org/officeDocument/2006/relationships/notesSlide" Target="/ppt/notesSlides/notesSlide4.xml" Id="Rc2c4ffa2e14247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6637d6313104461" /><Relationship Type="http://schemas.openxmlformats.org/officeDocument/2006/relationships/hyperlink" Target="file:///Users/paboelustodo/Library/CloudStorage/GoogleDrive-pablo.elustondo@gmail.com/My%20Drive%202/1-GIT-PROJECTS/aishop/ios/AIShop/AIShopVision/Sources/AIShopVision/SessionLog/LogValue.swift" TargetMode="External" Id="R819df129cf7945da"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bcb44bea1f154564" /><Relationship Type="http://schemas.openxmlformats.org/officeDocument/2006/relationships/hyperlink" Target="file:///Users/paboelustodo/Library/CloudStorage/GoogleDrive-pablo.elustondo@gmail.com/My%20Drive%202/1-GIT-PROJECTS/aishop/ios/AIShop/AIShopVision/Tests/AIShopVisionTests/SessionLogTests.swift" TargetMode="External" Id="R31748478d42b4f3f" /><Relationship Type="http://schemas.openxmlformats.org/officeDocument/2006/relationships/notesSlide" Target="/ppt/notesSlides/notesSlide5.xml" Id="R9c69a43c435e48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27ab53003e0417b"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883eca75aac5469e"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a6ce0248f65e4d53"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3935e0f0889343f0" /><Relationship Type="http://schemas.openxmlformats.org/officeDocument/2006/relationships/notesSlide" Target="/ppt/notesSlides/notesSlide6.xml" Id="Rde89f3dff1aa47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44c62b1301e40d4"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feba5b4498ad4224"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af55f2bde6ef4141"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ed38b536a6d5463b" /><Relationship Type="http://schemas.openxmlformats.org/officeDocument/2006/relationships/notesSlide" Target="/ppt/notesSlides/notesSlide7.xml" Id="R1910ca6ff98f42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cefa6f03938494d"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80672f8211a84bb8"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e823c749d85747a8" /><Relationship Type="http://schemas.openxmlformats.org/officeDocument/2006/relationships/hyperlink" Target="file:///Users/paboelustodo/Library/CloudStorage/GoogleDrive-pablo.elustondo@gmail.com/My%20Drive%202/1-GIT-PROJECTS/aishop/ios/AIShop/AIShop/Diagnostics/VisionHarnessModel.swift" TargetMode="External" Id="R32a0c2a9885c4c27" /><Relationship Type="http://schemas.openxmlformats.org/officeDocument/2006/relationships/notesSlide" Target="/ppt/notesSlides/notesSlide8.xml" Id="R77d5968624ba4b3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97D717BA-E1C5-4CFA-8E03-E7D77C4999F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candidate episode lifecycle</a:t>
            </a:r>
          </a:p>
        </p:txBody>
      </p:sp>
      <p:sp>
        <p:nvSpPr>
          <p:cNvPr id="2" name="text-1">
            <a:extLst xmlns:a="http://schemas.openxmlformats.org/drawingml/2006/main">
              <a:ext uri="{FF2B5EF4-FFF2-40B4-BE49-F238E27FC236}">
                <a16:creationId xmlns:a16="http://schemas.microsoft.com/office/drawing/2014/main" id="{C983C055-C516-4011-A6BC-BB181CD1D9A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3: turn frame scores into retained evidence</a:t>
            </a:r>
          </a:p>
        </p:txBody>
      </p:sp>
      <p:sp>
        <p:nvSpPr>
          <p:cNvPr id="3" name="">
            <a:extLst xmlns:a="http://schemas.openxmlformats.org/drawingml/2006/main">
              <a:ext uri="{FF2B5EF4-FFF2-40B4-BE49-F238E27FC236}">
                <a16:creationId xmlns:a16="http://schemas.microsoft.com/office/drawing/2014/main" id="{349F75D1-AAFF-463D-A00D-359BA3205D15}"/>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8BEF2985-FCF1-4B33-8178-0E3213816A60}"/>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No active episode</a:t>
            </a:r>
          </a:p>
        </p:txBody>
      </p:sp>
      <p:sp>
        <p:nvSpPr>
          <p:cNvPr id="5" name="text-3">
            <a:extLst xmlns:a="http://schemas.openxmlformats.org/drawingml/2006/main">
              <a:ext uri="{FF2B5EF4-FFF2-40B4-BE49-F238E27FC236}">
                <a16:creationId xmlns:a16="http://schemas.microsoft.com/office/drawing/2014/main" id="{8DF4E5EA-310C-4623-BB04-653EB14F9BAF}"/>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The first supporting sample becomes pending</a:t>
            </a:r>
          </a:p>
        </p:txBody>
      </p:sp>
      <p:sp>
        <p:nvSpPr>
          <p:cNvPr id="6" name="">
            <a:extLst xmlns:a="http://schemas.openxmlformats.org/drawingml/2006/main">
              <a:ext uri="{FF2B5EF4-FFF2-40B4-BE49-F238E27FC236}">
                <a16:creationId xmlns:a16="http://schemas.microsoft.com/office/drawing/2014/main" id="{7B4A5275-DFCA-45BF-A1E5-8F05735B7C3A}"/>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D3F2EEA-0953-4043-8FA2-8CA1474A9CF0}"/>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49B19250-BA6F-4813-81A2-8EC6F5E78C0C}"/>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Pending support</a:t>
            </a:r>
          </a:p>
        </p:txBody>
      </p:sp>
      <p:sp>
        <p:nvSpPr>
          <p:cNvPr id="9" name="text-5">
            <a:extLst xmlns:a="http://schemas.openxmlformats.org/drawingml/2006/main">
              <a:ext uri="{FF2B5EF4-FFF2-40B4-BE49-F238E27FC236}">
                <a16:creationId xmlns:a16="http://schemas.microsoft.com/office/drawing/2014/main" id="{F76E1C1C-853A-44E3-8E5D-2015F0962DCB}"/>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Next consecutive supporting slot opens an episode</a:t>
            </a:r>
          </a:p>
        </p:txBody>
      </p:sp>
      <p:sp>
        <p:nvSpPr>
          <p:cNvPr id="10" name="">
            <a:extLst xmlns:a="http://schemas.openxmlformats.org/drawingml/2006/main">
              <a:ext uri="{FF2B5EF4-FFF2-40B4-BE49-F238E27FC236}">
                <a16:creationId xmlns:a16="http://schemas.microsoft.com/office/drawing/2014/main" id="{CCC9A3A1-826F-4729-AE90-B24D6C9F2D2C}"/>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7B366A1-6076-4510-A0C4-64B61C6EB3A7}"/>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68980446-A6CF-4E89-918E-06513392FBE9}"/>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episode</a:t>
            </a:r>
          </a:p>
        </p:txBody>
      </p:sp>
      <p:sp>
        <p:nvSpPr>
          <p:cNvPr id="13" name="text-7">
            <a:extLst xmlns:a="http://schemas.openxmlformats.org/drawingml/2006/main">
              <a:ext uri="{FF2B5EF4-FFF2-40B4-BE49-F238E27FC236}">
                <a16:creationId xmlns:a16="http://schemas.microsoft.com/office/drawing/2014/main" id="{59620205-996D-4316-B347-DF3740CA542F}"/>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Further support refreshes time and may improve the best frame</a:t>
            </a:r>
          </a:p>
        </p:txBody>
      </p:sp>
      <p:sp>
        <p:nvSpPr>
          <p:cNvPr id="14" name="">
            <a:extLst xmlns:a="http://schemas.openxmlformats.org/drawingml/2006/main">
              <a:ext uri="{FF2B5EF4-FFF2-40B4-BE49-F238E27FC236}">
                <a16:creationId xmlns:a16="http://schemas.microsoft.com/office/drawing/2014/main" id="{D523FAAA-C720-4DC3-B921-E7F2336D6B21}"/>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049CE23-6A46-4349-B06F-0393E241D232}"/>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C15A3D5E-2BD4-426E-AEBA-9F7E09B52A04}"/>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Closed episode</a:t>
            </a:r>
          </a:p>
        </p:txBody>
      </p:sp>
      <p:sp>
        <p:nvSpPr>
          <p:cNvPr id="17" name="text-9">
            <a:extLst xmlns:a="http://schemas.openxmlformats.org/drawingml/2006/main">
              <a:ext uri="{FF2B5EF4-FFF2-40B4-BE49-F238E27FC236}">
                <a16:creationId xmlns:a16="http://schemas.microsoft.com/office/drawing/2014/main" id="{2B2DA9CD-8CFC-4B70-AB7C-569826762CA5}"/>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Gap, stop, cancellation, error, or end closes the episode</a:t>
            </a:r>
          </a:p>
        </p:txBody>
      </p:sp>
      <p:sp>
        <p:nvSpPr>
          <p:cNvPr id="18" name="text-10">
            <a:extLst xmlns:a="http://schemas.openxmlformats.org/drawingml/2006/main">
              <a:ext uri="{FF2B5EF4-FFF2-40B4-BE49-F238E27FC236}">
                <a16:creationId xmlns:a16="http://schemas.microsoft.com/office/drawing/2014/main" id="{1C23A750-757E-4133-9330-E583248AB7F0}"/>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A missed slot or unsupported sample resets pending support.</a:t>
            </a:r>
          </a:p>
        </p:txBody>
      </p:sp>
      <p:sp>
        <p:nvSpPr>
          <p:cNvPr id="19" name="text-11">
            <a:extLst xmlns:a="http://schemas.openxmlformats.org/drawingml/2006/main">
              <a:ext uri="{FF2B5EF4-FFF2-40B4-BE49-F238E27FC236}">
                <a16:creationId xmlns:a16="http://schemas.microsoft.com/office/drawing/2014/main" id="{D29550A0-F529-4A6A-8F84-7BDBC7A4650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155DC551-2343-4E2B-9376-9D3E60F5891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9550b60c0944317"/>
              </a:rPr>
              <a:t>Episode aggregator</a:t>
            </a:r>
          </a:p>
        </p:txBody>
      </p:sp>
      <p:sp>
        <p:nvSpPr>
          <p:cNvPr id="21" name="text-13">
            <a:extLst xmlns:a="http://schemas.openxmlformats.org/drawingml/2006/main">
              <a:ext uri="{FF2B5EF4-FFF2-40B4-BE49-F238E27FC236}">
                <a16:creationId xmlns:a16="http://schemas.microsoft.com/office/drawing/2014/main" id="{F484990F-BF5D-482A-8145-9F80051F826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a32cead1db348a5"/>
              </a:rPr>
              <a:t>Episode tests</a:t>
            </a:r>
          </a:p>
        </p:txBody>
      </p:sp>
      <p:sp>
        <p:nvSpPr>
          <p:cNvPr id="22" name="text-14">
            <a:extLst xmlns:a="http://schemas.openxmlformats.org/drawingml/2006/main">
              <a:ext uri="{FF2B5EF4-FFF2-40B4-BE49-F238E27FC236}">
                <a16:creationId xmlns:a16="http://schemas.microsoft.com/office/drawing/2014/main" id="{4FBCA3AA-6600-4D92-AB61-5C16B8C3AC8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231b1b2d9094896"/>
              </a:rPr>
              <a:t>Lifecycle integration</a:t>
            </a:r>
          </a:p>
        </p:txBody>
      </p:sp>
      <p:sp>
        <p:nvSpPr>
          <p:cNvPr id="23" name="text-15">
            <a:extLst xmlns:a="http://schemas.openxmlformats.org/drawingml/2006/main">
              <a:ext uri="{FF2B5EF4-FFF2-40B4-BE49-F238E27FC236}">
                <a16:creationId xmlns:a16="http://schemas.microsoft.com/office/drawing/2014/main" id="{A878780A-F67B-4CBA-95A3-0922B6ED231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15</a:t>
            </a:r>
          </a:p>
        </p:txBody>
      </p:sp>
    </p:spTree>
    <p:extLst>
      <p:ext uri="{BB962C8B-B14F-4D97-AF65-F5344CB8AC3E}">
        <p14:creationId xmlns:p14="http://schemas.microsoft.com/office/powerpoint/2010/main" val="3879897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8510E023-DB90-45BD-838E-2A8373A0D377}"/>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Episode and signal contracts</a:t>
            </a:r>
          </a:p>
        </p:txBody>
      </p:sp>
      <p:sp>
        <p:nvSpPr>
          <p:cNvPr id="2" name="text-1">
            <a:extLst xmlns:a="http://schemas.openxmlformats.org/drawingml/2006/main">
              <a:ext uri="{FF2B5EF4-FFF2-40B4-BE49-F238E27FC236}">
                <a16:creationId xmlns:a16="http://schemas.microsoft.com/office/drawing/2014/main" id="{BFDE9A61-78B5-418E-BE80-B3DFEDE0E9F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Recorded history and live feedback have different jobs</a:t>
            </a:r>
          </a:p>
        </p:txBody>
      </p:sp>
      <p:sp>
        <p:nvSpPr>
          <p:cNvPr id="3" name="text-2">
            <a:extLst xmlns:a="http://schemas.openxmlformats.org/drawingml/2006/main">
              <a:ext uri="{FF2B5EF4-FFF2-40B4-BE49-F238E27FC236}">
                <a16:creationId xmlns:a16="http://schemas.microsoft.com/office/drawing/2014/main" id="{AD5D7C76-D240-4674-9BE0-74CCE5D2FA3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timing</a:t>
            </a:r>
          </a:p>
        </p:txBody>
      </p:sp>
      <p:sp>
        <p:nvSpPr>
          <p:cNvPr id="4" name="text-3">
            <a:extLst xmlns:a="http://schemas.openxmlformats.org/drawingml/2006/main">
              <a:ext uri="{FF2B5EF4-FFF2-40B4-BE49-F238E27FC236}">
                <a16:creationId xmlns:a16="http://schemas.microsoft.com/office/drawing/2014/main" id="{12A1CE96-5616-4967-A9E0-94E71E493E14}"/>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startedAt = first support; openedAt = confirmation sample</a:t>
            </a:r>
          </a:p>
        </p:txBody>
      </p:sp>
      <p:sp>
        <p:nvSpPr>
          <p:cNvPr id="5" name="">
            <a:extLst xmlns:a="http://schemas.openxmlformats.org/drawingml/2006/main">
              <a:ext uri="{FF2B5EF4-FFF2-40B4-BE49-F238E27FC236}">
                <a16:creationId xmlns:a16="http://schemas.microsoft.com/office/drawing/2014/main" id="{E8992A8A-8496-47DE-9D3A-C5CE07BFB24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DA2B6B78-96E0-430A-8D57-87D6BF7C31B7}"/>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a:t>
            </a:r>
          </a:p>
        </p:txBody>
      </p:sp>
      <p:sp>
        <p:nvSpPr>
          <p:cNvPr id="7" name="text-5">
            <a:extLst xmlns:a="http://schemas.openxmlformats.org/drawingml/2006/main">
              <a:ext uri="{FF2B5EF4-FFF2-40B4-BE49-F238E27FC236}">
                <a16:creationId xmlns:a16="http://schemas.microsoft.com/office/drawing/2014/main" id="{C4424C1F-F91E-43B2-AB5F-302DB1AD797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Best frame ID, timestamp, distance, variant, and image ID</a:t>
            </a:r>
          </a:p>
        </p:txBody>
      </p:sp>
      <p:sp>
        <p:nvSpPr>
          <p:cNvPr id="8" name="">
            <a:extLst xmlns:a="http://schemas.openxmlformats.org/drawingml/2006/main">
              <a:ext uri="{FF2B5EF4-FFF2-40B4-BE49-F238E27FC236}">
                <a16:creationId xmlns:a16="http://schemas.microsoft.com/office/drawing/2014/main" id="{196D263C-A9D6-4B3E-9EF4-B3871C33E5C7}"/>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DFDB9E9F-8797-453F-905A-D716A8E23C51}"/>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Closure</a:t>
            </a:r>
          </a:p>
        </p:txBody>
      </p:sp>
      <p:sp>
        <p:nvSpPr>
          <p:cNvPr id="10" name="text-7">
            <a:extLst xmlns:a="http://schemas.openxmlformats.org/drawingml/2006/main">
              <a:ext uri="{FF2B5EF4-FFF2-40B4-BE49-F238E27FC236}">
                <a16:creationId xmlns:a16="http://schemas.microsoft.com/office/drawing/2014/main" id="{C6CAE3DD-083E-453B-BCB6-91A2D962B77F}"/>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Last support, close time, and explicit close reason</a:t>
            </a:r>
          </a:p>
        </p:txBody>
      </p:sp>
      <p:sp>
        <p:nvSpPr>
          <p:cNvPr id="11" name="">
            <a:extLst xmlns:a="http://schemas.openxmlformats.org/drawingml/2006/main">
              <a:ext uri="{FF2B5EF4-FFF2-40B4-BE49-F238E27FC236}">
                <a16:creationId xmlns:a16="http://schemas.microsoft.com/office/drawing/2014/main" id="{8FB71FE3-877D-477E-8FFD-93BAF4E5019D}"/>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9367B712-A7EF-421C-9C84-D017ECB3827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Live signal</a:t>
            </a:r>
          </a:p>
        </p:txBody>
      </p:sp>
      <p:sp>
        <p:nvSpPr>
          <p:cNvPr id="13" name="text-9">
            <a:extLst xmlns:a="http://schemas.openxmlformats.org/drawingml/2006/main">
              <a:ext uri="{FF2B5EF4-FFF2-40B4-BE49-F238E27FC236}">
                <a16:creationId xmlns:a16="http://schemas.microsoft.com/office/drawing/2014/main" id="{76CA5344-46C3-4F2F-AA7F-113B6EF90FDC}"/>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media time, streak, latency, and possible match</a:t>
            </a:r>
          </a:p>
        </p:txBody>
      </p:sp>
      <p:sp>
        <p:nvSpPr>
          <p:cNvPr id="14" name="text-10">
            <a:extLst xmlns:a="http://schemas.openxmlformats.org/drawingml/2006/main">
              <a:ext uri="{FF2B5EF4-FFF2-40B4-BE49-F238E27FC236}">
                <a16:creationId xmlns:a16="http://schemas.microsoft.com/office/drawing/2014/main" id="{2D8DCE02-F8B7-46E0-A428-8B27107AC06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B2C83AAD-8F23-4661-AC05-3C3DF6A7DF8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eb8df5d6d284b2b"/>
              </a:rPr>
              <a:t>Episode and signal types</a:t>
            </a:r>
          </a:p>
        </p:txBody>
      </p:sp>
      <p:sp>
        <p:nvSpPr>
          <p:cNvPr id="16" name="text-12">
            <a:extLst xmlns:a="http://schemas.openxmlformats.org/drawingml/2006/main">
              <a:ext uri="{FF2B5EF4-FFF2-40B4-BE49-F238E27FC236}">
                <a16:creationId xmlns:a16="http://schemas.microsoft.com/office/drawing/2014/main" id="{C2190323-3030-4CD2-B2D3-51C0FA46A50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49aae2530b143ed"/>
              </a:rPr>
              <a:t>Episode tests</a:t>
            </a:r>
          </a:p>
        </p:txBody>
      </p:sp>
      <p:sp>
        <p:nvSpPr>
          <p:cNvPr id="17" name="text-13">
            <a:extLst xmlns:a="http://schemas.openxmlformats.org/drawingml/2006/main">
              <a:ext uri="{FF2B5EF4-FFF2-40B4-BE49-F238E27FC236}">
                <a16:creationId xmlns:a16="http://schemas.microsoft.com/office/drawing/2014/main" id="{0B10A16C-110E-4655-BECF-0D2C196D0DA2}"/>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3cbd3ee86c04b8d"/>
              </a:rPr>
              <a:t>Harness display</a:t>
            </a:r>
          </a:p>
        </p:txBody>
      </p:sp>
      <p:sp>
        <p:nvSpPr>
          <p:cNvPr id="18" name="text-14">
            <a:extLst xmlns:a="http://schemas.openxmlformats.org/drawingml/2006/main">
              <a:ext uri="{FF2B5EF4-FFF2-40B4-BE49-F238E27FC236}">
                <a16:creationId xmlns:a16="http://schemas.microsoft.com/office/drawing/2014/main" id="{F07864D8-72CE-4A19-93EF-367AC146279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16</a:t>
            </a:r>
          </a:p>
        </p:txBody>
      </p:sp>
    </p:spTree>
    <p:extLst>
      <p:ext uri="{BB962C8B-B14F-4D97-AF65-F5344CB8AC3E}">
        <p14:creationId xmlns:p14="http://schemas.microsoft.com/office/powerpoint/2010/main" val="3700155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5BCBE2B3-561E-4651-829E-941901CB8E3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ordered evidence path</a:t>
            </a:r>
          </a:p>
        </p:txBody>
      </p:sp>
      <p:sp>
        <p:nvSpPr>
          <p:cNvPr id="2" name="text-1">
            <a:extLst xmlns:a="http://schemas.openxmlformats.org/drawingml/2006/main">
              <a:ext uri="{FF2B5EF4-FFF2-40B4-BE49-F238E27FC236}">
                <a16:creationId xmlns:a16="http://schemas.microsoft.com/office/drawing/2014/main" id="{D8DD4A51-7E5D-4E69-9BBE-3F8EE4BE78B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PipelineRecorder connects the log and the live report</a:t>
            </a:r>
          </a:p>
        </p:txBody>
      </p:sp>
      <p:sp>
        <p:nvSpPr>
          <p:cNvPr id="3" name="">
            <a:extLst xmlns:a="http://schemas.openxmlformats.org/drawingml/2006/main">
              <a:ext uri="{FF2B5EF4-FFF2-40B4-BE49-F238E27FC236}">
                <a16:creationId xmlns:a16="http://schemas.microsoft.com/office/drawing/2014/main" id="{1142F56C-28B9-4AE8-9CE4-491612C07083}"/>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EF930E58-AE2A-4303-A9CA-56433661AEF6}"/>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Concurrent callbacks</a:t>
            </a:r>
          </a:p>
        </p:txBody>
      </p:sp>
      <p:sp>
        <p:nvSpPr>
          <p:cNvPr id="5" name="text-3">
            <a:extLst xmlns:a="http://schemas.openxmlformats.org/drawingml/2006/main">
              <a:ext uri="{FF2B5EF4-FFF2-40B4-BE49-F238E27FC236}">
                <a16:creationId xmlns:a16="http://schemas.microsoft.com/office/drawing/2014/main" id="{F8AE9EA6-63F6-43BD-8BDB-AB1C865333B9}"/>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Stream events and analysis results may arrive from different tasks</a:t>
            </a:r>
          </a:p>
        </p:txBody>
      </p:sp>
      <p:sp>
        <p:nvSpPr>
          <p:cNvPr id="6" name="">
            <a:extLst xmlns:a="http://schemas.openxmlformats.org/drawingml/2006/main">
              <a:ext uri="{FF2B5EF4-FFF2-40B4-BE49-F238E27FC236}">
                <a16:creationId xmlns:a16="http://schemas.microsoft.com/office/drawing/2014/main" id="{F6BA685A-5FB2-46F7-BA0B-9462666B1543}"/>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D73A3E9-21D4-4DAC-B0F9-A47EA43830FF}"/>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8219B39B-F739-470C-BB98-E359C8E3E444}"/>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lock</a:t>
            </a:r>
          </a:p>
        </p:txBody>
      </p:sp>
      <p:sp>
        <p:nvSpPr>
          <p:cNvPr id="9" name="text-5">
            <a:extLst xmlns:a="http://schemas.openxmlformats.org/drawingml/2006/main">
              <a:ext uri="{FF2B5EF4-FFF2-40B4-BE49-F238E27FC236}">
                <a16:creationId xmlns:a16="http://schemas.microsoft.com/office/drawing/2014/main" id="{46158B14-AAA2-4A33-ABEC-6C198FB9C8BB}"/>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Serialize each complete append-and-consume operation</a:t>
            </a:r>
          </a:p>
        </p:txBody>
      </p:sp>
      <p:sp>
        <p:nvSpPr>
          <p:cNvPr id="10" name="">
            <a:extLst xmlns:a="http://schemas.openxmlformats.org/drawingml/2006/main">
              <a:ext uri="{FF2B5EF4-FFF2-40B4-BE49-F238E27FC236}">
                <a16:creationId xmlns:a16="http://schemas.microsoft.com/office/drawing/2014/main" id="{96FFB33A-F229-4A21-886E-F69647302291}"/>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3244166-2151-4CB3-A0F7-C54D058E4654}"/>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34C245B3-7B2D-454B-AE11-1804EB088D78}"/>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Session log</a:t>
            </a:r>
          </a:p>
        </p:txBody>
      </p:sp>
      <p:sp>
        <p:nvSpPr>
          <p:cNvPr id="13" name="text-7">
            <a:extLst xmlns:a="http://schemas.openxmlformats.org/drawingml/2006/main">
              <a:ext uri="{FF2B5EF4-FFF2-40B4-BE49-F238E27FC236}">
                <a16:creationId xmlns:a16="http://schemas.microsoft.com/office/drawing/2014/main" id="{E2461DFF-A517-4B11-8192-A18A23B52810}"/>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Assign sequence and write the JSONL event</a:t>
            </a:r>
          </a:p>
        </p:txBody>
      </p:sp>
      <p:sp>
        <p:nvSpPr>
          <p:cNvPr id="14" name="">
            <a:extLst xmlns:a="http://schemas.openxmlformats.org/drawingml/2006/main">
              <a:ext uri="{FF2B5EF4-FFF2-40B4-BE49-F238E27FC236}">
                <a16:creationId xmlns:a16="http://schemas.microsoft.com/office/drawing/2014/main" id="{4731B36E-8188-4CA3-89D5-FBE092552892}"/>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8A3C537-6F25-437B-862B-77A6961577C5}"/>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FD2299F3-EA3F-4CB5-862A-E4856FAA63DC}"/>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Report builder</a:t>
            </a:r>
          </a:p>
        </p:txBody>
      </p:sp>
      <p:sp>
        <p:nvSpPr>
          <p:cNvPr id="17" name="text-9">
            <a:extLst xmlns:a="http://schemas.openxmlformats.org/drawingml/2006/main">
              <a:ext uri="{FF2B5EF4-FFF2-40B4-BE49-F238E27FC236}">
                <a16:creationId xmlns:a16="http://schemas.microsoft.com/office/drawing/2014/main" id="{B7165953-D6CF-4C85-9AFF-D5574B357311}"/>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Consume that same event before releasing the lock</a:t>
            </a:r>
          </a:p>
        </p:txBody>
      </p:sp>
      <p:sp>
        <p:nvSpPr>
          <p:cNvPr id="18" name="text-10">
            <a:extLst xmlns:a="http://schemas.openxmlformats.org/drawingml/2006/main">
              <a:ext uri="{FF2B5EF4-FFF2-40B4-BE49-F238E27FC236}">
                <a16:creationId xmlns:a16="http://schemas.microsoft.com/office/drawing/2014/main" id="{E0D5C0D7-5A13-4BB1-B9D6-894401BEBD13}"/>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 ordering rule prevents the live report from drifting from the log.</a:t>
            </a:r>
          </a:p>
        </p:txBody>
      </p:sp>
      <p:sp>
        <p:nvSpPr>
          <p:cNvPr id="19" name="text-11">
            <a:extLst xmlns:a="http://schemas.openxmlformats.org/drawingml/2006/main">
              <a:ext uri="{FF2B5EF4-FFF2-40B4-BE49-F238E27FC236}">
                <a16:creationId xmlns:a16="http://schemas.microsoft.com/office/drawing/2014/main" id="{4B500848-902F-422B-9F43-BCC063CF123B}"/>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15181BA6-6CFE-4D94-AF21-C1C5ABD1A1D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ebe2df071544984"/>
              </a:rPr>
              <a:t>Recorder</a:t>
            </a:r>
          </a:p>
        </p:txBody>
      </p:sp>
      <p:sp>
        <p:nvSpPr>
          <p:cNvPr id="21" name="text-13">
            <a:extLst xmlns:a="http://schemas.openxmlformats.org/drawingml/2006/main">
              <a:ext uri="{FF2B5EF4-FFF2-40B4-BE49-F238E27FC236}">
                <a16:creationId xmlns:a16="http://schemas.microsoft.com/office/drawing/2014/main" id="{7A40C81C-7029-44E4-B74E-E4BDDA5C366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24bc8bab73f4531"/>
              </a:rPr>
              <a:t>Log writer</a:t>
            </a:r>
          </a:p>
        </p:txBody>
      </p:sp>
      <p:sp>
        <p:nvSpPr>
          <p:cNvPr id="22" name="text-14">
            <a:extLst xmlns:a="http://schemas.openxmlformats.org/drawingml/2006/main">
              <a:ext uri="{FF2B5EF4-FFF2-40B4-BE49-F238E27FC236}">
                <a16:creationId xmlns:a16="http://schemas.microsoft.com/office/drawing/2014/main" id="{18393BDA-FCE0-4C80-874C-B3B6E0FC83A4}"/>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17c89772b794a93"/>
              </a:rPr>
              <a:t>Report builder</a:t>
            </a:r>
          </a:p>
        </p:txBody>
      </p:sp>
      <p:sp>
        <p:nvSpPr>
          <p:cNvPr id="23" name="text-15">
            <a:extLst xmlns:a="http://schemas.openxmlformats.org/drawingml/2006/main">
              <a:ext uri="{FF2B5EF4-FFF2-40B4-BE49-F238E27FC236}">
                <a16:creationId xmlns:a16="http://schemas.microsoft.com/office/drawing/2014/main" id="{F708EC53-7B34-4F1D-A7B2-9958D3B6630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17</a:t>
            </a:r>
          </a:p>
        </p:txBody>
      </p:sp>
    </p:spTree>
    <p:extLst>
      <p:ext uri="{BB962C8B-B14F-4D97-AF65-F5344CB8AC3E}">
        <p14:creationId xmlns:p14="http://schemas.microsoft.com/office/powerpoint/2010/main" val="8664178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9E9A491B-32FF-4071-BED3-E253ADEC5E7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Retained image evidence</a:t>
            </a:r>
          </a:p>
        </p:txBody>
      </p:sp>
      <p:sp>
        <p:nvSpPr>
          <p:cNvPr id="2" name="text-1">
            <a:extLst xmlns:a="http://schemas.openxmlformats.org/drawingml/2006/main">
              <a:ext uri="{FF2B5EF4-FFF2-40B4-BE49-F238E27FC236}">
                <a16:creationId xmlns:a16="http://schemas.microsoft.com/office/drawing/2014/main" id="{F4B2817E-C981-4CB3-A40C-FC13FCC492D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report references pixels saved during analysis</a:t>
            </a:r>
          </a:p>
        </p:txBody>
      </p:sp>
      <p:sp>
        <p:nvSpPr>
          <p:cNvPr id="3" name="text-2">
            <a:extLst xmlns:a="http://schemas.openxmlformats.org/drawingml/2006/main">
              <a:ext uri="{FF2B5EF4-FFF2-40B4-BE49-F238E27FC236}">
                <a16:creationId xmlns:a16="http://schemas.microsoft.com/office/drawing/2014/main" id="{5F14B5EC-D39A-4240-B34F-FC528C55553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Selection</a:t>
            </a:r>
          </a:p>
        </p:txBody>
      </p:sp>
      <p:sp>
        <p:nvSpPr>
          <p:cNvPr id="4" name="text-3">
            <a:extLst xmlns:a="http://schemas.openxmlformats.org/drawingml/2006/main">
              <a:ext uri="{FF2B5EF4-FFF2-40B4-BE49-F238E27FC236}">
                <a16:creationId xmlns:a16="http://schemas.microsoft.com/office/drawing/2014/main" id="{B707CA27-A747-43D8-A62D-8A321E20D758}"/>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Lowest distance wins; earliest frame wins a tie</a:t>
            </a:r>
          </a:p>
        </p:txBody>
      </p:sp>
      <p:sp>
        <p:nvSpPr>
          <p:cNvPr id="5" name="">
            <a:extLst xmlns:a="http://schemas.openxmlformats.org/drawingml/2006/main">
              <a:ext uri="{FF2B5EF4-FFF2-40B4-BE49-F238E27FC236}">
                <a16:creationId xmlns:a16="http://schemas.microsoft.com/office/drawing/2014/main" id="{0CF94D62-B625-47CF-9517-2B3140D71991}"/>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2649DDEA-0359-4C42-BDBD-729531D66A8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Opening detail</a:t>
            </a:r>
          </a:p>
        </p:txBody>
      </p:sp>
      <p:sp>
        <p:nvSpPr>
          <p:cNvPr id="7" name="text-5">
            <a:extLst xmlns:a="http://schemas.openxmlformats.org/drawingml/2006/main">
              <a:ext uri="{FF2B5EF4-FFF2-40B4-BE49-F238E27FC236}">
                <a16:creationId xmlns:a16="http://schemas.microsoft.com/office/drawing/2014/main" id="{A3503824-1C0F-41FD-B5F9-01AFFCCA3142}"/>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Keep the previous frame because it may be the best first hit</a:t>
            </a:r>
          </a:p>
        </p:txBody>
      </p:sp>
      <p:sp>
        <p:nvSpPr>
          <p:cNvPr id="8" name="">
            <a:extLst xmlns:a="http://schemas.openxmlformats.org/drawingml/2006/main">
              <a:ext uri="{FF2B5EF4-FFF2-40B4-BE49-F238E27FC236}">
                <a16:creationId xmlns:a16="http://schemas.microsoft.com/office/drawing/2014/main" id="{101464B9-2AF8-4BE1-B94A-A53AD1FB54DA}"/>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F7F1BFEC-259E-4F4C-B227-C5897468D2A1}"/>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a:t>
            </a:r>
          </a:p>
        </p:txBody>
      </p:sp>
      <p:sp>
        <p:nvSpPr>
          <p:cNvPr id="10" name="text-7">
            <a:extLst xmlns:a="http://schemas.openxmlformats.org/drawingml/2006/main">
              <a:ext uri="{FF2B5EF4-FFF2-40B4-BE49-F238E27FC236}">
                <a16:creationId xmlns:a16="http://schemas.microsoft.com/office/drawing/2014/main" id="{DA33C275-2E9C-4049-AD2B-50936A068FA3}"/>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Write a whole-frame JPEG separately from JSONL</a:t>
            </a:r>
          </a:p>
        </p:txBody>
      </p:sp>
      <p:sp>
        <p:nvSpPr>
          <p:cNvPr id="11" name="">
            <a:extLst xmlns:a="http://schemas.openxmlformats.org/drawingml/2006/main">
              <a:ext uri="{FF2B5EF4-FFF2-40B4-BE49-F238E27FC236}">
                <a16:creationId xmlns:a16="http://schemas.microsoft.com/office/drawing/2014/main" id="{A8B6E229-6799-4219-8948-D98A85D71B31}"/>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FBFC15C0-2138-4CD9-BC0F-759947B5A7DB}"/>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Limit</a:t>
            </a:r>
          </a:p>
        </p:txBody>
      </p:sp>
      <p:sp>
        <p:nvSpPr>
          <p:cNvPr id="13" name="text-9">
            <a:extLst xmlns:a="http://schemas.openxmlformats.org/drawingml/2006/main">
              <a:ext uri="{FF2B5EF4-FFF2-40B4-BE49-F238E27FC236}">
                <a16:creationId xmlns:a16="http://schemas.microsoft.com/office/drawing/2014/main" id="{C366CC49-4E62-47F7-935E-4602D64E647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replayed log reconstructs image IDs, never missing pixels</a:t>
            </a:r>
          </a:p>
        </p:txBody>
      </p:sp>
      <p:sp>
        <p:nvSpPr>
          <p:cNvPr id="14" name="text-10">
            <a:extLst xmlns:a="http://schemas.openxmlformats.org/drawingml/2006/main">
              <a:ext uri="{FF2B5EF4-FFF2-40B4-BE49-F238E27FC236}">
                <a16:creationId xmlns:a16="http://schemas.microsoft.com/office/drawing/2014/main" id="{C868F660-6775-49D9-A52B-F96F2279810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C8210D26-801A-4866-A558-73CEA56BB30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012a6973a0c4784"/>
              </a:rPr>
              <a:t>Image store</a:t>
            </a:r>
          </a:p>
        </p:txBody>
      </p:sp>
      <p:sp>
        <p:nvSpPr>
          <p:cNvPr id="16" name="text-12">
            <a:extLst xmlns:a="http://schemas.openxmlformats.org/drawingml/2006/main">
              <a:ext uri="{FF2B5EF4-FFF2-40B4-BE49-F238E27FC236}">
                <a16:creationId xmlns:a16="http://schemas.microsoft.com/office/drawing/2014/main" id="{3E7DB579-8E3D-4F5A-A3FF-1878537E3E8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4802bbf4b364a4b"/>
              </a:rPr>
              <a:t>Pipeline selection</a:t>
            </a:r>
          </a:p>
        </p:txBody>
      </p:sp>
      <p:sp>
        <p:nvSpPr>
          <p:cNvPr id="17" name="text-13">
            <a:extLst xmlns:a="http://schemas.openxmlformats.org/drawingml/2006/main">
              <a:ext uri="{FF2B5EF4-FFF2-40B4-BE49-F238E27FC236}">
                <a16:creationId xmlns:a16="http://schemas.microsoft.com/office/drawing/2014/main" id="{655D3BD8-4300-45AC-8F31-22CA4FB76DC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d4a93d0b2d54425"/>
              </a:rPr>
              <a:t>Report tests</a:t>
            </a:r>
          </a:p>
        </p:txBody>
      </p:sp>
      <p:sp>
        <p:nvSpPr>
          <p:cNvPr id="18" name="text-14">
            <a:extLst xmlns:a="http://schemas.openxmlformats.org/drawingml/2006/main">
              <a:ext uri="{FF2B5EF4-FFF2-40B4-BE49-F238E27FC236}">
                <a16:creationId xmlns:a16="http://schemas.microsoft.com/office/drawing/2014/main" id="{F79B1A43-B425-4A7E-87B8-25D346F0344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18</a:t>
            </a:r>
          </a:p>
        </p:txBody>
      </p:sp>
    </p:spTree>
    <p:extLst>
      <p:ext uri="{BB962C8B-B14F-4D97-AF65-F5344CB8AC3E}">
        <p14:creationId xmlns:p14="http://schemas.microsoft.com/office/powerpoint/2010/main" val="16657032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3A60FD59-EF97-451B-891D-2EBF8E66FC7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session-log contract</a:t>
            </a:r>
          </a:p>
        </p:txBody>
      </p:sp>
      <p:sp>
        <p:nvSpPr>
          <p:cNvPr id="2" name="text-1">
            <a:extLst xmlns:a="http://schemas.openxmlformats.org/drawingml/2006/main">
              <a:ext uri="{FF2B5EF4-FFF2-40B4-BE49-F238E27FC236}">
                <a16:creationId xmlns:a16="http://schemas.microsoft.com/office/drawing/2014/main" id="{36B0ADD0-B04A-4E0A-A026-52C79F52BA7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JSON object per line, one ordered session</a:t>
            </a:r>
          </a:p>
        </p:txBody>
      </p:sp>
      <p:sp>
        <p:nvSpPr>
          <p:cNvPr id="3" name="text-2">
            <a:extLst xmlns:a="http://schemas.openxmlformats.org/drawingml/2006/main">
              <a:ext uri="{FF2B5EF4-FFF2-40B4-BE49-F238E27FC236}">
                <a16:creationId xmlns:a16="http://schemas.microsoft.com/office/drawing/2014/main" id="{E81688EC-9EF7-4A59-9EFF-0A9CFB015987}"/>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Envelope</a:t>
            </a:r>
          </a:p>
        </p:txBody>
      </p:sp>
      <p:sp>
        <p:nvSpPr>
          <p:cNvPr id="4" name="text-3">
            <a:extLst xmlns:a="http://schemas.openxmlformats.org/drawingml/2006/main">
              <a:ext uri="{FF2B5EF4-FFF2-40B4-BE49-F238E27FC236}">
                <a16:creationId xmlns:a16="http://schemas.microsoft.com/office/drawing/2014/main" id="{DAAA6037-5393-43DB-9948-82D1F8AC40C4}"/>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Sequence, session ID, event kind, frame ID, media timestamp</a:t>
            </a:r>
          </a:p>
        </p:txBody>
      </p:sp>
      <p:sp>
        <p:nvSpPr>
          <p:cNvPr id="5" name="">
            <a:extLst xmlns:a="http://schemas.openxmlformats.org/drawingml/2006/main">
              <a:ext uri="{FF2B5EF4-FFF2-40B4-BE49-F238E27FC236}">
                <a16:creationId xmlns:a16="http://schemas.microsoft.com/office/drawing/2014/main" id="{731880A9-7E02-4D80-B709-1E7D131C814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E1A331C6-A0FD-49D5-B836-8CF863AB4524}"/>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Header</a:t>
            </a:r>
          </a:p>
        </p:txBody>
      </p:sp>
      <p:sp>
        <p:nvSpPr>
          <p:cNvPr id="7" name="text-5">
            <a:extLst xmlns:a="http://schemas.openxmlformats.org/drawingml/2006/main">
              <a:ext uri="{FF2B5EF4-FFF2-40B4-BE49-F238E27FC236}">
                <a16:creationId xmlns:a16="http://schemas.microsoft.com/office/drawing/2014/main" id="{383127E4-AB87-4C07-8AFA-17511EE9B0CB}"/>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Schema version, host, build, fixture/reference hashes, profile</a:t>
            </a:r>
          </a:p>
        </p:txBody>
      </p:sp>
      <p:sp>
        <p:nvSpPr>
          <p:cNvPr id="8" name="">
            <a:extLst xmlns:a="http://schemas.openxmlformats.org/drawingml/2006/main">
              <a:ext uri="{FF2B5EF4-FFF2-40B4-BE49-F238E27FC236}">
                <a16:creationId xmlns:a16="http://schemas.microsoft.com/office/drawing/2014/main" id="{52BC83D0-1C06-4A93-AF4A-668E8D7D65B1}"/>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CDA78BC1-B0AA-4D3F-88FA-9B97BE347C94}"/>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Body</a:t>
            </a:r>
          </a:p>
        </p:txBody>
      </p:sp>
      <p:sp>
        <p:nvSpPr>
          <p:cNvPr id="10" name="text-7">
            <a:extLst xmlns:a="http://schemas.openxmlformats.org/drawingml/2006/main">
              <a:ext uri="{FF2B5EF4-FFF2-40B4-BE49-F238E27FC236}">
                <a16:creationId xmlns:a16="http://schemas.microsoft.com/office/drawing/2014/main" id="{BD93213C-CE8E-43FA-89E1-9193D1B57334}"/>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Sampling, scores, episode changes, termination, and errors</a:t>
            </a:r>
          </a:p>
        </p:txBody>
      </p:sp>
      <p:sp>
        <p:nvSpPr>
          <p:cNvPr id="11" name="">
            <a:extLst xmlns:a="http://schemas.openxmlformats.org/drawingml/2006/main">
              <a:ext uri="{FF2B5EF4-FFF2-40B4-BE49-F238E27FC236}">
                <a16:creationId xmlns:a16="http://schemas.microsoft.com/office/drawing/2014/main" id="{F98E2E94-1AA4-49B7-909B-B4F9D4E6ADF1}"/>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62BB8CF0-DEA3-4EE7-8979-A824483E47B0}"/>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End</a:t>
            </a:r>
          </a:p>
        </p:txBody>
      </p:sp>
      <p:sp>
        <p:nvSpPr>
          <p:cNvPr id="13" name="text-9">
            <a:extLst xmlns:a="http://schemas.openxmlformats.org/drawingml/2006/main">
              <a:ext uri="{FF2B5EF4-FFF2-40B4-BE49-F238E27FC236}">
                <a16:creationId xmlns:a16="http://schemas.microsoft.com/office/drawing/2014/main" id="{ED829102-8A22-451E-A6C8-CA69B8E72318}"/>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Exactly one summary and one stream-end event</a:t>
            </a:r>
          </a:p>
        </p:txBody>
      </p:sp>
      <p:sp>
        <p:nvSpPr>
          <p:cNvPr id="14" name="text-10">
            <a:extLst xmlns:a="http://schemas.openxmlformats.org/drawingml/2006/main">
              <a:ext uri="{FF2B5EF4-FFF2-40B4-BE49-F238E27FC236}">
                <a16:creationId xmlns:a16="http://schemas.microsoft.com/office/drawing/2014/main" id="{F5CA4307-F490-46DE-BB89-BF1F7391744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2E42F96-7E6F-4426-ACDE-5729C994105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19df129cf7945da"/>
              </a:rPr>
              <a:t>Log schema</a:t>
            </a:r>
          </a:p>
        </p:txBody>
      </p:sp>
      <p:sp>
        <p:nvSpPr>
          <p:cNvPr id="16" name="text-12">
            <a:extLst xmlns:a="http://schemas.openxmlformats.org/drawingml/2006/main">
              <a:ext uri="{FF2B5EF4-FFF2-40B4-BE49-F238E27FC236}">
                <a16:creationId xmlns:a16="http://schemas.microsoft.com/office/drawing/2014/main" id="{DFFD8380-0231-4383-AADF-41491132A72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cb44bea1f154564"/>
              </a:rPr>
              <a:t>Log validation</a:t>
            </a:r>
          </a:p>
        </p:txBody>
      </p:sp>
      <p:sp>
        <p:nvSpPr>
          <p:cNvPr id="17" name="text-13">
            <a:extLst xmlns:a="http://schemas.openxmlformats.org/drawingml/2006/main">
              <a:ext uri="{FF2B5EF4-FFF2-40B4-BE49-F238E27FC236}">
                <a16:creationId xmlns:a16="http://schemas.microsoft.com/office/drawing/2014/main" id="{65740433-EFC8-4FC0-9389-1F74198CAF7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1748478d42b4f3f"/>
              </a:rPr>
              <a:t>Log tests</a:t>
            </a:r>
          </a:p>
        </p:txBody>
      </p:sp>
      <p:sp>
        <p:nvSpPr>
          <p:cNvPr id="18" name="text-14">
            <a:extLst xmlns:a="http://schemas.openxmlformats.org/drawingml/2006/main">
              <a:ext uri="{FF2B5EF4-FFF2-40B4-BE49-F238E27FC236}">
                <a16:creationId xmlns:a16="http://schemas.microsoft.com/office/drawing/2014/main" id="{F8769156-97EC-4A48-BD2E-1D2ADB20C5E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19</a:t>
            </a:r>
          </a:p>
        </p:txBody>
      </p:sp>
    </p:spTree>
    <p:extLst>
      <p:ext uri="{BB962C8B-B14F-4D97-AF65-F5344CB8AC3E}">
        <p14:creationId xmlns:p14="http://schemas.microsoft.com/office/powerpoint/2010/main" val="15968516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0E56214A-ADD5-441F-B020-B0562A132F2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Report construction and replay</a:t>
            </a:r>
          </a:p>
        </p:txBody>
      </p:sp>
      <p:sp>
        <p:nvSpPr>
          <p:cNvPr id="2" name="text-1">
            <a:extLst xmlns:a="http://schemas.openxmlformats.org/drawingml/2006/main">
              <a:ext uri="{FF2B5EF4-FFF2-40B4-BE49-F238E27FC236}">
                <a16:creationId xmlns:a16="http://schemas.microsoft.com/office/drawing/2014/main" id="{14FD3641-E57A-487A-BA9D-C3EFAD09493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same event reducer serves live and offline views</a:t>
            </a:r>
          </a:p>
        </p:txBody>
      </p:sp>
      <p:sp>
        <p:nvSpPr>
          <p:cNvPr id="3" name="text-2">
            <a:extLst xmlns:a="http://schemas.openxmlformats.org/drawingml/2006/main">
              <a:ext uri="{FF2B5EF4-FFF2-40B4-BE49-F238E27FC236}">
                <a16:creationId xmlns:a16="http://schemas.microsoft.com/office/drawing/2014/main" id="{975194BA-8E4A-4B8D-84C6-5A9389DD2E61}"/>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BCB430C5-9F32-4558-BFA9-63B81A684C9A}"/>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Count frames and accumulate latency from events</a:t>
            </a:r>
          </a:p>
        </p:txBody>
      </p:sp>
      <p:sp>
        <p:nvSpPr>
          <p:cNvPr id="5" name="text-4">
            <a:extLst xmlns:a="http://schemas.openxmlformats.org/drawingml/2006/main">
              <a:ext uri="{FF2B5EF4-FFF2-40B4-BE49-F238E27FC236}">
                <a16:creationId xmlns:a16="http://schemas.microsoft.com/office/drawing/2014/main" id="{5F6614E8-F181-4585-8689-3B483C24D475}"/>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366014C9-B77F-413B-B679-152F5E27AF25}"/>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Update episodes by stable episode ID</a:t>
            </a:r>
          </a:p>
        </p:txBody>
      </p:sp>
      <p:sp>
        <p:nvSpPr>
          <p:cNvPr id="7" name="text-6">
            <a:extLst xmlns:a="http://schemas.openxmlformats.org/drawingml/2006/main">
              <a:ext uri="{FF2B5EF4-FFF2-40B4-BE49-F238E27FC236}">
                <a16:creationId xmlns:a16="http://schemas.microsoft.com/office/drawing/2014/main" id="{E3541A76-2370-417B-92AA-E91B66D66E69}"/>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FE190EE9-5256-4B7D-A820-0842BDF7C818}"/>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Rebuild and compare with the recorded final summary</a:t>
            </a:r>
          </a:p>
        </p:txBody>
      </p:sp>
      <p:sp>
        <p:nvSpPr>
          <p:cNvPr id="9" name="text-8">
            <a:extLst xmlns:a="http://schemas.openxmlformats.org/drawingml/2006/main">
              <a:ext uri="{FF2B5EF4-FFF2-40B4-BE49-F238E27FC236}">
                <a16:creationId xmlns:a16="http://schemas.microsoft.com/office/drawing/2014/main" id="{F95F58CD-2FE8-44A8-A85B-78C61E5D08A3}"/>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BA628759-CC1C-4720-913F-A35EDD8192B5}"/>
              </a:ext>
            </a:extLst>
          </p:cNvPr>
          <p:cNvSpPr>
            <a:spLocks xmlns:a="http://schemas.openxmlformats.org/drawingml/2006/main" noGrp="1"/>
          </p:cNvSpPr>
          <p:nvPr/>
        </p:nvSpPr>
        <p:spPr>
          <a:xfrm xmlns:a="http://schemas.openxmlformats.org/drawingml/2006/main">
            <a:off x="723900" y="4362450"/>
            <a:ext cx="13792200" cy="113347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51EF1139-DA3E-4D7E-AF2E-85C158FE4A3A}"/>
              </a:ext>
            </a:extLst>
          </p:cNvPr>
          <p:cNvSpPr>
            <a:spLocks xmlns:a="http://schemas.openxmlformats.org/drawingml/2006/main" noGrp="1"/>
          </p:cNvSpPr>
          <p:nvPr/>
        </p:nvSpPr>
        <p:spPr>
          <a:xfrm xmlns:a="http://schemas.openxmlformats.org/drawingml/2006/main">
            <a:off x="933450" y="4438650"/>
            <a:ext cx="13373100" cy="979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events = try SessionLog.read(url: logURL)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for event in events { try builder.consume(event)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recorded = try summary.payload(as: SessionReport.self)</a:t>
            </a:r>
          </a:p>
        </p:txBody>
      </p:sp>
      <p:sp>
        <p:nvSpPr>
          <p:cNvPr id="12" name="text-10">
            <a:extLst xmlns:a="http://schemas.openxmlformats.org/drawingml/2006/main">
              <a:ext uri="{FF2B5EF4-FFF2-40B4-BE49-F238E27FC236}">
                <a16:creationId xmlns:a16="http://schemas.microsoft.com/office/drawing/2014/main" id="{EED8E922-42CD-492D-B740-A350628A3C5C}"/>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Report tests reject inconsistent summaries</a:t>
            </a:r>
          </a:p>
        </p:txBody>
      </p:sp>
      <p:sp>
        <p:nvSpPr>
          <p:cNvPr id="13" name="text-11">
            <a:extLst xmlns:a="http://schemas.openxmlformats.org/drawingml/2006/main">
              <a:ext uri="{FF2B5EF4-FFF2-40B4-BE49-F238E27FC236}">
                <a16:creationId xmlns:a16="http://schemas.microsoft.com/office/drawing/2014/main" id="{2E151BD2-8920-40BB-A133-52FC06284CB4}"/>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report never decodes the source video again.</a:t>
            </a:r>
          </a:p>
        </p:txBody>
      </p:sp>
      <p:sp>
        <p:nvSpPr>
          <p:cNvPr id="14" name="text-12">
            <a:extLst xmlns:a="http://schemas.openxmlformats.org/drawingml/2006/main">
              <a:ext uri="{FF2B5EF4-FFF2-40B4-BE49-F238E27FC236}">
                <a16:creationId xmlns:a16="http://schemas.microsoft.com/office/drawing/2014/main" id="{4D95E710-45E7-49A5-8377-F46D1A4CFCA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670D3DFE-4F61-4074-A503-8A7EF29A3C4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83eca75aac5469e"/>
              </a:rPr>
              <a:t>Report builder</a:t>
            </a:r>
          </a:p>
        </p:txBody>
      </p:sp>
      <p:sp>
        <p:nvSpPr>
          <p:cNvPr id="16" name="text-14">
            <a:extLst xmlns:a="http://schemas.openxmlformats.org/drawingml/2006/main">
              <a:ext uri="{FF2B5EF4-FFF2-40B4-BE49-F238E27FC236}">
                <a16:creationId xmlns:a16="http://schemas.microsoft.com/office/drawing/2014/main" id="{629DCEC5-2D12-47FF-91CE-D965187E649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6ce0248f65e4d53"/>
              </a:rPr>
              <a:t>Report tests</a:t>
            </a:r>
          </a:p>
        </p:txBody>
      </p:sp>
      <p:sp>
        <p:nvSpPr>
          <p:cNvPr id="17" name="text-15">
            <a:extLst xmlns:a="http://schemas.openxmlformats.org/drawingml/2006/main">
              <a:ext uri="{FF2B5EF4-FFF2-40B4-BE49-F238E27FC236}">
                <a16:creationId xmlns:a16="http://schemas.microsoft.com/office/drawing/2014/main" id="{9F224E78-742C-4B62-9322-D86C42BB3E3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935e0f0889343f0"/>
              </a:rPr>
              <a:t>Integration replay</a:t>
            </a:r>
          </a:p>
        </p:txBody>
      </p:sp>
      <p:sp>
        <p:nvSpPr>
          <p:cNvPr id="18" name="text-16">
            <a:extLst xmlns:a="http://schemas.openxmlformats.org/drawingml/2006/main">
              <a:ext uri="{FF2B5EF4-FFF2-40B4-BE49-F238E27FC236}">
                <a16:creationId xmlns:a16="http://schemas.microsoft.com/office/drawing/2014/main" id="{8E3BEFEC-6C40-47BB-BCDD-6DEB9AB5A406}"/>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20</a:t>
            </a:r>
          </a:p>
        </p:txBody>
      </p:sp>
    </p:spTree>
    <p:extLst>
      <p:ext uri="{BB962C8B-B14F-4D97-AF65-F5344CB8AC3E}">
        <p14:creationId xmlns:p14="http://schemas.microsoft.com/office/powerpoint/2010/main" val="19641984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A4F90199-7905-4104-9B3B-B6375752510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Session termination</a:t>
            </a:r>
          </a:p>
        </p:txBody>
      </p:sp>
      <p:sp>
        <p:nvSpPr>
          <p:cNvPr id="2" name="text-1">
            <a:extLst xmlns:a="http://schemas.openxmlformats.org/drawingml/2006/main">
              <a:ext uri="{FF2B5EF4-FFF2-40B4-BE49-F238E27FC236}">
                <a16:creationId xmlns:a16="http://schemas.microsoft.com/office/drawing/2014/main" id="{D1A1F2D1-554A-4625-9A4B-7A13AF88ACD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run, one finalization path</a:t>
            </a:r>
          </a:p>
        </p:txBody>
      </p:sp>
      <p:sp>
        <p:nvSpPr>
          <p:cNvPr id="3" name="">
            <a:extLst xmlns:a="http://schemas.openxmlformats.org/drawingml/2006/main">
              <a:ext uri="{FF2B5EF4-FFF2-40B4-BE49-F238E27FC236}">
                <a16:creationId xmlns:a16="http://schemas.microsoft.com/office/drawing/2014/main" id="{4C1243B3-9524-469F-AA7D-12AA9B536F9B}"/>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F0F9A165-F98B-4926-8235-89E292D2A3F4}"/>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Running session</a:t>
            </a:r>
          </a:p>
        </p:txBody>
      </p:sp>
      <p:sp>
        <p:nvSpPr>
          <p:cNvPr id="5" name="text-3">
            <a:extLst xmlns:a="http://schemas.openxmlformats.org/drawingml/2006/main">
              <a:ext uri="{FF2B5EF4-FFF2-40B4-BE49-F238E27FC236}">
                <a16:creationId xmlns:a16="http://schemas.microsoft.com/office/drawing/2014/main" id="{D5C85346-17C9-4A34-BAE5-9ADE5DA088C5}"/>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Frames update an optional active episode</a:t>
            </a:r>
          </a:p>
        </p:txBody>
      </p:sp>
      <p:sp>
        <p:nvSpPr>
          <p:cNvPr id="6" name="">
            <a:extLst xmlns:a="http://schemas.openxmlformats.org/drawingml/2006/main">
              <a:ext uri="{FF2B5EF4-FFF2-40B4-BE49-F238E27FC236}">
                <a16:creationId xmlns:a16="http://schemas.microsoft.com/office/drawing/2014/main" id="{8889BD66-1A9F-4276-AA12-4FA7BEA87D14}"/>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2C7E54F-B0AD-467E-A9BF-DBE582144135}"/>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E34020A7-1EF9-40FC-85DD-375798630756}"/>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End, user stop, or task cancellation</a:t>
            </a:r>
          </a:p>
        </p:txBody>
      </p:sp>
      <p:sp>
        <p:nvSpPr>
          <p:cNvPr id="9" name="text-5">
            <a:extLst xmlns:a="http://schemas.openxmlformats.org/drawingml/2006/main">
              <a:ext uri="{FF2B5EF4-FFF2-40B4-BE49-F238E27FC236}">
                <a16:creationId xmlns:a16="http://schemas.microsoft.com/office/drawing/2014/main" id="{2F649CD4-507D-4538-93CC-6F9BBFBA14F9}"/>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Stop input and identify the stream-end reason</a:t>
            </a:r>
          </a:p>
        </p:txBody>
      </p:sp>
      <p:sp>
        <p:nvSpPr>
          <p:cNvPr id="10" name="">
            <a:extLst xmlns:a="http://schemas.openxmlformats.org/drawingml/2006/main">
              <a:ext uri="{FF2B5EF4-FFF2-40B4-BE49-F238E27FC236}">
                <a16:creationId xmlns:a16="http://schemas.microsoft.com/office/drawing/2014/main" id="{13E722C4-18A3-4AC5-9F65-8ADA129505F6}"/>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FA703B9-31E3-4BA7-8CFA-BA5AF474BEFF}"/>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ADFD2DA0-E29B-42EE-B092-735178ECB6D5}"/>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 the active episode</a:t>
            </a:r>
          </a:p>
        </p:txBody>
      </p:sp>
      <p:sp>
        <p:nvSpPr>
          <p:cNvPr id="13" name="text-7">
            <a:extLst xmlns:a="http://schemas.openxmlformats.org/drawingml/2006/main">
              <a:ext uri="{FF2B5EF4-FFF2-40B4-BE49-F238E27FC236}">
                <a16:creationId xmlns:a16="http://schemas.microsoft.com/office/drawing/2014/main" id="{28036A1C-DA0F-4D50-B8C0-F194F33128C1}"/>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Retain its last evidence and explicit close reason</a:t>
            </a:r>
          </a:p>
        </p:txBody>
      </p:sp>
      <p:sp>
        <p:nvSpPr>
          <p:cNvPr id="14" name="">
            <a:extLst xmlns:a="http://schemas.openxmlformats.org/drawingml/2006/main">
              <a:ext uri="{FF2B5EF4-FFF2-40B4-BE49-F238E27FC236}">
                <a16:creationId xmlns:a16="http://schemas.microsoft.com/office/drawing/2014/main" id="{64943744-083C-48D5-81AF-9132D3763C35}"/>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8CA7008-AEB0-4781-A547-30B0D1F8E45E}"/>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11D47A69-BE34-43D6-99DD-DF0A1123B418}"/>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Finalize</a:t>
            </a:r>
          </a:p>
        </p:txBody>
      </p:sp>
      <p:sp>
        <p:nvSpPr>
          <p:cNvPr id="17" name="text-9">
            <a:extLst xmlns:a="http://schemas.openxmlformats.org/drawingml/2006/main">
              <a:ext uri="{FF2B5EF4-FFF2-40B4-BE49-F238E27FC236}">
                <a16:creationId xmlns:a16="http://schemas.microsoft.com/office/drawing/2014/main" id="{C82AF03F-C1BD-41FA-9BBC-7212294260BC}"/>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Write stream-end event, summary, and close the log</a:t>
            </a:r>
          </a:p>
        </p:txBody>
      </p:sp>
      <p:sp>
        <p:nvSpPr>
          <p:cNvPr id="18" name="text-10">
            <a:extLst xmlns:a="http://schemas.openxmlformats.org/drawingml/2006/main">
              <a:ext uri="{FF2B5EF4-FFF2-40B4-BE49-F238E27FC236}">
                <a16:creationId xmlns:a16="http://schemas.microsoft.com/office/drawing/2014/main" id="{8AAD8889-C8A2-4ED5-9DE1-D117E7AAF851}"/>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One-shot execution and lifecycle tests guard against duplicate summaries.</a:t>
            </a:r>
          </a:p>
        </p:txBody>
      </p:sp>
      <p:sp>
        <p:nvSpPr>
          <p:cNvPr id="19" name="text-11">
            <a:extLst xmlns:a="http://schemas.openxmlformats.org/drawingml/2006/main">
              <a:ext uri="{FF2B5EF4-FFF2-40B4-BE49-F238E27FC236}">
                <a16:creationId xmlns:a16="http://schemas.microsoft.com/office/drawing/2014/main" id="{CC8CDDF5-2D3D-4BC2-BC22-91BB96248BD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F44C7247-8AA3-4715-9C86-47C43C7CF08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eba5b4498ad4224"/>
              </a:rPr>
              <a:t>Pipeline lifecycle</a:t>
            </a:r>
          </a:p>
        </p:txBody>
      </p:sp>
      <p:sp>
        <p:nvSpPr>
          <p:cNvPr id="21" name="text-13">
            <a:extLst xmlns:a="http://schemas.openxmlformats.org/drawingml/2006/main">
              <a:ext uri="{FF2B5EF4-FFF2-40B4-BE49-F238E27FC236}">
                <a16:creationId xmlns:a16="http://schemas.microsoft.com/office/drawing/2014/main" id="{A1611AC5-4DE5-4781-BD90-34B29054486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f55f2bde6ef4141"/>
              </a:rPr>
              <a:t>Lifecycle integration</a:t>
            </a:r>
          </a:p>
        </p:txBody>
      </p:sp>
      <p:sp>
        <p:nvSpPr>
          <p:cNvPr id="22" name="text-14">
            <a:extLst xmlns:a="http://schemas.openxmlformats.org/drawingml/2006/main">
              <a:ext uri="{FF2B5EF4-FFF2-40B4-BE49-F238E27FC236}">
                <a16:creationId xmlns:a16="http://schemas.microsoft.com/office/drawing/2014/main" id="{F78A0D1D-2F65-4095-BED6-9310F4771043}"/>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d38b536a6d5463b"/>
              </a:rPr>
              <a:t>One-shot test</a:t>
            </a:r>
          </a:p>
        </p:txBody>
      </p:sp>
      <p:sp>
        <p:nvSpPr>
          <p:cNvPr id="23" name="text-15">
            <a:extLst xmlns:a="http://schemas.openxmlformats.org/drawingml/2006/main">
              <a:ext uri="{FF2B5EF4-FFF2-40B4-BE49-F238E27FC236}">
                <a16:creationId xmlns:a16="http://schemas.microsoft.com/office/drawing/2014/main" id="{31DF7D4C-B11B-4065-AE13-71E3A3734E0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21</a:t>
            </a:r>
          </a:p>
        </p:txBody>
      </p:sp>
    </p:spTree>
    <p:extLst>
      <p:ext uri="{BB962C8B-B14F-4D97-AF65-F5344CB8AC3E}">
        <p14:creationId xmlns:p14="http://schemas.microsoft.com/office/powerpoint/2010/main" val="14470014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4A16E7F5-CFA5-4423-AB62-58EEA59091A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Failure behavior</a:t>
            </a:r>
          </a:p>
        </p:txBody>
      </p:sp>
      <p:sp>
        <p:nvSpPr>
          <p:cNvPr id="2" name="text-1">
            <a:extLst xmlns:a="http://schemas.openxmlformats.org/drawingml/2006/main">
              <a:ext uri="{FF2B5EF4-FFF2-40B4-BE49-F238E27FC236}">
                <a16:creationId xmlns:a16="http://schemas.microsoft.com/office/drawing/2014/main" id="{4B9DA569-A42E-4111-AF4A-E155CF7BBD3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Errors must remain distinguishable from negative results</a:t>
            </a:r>
          </a:p>
        </p:txBody>
      </p:sp>
      <p:sp>
        <p:nvSpPr>
          <p:cNvPr id="3" name="text-2">
            <a:extLst xmlns:a="http://schemas.openxmlformats.org/drawingml/2006/main">
              <a:ext uri="{FF2B5EF4-FFF2-40B4-BE49-F238E27FC236}">
                <a16:creationId xmlns:a16="http://schemas.microsoft.com/office/drawing/2014/main" id="{A01FCA74-EB73-457C-B72B-17E7202D5775}"/>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Invalid input or inference</a:t>
            </a:r>
          </a:p>
        </p:txBody>
      </p:sp>
      <p:sp>
        <p:nvSpPr>
          <p:cNvPr id="4" name="text-3">
            <a:extLst xmlns:a="http://schemas.openxmlformats.org/drawingml/2006/main">
              <a:ext uri="{FF2B5EF4-FFF2-40B4-BE49-F238E27FC236}">
                <a16:creationId xmlns:a16="http://schemas.microsoft.com/office/drawing/2014/main" id="{27CAD1EA-C367-4E6F-BBBF-1DCFDB99E6DF}"/>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Throw the underlying error; no invented score</a:t>
            </a:r>
          </a:p>
        </p:txBody>
      </p:sp>
      <p:sp>
        <p:nvSpPr>
          <p:cNvPr id="5" name="">
            <a:extLst xmlns:a="http://schemas.openxmlformats.org/drawingml/2006/main">
              <a:ext uri="{FF2B5EF4-FFF2-40B4-BE49-F238E27FC236}">
                <a16:creationId xmlns:a16="http://schemas.microsoft.com/office/drawing/2014/main" id="{D4552311-573A-425D-8CF5-C24701698E4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381B1FB-5702-4FDB-AE05-0D69F19062F5}"/>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Failure after log creation</a:t>
            </a:r>
          </a:p>
        </p:txBody>
      </p:sp>
      <p:sp>
        <p:nvSpPr>
          <p:cNvPr id="7" name="text-5">
            <a:extLst xmlns:a="http://schemas.openxmlformats.org/drawingml/2006/main">
              <a:ext uri="{FF2B5EF4-FFF2-40B4-BE49-F238E27FC236}">
                <a16:creationId xmlns:a16="http://schemas.microsoft.com/office/drawing/2014/main" id="{115C8EDD-B2BB-44C3-A806-CAB41E304B73}"/>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Record error and close an open episode when writing is possible</a:t>
            </a:r>
          </a:p>
        </p:txBody>
      </p:sp>
      <p:sp>
        <p:nvSpPr>
          <p:cNvPr id="8" name="">
            <a:extLst xmlns:a="http://schemas.openxmlformats.org/drawingml/2006/main">
              <a:ext uri="{FF2B5EF4-FFF2-40B4-BE49-F238E27FC236}">
                <a16:creationId xmlns:a16="http://schemas.microsoft.com/office/drawing/2014/main" id="{DECEDAB2-BA99-454C-AC05-0A3576945DE9}"/>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352E6968-0C78-43DB-9458-A0E2891BDFAB}"/>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 or early setup failure</a:t>
            </a:r>
          </a:p>
        </p:txBody>
      </p:sp>
      <p:sp>
        <p:nvSpPr>
          <p:cNvPr id="10" name="text-7">
            <a:extLst xmlns:a="http://schemas.openxmlformats.org/drawingml/2006/main">
              <a:ext uri="{FF2B5EF4-FFF2-40B4-BE49-F238E27FC236}">
                <a16:creationId xmlns:a16="http://schemas.microsoft.com/office/drawing/2014/main" id="{7BDF568E-156A-423C-804F-9FEFC094292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complete summary may be impossible; surface the failure</a:t>
            </a:r>
          </a:p>
        </p:txBody>
      </p:sp>
      <p:sp>
        <p:nvSpPr>
          <p:cNvPr id="11" name="">
            <a:extLst xmlns:a="http://schemas.openxmlformats.org/drawingml/2006/main">
              <a:ext uri="{FF2B5EF4-FFF2-40B4-BE49-F238E27FC236}">
                <a16:creationId xmlns:a16="http://schemas.microsoft.com/office/drawing/2014/main" id="{8B0507C9-9F64-4FEA-96B1-25ABB198D179}"/>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07E1FFD1-C322-4CE3-B465-D18B8F887BDD}"/>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reader</a:t>
            </a:r>
          </a:p>
        </p:txBody>
      </p:sp>
      <p:sp>
        <p:nvSpPr>
          <p:cNvPr id="13" name="text-9">
            <a:extLst xmlns:a="http://schemas.openxmlformats.org/drawingml/2006/main">
              <a:ext uri="{FF2B5EF4-FFF2-40B4-BE49-F238E27FC236}">
                <a16:creationId xmlns:a16="http://schemas.microsoft.com/office/drawing/2014/main" id="{EAFF3A3F-90FC-4811-AE77-D9F4129E531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Reject failed, truncated, or inconsistent sessions</a:t>
            </a:r>
          </a:p>
        </p:txBody>
      </p:sp>
      <p:sp>
        <p:nvSpPr>
          <p:cNvPr id="14" name="text-10">
            <a:extLst xmlns:a="http://schemas.openxmlformats.org/drawingml/2006/main">
              <a:ext uri="{FF2B5EF4-FFF2-40B4-BE49-F238E27FC236}">
                <a16:creationId xmlns:a16="http://schemas.microsoft.com/office/drawing/2014/main" id="{756B2231-A349-49C7-955A-D31E631B231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5892746-44B9-463F-93B0-A5E8F782B83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0672f8211a84bb8"/>
              </a:rPr>
              <a:t>Pipeline error path</a:t>
            </a:r>
          </a:p>
        </p:txBody>
      </p:sp>
      <p:sp>
        <p:nvSpPr>
          <p:cNvPr id="16" name="text-12">
            <a:extLst xmlns:a="http://schemas.openxmlformats.org/drawingml/2006/main">
              <a:ext uri="{FF2B5EF4-FFF2-40B4-BE49-F238E27FC236}">
                <a16:creationId xmlns:a16="http://schemas.microsoft.com/office/drawing/2014/main" id="{F04469FE-CFC7-4054-8E9B-813E8CB2A970}"/>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823c749d85747a8"/>
              </a:rPr>
              <a:t>Failure tests</a:t>
            </a:r>
          </a:p>
        </p:txBody>
      </p:sp>
      <p:sp>
        <p:nvSpPr>
          <p:cNvPr id="17" name="text-13">
            <a:extLst xmlns:a="http://schemas.openxmlformats.org/drawingml/2006/main">
              <a:ext uri="{FF2B5EF4-FFF2-40B4-BE49-F238E27FC236}">
                <a16:creationId xmlns:a16="http://schemas.microsoft.com/office/drawing/2014/main" id="{F2336EA0-5098-47D1-ACC2-B4D57C3746A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2a0c2a9885c4c27"/>
              </a:rPr>
              <a:t>Harness model</a:t>
            </a:r>
          </a:p>
        </p:txBody>
      </p:sp>
      <p:sp>
        <p:nvSpPr>
          <p:cNvPr id="18" name="text-14">
            <a:extLst xmlns:a="http://schemas.openxmlformats.org/drawingml/2006/main">
              <a:ext uri="{FF2B5EF4-FFF2-40B4-BE49-F238E27FC236}">
                <a16:creationId xmlns:a16="http://schemas.microsoft.com/office/drawing/2014/main" id="{049B334C-90D4-421B-A245-BE8E357FD83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22</a:t>
            </a:r>
          </a:p>
        </p:txBody>
      </p:sp>
    </p:spTree>
    <p:extLst>
      <p:ext uri="{BB962C8B-B14F-4D97-AF65-F5344CB8AC3E}">
        <p14:creationId xmlns:p14="http://schemas.microsoft.com/office/powerpoint/2010/main" val="3268095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2026-09-21T02:03:42.3640000Z</dcterms:created>
  <dcterms:modified xsi:type="dcterms:W3CDTF">2026-09-21T02:03:42.3640000Z</dcterms:modified>
</coreProperties>
</file>