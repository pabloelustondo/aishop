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4b95619f894c0b" /><Relationship Type="http://schemas.openxmlformats.org/officeDocument/2006/relationships/extended-properties" Target="/docProps/app.xml" Id="R88521133b01843c1" /><Relationship Type="http://schemas.openxmlformats.org/officeDocument/2006/relationships/officeDocument" Target="/ppt/presentation.xml" Id="Ra16042aca0ab494d" /></Relationships>
</file>

<file path=ppt/presentation.xml><?xml version="1.0" encoding="utf-8"?>
<p:presentation xmlns:p="http://schemas.openxmlformats.org/presentationml/2006/main">
  <p:sldMasterIdLst>
    <p:sldMasterId xmlns:r="http://schemas.openxmlformats.org/officeDocument/2006/relationships" id="2147483648" r:id="R7dc70618855040f9"/>
  </p:sldMasterIdLst>
  <p:notesMasterIdLst>
    <p:notesMasterId xmlns:r="http://schemas.openxmlformats.org/officeDocument/2006/relationships" r:id="R37370d8a2b5b4c82"/>
  </p:notesMasterIdLst>
  <p:sldIdLst>
    <p:sldId xmlns:r="http://schemas.openxmlformats.org/officeDocument/2006/relationships" id="256" r:id="R6e01a043c82f42e0"/>
    <p:sldId xmlns:r="http://schemas.openxmlformats.org/officeDocument/2006/relationships" id="257" r:id="R1fbb2031e8de4c36"/>
    <p:sldId xmlns:r="http://schemas.openxmlformats.org/officeDocument/2006/relationships" id="258" r:id="R83c4cc47191d4dba"/>
    <p:sldId xmlns:r="http://schemas.openxmlformats.org/officeDocument/2006/relationships" id="259" r:id="R09deafe15a7d43cd"/>
    <p:sldId xmlns:r="http://schemas.openxmlformats.org/officeDocument/2006/relationships" id="260" r:id="Rd2af26c820794771"/>
    <p:sldId xmlns:r="http://schemas.openxmlformats.org/officeDocument/2006/relationships" id="261" r:id="Rf87dad933d094a4a"/>
    <p:sldId xmlns:r="http://schemas.openxmlformats.org/officeDocument/2006/relationships" id="262" r:id="R495a83d8cb5440d2"/>
    <p:sldId xmlns:r="http://schemas.openxmlformats.org/officeDocument/2006/relationships" id="263" r:id="R4ddb10bcc9064718"/>
    <p:sldId xmlns:r="http://schemas.openxmlformats.org/officeDocument/2006/relationships" id="264" r:id="R62390f255f2c45f2"/>
    <p:sldId xmlns:r="http://schemas.openxmlformats.org/officeDocument/2006/relationships" id="265" r:id="R4bd31dbb86104500"/>
    <p:sldId xmlns:r="http://schemas.openxmlformats.org/officeDocument/2006/relationships" id="266" r:id="Rd5ce1a3897914e41"/>
    <p:sldId xmlns:r="http://schemas.openxmlformats.org/officeDocument/2006/relationships" id="267" r:id="R1b3bddc89d384edc"/>
    <p:sldId xmlns:r="http://schemas.openxmlformats.org/officeDocument/2006/relationships" id="268" r:id="R7d1011bfd7644e49"/>
    <p:sldId xmlns:r="http://schemas.openxmlformats.org/officeDocument/2006/relationships" id="269" r:id="R2ced1090743c4a55"/>
    <p:sldId xmlns:r="http://schemas.openxmlformats.org/officeDocument/2006/relationships" id="270" r:id="Rbeea0246c32b4449"/>
    <p:sldId xmlns:r="http://schemas.openxmlformats.org/officeDocument/2006/relationships" id="271" r:id="Re3bfc8a604c44581"/>
    <p:sldId xmlns:r="http://schemas.openxmlformats.org/officeDocument/2006/relationships" id="272" r:id="Raff5750f8a1c4b22"/>
    <p:sldId xmlns:r="http://schemas.openxmlformats.org/officeDocument/2006/relationships" id="273" r:id="R13662a85cd5d4cc0"/>
    <p:sldId xmlns:r="http://schemas.openxmlformats.org/officeDocument/2006/relationships" id="274" r:id="R6b45f99e71ef405a"/>
    <p:sldId xmlns:r="http://schemas.openxmlformats.org/officeDocument/2006/relationships" id="275" r:id="R536f1c845e9044dd"/>
    <p:sldId xmlns:r="http://schemas.openxmlformats.org/officeDocument/2006/relationships" id="276" r:id="Rff14881ca5ec405c"/>
    <p:sldId xmlns:r="http://schemas.openxmlformats.org/officeDocument/2006/relationships" id="277" r:id="R72745a7ea9f245c0"/>
    <p:sldId xmlns:r="http://schemas.openxmlformats.org/officeDocument/2006/relationships" id="278" r:id="R3611ca19f96341f3"/>
    <p:sldId xmlns:r="http://schemas.openxmlformats.org/officeDocument/2006/relationships" id="279" r:id="R740ae3a537284586"/>
    <p:sldId xmlns:r="http://schemas.openxmlformats.org/officeDocument/2006/relationships" id="280" r:id="R234c9d67e873402c"/>
    <p:sldId xmlns:r="http://schemas.openxmlformats.org/officeDocument/2006/relationships" id="281" r:id="R87e1f19505bb41b1"/>
    <p:sldId xmlns:r="http://schemas.openxmlformats.org/officeDocument/2006/relationships" id="282" r:id="Ra1a64e70df844ea0"/>
    <p:sldId xmlns:r="http://schemas.openxmlformats.org/officeDocument/2006/relationships" id="283" r:id="R2fc8e19955d84cc0"/>
    <p:sldId xmlns:r="http://schemas.openxmlformats.org/officeDocument/2006/relationships" id="284" r:id="R19dc1e254e46423e"/>
    <p:sldId xmlns:r="http://schemas.openxmlformats.org/officeDocument/2006/relationships" id="285" r:id="R9af1e04dc71448b0"/>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379fefc3184ad7" /><Relationship Type="http://schemas.openxmlformats.org/officeDocument/2006/relationships/slideMaster" Target="/ppt/slideMasters/slideMaster1.xml" Id="R7dc70618855040f9" /><Relationship Type="http://schemas.openxmlformats.org/officeDocument/2006/relationships/notesMaster" Target="/ppt/notesMasters/notesMaster1.xml" Id="R37370d8a2b5b4c82" /><Relationship Type="http://schemas.openxmlformats.org/officeDocument/2006/relationships/presProps" Target="/ppt/presProps.xml" Id="R161c53332fe04db6" /><Relationship Type="http://schemas.openxmlformats.org/officeDocument/2006/relationships/tableStyles" Target="/ppt/tableStyles.xml" Id="Rce2d9945b1794062" /><Relationship Type="http://schemas.openxmlformats.org/officeDocument/2006/relationships/slide" Target="/ppt/slides/slide1.xml" Id="R6e01a043c82f42e0" /><Relationship Type="http://schemas.openxmlformats.org/officeDocument/2006/relationships/slide" Target="/ppt/slides/slide2.xml" Id="R1fbb2031e8de4c36" /><Relationship Type="http://schemas.openxmlformats.org/officeDocument/2006/relationships/slide" Target="/ppt/slides/slide3.xml" Id="R83c4cc47191d4dba" /><Relationship Type="http://schemas.openxmlformats.org/officeDocument/2006/relationships/slide" Target="/ppt/slides/slide4.xml" Id="R09deafe15a7d43cd" /><Relationship Type="http://schemas.openxmlformats.org/officeDocument/2006/relationships/slide" Target="/ppt/slides/slide5.xml" Id="Rd2af26c820794771" /><Relationship Type="http://schemas.openxmlformats.org/officeDocument/2006/relationships/slide" Target="/ppt/slides/slide6.xml" Id="Rf87dad933d094a4a" /><Relationship Type="http://schemas.openxmlformats.org/officeDocument/2006/relationships/slide" Target="/ppt/slides/slide7.xml" Id="R495a83d8cb5440d2" /><Relationship Type="http://schemas.openxmlformats.org/officeDocument/2006/relationships/slide" Target="/ppt/slides/slide8.xml" Id="R4ddb10bcc9064718" /><Relationship Type="http://schemas.openxmlformats.org/officeDocument/2006/relationships/slide" Target="/ppt/slides/slide9.xml" Id="R62390f255f2c45f2" /><Relationship Type="http://schemas.openxmlformats.org/officeDocument/2006/relationships/slide" Target="/ppt/slides/slide10.xml" Id="R4bd31dbb86104500" /><Relationship Type="http://schemas.openxmlformats.org/officeDocument/2006/relationships/slide" Target="/ppt/slides/slide11.xml" Id="Rd5ce1a3897914e41" /><Relationship Type="http://schemas.openxmlformats.org/officeDocument/2006/relationships/slide" Target="/ppt/slides/slide12.xml" Id="R1b3bddc89d384edc" /><Relationship Type="http://schemas.openxmlformats.org/officeDocument/2006/relationships/slide" Target="/ppt/slides/slide13.xml" Id="R7d1011bfd7644e49" /><Relationship Type="http://schemas.openxmlformats.org/officeDocument/2006/relationships/slide" Target="/ppt/slides/slide14.xml" Id="R2ced1090743c4a55" /><Relationship Type="http://schemas.openxmlformats.org/officeDocument/2006/relationships/slide" Target="/ppt/slides/slide15.xml" Id="Rbeea0246c32b4449" /><Relationship Type="http://schemas.openxmlformats.org/officeDocument/2006/relationships/slide" Target="/ppt/slides/slide16.xml" Id="Re3bfc8a604c44581" /><Relationship Type="http://schemas.openxmlformats.org/officeDocument/2006/relationships/slide" Target="/ppt/slides/slide17.xml" Id="Raff5750f8a1c4b22" /><Relationship Type="http://schemas.openxmlformats.org/officeDocument/2006/relationships/slide" Target="/ppt/slides/slide18.xml" Id="R13662a85cd5d4cc0" /><Relationship Type="http://schemas.openxmlformats.org/officeDocument/2006/relationships/slide" Target="/ppt/slides/slide19.xml" Id="R6b45f99e71ef405a" /><Relationship Type="http://schemas.openxmlformats.org/officeDocument/2006/relationships/slide" Target="/ppt/slides/slide20.xml" Id="R536f1c845e9044dd" /><Relationship Type="http://schemas.openxmlformats.org/officeDocument/2006/relationships/slide" Target="/ppt/slides/slide21.xml" Id="Rff14881ca5ec405c" /><Relationship Type="http://schemas.openxmlformats.org/officeDocument/2006/relationships/slide" Target="/ppt/slides/slide22.xml" Id="R72745a7ea9f245c0" /><Relationship Type="http://schemas.openxmlformats.org/officeDocument/2006/relationships/slide" Target="/ppt/slides/slide23.xml" Id="R3611ca19f96341f3" /><Relationship Type="http://schemas.openxmlformats.org/officeDocument/2006/relationships/slide" Target="/ppt/slides/slide24.xml" Id="R740ae3a537284586" /><Relationship Type="http://schemas.openxmlformats.org/officeDocument/2006/relationships/slide" Target="/ppt/slides/slide25.xml" Id="R234c9d67e873402c" /><Relationship Type="http://schemas.openxmlformats.org/officeDocument/2006/relationships/slide" Target="/ppt/slides/slide26.xml" Id="R87e1f19505bb41b1" /><Relationship Type="http://schemas.openxmlformats.org/officeDocument/2006/relationships/slide" Target="/ppt/slides/slide27.xml" Id="Ra1a64e70df844ea0" /><Relationship Type="http://schemas.openxmlformats.org/officeDocument/2006/relationships/slide" Target="/ppt/slides/slide28.xml" Id="R2fc8e19955d84cc0" /><Relationship Type="http://schemas.openxmlformats.org/officeDocument/2006/relationships/slide" Target="/ppt/slides/slide29.xml" Id="R19dc1e254e46423e" /><Relationship Type="http://schemas.openxmlformats.org/officeDocument/2006/relationships/slide" Target="/ppt/slides/slide30.xml" Id="R9af1e04dc71448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36ef4520b84d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d893bc13514f67" /><Relationship Type="http://schemas.openxmlformats.org/officeDocument/2006/relationships/notesMaster" Target="/ppt/notesMasters/notesMaster1.xml" Id="Rd17656fa526342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1b9576256b4ccb" /><Relationship Type="http://schemas.openxmlformats.org/officeDocument/2006/relationships/notesMaster" Target="/ppt/notesMasters/notesMaster1.xml" Id="R8f22da82e57943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71409bf7e34858" /><Relationship Type="http://schemas.openxmlformats.org/officeDocument/2006/relationships/notesMaster" Target="/ppt/notesMasters/notesMaster1.xml" Id="Rae83899add3142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31385917994797" /><Relationship Type="http://schemas.openxmlformats.org/officeDocument/2006/relationships/notesMaster" Target="/ppt/notesMasters/notesMaster1.xml" Id="R7b07ea8d93fd40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975fb722bf46af" /><Relationship Type="http://schemas.openxmlformats.org/officeDocument/2006/relationships/notesMaster" Target="/ppt/notesMasters/notesMaster1.xml" Id="R191790afc0b043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72208936074ec1" /><Relationship Type="http://schemas.openxmlformats.org/officeDocument/2006/relationships/notesMaster" Target="/ppt/notesMasters/notesMaster1.xml" Id="R3e12b42263b74c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b57fd451654d06" /><Relationship Type="http://schemas.openxmlformats.org/officeDocument/2006/relationships/notesMaster" Target="/ppt/notesMasters/notesMaster1.xml" Id="R827075d38a0949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2ccd4bea34425d" /><Relationship Type="http://schemas.openxmlformats.org/officeDocument/2006/relationships/notesMaster" Target="/ppt/notesMasters/notesMaster1.xml" Id="Rabb7ed1e453a42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45b277a5e14050" /><Relationship Type="http://schemas.openxmlformats.org/officeDocument/2006/relationships/notesMaster" Target="/ppt/notesMasters/notesMaster1.xml" Id="R41026e63d9044c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b9dfb9b5755498a" /><Relationship Type="http://schemas.openxmlformats.org/officeDocument/2006/relationships/notesMaster" Target="/ppt/notesMasters/notesMaster1.xml" Id="R691c169252c74a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8f76ffe983b4d88" /><Relationship Type="http://schemas.openxmlformats.org/officeDocument/2006/relationships/notesMaster" Target="/ppt/notesMasters/notesMaster1.xml" Id="R4b52ee530b01448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44472f864ae4877" /><Relationship Type="http://schemas.openxmlformats.org/officeDocument/2006/relationships/notesMaster" Target="/ppt/notesMasters/notesMaster1.xml" Id="R7474538241fd47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fd5065fae83432e" /><Relationship Type="http://schemas.openxmlformats.org/officeDocument/2006/relationships/notesMaster" Target="/ppt/notesMasters/notesMaster1.xml" Id="R639e26ea4ca142a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ded77e042c5447c" /><Relationship Type="http://schemas.openxmlformats.org/officeDocument/2006/relationships/notesMaster" Target="/ppt/notesMasters/notesMaster1.xml" Id="R7b47b9086a394c1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e4f1387488a4986" /><Relationship Type="http://schemas.openxmlformats.org/officeDocument/2006/relationships/notesMaster" Target="/ppt/notesMasters/notesMaster1.xml" Id="R2bbbe46048654e3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153a00ac77c445f" /><Relationship Type="http://schemas.openxmlformats.org/officeDocument/2006/relationships/notesMaster" Target="/ppt/notesMasters/notesMaster1.xml" Id="Rd459b5973ae849a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5cf0a6f930e4de0" /><Relationship Type="http://schemas.openxmlformats.org/officeDocument/2006/relationships/notesMaster" Target="/ppt/notesMasters/notesMaster1.xml" Id="R6c13e1d5793a415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118f2a9fa494c58" /><Relationship Type="http://schemas.openxmlformats.org/officeDocument/2006/relationships/notesMaster" Target="/ppt/notesMasters/notesMaster1.xml" Id="R46a4377c476b4d6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88e1642ca4c426b" /><Relationship Type="http://schemas.openxmlformats.org/officeDocument/2006/relationships/notesMaster" Target="/ppt/notesMasters/notesMaster1.xml" Id="Rd6e5e16c09de4ec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cd4cdffb124492c" /><Relationship Type="http://schemas.openxmlformats.org/officeDocument/2006/relationships/notesMaster" Target="/ppt/notesMasters/notesMaster1.xml" Id="R9ef97579bcf64ea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263c8f1a3664048" /><Relationship Type="http://schemas.openxmlformats.org/officeDocument/2006/relationships/notesMaster" Target="/ppt/notesMasters/notesMaster1.xml" Id="R10609480de14418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88a72b5c19c49be" /><Relationship Type="http://schemas.openxmlformats.org/officeDocument/2006/relationships/notesMaster" Target="/ppt/notesMasters/notesMaster1.xml" Id="R46d329b61c3e4d8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d1313190e3046c9" /><Relationship Type="http://schemas.openxmlformats.org/officeDocument/2006/relationships/notesMaster" Target="/ppt/notesMasters/notesMaster1.xml" Id="Rfd410c76ac894dc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834da2c5a7645c0" /><Relationship Type="http://schemas.openxmlformats.org/officeDocument/2006/relationships/notesMaster" Target="/ppt/notesMasters/notesMaster1.xml" Id="R60e546e06bea40f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5c67c3a258c4f91" /><Relationship Type="http://schemas.openxmlformats.org/officeDocument/2006/relationships/notesMaster" Target="/ppt/notesMasters/notesMaster1.xml" Id="R6c0954b8dc62488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24f90cc6fc14b1d" /><Relationship Type="http://schemas.openxmlformats.org/officeDocument/2006/relationships/notesMaster" Target="/ppt/notesMasters/notesMaster1.xml" Id="Rfee8ed332c9a4a2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485f6c3c10e4fb2" /><Relationship Type="http://schemas.openxmlformats.org/officeDocument/2006/relationships/notesMaster" Target="/ppt/notesMasters/notesMaster1.xml" Id="R08e602116118400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ac375d59ea54b61" /><Relationship Type="http://schemas.openxmlformats.org/officeDocument/2006/relationships/notesMaster" Target="/ppt/notesMasters/notesMaster1.xml" Id="R1c51e687aca34f8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8d9b87fd1dc400a" /><Relationship Type="http://schemas.openxmlformats.org/officeDocument/2006/relationships/notesMaster" Target="/ppt/notesMasters/notesMaster1.xml" Id="R1b8cb968df33428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b6e230d67434196" /><Relationship Type="http://schemas.openxmlformats.org/officeDocument/2006/relationships/notesMaster" Target="/ppt/notesMasters/notesMaster1.xml" Id="Rfaabbcada8a344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Known product in video</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Welcome. This walkthrough explains the first foundation for AIShopVision: a small, testable way to notice one known product while a prerecorded video is still playing.</a:t>
            </a:r>
          </a:p>
          <a:p xmlns:a="http://schemas.openxmlformats.org/drawingml/2006/main">
            <a:r>
              <a:t/>
            </a:r>
          </a:p>
          <a:p xmlns:a="http://schemas.openxmlformats.org/drawingml/2006/main">
            <a:r>
              <a:t>We begin with the intent, then the user journey and test strategy. The concrete reference is the banana image shown on the next slide. The positive fixture contains that banana; the negative fixture does not. The system must raise a provisional signal only when its evidence supports it.</a:t>
            </a:r>
          </a:p>
          <a:p xmlns:a="http://schemas.openxmlformats.org/drawingml/2006/main">
            <a:r>
              <a:t/>
            </a:r>
          </a:p>
          <a:p xmlns:a="http://schemas.openxmlformats.org/drawingml/2006/main">
            <a:r>
              <a:t>Only after that context do the four chapters move into architecture, frame analysis, episodes and evidence, and verification. The HITL, Human in the Loop, reviews the evidence and observes the final physical-iPhone run. Live camera capture and general object detection remain outside this sprint.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[Approved sprint plan](../../../../../../ios/AIShop/01-docs/07-planning/sprints/sprint-001-candidate-target-signal/01-sprint-plan.md)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Sprint intent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sprint gives a user an early, provisional signal that one known product may be visible while a prerecorded video is still playing. The goal is timely evidence, not general object recognition.</a:t>
            </a:r>
          </a:p>
          <a:p xmlns:a="http://schemas.openxmlformats.org/drawingml/2006/main">
            <a:r>
              <a:t/>
            </a:r>
          </a:p>
          <a:p xmlns:a="http://schemas.openxmlformats.org/drawingml/2006/main">
            <a:r>
              <a:t>The next slide introduces the concrete experiment: two recorded fixture videos with different expected outcomes. That visual example makes the words target, possible match, and control precise before we discuss the user journey.</a:t>
            </a:r>
          </a:p>
          <a:p xmlns:a="http://schemas.openxmlformats.org/drawingml/2006/main">
            <a:r>
              <a:t/>
            </a:r>
          </a:p>
          <a:p xmlns:a="http://schemas.openxmlformats.org/drawingml/2006/main">
            <a:r>
              <a:t>The pipeline keeps the strongest evidence and summarizes the session without reading the video again. A feature-print distance remains provisional. This sprint provides neither object boxes nor a live camera.</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[Pipeline](../../../../../../ios/AIShop/AIShopVision/Sources/AIShopVision/CandidateAnalysisPipeline/CandidateAnalysisPipeline.swift)</a:t>
            </a:r>
          </a:p>
          <a:p xmlns:a="http://schemas.openxmlformats.org/drawingml/2006/main">
            <a:r>
              <a:t>- [Scope](../../../../../../ios/AIShop/01-docs/07-planning/sprints/sprint-001-candidate-target-signal/01-sprint-plan.md)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diagnostic use case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last slide stated the intent. This slide makes the experiment concrete before the walkthrough uses the word banana again. The system receives one prerecorded video at a time.</a:t>
            </a:r>
          </a:p>
          <a:p xmlns:a="http://schemas.openxmlformats.org/drawingml/2006/main">
            <a:r>
              <a:t/>
            </a:r>
          </a:p>
          <a:p xmlns:a="http://schemas.openxmlformats.org/drawingml/2006/main">
            <a:r>
              <a:t>The positive fixture is a kitchen video. In its annotated expected interval, the banana appears in frame. That is the target case. The negative fixture is a different kitchen video with no banana. It is the control case.</a:t>
            </a:r>
          </a:p>
          <a:p xmlns:a="http://schemas.openxmlformats.org/drawingml/2006/main">
            <a:r>
              <a:t/>
            </a:r>
          </a:p>
          <a:p xmlns:a="http://schemas.openxmlformats.org/drawingml/2006/main">
            <a:r>
              <a:t>The HITL selects either fixture, watches the signal while video arrives, then reviews the saved evidence. Both fixtures enter the same local production pipeline. A possible-match episode belongs only to the positive video. The control video must finish with no false candidate. The next slide explains the evidence required for each host.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[Fixture annotations](../../../../../../ios/AIShop/AIShopVision/Tests/AIShopVisionTests/Resources/annotations.json)</a:t>
            </a:r>
          </a:p>
          <a:p xmlns:a="http://schemas.openxmlformats.org/drawingml/2006/main">
            <a:r>
              <a:t>- [Fixture resources](../../../../../../ios/AIShop/AIShopVision/Tests/AIShopVisionTests/Resources)</a:t>
            </a:r>
          </a:p>
          <a:p xmlns:a="http://schemas.openxmlformats.org/drawingml/2006/main">
            <a:r>
              <a:t>- [Harness screen](../../../../../../ios/AIShop/AIShop/Diagnostics/VisionDiagnosticHarness.swift)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How to test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Start with the Mac integration gate. It runs the package tests with real Vision and verifies that every required test actually executed. This covers the production analysis pipeline with recorded video as its input edge.</a:t>
            </a:r>
          </a:p>
          <a:p xmlns:a="http://schemas.openxmlformats.org/drawingml/2006/main">
            <a:r>
              <a:t/>
            </a:r>
          </a:p>
          <a:p xmlns:a="http://schemas.openxmlformats.org/drawingml/2006/main">
            <a:r>
              <a:t>The Simulator tests answer a different question: whether diagnostic startup bypasses normal services and whether the harness model handles its states. The saved app-test snapshot has twenty-five passing tests. It does not establish working Vision inference on the Simulator.</a:t>
            </a:r>
          </a:p>
          <a:p xmlns:a="http://schemas.openxmlformats.org/drawingml/2006/main">
            <a:r>
              <a:t/>
            </a:r>
          </a:p>
          <a:p xmlns:a="http://schemas.openxmlformats.org/drawingml/2006/main">
            <a:r>
              <a:t>The final layer is a physical iPhone run observed by the HITL, Human in the Loop, followed by comparison of exported logs. These layers complement each other. Neither a package pass nor an app build can stand in for device acceptance.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[Mac gate](../../../../../../e2e/ios/run.zsh)</a:t>
            </a:r>
          </a:p>
          <a:p xmlns:a="http://schemas.openxmlformats.org/drawingml/2006/main">
            <a:r>
              <a:t>- [Integration tests](../../../../../../ios/AIShop/AIShopVision/Tests/AIShopVisionTests/PipelineIntegrationSuite.swift)</a:t>
            </a:r>
          </a:p>
          <a:p xmlns:a="http://schemas.openxmlformats.org/drawingml/2006/main">
            <a:r>
              <a:t>- [App tests](../../../../../../ios/AIShop/AIShopTests)</a:t>
            </a:r>
          </a:p>
          <a:p xmlns:a="http://schemas.openxmlformats.org/drawingml/2006/main">
            <a:r>
              <a:t>- [Fresh gate evidence](../artifacts/evidence/mac-gate-r04.log)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High-level architecture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Read this architecture from top to bottom. Mac tests and the iPhone debug harness are hosts around the same production pipeline.</a:t>
            </a:r>
          </a:p>
          <a:p xmlns:a="http://schemas.openxmlformats.org/drawingml/2006/main">
            <a:r>
              <a:t/>
            </a:r>
          </a:p>
          <a:p xmlns:a="http://schemas.openxmlformats.org/drawingml/2006/main">
            <a:r>
              <a:t>The frame stream supplies timestamped images. The local catalog supplies the reference feature. The scorer measures visual distance, and the aggregator decides when repeated support forms an episode.</a:t>
            </a:r>
          </a:p>
          <a:p xmlns:a="http://schemas.openxmlformats.org/drawingml/2006/main">
            <a:r>
              <a:t/>
            </a:r>
          </a:p>
          <a:p xmlns:a="http://schemas.openxmlformats.org/drawingml/2006/main">
            <a:r>
              <a:t>The recorder feeds an ordered log and a report builder. Images live separately, so the log stays structured and can rebuild report data without carrying image bytes.</a:t>
            </a:r>
          </a:p>
          <a:p xmlns:a="http://schemas.openxmlformats.org/drawingml/2006/main">
            <a:r>
              <a:t/>
            </a:r>
          </a:p>
          <a:p xmlns:a="http://schemas.openxmlformats.org/drawingml/2006/main">
            <a:r>
              <a:t>The evaluator belongs to a separate development target. It knows the annotation zones used to judge the fixtures. The production package never sees those answers. This separation helps us test behavior without teaching the application the expected result.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[Core package](../../../../../../ios/AIShop/AIShopVision/Sources/AIShopVision)</a:t>
            </a:r>
          </a:p>
          <a:p xmlns:a="http://schemas.openxmlformats.org/drawingml/2006/main">
            <a:r>
              <a:t>- [Harness](../../../../../../ios/AIShop/AIShop/Diagnostics)</a:t>
            </a:r>
          </a:p>
          <a:p xmlns:a="http://schemas.openxmlformats.org/drawingml/2006/main">
            <a:r>
              <a:t>- [Evaluator](../../../../../../ios/AIShop/AIShopVision/Sources/AIShopVisionEvaluation)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One frame through the pipeline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A sampled frame follows one path through the pipeline. The stream first records decoded frames and sampling decisions. For an eligible frame, the pipeline logs the sample and asks the scorer for measurements.</a:t>
            </a:r>
          </a:p>
          <a:p xmlns:a="http://schemas.openxmlformats.org/drawingml/2006/main">
            <a:r>
              <a:t/>
            </a:r>
          </a:p>
          <a:p xmlns:a="http://schemas.openxmlformats.org/drawingml/2006/main">
            <a:r>
              <a:t>It logs the score before the aggregator consumes it. If an episode opens or its best frame changes, the pipeline saves the selected image and records the episode event. Only then does it publish an update to the host.</a:t>
            </a:r>
          </a:p>
          <a:p xmlns:a="http://schemas.openxmlformats.org/drawingml/2006/main">
            <a:r>
              <a:t/>
            </a:r>
          </a:p>
          <a:p xmlns:a="http://schemas.openxmlformats.org/drawingml/2006/main">
            <a:r>
              <a:t>This order makes the live result explainable from the event log. A test checks that the first update occurs when only the first decoded frame has arrived. Another replays the saved log and compares it with the live report. These are direct checks of incremental behavior and evidence consistency.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source](../../../../../../ios/AIShop/AIShopVision/Sources/AIShopVision/CandidateAnalysisPipeline/CandidateAnalysisPipeline.swift)</a:t>
            </a:r>
          </a:p>
          <a:p xmlns:a="http://schemas.openxmlformats.org/drawingml/2006/main">
            <a:r>
              <a:t>- [Recorder](../../../../../../ios/AIShop/AIShopVision/Sources/AIShopVision/CandidateAnalysisPipeline/PipelineRecorder.swift)</a:t>
            </a:r>
          </a:p>
          <a:p xmlns:a="http://schemas.openxmlformats.org/drawingml/2006/main">
            <a:r>
              <a:t>- [Pipeline tests](../../../../../../ios/AIShop/AIShopVision/Tests/AIShopVisionTests/CandidateAnalysisPipelineTests.swift)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Concurrency and ownership</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Concurrency matters because frame production and image analysis must not freeze the interface. The flow starts on the main actor, hands analysis to a detached pipeline worker, and returns updates to the main actor.</a:t>
            </a:r>
          </a:p>
          <a:p xmlns:a="http://schemas.openxmlformats.org/drawingml/2006/main">
            <a:r>
              <a:t/>
            </a:r>
          </a:p>
          <a:p xmlns:a="http://schemas.openxmlformats.org/drawingml/2006/main">
            <a:r>
              <a:t>Deterministic mode waits for each frame to finish. Paced mode adds a producer and a one-frame pending buffer. Stream callbacks can therefore overlap analysis. The recorder serializes logging and report updates so both see the same event order.</a:t>
            </a:r>
          </a:p>
          <a:p xmlns:a="http://schemas.openxmlformats.org/drawingml/2006/main">
            <a:r>
              <a:t/>
            </a:r>
          </a:p>
          <a:p xmlns:a="http://schemas.openxmlformats.org/drawingml/2006/main">
            <a:r>
              <a:t>The harness uses a generation token to prevent an old run from replacing a newer run's state. Caller cancellation reaches both the stream and worker. The linked tests verify that pipeline updates originate outside the main thread, while the harness owns UI state.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[Pipeline](../../../../../../ios/AIShop/AIShopVision/Sources/AIShopVision/CandidateAnalysisPipeline/CandidateAnalysisPipeline.swift)</a:t>
            </a:r>
          </a:p>
          <a:p xmlns:a="http://schemas.openxmlformats.org/drawingml/2006/main">
            <a:r>
              <a:t>- [Recorder](../../../../../../ios/AIShop/AIShopVision/Sources/AIShopVision/CandidateAnalysisPipeline/PipelineRecorder.swift)</a:t>
            </a:r>
          </a:p>
          <a:p xmlns:a="http://schemas.openxmlformats.org/drawingml/2006/main">
            <a:r>
              <a:t>- [Harness model](../../../../../../ios/AIShop/AIShop/Diagnostics/VisionHarnessModel.swift)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frame-stream contract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follows the input from recorded video to a candidate score. The frame-stream contract is the first boundary.</a:t>
            </a:r>
          </a:p>
          <a:p xmlns:a="http://schemas.openxmlformats.org/drawingml/2006/main">
            <a:r>
              <a:t/>
            </a:r>
          </a:p>
          <a:p xmlns:a="http://schemas.openxmlformats.org/drawingml/2006/main">
            <a:r>
              <a:t>Each frame has an identity derived from the fixture name and original presentation timestamp. That identity remains stable when the same media runs on another host. A separate timestamp in seconds drives episode timing.</a:t>
            </a:r>
          </a:p>
          <a:p xmlns:a="http://schemas.openxmlformats.org/drawingml/2006/main">
            <a:r>
              <a:t/>
            </a:r>
          </a:p>
          <a:p xmlns:a="http://schemas.openxmlformats.org/drawingml/2006/main">
            <a:r>
              <a:t>The sample index identifies an eligible sampling slot, not a raw decoded-frame number. Missing slots must stay visible, because the aggregator must not treat separated observations as consecutive support.</a:t>
            </a:r>
          </a:p>
          <a:p xmlns:a="http://schemas.openxmlformats.org/drawingml/2006/main">
            <a:r>
              <a:t/>
            </a:r>
          </a:p>
          <a:p xmlns:a="http://schemas.openxmlformats.org/drawingml/2006/main">
            <a:r>
              <a:t>The stream also reports received, skipped, and dropped frames. Its interface permits another source later, but replacing the fixture stream with a camera would still require camera-specific work and tests.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[Frame contract](../../../../../../ios/AIShop/AIShopVision/Sources/AIShopVision/VideoFixtureFrameStream/FrameStream.swift)</a:t>
            </a:r>
          </a:p>
          <a:p xmlns:a="http://schemas.openxmlformats.org/drawingml/2006/main">
            <a:r>
              <a:t>- [Frame stream](../../../../../../ios/AIShop/AIShopVision/Sources/AIShopVision/VideoFixtureFrameStream/VideoFixtureFrameStream.swift)</a:t>
            </a:r>
          </a:p>
          <a:p xmlns:a="http://schemas.openxmlformats.org/drawingml/2006/main">
            <a:r>
              <a:t>- [Stream tests](../../../../../../ios/AIShop/AIShopVision/Tests/AIShopVisionTests/VideoFixtureFrameStreamTests.swift)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Incremental video decoding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frame stream owns decoding and sampling. It opens a local video track with Apple's asset reader and advances one decoded sample at a time.</a:t>
            </a:r>
          </a:p>
          <a:p xmlns:a="http://schemas.openxmlformats.org/drawingml/2006/main">
            <a:r>
              <a:t/>
            </a:r>
          </a:p>
          <a:p xmlns:a="http://schemas.openxmlformats.org/drawingml/2006/main">
            <a:r>
              <a:t>Every sample contributes to the received count. Samples before the next eligible slot become skipped frames. Eligible samples become images with their original media timestamps and stable identities.</a:t>
            </a:r>
          </a:p>
          <a:p xmlns:a="http://schemas.openxmlformats.org/drawingml/2006/main">
            <a:r>
              <a:t/>
            </a:r>
          </a:p>
          <a:p xmlns:a="http://schemas.openxmlformats.org/drawingml/2006/main">
            <a:r>
              <a:t>The default cadence is two samples per second. The implementation applies the track transform before creating the image. The current tests cover the upright fixtures; rotated-video behavior needs a dedicated regression case.</a:t>
            </a:r>
          </a:p>
          <a:p xmlns:a="http://schemas.openxmlformats.org/drawingml/2006/main">
            <a:r>
              <a:t/>
            </a:r>
          </a:p>
          <a:p xmlns:a="http://schemas.openxmlformats.org/drawingml/2006/main">
            <a:r>
              <a:t>Invalid rates and unreadable input fail explicitly. The stream is single-use. It must not score targets, inspect annotations, or wait for the whole file before delivering the first frame.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[Stream implementation](../../../../../../ios/AIShop/AIShopVision/Sources/AIShopVision/VideoFixtureFrameStream/VideoFixtureFrameStream.swift)</a:t>
            </a:r>
          </a:p>
          <a:p xmlns:a="http://schemas.openxmlformats.org/drawingml/2006/main">
            <a:r>
              <a:t>- [Stream tests](../../../../../../ios/AIShop/AIShopVision/Tests/AIShopVisionTests/VideoFixtureFrameStreamTests.swift)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Replay under load</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Two delivery modes serve two different purposes. Deterministic mode waits for analysis and preserves every eligible sample. This supports repeatable scoring and calibration.</a:t>
            </a:r>
          </a:p>
          <a:p xmlns:a="http://schemas.openxmlformats.org/drawingml/2006/main">
            <a:r>
              <a:t/>
            </a:r>
          </a:p>
          <a:p xmlns:a="http://schemas.openxmlformats.org/drawingml/2006/main">
            <a:r>
              <a:t>Timestamp-paced mode advances according to media time. If analysis is slower than playback, it keeps one pending eligible frame and replaces stale pending work. Dropped frames become explicit events rather than an invisible backlog.</a:t>
            </a:r>
          </a:p>
          <a:p xmlns:a="http://schemas.openxmlformats.org/drawingml/2006/main">
            <a:r>
              <a:t/>
            </a:r>
          </a:p>
          <a:p xmlns:a="http://schemas.openxmlformats.org/drawingml/2006/main">
            <a:r>
              <a:t>The selected Swift lines show the newest-frame buffer. A slow-consumer integration test forces drops and verifies clean stopping and report replay.</a:t>
            </a:r>
          </a:p>
          <a:p xmlns:a="http://schemas.openxmlformats.org/drawingml/2006/main">
            <a:r>
              <a:t/>
            </a:r>
          </a:p>
          <a:p xmlns:a="http://schemas.openxmlformats.org/drawingml/2006/main">
            <a:r>
              <a:t>This bounds the frame queue, not every form of session memory. The report builder retains latency samples, and saved evidence can grow with the session. Those limits matter before applying this design to long-running camera input.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[Stream implementation](../../../../../../ios/AIShop/AIShopVision/Sources/AIShopVision/VideoFixtureFrameStream/VideoFixtureFrameStream.swift)</a:t>
            </a:r>
          </a:p>
          <a:p xmlns:a="http://schemas.openxmlformats.org/drawingml/2006/main">
            <a:r>
              <a:t>- [Integration suite](../../../../../../ios/AIShop/AIShopVision/Tests/AIShopVisionTests/PipelineIntegrationSuite.swift)</a:t>
            </a:r>
          </a:p>
          <a:p xmlns:a="http://schemas.openxmlformats.org/drawingml/2006/main">
            <a:r>
              <a:t>- [Report builder](../../../../../../ios/AIShop/AIShopVision/Sources/AIShopVision/SessionReportBuilder/SessionReportBuilder.swift)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local target catalog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local catalog has one responsibility: produce the reference descriptor used by scoring. Its caller supplies a local image URL, so the catalog does not depend on the app bundle or a server.</a:t>
            </a:r>
          </a:p>
          <a:p xmlns:a="http://schemas.openxmlformats.org/drawingml/2006/main">
            <a:r>
              <a:t/>
            </a:r>
          </a:p>
          <a:p xmlns:a="http://schemas.openxmlformats.org/drawingml/2006/main">
            <a:r>
              <a:t>The descriptor includes a stable product identity, display name, reference-image identity, and a hash of the source bytes. The catalog computes the reference feature print once and caches the result behind a lock.</a:t>
            </a:r>
          </a:p>
          <a:p xmlns:a="http://schemas.openxmlformats.org/drawingml/2006/main">
            <a:r>
              <a:t/>
            </a:r>
          </a:p>
          <a:p xmlns:a="http://schemas.openxmlformats.org/drawingml/2006/main">
            <a:r>
              <a:t>That avoids repeating inference on an unchanged reference for every video frame. The hash later helps the evaluator reject evidence made from a different image.</a:t>
            </a:r>
          </a:p>
          <a:p xmlns:a="http://schemas.openxmlformats.org/drawingml/2006/main">
            <a:r>
              <a:t/>
            </a:r>
          </a:p>
          <a:p xmlns:a="http://schemas.openxmlformats.org/drawingml/2006/main">
            <a:r>
              <a:t>This is one hard-coded banana probe, not a general product database. Missing or invalid reference data is an error. The cache test checks that repeated loads do not repeat feature extraction.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[Local catalog](../../../../../../ios/AIShop/AIShopVision/Sources/AIShopVision/LocalTargetCatalog/LocalTargetCatalog.swift)</a:t>
            </a:r>
          </a:p>
          <a:p xmlns:a="http://schemas.openxmlformats.org/drawingml/2006/main">
            <a:r>
              <a:t>- [Catalog tests](../../../../../../ios/AIShop/AIShopVision/Tests/AIShopVisionTests/LocalTargetCatalogTests.swift)</a:t>
            </a:r>
          </a:p>
          <a:p xmlns:a="http://schemas.openxmlformats.org/drawingml/2006/main">
            <a:r>
              <a:t>- [Diagnostic inputs](../../../../../../ios/AIShop/AIShop/Diagnostics/DiagnosticFixture.swift)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Vision adapter</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Vision adapter translates an oriented image into Apple's feature print. The reference loader preserves its encoded orientation, and the request fixes revision two and the scale-fill policy.</a:t>
            </a:r>
          </a:p>
          <a:p xmlns:a="http://schemas.openxmlformats.org/drawingml/2006/main">
            <a:r>
              <a:t/>
            </a:r>
          </a:p>
          <a:p xmlns:a="http://schemas.openxmlformats.org/drawingml/2006/main">
            <a:r>
              <a:t>A feature print is a visual representation used for distance comparison. It does not return a product label or an object box. The wrapper rejects incompatible revisions and distances that are negative or non-finite.</a:t>
            </a:r>
          </a:p>
          <a:p xmlns:a="http://schemas.openxmlformats.org/drawingml/2006/main">
            <a:r>
              <a:t/>
            </a:r>
          </a:p>
          <a:p xmlns:a="http://schemas.openxmlformats.org/drawingml/2006/main">
            <a:r>
              <a:t>The selected request lines show the framework boundary. Tests exercise real inference, bad input, and orientation. The adapter preserves Apple's underlying errors, which made the Simulator failure visible.</a:t>
            </a:r>
          </a:p>
          <a:p xmlns:a="http://schemas.openxmlformats.org/drawingml/2006/main">
            <a:r>
              <a:t/>
            </a:r>
          </a:p>
          <a:p xmlns:a="http://schemas.openxmlformats.org/drawingml/2006/main">
            <a:r>
              <a:t>Real development validation therefore runs on the Mac. The phone must still establish that the same inputs and profile behave acceptably on device.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[Vision adapter](../../../../../../ios/AIShop/AIShopVision/Sources/AIShopVision/VisionFeatureAdapter.swift)</a:t>
            </a:r>
          </a:p>
          <a:p xmlns:a="http://schemas.openxmlformats.org/drawingml/2006/main">
            <a:r>
              <a:t>- [Vision tests](../../../../../../ios/AIShop/AIShopVision/Tests/AIShopVisionTests/VisionFeatureAdapterTests.swift)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Per-frame scoring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scorer compares two views of each sampled frame with the same target feature: the complete image and a centered crop covering sixty percent of each dimension.</a:t>
            </a:r>
          </a:p>
          <a:p xmlns:a="http://schemas.openxmlformats.org/drawingml/2006/main">
            <a:r>
              <a:t/>
            </a:r>
          </a:p>
          <a:p xmlns:a="http://schemas.openxmlformats.org/drawingml/2006/main">
            <a:r>
              <a:t>It keeps both raw distances. The smaller distance determines the selected variant and support decision. A displayed similarity is one divided by one plus distance. That conversion is a convenience score, not a calibrated probability.</a:t>
            </a:r>
          </a:p>
          <a:p xmlns:a="http://schemas.openxmlformats.org/drawingml/2006/main">
            <a:r>
              <a:t/>
            </a:r>
          </a:p>
          <a:p xmlns:a="http://schemas.openxmlformats.org/drawingml/2006/main">
            <a:r>
              <a:t>The score record carries frame identity, media time, sample slot, and measurement latency. The aggregator consumes its support decision, while reports and calibration retain the raw measurements.</a:t>
            </a:r>
          </a:p>
          <a:p xmlns:a="http://schemas.openxmlformats.org/drawingml/2006/main">
            <a:r>
              <a:t/>
            </a:r>
          </a:p>
          <a:p xmlns:a="http://schemas.openxmlformats.org/drawingml/2006/main">
            <a:r>
              <a:t>The scorer does not choose thresholds or read annotations. A central crop is a fixed view of the image, not a detected object region.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[Scorer and score type](../../../../../../ios/AIShop/AIShopVision/Sources/AIShopVision/CandidateScorer/CandidateScorer.swift)</a:t>
            </a:r>
          </a:p>
          <a:p xmlns:a="http://schemas.openxmlformats.org/drawingml/2006/main">
            <a:r>
              <a:t>- [Scorer tests](../../../../../../ios/AIShop/AIShopVision/Tests/AIShopVisionTests/CandidateScorerTests.swift)</a:t>
            </a:r>
          </a:p>
          <a:p xmlns:a="http://schemas.openxmlformats.org/drawingml/2006/main">
            <a:r>
              <a:t>- [Frozen profile](../../../../../../ios/AIShop/AIShopVision/Sources/AIShopVision/CandidateScorer/ScoringProfile.swift)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Frozen rules and their reasons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profile records the experiment's fixed settings. Two samples per second limit work. Two consecutive supporting slots avoid opening an episode on one isolated hit. A one-point-five-second gap closes an active episode.</a:t>
            </a:r>
          </a:p>
          <a:p xmlns:a="http://schemas.openxmlformats.org/drawingml/2006/main">
            <a:r>
              <a:t/>
            </a:r>
          </a:p>
          <a:p xmlns:a="http://schemas.openxmlformats.org/drawingml/2006/main">
            <a:r>
              <a:t>The threshold is approximately zero point four two nine four. The exact value stays in the profile and every session header. The calibration script selected a wide decision-margin interval that passed the approved fixture rules.</a:t>
            </a:r>
          </a:p>
          <a:p xmlns:a="http://schemas.openxmlformats.org/drawingml/2006/main">
            <a:r>
              <a:t/>
            </a:r>
          </a:p>
          <a:p xmlns:a="http://schemas.openxmlformats.org/drawingml/2006/main">
            <a:r>
              <a:t>These values come from a small Mac fixture set. Broader reliability is unmeasured. Tests and phone verification must use the frozen values, not select new ones to pass.</a:t>
            </a:r>
          </a:p>
          <a:p xmlns:a="http://schemas.openxmlformats.org/drawingml/2006/main">
            <a:r>
              <a:t/>
            </a:r>
          </a:p>
          <a:p xmlns:a="http://schemas.openxmlformats.org/drawingml/2006/main">
            <a:r>
              <a:t>Some settings are implemented directly in the scorer or aggregator as well as recorded in the profile. Changing the profile alone is not a general configuration mechanism.</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[Profile](../../../../../../ios/AIShop/AIShopVision/Sources/AIShopVision/CandidateScorer/ScoringProfile.swift)</a:t>
            </a:r>
          </a:p>
          <a:p xmlns:a="http://schemas.openxmlformats.org/drawingml/2006/main">
            <a:r>
              <a:t>- [Calibration script](../../../../../../e2e/ios/calibrate-scorer.rb)</a:t>
            </a:r>
          </a:p>
          <a:p xmlns:a="http://schemas.openxmlformats.org/drawingml/2006/main">
            <a:r>
              <a:t>- [Aggregator](../../../../../../ios/AIShop/AIShopVision/Sources/AIShopVision/CandidateEpisodeAggregator/CandidateEpisodeAggregator.swift)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candidate episode lifecycle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explains how frame measurements become episodes and durable evidence. An episode groups repeated support for the same target.</a:t>
            </a:r>
          </a:p>
          <a:p xmlns:a="http://schemas.openxmlformats.org/drawingml/2006/main">
            <a:r>
              <a:t/>
            </a:r>
          </a:p>
          <a:p xmlns:a="http://schemas.openxmlformats.org/drawingml/2006/main">
            <a:r>
              <a:t>The aggregator starts with no active episode. One supporting sample becomes pending. A second supporting sample in the next eligible slot opens the episode. An unsupported sample or missed slot resets the opening streak.</a:t>
            </a:r>
          </a:p>
          <a:p xmlns:a="http://schemas.openxmlformats.org/drawingml/2006/main">
            <a:r>
              <a:t/>
            </a:r>
          </a:p>
          <a:p xmlns:a="http://schemas.openxmlformats.org/drawingml/2006/main">
            <a:r>
              <a:t>While open, more support refreshes the last-supported time. A lower distance replaces the best frame; equal distances keep the earlier one. A support gap of at least one-point-five seconds closes the episode. Stop, cancellation, error, and end of stream also close it.</a:t>
            </a:r>
          </a:p>
          <a:p xmlns:a="http://schemas.openxmlformats.org/drawingml/2006/main">
            <a:r>
              <a:t/>
            </a:r>
          </a:p>
          <a:p xmlns:a="http://schemas.openxmlformats.org/drawingml/2006/main">
            <a:r>
              <a:t>After closure, later support can open a new episode. Episodes are sightings, not deduplicated physical items.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[Episode aggregator](../../../../../../ios/AIShop/AIShopVision/Sources/AIShopVision/CandidateEpisodeAggregator/CandidateEpisodeAggregator.swift)</a:t>
            </a:r>
          </a:p>
          <a:p xmlns:a="http://schemas.openxmlformats.org/drawingml/2006/main">
            <a:r>
              <a:t>- [Episode tests](../../../../../../ios/AIShop/AIShopVision/Tests/AIShopVisionTests/CandidateEpisodeAggregatorTests.swift)</a:t>
            </a:r>
          </a:p>
          <a:p xmlns:a="http://schemas.openxmlformats.org/drawingml/2006/main">
            <a:r>
              <a:t>- [Lifecycle integration](../../../../../../ios/AIShop/AIShopVision/Tests/AIShopVisionTests/PipelineIntegrationSuite.swift)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Episode and signal contracts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An episode is the retained history of a possible sighting. Its start time is the first supporting sample, while its opening time is the second sample that confirms the streak. Keeping both avoids hiding the confirmation delay.</a:t>
            </a:r>
          </a:p>
          <a:p xmlns:a="http://schemas.openxmlformats.org/drawingml/2006/main">
            <a:r>
              <a:t/>
            </a:r>
          </a:p>
          <a:p xmlns:a="http://schemas.openxmlformats.org/drawingml/2006/main">
            <a:r>
              <a:t>The episode stores the strongest frame's identity, time, distance, and comparison variant. It also keeps support count and closure information. The best-image identifier points to a separate JPEG file.</a:t>
            </a:r>
          </a:p>
          <a:p xmlns:a="http://schemas.openxmlformats.org/drawingml/2006/main">
            <a:r>
              <a:t/>
            </a:r>
          </a:p>
          <a:p xmlns:a="http://schemas.openxmlformats.org/drawingml/2006/main">
            <a:r>
              <a:t>A live signal serves the interface. It reports current media time, consecutive support, and latency while an episode is active. The signal can remain visible during the tolerated gap even when the latest frame does not support the target.</a:t>
            </a:r>
          </a:p>
          <a:p xmlns:a="http://schemas.openxmlformats.org/drawingml/2006/main">
            <a:r>
              <a:t/>
            </a:r>
          </a:p>
          <a:p xmlns:a="http://schemas.openxmlformats.org/drawingml/2006/main">
            <a:r>
              <a:t>Both records use possible match. Neither claims an exact product identity.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[Episode and signal types](../../../../../../ios/AIShop/AIShopVision/Sources/AIShopVision/CandidateEpisodeAggregator/CandidateEpisodeAggregator.swift)</a:t>
            </a:r>
          </a:p>
          <a:p xmlns:a="http://schemas.openxmlformats.org/drawingml/2006/main">
            <a:r>
              <a:t>- [Episode tests](../../../../../../ios/AIShop/AIShopVision/Tests/AIShopVisionTests/CandidateEpisodeAggregatorTests.swift)</a:t>
            </a:r>
          </a:p>
          <a:p xmlns:a="http://schemas.openxmlformats.org/drawingml/2006/main">
            <a:r>
              <a:t>- [Harness display](../../../../../../ios/AIShop/AIShop/Diagnostics/VisionDiagnosticHarness.swift)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One ordered evidence path</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recorder is the ordering boundary between concurrent activity and session evidence. Stream callbacks and analysis may arrive from different tasks, but each recorder operation holds one lock.</a:t>
            </a:r>
          </a:p>
          <a:p xmlns:a="http://schemas.openxmlformats.org/drawingml/2006/main">
            <a:r>
              <a:t/>
            </a:r>
          </a:p>
          <a:p xmlns:a="http://schemas.openxmlformats.org/drawingml/2006/main">
            <a:r>
              <a:t>Inside that operation, the session log assigns the sequence number and writes the event. The report builder then consumes that exact event before the lock is released.</a:t>
            </a:r>
          </a:p>
          <a:p xmlns:a="http://schemas.openxmlformats.org/drawingml/2006/main">
            <a:r>
              <a:t/>
            </a:r>
          </a:p>
          <a:p xmlns:a="http://schemas.openxmlformats.org/drawingml/2006/main">
            <a:r>
              <a:t>This is stronger than keeping separate counters in the harness. Every host gets the same event vocabulary and report logic. Episode changes also pass through this path, so opened, best-frame-replaced, and closed events share the session order.</a:t>
            </a:r>
          </a:p>
          <a:p xmlns:a="http://schemas.openxmlformats.org/drawingml/2006/main">
            <a:r>
              <a:t/>
            </a:r>
          </a:p>
          <a:p xmlns:a="http://schemas.openxmlformats.org/drawingml/2006/main">
            <a:r>
              <a:t>The recorder owns coordination, while the log owns encoding and the builder owns report meaning. Write or decoding failures propagate instead of manufacturing a successful result.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[Recorder](../../../../../../ios/AIShop/AIShopVision/Sources/AIShopVision/CandidateAnalysisPipeline/PipelineRecorder.swift)</a:t>
            </a:r>
          </a:p>
          <a:p xmlns:a="http://schemas.openxmlformats.org/drawingml/2006/main">
            <a:r>
              <a:t>- [Log writer](../../../../../../ios/AIShop/AIShopVision/Sources/AIShopVision/SessionLog/SessionLog.swift)</a:t>
            </a:r>
          </a:p>
          <a:p xmlns:a="http://schemas.openxmlformats.org/drawingml/2006/main">
            <a:r>
              <a:t>- [Report builder](../../../../../../ios/AIShop/AIShopVision/Sources/AIShopVision/SessionReportBuilder/SessionReportBuilder.swift)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Retained image evidence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strongest evidence is saved while the pipeline still has the image. At episode opening, the best sample can be the first hit rather than the current frame. That is why the pipeline keeps the previous frame available.</a:t>
            </a:r>
          </a:p>
          <a:p xmlns:a="http://schemas.openxmlformats.org/drawingml/2006/main">
            <a:r>
              <a:t/>
            </a:r>
          </a:p>
          <a:p xmlns:a="http://schemas.openxmlformats.org/drawingml/2006/main">
            <a:r>
              <a:t>When evidence improves, it writes the selected whole frame to the retained-image store and records its identifier. Even when a central crop produced the winning distance, the saved evidence is the whole frame, not an object crop.</a:t>
            </a:r>
          </a:p>
          <a:p xmlns:a="http://schemas.openxmlformats.org/drawingml/2006/main">
            <a:r>
              <a:t/>
            </a:r>
          </a:p>
          <a:p xmlns:a="http://schemas.openxmlformats.org/drawingml/2006/main">
            <a:r>
              <a:t>The image store rejects unsafe identifiers and reports write failures. Missing files stay missing; the interface does not substitute another image.</a:t>
            </a:r>
          </a:p>
          <a:p xmlns:a="http://schemas.openxmlformats.org/drawingml/2006/main">
            <a:r>
              <a:t/>
            </a:r>
          </a:p>
          <a:p xmlns:a="http://schemas.openxmlformats.org/drawingml/2006/main">
            <a:r>
              <a:t>Replaying the log can recover report data and image identifiers, but not image pixels. A complete evidence handoff therefore needs the log and retained image files.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[Image store](../../../../../../ios/AIShop/AIShopVision/Sources/AIShopVision/SessionReportBuilder/RetainedImageStore.swift)</a:t>
            </a:r>
          </a:p>
          <a:p xmlns:a="http://schemas.openxmlformats.org/drawingml/2006/main">
            <a:r>
              <a:t>- [Pipeline selection](../../../../../../ios/AIShop/AIShopVision/Sources/AIShopVision/CandidateAnalysisPipeline/CandidateAnalysisPipeline.swift)</a:t>
            </a:r>
          </a:p>
          <a:p xmlns:a="http://schemas.openxmlformats.org/drawingml/2006/main">
            <a:r>
              <a:t>- [Report tests](../../../../../../ios/AIShop/AIShopVision/Tests/AIShopVisionTests/SessionReportBuilderTests.swift)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session-log contract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session log is newline-delimited JSON. Each event has a sequence number, session identity, kind, optional frame identity and media time, plus typed fields.</a:t>
            </a:r>
          </a:p>
          <a:p xmlns:a="http://schemas.openxmlformats.org/drawingml/2006/main">
            <a:r>
              <a:t/>
            </a:r>
          </a:p>
          <a:p xmlns:a="http://schemas.openxmlformats.org/drawingml/2006/main">
            <a:r>
              <a:t>The header identifies the schema, host, build, input hashes, and scoring profile. This context matters when two runs appear to disagree. The body records the decisions that led to the result.</a:t>
            </a:r>
          </a:p>
          <a:p xmlns:a="http://schemas.openxmlformats.org/drawingml/2006/main">
            <a:r>
              <a:t/>
            </a:r>
          </a:p>
          <a:p xmlns:a="http://schemas.openxmlformats.org/drawingml/2006/main">
            <a:r>
              <a:t>The reader requires consecutive sequence numbers, one session, one header, one stream-end event, and one final summary. Every sampled frame must have exactly one score. Truncated lines, missing scores, or error events reject a session as successful evidence.</a:t>
            </a:r>
          </a:p>
          <a:p xmlns:a="http://schemas.openxmlformats.org/drawingml/2006/main">
            <a:r>
              <a:t/>
            </a:r>
          </a:p>
          <a:p xmlns:a="http://schemas.openxmlformats.org/drawingml/2006/main">
            <a:r>
              <a:t>These checks detect inconsistency. They are not a cryptographic signature proving who produced a log. Keep that trust boundary explicit.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[Log schema](../../../../../../ios/AIShop/AIShopVision/Sources/AIShopVision/SessionLog/LogValue.swift)</a:t>
            </a:r>
          </a:p>
          <a:p xmlns:a="http://schemas.openxmlformats.org/drawingml/2006/main">
            <a:r>
              <a:t>- [Log validation](../../../../../../ios/AIShop/AIShopVision/Sources/AIShopVision/SessionLog/SessionLog.swift)</a:t>
            </a:r>
          </a:p>
          <a:p xmlns:a="http://schemas.openxmlformats.org/drawingml/2006/main">
            <a:r>
              <a:t>- [Log tests](../../../../../../ios/AIShop/AIShopVision/Tests/AIShopVisionTests/SessionLogTests.swift)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Report construction and replay</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report builder reduces events into a session view. It counts received, skipped, and dropped frames, collects measurement latencies, and updates episodes by their stable identifiers.</a:t>
            </a:r>
          </a:p>
          <a:p xmlns:a="http://schemas.openxmlformats.org/drawingml/2006/main">
            <a:r>
              <a:t/>
            </a:r>
          </a:p>
          <a:p xmlns:a="http://schemas.openxmlformats.org/drawingml/2006/main">
            <a:r>
              <a:t>Replay uses the same reducer on the saved log. It checks that the reconstructed report equals the recorded summary, that frame accounting balances, and that every recorded episode is closed.</a:t>
            </a:r>
          </a:p>
          <a:p xmlns:a="http://schemas.openxmlformats.org/drawingml/2006/main">
            <a:r>
              <a:t/>
            </a:r>
          </a:p>
          <a:p xmlns:a="http://schemas.openxmlformats.org/drawingml/2006/main">
            <a:r>
              <a:t>The report contains the mean and ninety-fifth-percentile inference latency. Those measurements describe scoring on the named host, not complete camera-to-screen delay.</a:t>
            </a:r>
          </a:p>
          <a:p xmlns:a="http://schemas.openxmlformats.org/drawingml/2006/main">
            <a:r>
              <a:t/>
            </a:r>
          </a:p>
          <a:p xmlns:a="http://schemas.openxmlformats.org/drawingml/2006/main">
            <a:r>
              <a:t>The excerpt selects the replay operations. Complete validation guards are in the source. Latency values currently accumulate in memory and are sorted for reporting, so long-session behavior needs further profiling.</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[Report builder](../../../../../../ios/AIShop/AIShopVision/Sources/AIShopVision/SessionReportBuilder/SessionReportBuilder.swift)</a:t>
            </a:r>
          </a:p>
          <a:p xmlns:a="http://schemas.openxmlformats.org/drawingml/2006/main">
            <a:r>
              <a:t>- [Report tests](../../../../../../ios/AIShop/AIShopVision/Tests/AIShopVisionTests/SessionReportBuilderTests.swift)</a:t>
            </a:r>
          </a:p>
          <a:p xmlns:a="http://schemas.openxmlformats.org/drawingml/2006/main">
            <a:r>
              <a:t>- [Integration replay](../../../../../../ios/AIShop/AIShopVision/Tests/AIShopVisionTests/PipelineIntegrationSuite.swift)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Session termination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Normal exhaustion, user stop, and task cancellation are distinct outcomes. The stream returns its reason, and the pipeline closes any still-open episode with that reason before writing the final report.</a:t>
            </a:r>
          </a:p>
          <a:p xmlns:a="http://schemas.openxmlformats.org/drawingml/2006/main">
            <a:r>
              <a:t/>
            </a:r>
          </a:p>
          <a:p xmlns:a="http://schemas.openxmlformats.org/drawingml/2006/main">
            <a:r>
              <a:t>The pipeline is single-use. Starting it again is an error. Tests cover stopping after the first sample, cancelling a running task, and closing an open episode at either a finite fixture prefix or user stop.</a:t>
            </a:r>
          </a:p>
          <a:p xmlns:a="http://schemas.openxmlformats.org/drawingml/2006/main">
            <a:r>
              <a:t/>
            </a:r>
          </a:p>
          <a:p xmlns:a="http://schemas.openxmlformats.org/drawingml/2006/main">
            <a:r>
              <a:t>The cancellation test verifies exactly one session summary. The prefix test deliberately changes the input edge while keeping the production scorer and aggregator.</a:t>
            </a:r>
          </a:p>
          <a:p xmlns:a="http://schemas.openxmlformats.org/drawingml/2006/main">
            <a:r>
              <a:t/>
            </a:r>
          </a:p>
          <a:p xmlns:a="http://schemas.openxmlformats.org/drawingml/2006/main">
            <a:r>
              <a:t>These are successful finalization paths, not a promise that every failure leaves a complete log. Setup and storage failures can prevent logging itself. The next slide makes that boundary explicit.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lifecycle](../../../../../../ios/AIShop/AIShopVision/Sources/AIShopVision/CandidateAnalysisPipeline/CandidateAnalysisPipeline.swift)</a:t>
            </a:r>
          </a:p>
          <a:p xmlns:a="http://schemas.openxmlformats.org/drawingml/2006/main">
            <a:r>
              <a:t>- [Lifecycle integration](../../../../../../ios/AIShop/AIShopVision/Tests/AIShopVisionTests/PipelineIntegrationSuite.swift)</a:t>
            </a:r>
          </a:p>
          <a:p xmlns:a="http://schemas.openxmlformats.org/drawingml/2006/main">
            <a:r>
              <a:t>- [One-shot test](../../../../../../ios/AIShop/AIShopVision/Tests/AIShopVisionTests/CandidateAnalysisPipelineTests.swift)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Failure behavior</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No match and failed analysis are different outcomes. A negative result needs a valid completed run. Invalid input or failed inference must not silently become a low score or an empty successful report.</a:t>
            </a:r>
          </a:p>
          <a:p xmlns:a="http://schemas.openxmlformats.org/drawingml/2006/main">
            <a:r>
              <a:t/>
            </a:r>
          </a:p>
          <a:p xmlns:a="http://schemas.openxmlformats.org/drawingml/2006/main">
            <a:r>
              <a:t>Inside the recorded execution path, the pipeline attempts to log the error, close an open episode, and finish before rethrowing. The error marker keeps that log from being accepted as successful evidence, even though the stream-end field uses stopped.</a:t>
            </a:r>
          </a:p>
          <a:p xmlns:a="http://schemas.openxmlformats.org/drawingml/2006/main">
            <a:r>
              <a:t/>
            </a:r>
          </a:p>
          <a:p xmlns:a="http://schemas.openxmlformats.org/drawingml/2006/main">
            <a:r>
              <a:t>Failures creating the output directory, image store, or log happen earlier. A later write failure can also prevent cleanup. Those paths may have no complete summary.</a:t>
            </a:r>
          </a:p>
          <a:p xmlns:a="http://schemas.openxmlformats.org/drawingml/2006/main">
            <a:r>
              <a:t/>
            </a:r>
          </a:p>
          <a:p xmlns:a="http://schemas.openxmlformats.org/drawingml/2006/main">
            <a:r>
              <a:t>The harness displays a failed state and message. Existing tests cover a missing reference; additional injected storage failures would strengthen lifecycle coverage.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error path](../../../../../../ios/AIShop/AIShopVision/Sources/AIShopVision/CandidateAnalysisPipeline/CandidateAnalysisPipeline.swift)</a:t>
            </a:r>
          </a:p>
          <a:p xmlns:a="http://schemas.openxmlformats.org/drawingml/2006/main">
            <a:r>
              <a:t>- [Failure tests](../../../../../../ios/AIShop/AIShopVision/Tests/AIShopVisionTests/CandidateAnalysisPipelineTests.swift)</a:t>
            </a:r>
          </a:p>
          <a:p xmlns:a="http://schemas.openxmlformats.org/drawingml/2006/main">
            <a:r>
              <a:t>- [Harness model](../../../../../../ios/AIShop/AIShop/Diagnostics/VisionHarnessModel.swift)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Independent fixture evaluation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separates measured evidence from acceptance. The fixture evaluator is independent of the application and reads the annotation file plus a completed session log.</a:t>
            </a:r>
          </a:p>
          <a:p xmlns:a="http://schemas.openxmlformats.org/drawingml/2006/main">
            <a:r>
              <a:t/>
            </a:r>
          </a:p>
          <a:p xmlns:a="http://schemas.openxmlformats.org/drawingml/2006/main">
            <a:r>
              <a:t>Before evaluating outcomes, it validates the input hashes and frozen profile, checks score consistency, and rebuilds the episodes. It then judges episode opening times against annotation zones.</a:t>
            </a:r>
          </a:p>
          <a:p xmlns:a="http://schemas.openxmlformats.org/drawingml/2006/main">
            <a:r>
              <a:t/>
            </a:r>
          </a:p>
          <a:p xmlns:a="http://schemas.openxmlformats.org/drawingml/2006/main">
            <a:r>
              <a:t>The positive fixture must open an episode in its expected interval. Neither fixture may open an episode in a false-positive zone. Do-not-care and unannotated times do not count as the required positive detection.</a:t>
            </a:r>
          </a:p>
          <a:p xmlns:a="http://schemas.openxmlformats.org/drawingml/2006/main">
            <a:r>
              <a:t/>
            </a:r>
          </a:p>
          <a:p xmlns:a="http://schemas.openxmlformats.org/drawingml/2006/main">
            <a:r>
              <a:t>These rules evaluate openings, not frame-by-frame object accuracy or every moment an episode remains visible. The two fixtures support this bounded experiment, not a claim of general precision or recall.</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[Fixture evaluator](../../../../../../ios/AIShop/AIShopVision/Sources/AIShopVisionEvaluation/FixtureEvaluator.swift)</a:t>
            </a:r>
          </a:p>
          <a:p xmlns:a="http://schemas.openxmlformats.org/drawingml/2006/main">
            <a:r>
              <a:t>- [Annotation data](../../../../../../ios/AIShop/AIShopVision/Tests/AIShopVisionTests/Resources/annotations.json)</a:t>
            </a:r>
          </a:p>
          <a:p xmlns:a="http://schemas.openxmlformats.org/drawingml/2006/main">
            <a:r>
              <a:t>- [Evaluator tests](../../../../../../ios/AIShop/AIShopVision/Tests/AIShopVisionTests/FixtureEvaluatorTests.swift)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Measured fixture results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Saved Mac evidence shows one episode in the positive fixture and none in the negative fixture. The runs analyze fifty-six and twenty-six frames respectively, with no dropped frames in deterministic mode.</a:t>
            </a:r>
          </a:p>
          <a:p xmlns:a="http://schemas.openxmlformats.org/drawingml/2006/main">
            <a:r>
              <a:t/>
            </a:r>
          </a:p>
          <a:p xmlns:a="http://schemas.openxmlformats.org/drawingml/2006/main">
            <a:r>
              <a:t>The positive episode opens at twenty-four point five seconds. The expected interval begins at eighteen point three, so the first signal delay is six point two seconds. That delay is a real finding, even though the acceptance rule passes.</a:t>
            </a:r>
          </a:p>
          <a:p xmlns:a="http://schemas.openxmlformats.org/drawingml/2006/main">
            <a:r>
              <a:t/>
            </a:r>
          </a:p>
          <a:p xmlns:a="http://schemas.openxmlformats.org/drawingml/2006/main">
            <a:r>
              <a:t>The strongest evidence occurs at twenty-five seconds, with distance about zero point three four nine. The nearest frame in either false-positive zone is much farther away, about zero point nine zero six.</a:t>
            </a:r>
          </a:p>
          <a:p xmlns:a="http://schemas.openxmlformats.org/drawingml/2006/main">
            <a:r>
              <a:t/>
            </a:r>
          </a:p>
          <a:p xmlns:a="http://schemas.openxmlformats.org/drawingml/2006/main">
            <a:r>
              <a:t>These are measurements of the named fixtures on this Mac. They say nothing yet about shelf clutter, device latency, or general recognition accuracy.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[Positive evaluation](../../../artifacts/evidence/mac-positive/evaluation.json)</a:t>
            </a:r>
          </a:p>
          <a:p xmlns:a="http://schemas.openxmlformats.org/drawingml/2006/main">
            <a:r>
              <a:t>- [Negative evaluation](../../../artifacts/evidence/mac-negative/evaluation.json)</a:t>
            </a:r>
          </a:p>
          <a:p xmlns:a="http://schemas.openxmlformats.org/drawingml/2006/main">
            <a:r>
              <a:t>- [Positive report](../../../artifacts/evidence/mac-positive/report.json)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Mac and iPhone comparison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Calibration compares complete Mac and phone runs of the same fixtures. It checks host identity, input hashes, profile, frame identities, timestamps, and sampling slots. Missing fixtures or dropped samples make evidence incomplete.</a:t>
            </a:r>
          </a:p>
          <a:p xmlns:a="http://schemas.openxmlformats.org/drawingml/2006/main">
            <a:r>
              <a:t/>
            </a:r>
          </a:p>
          <a:p xmlns:a="http://schemas.openxmlformats.org/drawingml/2006/main">
            <a:r>
              <a:t>For corresponding frames, it records the largest raw-distance drift and every support-decision disagreement. The command returns zero for agreement. It returns two when decisions differ but the phone's fixture outcomes still pass. That is a major finding which blocks Sprint Two threshold work. One means an outcome failed or evidence was rejected.</a:t>
            </a:r>
          </a:p>
          <a:p xmlns:a="http://schemas.openxmlformats.org/drawingml/2006/main">
            <a:r>
              <a:t/>
            </a:r>
          </a:p>
          <a:p xmlns:a="http://schemas.openxmlformats.org/drawingml/2006/main">
            <a:r>
              <a:t>Synthetic phone labels in tests exercise this comparator only. They are not device evidence. The threshold must remain frozen during the real phone session.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[Comparator](../../../../../../ios/AIShop/AIShopVision/Sources/AIShopVisionEvaluation/FixtureEvaluator.swift)</a:t>
            </a:r>
          </a:p>
          <a:p xmlns:a="http://schemas.openxmlformats.org/drawingml/2006/main">
            <a:r>
              <a:t>- [Evaluation CLI](../../../../../../ios/AIShop/AIShopVision/Sources/AIShopVisionEvaluate/main.swift)</a:t>
            </a:r>
          </a:p>
          <a:p xmlns:a="http://schemas.openxmlformats.org/drawingml/2006/main">
            <a:r>
              <a:t>- [Comparator tests](../../../../../../ios/AIShop/AIShopVision/Tests/AIShopVisionTests/PipelineIntegrationSuite.swift)</a:t>
            </a:r>
          </a:p>
          <a:p xmlns:a="http://schemas.openxmlformats.org/drawingml/2006/main">
            <a:r>
              <a:t>- [Phone acceptance rules](../../../../../../ios/AIShop/01-docs/04-benchmarks-test-strategy-and-success-criteria/sprint-001-iphone-verification.md)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Diagnostic app boundary</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app boundary makes the package demonstrable without turning a diagnostic experiment into the normal product experience. Bootstrap selects the diagnostic route before creating Firebase or the authentication session.</a:t>
            </a:r>
          </a:p>
          <a:p xmlns:a="http://schemas.openxmlformats.org/drawingml/2006/main">
            <a:r>
              <a:t/>
            </a:r>
          </a:p>
          <a:p xmlns:a="http://schemas.openxmlformats.org/drawingml/2006/main">
            <a:r>
              <a:t>The harness model is on the main actor. It prevents overlapping starts, uses a generation token for updates, pauses playback on completion or failure, and writes a report beside the log. The screen exposes local log export.</a:t>
            </a:r>
          </a:p>
          <a:p xmlns:a="http://schemas.openxmlformats.org/drawingml/2006/main">
            <a:r>
              <a:t/>
            </a:r>
          </a:p>
          <a:p xmlns:a="http://schemas.openxmlformats.org/drawingml/2006/main">
            <a:r>
              <a:t>Debug builds copy only the approved reference and trimmed videos. Release excludes the diagnostic route and fixture assets. The evaluator and its annotation file stay outside the app.</a:t>
            </a:r>
          </a:p>
          <a:p xmlns:a="http://schemas.openxmlformats.org/drawingml/2006/main">
            <a:r>
              <a:t/>
            </a:r>
          </a:p>
          <a:p xmlns:a="http://schemas.openxmlformats.org/drawingml/2006/main">
            <a:r>
              <a:t>The saved Simulator tests include a check that the diagnostic host has no Firebase instance. That test depends on running the diagnostic scheme.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[Bootstrap](../../../../../../ios/AIShop/AIShop/App/ApplicationBootstrap.swift)</a:t>
            </a:r>
          </a:p>
          <a:p xmlns:a="http://schemas.openxmlformats.org/drawingml/2006/main">
            <a:r>
              <a:t>- [Harness model](../../../../../../ios/AIShop/AIShop/Diagnostics/VisionHarnessModel.swift)</a:t>
            </a:r>
          </a:p>
          <a:p xmlns:a="http://schemas.openxmlformats.org/drawingml/2006/main">
            <a:r>
              <a:t>- [Bundle checks](../../../../../../e2e/ios/verify-app-bundle.rb)</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physical-iPhone session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phone session remains manual and unperformed. Connect the iPhone, choose the diagnostic scheme in Xcode, and run on that device. The normal app icon does not provide these launch arguments.</a:t>
            </a:r>
          </a:p>
          <a:p xmlns:a="http://schemas.openxmlformats.org/drawingml/2006/main">
            <a:r>
              <a:t/>
            </a:r>
          </a:p>
          <a:p xmlns:a="http://schemas.openxmlformats.org/drawingml/2006/main">
            <a:r>
              <a:t>Run banana present to completion. The HITL, Human in the Loop, must see a possible match before playback ends and inspect the final report. Repeat with no banana. Export both logs. Preserve reports and retained images from the app container.</a:t>
            </a:r>
          </a:p>
          <a:p xmlns:a="http://schemas.openxmlformats.org/drawingml/2006/main">
            <a:r>
              <a:t/>
            </a:r>
          </a:p>
          <a:p xmlns:a="http://schemas.openxmlformats.org/drawingml/2006/main">
            <a:r>
              <a:t>Run the Mac gate for matching baseline evidence, then use the companion runbook comparison command. Check for zero dropped frames before comparison.</a:t>
            </a:r>
          </a:p>
          <a:p xmlns:a="http://schemas.openxmlformats.org/drawingml/2006/main">
            <a:r>
              <a:t/>
            </a:r>
          </a:p>
          <a:p xmlns:a="http://schemas.openxmlformats.org/drawingml/2006/main">
            <a:r>
              <a:t>Record device model, operating system, build, date, and findings. The demonstration and the HITL's committed acceptance record complete a gate that Mac tests cannot replace.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[Diagnostic scheme](../../../../../../ios/AIShop/AIShop.xcodeproj/xcshareddata/xcschemes/AIShop-VisionDiagnostics.xcscheme)</a:t>
            </a:r>
          </a:p>
          <a:p xmlns:a="http://schemas.openxmlformats.org/drawingml/2006/main">
            <a:r>
              <a:t>- [Harness export](../../../../../../ios/AIShop/AIShop/Diagnostics/VisionDiagnosticHarness.swift)</a:t>
            </a:r>
          </a:p>
          <a:p xmlns:a="http://schemas.openxmlformats.org/drawingml/2006/main">
            <a:r>
              <a:t>- [Phone verification](../../../../../../ios/AIShop/01-docs/04-benchmarks-test-strategy-and-success-criteria/sprint-001-iphone-verification.md)</a:t>
            </a:r>
          </a:p>
          <a:p xmlns:a="http://schemas.openxmlformats.org/drawingml/2006/main">
            <a:r>
              <a:t>- [Phone session runbook](../runbook.md)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Where to look hardest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Four areas deserve close review. First, the harness only offers paced replay, which can drop frames under load, while calibration rejects any dropped-frame evidence. The device run may therefore expose an evidence gap even when the interface appears useful.</a:t>
            </a:r>
          </a:p>
          <a:p xmlns:a="http://schemas.openxmlformats.org/drawingml/2006/main">
            <a:r>
              <a:t/>
            </a:r>
          </a:p>
          <a:p xmlns:a="http://schemas.openxmlformats.org/drawingml/2006/main">
            <a:r>
              <a:t>Second, both the diagnostic startup path and one app test depend on the diagnostic Xcode scheme. Ordinary launch is intentionally different.</a:t>
            </a:r>
          </a:p>
          <a:p xmlns:a="http://schemas.openxmlformats.org/drawingml/2006/main">
            <a:r>
              <a:t/>
            </a:r>
          </a:p>
          <a:p xmlns:a="http://schemas.openxmlformats.org/drawingml/2006/main">
            <a:r>
              <a:t>Third, the stream applies a track transform, but current fixtures do not establish correct behavior for rotated video. A concern about rotation exists in the review material; this walkthrough does not claim to reproduce that defect.</a:t>
            </a:r>
          </a:p>
          <a:p xmlns:a="http://schemas.openxmlformats.org/drawingml/2006/main">
            <a:r>
              <a:t/>
            </a:r>
          </a:p>
          <a:p xmlns:a="http://schemas.openxmlformats.org/drawingml/2006/main">
            <a:r>
              <a:t>Finally, the bounded frame queue does not bound latency history or retained image files. Long-session resource behavior remains an engineering question.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[Harness replay](../../../../../../ios/AIShop/AIShop/Diagnostics/VisionHarnessModel.swift)</a:t>
            </a:r>
          </a:p>
          <a:p xmlns:a="http://schemas.openxmlformats.org/drawingml/2006/main">
            <a:r>
              <a:t>- [Comparator preconditions](../../../../../../ios/AIShop/AIShopVision/Sources/AIShopVisionEvaluation/FixtureEvaluator.swift)</a:t>
            </a:r>
          </a:p>
          <a:p xmlns:a="http://schemas.openxmlformats.org/drawingml/2006/main">
            <a:r>
              <a:t>- [Report resources](../../../../../../ios/AIShop/AIShopVision/Sources/AIShopVision/SessionReportBuilder/SessionReportBuilder.swift)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What this foundation gives us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foundation is separation of responsibilities. Hosts provide input and display results, while one production pipeline owns analysis and evidence. Stable frame identities and frozen settings make runs comparable.</a:t>
            </a:r>
          </a:p>
          <a:p xmlns:a="http://schemas.openxmlformats.org/drawingml/2006/main">
            <a:r>
              <a:t/>
            </a:r>
          </a:p>
          <a:p xmlns:a="http://schemas.openxmlformats.org/drawingml/2006/main">
            <a:r>
              <a:t>The event log explains how a report was produced, and replay checks that explanation against the live result. Independent annotation evaluation keeps the expected answers outside production inference. These mechanisms support later work.</a:t>
            </a:r>
          </a:p>
          <a:p xmlns:a="http://schemas.openxmlformats.org/drawingml/2006/main">
            <a:r>
              <a:t/>
            </a:r>
          </a:p>
          <a:p xmlns:a="http://schemas.openxmlformats.org/drawingml/2006/main">
            <a:r>
              <a:t>The implementation still has a narrow scope. It compares one target against the whole image and a fixed central crop. Live camera capture, detected regions, multiple products, and general accuracy require new work and evidence.</a:t>
            </a:r>
          </a:p>
          <a:p xmlns:a="http://schemas.openxmlformats.org/drawingml/2006/main">
            <a:r>
              <a:t/>
            </a:r>
          </a:p>
          <a:p xmlns:a="http://schemas.openxmlformats.org/drawingml/2006/main">
            <a:r>
              <a:t>A passing fixture experiment is a base to build on. It is not completion of the application or acceptance on iPhone.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[Production pipeline](../../../../../../ios/AIShop/AIShopVision/Sources/AIShopVision/CandidateAnalysisPipeline/CandidateAnalysisPipeline.swift)</a:t>
            </a:r>
          </a:p>
          <a:p xmlns:a="http://schemas.openxmlformats.org/drawingml/2006/main">
            <a:r>
              <a:t>- [Integration suite](../../../../../../ios/AIShop/AIShopVision/Tests/AIShopVisionTests/PipelineIntegrationSuite.swift)</a:t>
            </a:r>
          </a:p>
          <a:p xmlns:a="http://schemas.openxmlformats.org/drawingml/2006/main">
            <a:r>
              <a:t>- [Package boundaries](../../../../../../ios/AIShop/AIShopVision/Package.swift)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fine-print map</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companion walkthrough maps the implementation. Each technical slide has a small set of clickable source, test, or evidence links. The notes explain the meaning before you open those files.</a:t>
            </a:r>
          </a:p>
          <a:p xmlns:a="http://schemas.openxmlformats.org/drawingml/2006/main">
            <a:r>
              <a:t/>
            </a:r>
          </a:p>
          <a:p xmlns:a="http://schemas.openxmlformats.org/drawingml/2006/main">
            <a:r>
              <a:t>A separate file-coverage index maps changes since the sprint baseline to the relevant subjects. It records exceptions such as original media and unrelated documentation moves. That index is a completeness backstop, not the main explanation.</a:t>
            </a:r>
          </a:p>
          <a:p xmlns:a="http://schemas.openxmlformats.org/drawingml/2006/main">
            <a:r>
              <a:t/>
            </a:r>
          </a:p>
          <a:p xmlns:a="http://schemas.openxmlformats.org/drawingml/2006/main">
            <a:r>
              <a:t>The maintained slide content also supplies the narration, so the video and written explanation can be revised together. Four subject-based videos keep each review session short. Return to any chapter independently, and pause to inspect the code.</a:t>
            </a:r>
          </a:p>
          <a:p xmlns:a="http://schemas.openxmlformats.org/drawingml/2006/main">
            <a:r>
              <a:t/>
            </a:r>
          </a:p>
          <a:p xmlns:a="http://schemas.openxmlformats.org/drawingml/2006/main">
            <a:r>
              <a:t>The next human decision is about the review findings and the required iPhone demonstration.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[Source package](../../../../../../ios/AIShop/AIShopVision/Sources/AIShopVision)</a:t>
            </a:r>
          </a:p>
          <a:p xmlns:a="http://schemas.openxmlformats.org/drawingml/2006/main">
            <a:r>
              <a:t>- [Test package](../../../../../../ios/AIShop/AIShopVision/Tests/AIShopVisionTests)</a:t>
            </a:r>
          </a:p>
          <a:p xmlns:a="http://schemas.openxmlformats.org/drawingml/2006/main">
            <a:r>
              <a:t>- [Acceptance record](../../../../../../ios/AIShop/01-docs/04-benchmarks-test-strategy-and-success-criteria/sprint-001-iphone-verification.md)</a:t>
            </a:r>
          </a:p>
          <a:p xmlns:a="http://schemas.openxmlformats.org/drawingml/2006/main">
            <a:r>
              <a:t>- [Complete changed-file coverage](../artifacts/file-coverage.csv)</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393147f2bf4f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1645c78e6e4e36" /><Relationship Type="http://schemas.openxmlformats.org/officeDocument/2006/relationships/slideLayout" Target="/ppt/slideLayouts/slideLayout1.xml" Id="Rcb5453883db942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5453883db942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fc282caca24cc2" /><Relationship Type="http://schemas.openxmlformats.org/officeDocument/2006/relationships/notesSlide" Target="/ppt/notesSlides/notesSlide1.xml" Id="Ra570450b7d6e4c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9b99bed1fd0458e"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504b449c50b94228" /><Relationship Type="http://schemas.openxmlformats.org/officeDocument/2006/relationships/notesSlide" Target="/ppt/notesSlides/notesSlide2.xml" Id="R74632d0cf1e140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4dafaf276cd4b44" /><Relationship Type="http://schemas.openxmlformats.org/officeDocument/2006/relationships/image" Target="/ppt/media/image.jpeg" Id="R12d3280be31a4714" /><Relationship Type="http://schemas.openxmlformats.org/officeDocument/2006/relationships/image" Target="/ppt/media/image2.jpeg" Id="Rf132d86d5256434e"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9b785b3b739046bc" /><Relationship Type="http://schemas.openxmlformats.org/officeDocument/2006/relationships/hyperlink" Target="file:///Users/paboelustodo/Library/CloudStorage/GoogleDrive-pablo.elustondo@gmail.com/My%20Drive%202/1-GIT-PROJECTS/aishop/ios/AIShop/AIShopVision/Tests/AIShopVisionTests/Resources" TargetMode="External" Id="R791d86ec33cf4865" /><Relationship Type="http://schemas.openxmlformats.org/officeDocument/2006/relationships/hyperlink" Target="file:///Users/paboelustodo/Library/CloudStorage/GoogleDrive-pablo.elustondo@gmail.com/My%20Drive%202/1-GIT-PROJECTS/aishop/ios/AIShop/AIShop/Diagnostics/VisionDiagnosticHarness.swift" TargetMode="External" Id="R541fce1f766540b7" /><Relationship Type="http://schemas.openxmlformats.org/officeDocument/2006/relationships/notesSlide" Target="/ppt/notesSlides/notesSlide3.xml" Id="Re34f07d43ad64f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4993ee73aa4e08" /><Relationship Type="http://schemas.openxmlformats.org/officeDocument/2006/relationships/hyperlink" Target="file:///Users/paboelustodo/Library/CloudStorage/GoogleDrive-pablo.elustondo@gmail.com/My%20Drive%202/1-GIT-PROJECTS/aishop/e2e/ios/run.zsh" TargetMode="External" Id="Rfa1d6fa16e9245a6"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0d0082b67d754caf" /><Relationship Type="http://schemas.openxmlformats.org/officeDocument/2006/relationships/hyperlink" Target="file:///Users/paboelustodo/Library/CloudStorage/GoogleDrive-pablo.elustondo@gmail.com/My%20Drive%202/1-GIT-PROJECTS/aishop/ios/AIShop/AIShopTests/" TargetMode="External" Id="Rc04bd115fcfe47f0" /><Relationship Type="http://schemas.openxmlformats.org/officeDocument/2006/relationships/notesSlide" Target="/ppt/notesSlides/notesSlide4.xml" Id="R5aec6d24ce0645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6d296c53e5849fd" /><Relationship Type="http://schemas.openxmlformats.org/officeDocument/2006/relationships/hyperlink" Target="file:///Users/paboelustodo/Library/CloudStorage/GoogleDrive-pablo.elustondo@gmail.com/My%20Drive%202/1-GIT-PROJECTS/aishop/ios/AIShop/AIShopVision/Sources/AIShopVision/" TargetMode="External" Id="R2fe061078bc44e2e" /><Relationship Type="http://schemas.openxmlformats.org/officeDocument/2006/relationships/hyperlink" Target="file:///Users/paboelustodo/Library/CloudStorage/GoogleDrive-pablo.elustondo@gmail.com/My%20Drive%202/1-GIT-PROJECTS/aishop/ios/AIShop/AIShop/Diagnostics/" TargetMode="External" Id="Rb358b40d8e374ece" /><Relationship Type="http://schemas.openxmlformats.org/officeDocument/2006/relationships/hyperlink" Target="file:///Users/paboelustodo/Library/CloudStorage/GoogleDrive-pablo.elustondo@gmail.com/My%20Drive%202/1-GIT-PROJECTS/aishop/ios/AIShop/AIShopVision/Sources/AIShopVisionEvaluation/" TargetMode="External" Id="R35fe85d189af4a2b" /><Relationship Type="http://schemas.openxmlformats.org/officeDocument/2006/relationships/notesSlide" Target="/ppt/notesSlides/notesSlide5.xml" Id="Rb6189247e4da46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4e1f1c224e04b7b"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c6682409e8a94377"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b71fd387204c4446"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86ba090828274202" /><Relationship Type="http://schemas.openxmlformats.org/officeDocument/2006/relationships/notesSlide" Target="/ppt/notesSlides/notesSlide6.xml" Id="R9f7bce4f4e4e45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ead37bacdd4701"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6c8a6df1edc84997"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3d690cd7d91640ea" /><Relationship Type="http://schemas.openxmlformats.org/officeDocument/2006/relationships/hyperlink" Target="file:///Users/paboelustodo/Library/CloudStorage/GoogleDrive-pablo.elustondo@gmail.com/My%20Drive%202/1-GIT-PROJECTS/aishop/ios/AIShop/AIShop/Diagnostics/VisionHarnessModel.swift" TargetMode="External" Id="R675d967471344fd9" /><Relationship Type="http://schemas.openxmlformats.org/officeDocument/2006/relationships/notesSlide" Target="/ppt/notesSlides/notesSlide7.xml" Id="R21f8a2bf2da84a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abdc7f222054e84" /><Relationship Type="http://schemas.openxmlformats.org/officeDocument/2006/relationships/hyperlink" Target="file:///Users/paboelustodo/Library/CloudStorage/GoogleDrive-pablo.elustondo@gmail.com/My%20Drive%202/1-GIT-PROJECTS/aishop/ios/AIShop/AIShopVision/Sources/AIShopVision/VideoFixtureFrameStream/FrameStream.swift" TargetMode="External" Id="R80d4f54995d940cd"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461fc933127e49f7"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e37263c592734589" /><Relationship Type="http://schemas.openxmlformats.org/officeDocument/2006/relationships/notesSlide" Target="/ppt/notesSlides/notesSlide8.xml" Id="R6ee1c19261cb44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311746ed57748b2"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735a4fb075004587"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e4e05ed84bc747f2" /><Relationship Type="http://schemas.openxmlformats.org/officeDocument/2006/relationships/notesSlide" Target="/ppt/notesSlides/notesSlide9.xml" Id="R1fd81bdd9fc249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b3246dd168a462d"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b146b4105bd243b2"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321dfd0826534fc3"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8abe764c2a2740f1" /><Relationship Type="http://schemas.openxmlformats.org/officeDocument/2006/relationships/notesSlide" Target="/ppt/notesSlides/notesSlide10.xml" Id="R670150657ff8479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efe8e8e4ac142e4" /><Relationship Type="http://schemas.openxmlformats.org/officeDocument/2006/relationships/hyperlink" Target="file:///Users/paboelustodo/Library/CloudStorage/GoogleDrive-pablo.elustondo@gmail.com/My%20Drive%202/1-GIT-PROJECTS/aishop/ios/AIShop/AIShopVision/Sources/AIShopVision/LocalTargetCatalog/LocalTargetCatalog.swift" TargetMode="External" Id="Rb96dab26ad6f4291" /><Relationship Type="http://schemas.openxmlformats.org/officeDocument/2006/relationships/hyperlink" Target="file:///Users/paboelustodo/Library/CloudStorage/GoogleDrive-pablo.elustondo@gmail.com/My%20Drive%202/1-GIT-PROJECTS/aishop/ios/AIShop/AIShopVision/Tests/AIShopVisionTests/LocalTargetCatalogTests.swift" TargetMode="External" Id="R06811e7de1fc4095" /><Relationship Type="http://schemas.openxmlformats.org/officeDocument/2006/relationships/hyperlink" Target="file:///Users/paboelustodo/Library/CloudStorage/GoogleDrive-pablo.elustondo@gmail.com/My%20Drive%202/1-GIT-PROJECTS/aishop/ios/AIShop/AIShop/Diagnostics/DiagnosticFixture.swift" TargetMode="External" Id="Rd7e9eb21e4994d15" /><Relationship Type="http://schemas.openxmlformats.org/officeDocument/2006/relationships/notesSlide" Target="/ppt/notesSlides/notesSlide11.xml" Id="R134936ff1db4448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bd79eefb5c14c84" /><Relationship Type="http://schemas.openxmlformats.org/officeDocument/2006/relationships/hyperlink" Target="file:///Users/paboelustodo/Library/CloudStorage/GoogleDrive-pablo.elustondo@gmail.com/My%20Drive%202/1-GIT-PROJECTS/aishop/ios/AIShop/AIShopVision/Sources/AIShopVision/VisionFeatureAdapter.swift" TargetMode="External" Id="Ra6815c93717143b6" /><Relationship Type="http://schemas.openxmlformats.org/officeDocument/2006/relationships/hyperlink" Target="file:///Users/paboelustodo/Library/CloudStorage/GoogleDrive-pablo.elustondo@gmail.com/My%20Drive%202/1-GIT-PROJECTS/aishop/ios/AIShop/AIShopVision/Tests/AIShopVisionTests/VisionFeatureAdapterTests.swift" TargetMode="External" Id="R0e0409c5c1b04085" /><Relationship Type="http://schemas.openxmlformats.org/officeDocument/2006/relationships/notesSlide" Target="/ppt/notesSlides/notesSlide12.xml" Id="Rade1ef11cb38499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bd8bfd204444ffa" /><Relationship Type="http://schemas.openxmlformats.org/officeDocument/2006/relationships/hyperlink" Target="file:///Users/paboelustodo/Library/CloudStorage/GoogleDrive-pablo.elustondo@gmail.com/My%20Drive%202/1-GIT-PROJECTS/aishop/ios/AIShop/AIShopVision/Sources/AIShopVision/CandidateScorer/CandidateScorer.swift" TargetMode="External" Id="Rf9f0bf868be747aa" /><Relationship Type="http://schemas.openxmlformats.org/officeDocument/2006/relationships/hyperlink" Target="file:///Users/paboelustodo/Library/CloudStorage/GoogleDrive-pablo.elustondo@gmail.com/My%20Drive%202/1-GIT-PROJECTS/aishop/ios/AIShop/AIShopVision/Tests/AIShopVisionTests/CandidateScorerTests.swift" TargetMode="External" Id="Rea27c42059eb48bc"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c28c33f10280410c" /><Relationship Type="http://schemas.openxmlformats.org/officeDocument/2006/relationships/notesSlide" Target="/ppt/notesSlides/notesSlide13.xml" Id="R97eefa08658b4f4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60586049f174dd1"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72f34f67eb364a67" /><Relationship Type="http://schemas.openxmlformats.org/officeDocument/2006/relationships/hyperlink" Target="file:///Users/paboelustodo/Library/CloudStorage/GoogleDrive-pablo.elustondo@gmail.com/My%20Drive%202/1-GIT-PROJECTS/aishop/e2e/ios/calibrate-scorer.rb" TargetMode="External" Id="R8d68d3dd4d284059"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b532e4ecdcbe44df" /><Relationship Type="http://schemas.openxmlformats.org/officeDocument/2006/relationships/notesSlide" Target="/ppt/notesSlides/notesSlide14.xml" Id="R3059dc34c0a940a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4fe0fafdcba4873"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e87c4a59827b4f5e"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78747a90855141e3"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de8406d4a3774e89" /><Relationship Type="http://schemas.openxmlformats.org/officeDocument/2006/relationships/notesSlide" Target="/ppt/notesSlides/notesSlide15.xml" Id="Rbf38518ced484ca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87f3480c43548fd"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1271a0a551c44056"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da1c959554544122" /><Relationship Type="http://schemas.openxmlformats.org/officeDocument/2006/relationships/hyperlink" Target="file:///Users/paboelustodo/Library/CloudStorage/GoogleDrive-pablo.elustondo@gmail.com/My%20Drive%202/1-GIT-PROJECTS/aishop/ios/AIShop/AIShop/Diagnostics/VisionDiagnosticHarness.swift" TargetMode="External" Id="Rf5b92945ef1341e3" /><Relationship Type="http://schemas.openxmlformats.org/officeDocument/2006/relationships/notesSlide" Target="/ppt/notesSlides/notesSlide16.xml" Id="R32c47825cabe47d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745cf9916d54f45"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0984c9f1466a49c0"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b3e89ce0ca984367"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7b752ed461104021" /><Relationship Type="http://schemas.openxmlformats.org/officeDocument/2006/relationships/notesSlide" Target="/ppt/notesSlides/notesSlide17.xml" Id="R9e72fe734502487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f9944061401430b" /><Relationship Type="http://schemas.openxmlformats.org/officeDocument/2006/relationships/hyperlink" Target="file:///Users/paboelustodo/Library/CloudStorage/GoogleDrive-pablo.elustondo@gmail.com/My%20Drive%202/1-GIT-PROJECTS/aishop/ios/AIShop/AIShopVision/Sources/AIShopVision/SessionReportBuilder/RetainedImageStore.swift" TargetMode="External" Id="Rc9c6b70c4b6a43df"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1946ff81e4bb4d95"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6972e12a78314902" /><Relationship Type="http://schemas.openxmlformats.org/officeDocument/2006/relationships/notesSlide" Target="/ppt/notesSlides/notesSlide18.xml" Id="R79d9f7748fc1420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eedb7c7b7d24be3" /><Relationship Type="http://schemas.openxmlformats.org/officeDocument/2006/relationships/hyperlink" Target="file:///Users/paboelustodo/Library/CloudStorage/GoogleDrive-pablo.elustondo@gmail.com/My%20Drive%202/1-GIT-PROJECTS/aishop/ios/AIShop/AIShopVision/Sources/AIShopVision/SessionLog/LogValue.swift" TargetMode="External" Id="R37a7f03c474249bf"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f516de8b80064f26" /><Relationship Type="http://schemas.openxmlformats.org/officeDocument/2006/relationships/hyperlink" Target="file:///Users/paboelustodo/Library/CloudStorage/GoogleDrive-pablo.elustondo@gmail.com/My%20Drive%202/1-GIT-PROJECTS/aishop/ios/AIShop/AIShopVision/Tests/AIShopVisionTests/SessionLogTests.swift" TargetMode="External" Id="Re61830d925fd436b" /><Relationship Type="http://schemas.openxmlformats.org/officeDocument/2006/relationships/notesSlide" Target="/ppt/notesSlides/notesSlide19.xml" Id="R0bc9906cb77c455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42e7afd79594368"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d5ba95ba50de4230"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9b96f0323afd4774"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8c06c2d55f894862" /><Relationship Type="http://schemas.openxmlformats.org/officeDocument/2006/relationships/notesSlide" Target="/ppt/notesSlides/notesSlide20.xml" Id="R316002177272455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4fd49d3f870422a"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9f85a3747e614c7e"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933e96a799b34cc6"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16500b963ba041e1" /><Relationship Type="http://schemas.openxmlformats.org/officeDocument/2006/relationships/notesSlide" Target="/ppt/notesSlides/notesSlide21.xml" Id="Rec38eac211e048a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1466b053b4440e8"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adc02bc75f2045bf"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2d42c62ae1c14aac" /><Relationship Type="http://schemas.openxmlformats.org/officeDocument/2006/relationships/hyperlink" Target="file:///Users/paboelustodo/Library/CloudStorage/GoogleDrive-pablo.elustondo@gmail.com/My%20Drive%202/1-GIT-PROJECTS/aishop/ios/AIShop/AIShop/Diagnostics/VisionHarnessModel.swift" TargetMode="External" Id="R03e6154a12424309" /><Relationship Type="http://schemas.openxmlformats.org/officeDocument/2006/relationships/notesSlide" Target="/ppt/notesSlides/notesSlide22.xml" Id="R4c9d4f0431ae4e4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f0721c4ca334a07"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a936dad895724603"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4b8cc60a87724be0" /><Relationship Type="http://schemas.openxmlformats.org/officeDocument/2006/relationships/hyperlink" Target="file:///Users/paboelustodo/Library/CloudStorage/GoogleDrive-pablo.elustondo@gmail.com/My%20Drive%202/1-GIT-PROJECTS/aishop/ios/AIShop/AIShopVision/Tests/AIShopVisionTests/FixtureEvaluatorTests.swift" TargetMode="External" Id="R801bbbb307104efa" /><Relationship Type="http://schemas.openxmlformats.org/officeDocument/2006/relationships/notesSlide" Target="/ppt/notesSlides/notesSlide23.xml" Id="R6cb392d2cd314c2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fd36d3ec8f04e1e"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evaluation.json" TargetMode="External" Id="R09ff79b478a04f11" /><Relationship Type="http://schemas.openxmlformats.org/officeDocument/2006/relationships/hyperlink" Target="file:///Users/paboelustodo/Library/CloudStorage/GoogleDrive-pablo.elustondo@gmail.com/My%20Drive%202/1-GIT-PROJECTS/aishop/docs/09-build-test-document/basic-video-stream-object-recognition/artifacts/evidence/mac-negative/evaluation.json" TargetMode="External" Id="R981e6200278040b9"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report.json" TargetMode="External" Id="R415e37c554d148ad" /><Relationship Type="http://schemas.openxmlformats.org/officeDocument/2006/relationships/notesSlide" Target="/ppt/notesSlides/notesSlide24.xml" Id="Rf484bab1d2d549d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715b4de36f34baf"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410e3a58f3794047" /><Relationship Type="http://schemas.openxmlformats.org/officeDocument/2006/relationships/hyperlink" Target="file:///Users/paboelustodo/Library/CloudStorage/GoogleDrive-pablo.elustondo@gmail.com/My%20Drive%202/1-GIT-PROJECTS/aishop/ios/AIShop/AIShopVision/Sources/AIShopVisionEvaluate/main.swift" TargetMode="External" Id="R57efaecc501a440a"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5ade2880dae34a8f" /><Relationship Type="http://schemas.openxmlformats.org/officeDocument/2006/relationships/notesSlide" Target="/ppt/notesSlides/notesSlide25.xml" Id="Ra3ffe33b7f254d6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aec6e932e9947b9" /><Relationship Type="http://schemas.openxmlformats.org/officeDocument/2006/relationships/hyperlink" Target="file:///Users/paboelustodo/Library/CloudStorage/GoogleDrive-pablo.elustondo@gmail.com/My%20Drive%202/1-GIT-PROJECTS/aishop/ios/AIShop/AIShop/App/ApplicationBootstrap.swift" TargetMode="External" Id="R3449cdd058c94733" /><Relationship Type="http://schemas.openxmlformats.org/officeDocument/2006/relationships/hyperlink" Target="file:///Users/paboelustodo/Library/CloudStorage/GoogleDrive-pablo.elustondo@gmail.com/My%20Drive%202/1-GIT-PROJECTS/aishop/ios/AIShop/AIShop/Diagnostics/VisionHarnessModel.swift" TargetMode="External" Id="R3b2463d760654790" /><Relationship Type="http://schemas.openxmlformats.org/officeDocument/2006/relationships/hyperlink" Target="file:///Users/paboelustodo/Library/CloudStorage/GoogleDrive-pablo.elustondo@gmail.com/My%20Drive%202/1-GIT-PROJECTS/aishop/e2e/ios/verify-app-bundle.rb" TargetMode="External" Id="R324922bad7574041" /><Relationship Type="http://schemas.openxmlformats.org/officeDocument/2006/relationships/notesSlide" Target="/ppt/notesSlides/notesSlide26.xml" Id="Rb95a0e148907487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f85418368c04c07" /><Relationship Type="http://schemas.openxmlformats.org/officeDocument/2006/relationships/hyperlink" Target="file:///Users/paboelustodo/Library/CloudStorage/GoogleDrive-pablo.elustondo@gmail.com/My%20Drive%202/1-GIT-PROJECTS/aishop/ios/AIShop/AIShop.xcodeproj/xcshareddata/xcschemes/AIShop-VisionDiagnostics.xcscheme" TargetMode="External" Id="R55a781b2ab3b4b4e" /><Relationship Type="http://schemas.openxmlformats.org/officeDocument/2006/relationships/hyperlink" Target="file:///Users/paboelustodo/Library/CloudStorage/GoogleDrive-pablo.elustondo@gmail.com/My%20Drive%202/1-GIT-PROJECTS/aishop/ios/AIShop/AIShop/Diagnostics/VisionDiagnosticHarness.swift" TargetMode="External" Id="R3f1a34bbc00d4d5b"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fd4ca4a18afe4f52" /><Relationship Type="http://schemas.openxmlformats.org/officeDocument/2006/relationships/notesSlide" Target="/ppt/notesSlides/notesSlide27.xml" Id="Rc2a54cc9faa94f5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02dc6f99eae4428" /><Relationship Type="http://schemas.openxmlformats.org/officeDocument/2006/relationships/hyperlink" Target="file:///Users/paboelustodo/Library/CloudStorage/GoogleDrive-pablo.elustondo@gmail.com/My%20Drive%202/1-GIT-PROJECTS/aishop/ios/AIShop/AIShop/Diagnostics/VisionHarnessModel.swift" TargetMode="External" Id="Re29603f94ee64e77"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666f0a9f53a34913"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dca02423f95f42ee" /><Relationship Type="http://schemas.openxmlformats.org/officeDocument/2006/relationships/notesSlide" Target="/ppt/notesSlides/notesSlide28.xml" Id="R17fe5a15b15e4de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2986e1f38c94e2b"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6bc2f5cce5cb4c73"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a8b28a7fd8764102" /><Relationship Type="http://schemas.openxmlformats.org/officeDocument/2006/relationships/hyperlink" Target="file:///Users/paboelustodo/Library/CloudStorage/GoogleDrive-pablo.elustondo@gmail.com/My%20Drive%202/1-GIT-PROJECTS/aishop/ios/AIShop/AIShopVision/Package.swift" TargetMode="External" Id="R1c1577a1b06a4d73" /><Relationship Type="http://schemas.openxmlformats.org/officeDocument/2006/relationships/notesSlide" Target="/ppt/notesSlides/notesSlide29.xml" Id="R89dfe2c158524fb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a9610cacf7a4a9b" /><Relationship Type="http://schemas.openxmlformats.org/officeDocument/2006/relationships/hyperlink" Target="file:///Users/paboelustodo/Library/CloudStorage/GoogleDrive-pablo.elustondo@gmail.com/My%20Drive%202/1-GIT-PROJECTS/aishop/ios/AIShop/AIShopVision/Sources/AIShopVision/" TargetMode="External" Id="Rc49288611c8b4f6d" /><Relationship Type="http://schemas.openxmlformats.org/officeDocument/2006/relationships/hyperlink" Target="file:///Users/paboelustodo/Library/CloudStorage/GoogleDrive-pablo.elustondo@gmail.com/My%20Drive%202/1-GIT-PROJECTS/aishop/ios/AIShop/AIShopVision/Tests/AIShopVisionTests/" TargetMode="External" Id="R965c243d13de413f"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edf90fed181049d2" /><Relationship Type="http://schemas.openxmlformats.org/officeDocument/2006/relationships/notesSlide" Target="/ppt/notesSlides/notesSlide30.xml" Id="Rde4f7da4ea234a95" /></Relationships>
</file>

<file path=ppt/slides/slide1.xml><?xml version="1.0" encoding="utf-8"?>
<p:sld xmlns:p="http://schemas.openxmlformats.org/presentationml/2006/main">
  <p:cSld>
    <p:bg>
      <p:bgPr>
        <a:solidFill xmlns:a="http://schemas.openxmlformats.org/drawingml/2006/main">
          <a:srgbClr val="102C43"/>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59F3FC58-6749-4551-B964-FBDAEB1F73C2}"/>
              </a:ext>
            </a:extLst>
          </p:cNvPr>
          <p:cNvSpPr>
            <a:spLocks xmlns:a="http://schemas.openxmlformats.org/drawingml/2006/main" noGrp="1"/>
          </p:cNvSpPr>
          <p:nvPr/>
        </p:nvSpPr>
        <p:spPr>
          <a:xfrm xmlns:a="http://schemas.openxmlformats.org/drawingml/2006/main">
            <a:off x="838200" y="1085850"/>
            <a:ext cx="135636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A8D6DD"/>
                </a:solidFill>
                <a:latin typeface="Arial"/>
                <a:ea typeface="Arial"/>
                <a:cs typeface="Arial"/>
              </a:defRPr>
            </a:pPr>
            <a:r>
              <a:rPr sz="2400" b="1">
                <a:solidFill>
                  <a:srgbClr val="A8D6DD"/>
                </a:solidFill>
                <a:latin typeface="Arial"/>
                <a:ea typeface="Arial"/>
                <a:cs typeface="Arial"/>
              </a:rPr>
              <a:t>AIShopVision</a:t>
            </a:r>
          </a:p>
        </p:txBody>
      </p:sp>
      <p:sp>
        <p:nvSpPr>
          <p:cNvPr id="2" name="text-1">
            <a:extLst xmlns:a="http://schemas.openxmlformats.org/drawingml/2006/main">
              <a:ext uri="{FF2B5EF4-FFF2-40B4-BE49-F238E27FC236}">
                <a16:creationId xmlns:a16="http://schemas.microsoft.com/office/drawing/2014/main" id="{8DB28593-34EC-453D-8FAD-716DE9BA702F}"/>
              </a:ext>
            </a:extLst>
          </p:cNvPr>
          <p:cNvSpPr>
            <a:spLocks xmlns:a="http://schemas.openxmlformats.org/drawingml/2006/main" noGrp="1"/>
          </p:cNvSpPr>
          <p:nvPr/>
        </p:nvSpPr>
        <p:spPr>
          <a:xfrm xmlns:a="http://schemas.openxmlformats.org/drawingml/2006/main">
            <a:off x="838200" y="2400300"/>
            <a:ext cx="13563600" cy="17891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Known product</a:t>
            </a:r>
          </a:p>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in video</a:t>
            </a:r>
          </a:p>
        </p:txBody>
      </p:sp>
      <p:sp>
        <p:nvSpPr>
          <p:cNvPr id="3" name="text-2">
            <a:extLst xmlns:a="http://schemas.openxmlformats.org/drawingml/2006/main">
              <a:ext uri="{FF2B5EF4-FFF2-40B4-BE49-F238E27FC236}">
                <a16:creationId xmlns:a16="http://schemas.microsoft.com/office/drawing/2014/main" id="{FFBA89C1-6256-46AB-86F5-856050D35443}"/>
              </a:ext>
            </a:extLst>
          </p:cNvPr>
          <p:cNvSpPr>
            <a:spLocks xmlns:a="http://schemas.openxmlformats.org/drawingml/2006/main" noGrp="1"/>
          </p:cNvSpPr>
          <p:nvPr/>
        </p:nvSpPr>
        <p:spPr>
          <a:xfrm xmlns:a="http://schemas.openxmlformats.org/drawingml/2006/main">
            <a:off x="876300" y="5105400"/>
            <a:ext cx="13487400" cy="1036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AIShop Sprint 001</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Solution, code, and test walkthrough</a:t>
            </a:r>
          </a:p>
        </p:txBody>
      </p:sp>
      <p:sp>
        <p:nvSpPr>
          <p:cNvPr id="4" name="text-3">
            <a:extLst xmlns:a="http://schemas.openxmlformats.org/drawingml/2006/main">
              <a:ext uri="{FF2B5EF4-FFF2-40B4-BE49-F238E27FC236}">
                <a16:creationId xmlns:a16="http://schemas.microsoft.com/office/drawing/2014/main" id="{C17B5CB3-3F21-41CF-B531-C0E252136C3D}"/>
              </a:ext>
            </a:extLst>
          </p:cNvPr>
          <p:cNvSpPr>
            <a:spLocks xmlns:a="http://schemas.openxmlformats.org/drawingml/2006/main" noGrp="1"/>
          </p:cNvSpPr>
          <p:nvPr/>
        </p:nvSpPr>
        <p:spPr>
          <a:xfrm xmlns:a="http://schemas.openxmlformats.org/drawingml/2006/main">
            <a:off x="876300" y="7715250"/>
            <a:ext cx="134874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A8C1CF"/>
                </a:solidFill>
                <a:latin typeface="Arial"/>
                <a:ea typeface="Arial"/>
                <a:cs typeface="Arial"/>
              </a:defRPr>
            </a:pPr>
            <a:r>
              <a:rPr sz="1800" b="0">
                <a:solidFill>
                  <a:srgbClr val="A8C1CF"/>
                </a:solidFill>
                <a:latin typeface="Arial"/>
                <a:ea typeface="Arial"/>
                <a:cs typeface="Arial"/>
              </a:rPr>
              <a:t>Revision 07 / working tree / 20 September 2026</a:t>
            </a:r>
          </a:p>
        </p:txBody>
      </p:sp>
    </p:spTree>
    <p:extLst>
      <p:ext uri="{BB962C8B-B14F-4D97-AF65-F5344CB8AC3E}">
        <p14:creationId xmlns:p14="http://schemas.microsoft.com/office/powerpoint/2010/main" val="11689964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57B7C090-4A4A-49BA-A7EC-C9BDF502417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Sprint intent</a:t>
            </a:r>
          </a:p>
        </p:txBody>
      </p:sp>
      <p:sp>
        <p:nvSpPr>
          <p:cNvPr id="2" name="text-1">
            <a:extLst xmlns:a="http://schemas.openxmlformats.org/drawingml/2006/main">
              <a:ext uri="{FF2B5EF4-FFF2-40B4-BE49-F238E27FC236}">
                <a16:creationId xmlns:a16="http://schemas.microsoft.com/office/drawing/2014/main" id="{1B16FE54-D9D2-4D70-849E-6A3BA4AE70C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provisional signal while frames are still arriving</a:t>
            </a:r>
          </a:p>
        </p:txBody>
      </p:sp>
      <p:sp>
        <p:nvSpPr>
          <p:cNvPr id="3" name="text-2">
            <a:extLst xmlns:a="http://schemas.openxmlformats.org/drawingml/2006/main">
              <a:ext uri="{FF2B5EF4-FFF2-40B4-BE49-F238E27FC236}">
                <a16:creationId xmlns:a16="http://schemas.microsoft.com/office/drawing/2014/main" id="{B810E314-6030-4EAA-8FD2-9FED647664E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User need</a:t>
            </a:r>
          </a:p>
        </p:txBody>
      </p:sp>
      <p:sp>
        <p:nvSpPr>
          <p:cNvPr id="4" name="text-3">
            <a:extLst xmlns:a="http://schemas.openxmlformats.org/drawingml/2006/main">
              <a:ext uri="{FF2B5EF4-FFF2-40B4-BE49-F238E27FC236}">
                <a16:creationId xmlns:a16="http://schemas.microsoft.com/office/drawing/2014/main" id="{526B22C2-CA99-479D-A85E-C643A9A9DC9E}"/>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Notice when a known product may be visible.</a:t>
            </a:r>
          </a:p>
        </p:txBody>
      </p:sp>
      <p:sp>
        <p:nvSpPr>
          <p:cNvPr id="5" name="">
            <a:extLst xmlns:a="http://schemas.openxmlformats.org/drawingml/2006/main">
              <a:ext uri="{FF2B5EF4-FFF2-40B4-BE49-F238E27FC236}">
                <a16:creationId xmlns:a16="http://schemas.microsoft.com/office/drawing/2014/main" id="{3AE55B55-9F2B-415C-8A3B-AB16E5566FA6}"/>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FCF7CF30-F2E0-40C2-AF55-3DED436B3BAC}"/>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Increment</a:t>
            </a:r>
          </a:p>
        </p:txBody>
      </p:sp>
      <p:sp>
        <p:nvSpPr>
          <p:cNvPr id="7" name="text-5">
            <a:extLst xmlns:a="http://schemas.openxmlformats.org/drawingml/2006/main">
              <a:ext uri="{FF2B5EF4-FFF2-40B4-BE49-F238E27FC236}">
                <a16:creationId xmlns:a16="http://schemas.microsoft.com/office/drawing/2014/main" id="{B4C21FD2-A9BF-4571-85B7-4AE59928C310}"/>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Analyze frames before the video finishes.</a:t>
            </a:r>
          </a:p>
        </p:txBody>
      </p:sp>
      <p:sp>
        <p:nvSpPr>
          <p:cNvPr id="8" name="">
            <a:extLst xmlns:a="http://schemas.openxmlformats.org/drawingml/2006/main">
              <a:ext uri="{FF2B5EF4-FFF2-40B4-BE49-F238E27FC236}">
                <a16:creationId xmlns:a16="http://schemas.microsoft.com/office/drawing/2014/main" id="{5A5C7F29-2839-45C9-BF04-DEA3B571BD14}"/>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87C4B5AA-9952-4FB8-AACF-81FFAE606B83}"/>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Result</a:t>
            </a:r>
          </a:p>
        </p:txBody>
      </p:sp>
      <p:sp>
        <p:nvSpPr>
          <p:cNvPr id="10" name="text-7">
            <a:extLst xmlns:a="http://schemas.openxmlformats.org/drawingml/2006/main">
              <a:ext uri="{FF2B5EF4-FFF2-40B4-BE49-F238E27FC236}">
                <a16:creationId xmlns:a16="http://schemas.microsoft.com/office/drawing/2014/main" id="{215C68F0-D4B2-4C47-B038-AAD971610BCF}"/>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Show possible match and retain the strongest evidence.</a:t>
            </a:r>
          </a:p>
        </p:txBody>
      </p:sp>
      <p:sp>
        <p:nvSpPr>
          <p:cNvPr id="11" name="">
            <a:extLst xmlns:a="http://schemas.openxmlformats.org/drawingml/2006/main">
              <a:ext uri="{FF2B5EF4-FFF2-40B4-BE49-F238E27FC236}">
                <a16:creationId xmlns:a16="http://schemas.microsoft.com/office/drawing/2014/main" id="{592CBE45-6233-4DC3-9641-94DF9C01B2F6}"/>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05B0C00F-0EE0-4FDD-A608-FDAC644FD5AE}"/>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B6B8F058-E559-483D-A9A8-8CDC1938788A}"/>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local target. Prerecorded video. Entirely local.</a:t>
            </a:r>
          </a:p>
        </p:txBody>
      </p:sp>
      <p:sp>
        <p:nvSpPr>
          <p:cNvPr id="14" name="text-10">
            <a:extLst xmlns:a="http://schemas.openxmlformats.org/drawingml/2006/main">
              <a:ext uri="{FF2B5EF4-FFF2-40B4-BE49-F238E27FC236}">
                <a16:creationId xmlns:a16="http://schemas.microsoft.com/office/drawing/2014/main" id="{869892A7-F855-4FF5-8243-C94D0E25C47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04734C0D-EA83-4D5B-9828-BDB678951B8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04b449c50b94228"/>
              </a:rPr>
              <a:t>Pipeline</a:t>
            </a:r>
          </a:p>
        </p:txBody>
      </p:sp>
      <p:sp>
        <p:nvSpPr>
          <p:cNvPr id="16" name="text-12">
            <a:extLst xmlns:a="http://schemas.openxmlformats.org/drawingml/2006/main">
              <a:ext uri="{FF2B5EF4-FFF2-40B4-BE49-F238E27FC236}">
                <a16:creationId xmlns:a16="http://schemas.microsoft.com/office/drawing/2014/main" id="{DD5FFF56-D707-4C49-9709-3696771D4F7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02</a:t>
            </a:r>
          </a:p>
        </p:txBody>
      </p:sp>
    </p:spTree>
    <p:extLst>
      <p:ext uri="{BB962C8B-B14F-4D97-AF65-F5344CB8AC3E}">
        <p14:creationId xmlns:p14="http://schemas.microsoft.com/office/powerpoint/2010/main" val="20752628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0">
            <a:extLst xmlns:a="http://schemas.openxmlformats.org/drawingml/2006/main">
              <a:ext uri="{FF2B5EF4-FFF2-40B4-BE49-F238E27FC236}">
                <a16:creationId xmlns:a16="http://schemas.microsoft.com/office/drawing/2014/main" id="{539D8853-0DB0-44A3-86DF-7E9DB2BB372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diagnostic use case</a:t>
            </a:r>
          </a:p>
        </p:txBody>
      </p:sp>
      <p:sp>
        <p:nvSpPr>
          <p:cNvPr id="2" name="text-1">
            <a:extLst xmlns:a="http://schemas.openxmlformats.org/drawingml/2006/main">
              <a:ext uri="{FF2B5EF4-FFF2-40B4-BE49-F238E27FC236}">
                <a16:creationId xmlns:a16="http://schemas.microsoft.com/office/drawing/2014/main" id="{AFD48F54-0E44-4DB4-A068-9F2ADED9DCF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fixture videos make the target and control cases concrete</a:t>
            </a:r>
          </a:p>
        </p:txBody>
      </p:sp>
      <p:sp>
        <p:nvSpPr>
          <p:cNvPr id="3" name="text-2">
            <a:extLst xmlns:a="http://schemas.openxmlformats.org/drawingml/2006/main">
              <a:ext uri="{FF2B5EF4-FFF2-40B4-BE49-F238E27FC236}">
                <a16:creationId xmlns:a16="http://schemas.microsoft.com/office/drawing/2014/main" id="{0BCC1608-7A58-4FF1-A90C-3B2AE176214C}"/>
              </a:ext>
            </a:extLst>
          </p:cNvPr>
          <p:cNvSpPr>
            <a:spLocks xmlns:a="http://schemas.openxmlformats.org/drawingml/2006/main" noGrp="1"/>
          </p:cNvSpPr>
          <p:nvPr/>
        </p:nvSpPr>
        <p:spPr>
          <a:xfrm xmlns:a="http://schemas.openxmlformats.org/drawingml/2006/main">
            <a:off x="723900" y="1619250"/>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06476"/>
                </a:solidFill>
                <a:latin typeface="Arial"/>
                <a:ea typeface="Arial"/>
                <a:cs typeface="Arial"/>
              </a:defRPr>
            </a:pPr>
            <a:r>
              <a:rPr sz="2250" b="0">
                <a:solidFill>
                  <a:srgbClr val="506476"/>
                </a:solidFill>
                <a:latin typeface="Arial"/>
                <a:ea typeface="Arial"/>
                <a:cs typeface="Arial"/>
              </a:rPr>
              <a:t>The fixture choice gives the diagnostic a clear expected outcome.</a:t>
            </a:r>
          </a:p>
        </p:txBody>
      </p:sp>
      <p:sp>
        <p:nvSpPr>
          <p:cNvPr id="4" name="">
            <a:extLst xmlns:a="http://schemas.openxmlformats.org/drawingml/2006/main">
              <a:ext uri="{FF2B5EF4-FFF2-40B4-BE49-F238E27FC236}">
                <a16:creationId xmlns:a16="http://schemas.microsoft.com/office/drawing/2014/main" id="{4614809D-14FB-45B9-AB82-4A42B3A58C35}"/>
              </a:ext>
            </a:extLst>
          </p:cNvPr>
          <p:cNvSpPr>
            <a:spLocks xmlns:a="http://schemas.openxmlformats.org/drawingml/2006/main" noGrp="1"/>
          </p:cNvSpPr>
          <p:nvPr/>
        </p:nvSpPr>
        <p:spPr>
          <a:xfrm xmlns:a="http://schemas.openxmlformats.org/drawingml/2006/main">
            <a:off x="1143000" y="2114550"/>
            <a:ext cx="5905500" cy="32385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2d3280be31a4714"/>
          <a:srcRect xmlns:a="http://schemas.openxmlformats.org/drawingml/2006/main" l="0" t="39955" r="0" b="39955"/>
          <a:stretch xmlns:a="http://schemas.openxmlformats.org/drawingml/2006/main">
            <a:fillRect l="0" t="0" r="0" b="0"/>
          </a:stretch>
        </p:blipFill>
        <p:spPr>
          <a:xfrm xmlns:a="http://schemas.openxmlformats.org/drawingml/2006/main">
            <a:off x="1295400" y="2266950"/>
            <a:ext cx="5600700" cy="2000250"/>
          </a:xfrm>
          <a:prstGeom xmlns:a="http://schemas.openxmlformats.org/drawingml/2006/main" prst="rect">
            <a:avLst/>
          </a:prstGeom>
        </p:spPr>
      </p:pic>
      <p:sp>
        <p:nvSpPr>
          <p:cNvPr id="6" name="text-3">
            <a:extLst xmlns:a="http://schemas.openxmlformats.org/drawingml/2006/main">
              <a:ext uri="{FF2B5EF4-FFF2-40B4-BE49-F238E27FC236}">
                <a16:creationId xmlns:a16="http://schemas.microsoft.com/office/drawing/2014/main" id="{5B73A65B-5B61-4508-B812-C8B4CC1A6AE4}"/>
              </a:ext>
            </a:extLst>
          </p:cNvPr>
          <p:cNvSpPr>
            <a:spLocks xmlns:a="http://schemas.openxmlformats.org/drawingml/2006/main" noGrp="1"/>
          </p:cNvSpPr>
          <p:nvPr/>
        </p:nvSpPr>
        <p:spPr>
          <a:xfrm xmlns:a="http://schemas.openxmlformats.org/drawingml/2006/main">
            <a:off x="1295400" y="4429125"/>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7" name="text-4">
            <a:extLst xmlns:a="http://schemas.openxmlformats.org/drawingml/2006/main">
              <a:ext uri="{FF2B5EF4-FFF2-40B4-BE49-F238E27FC236}">
                <a16:creationId xmlns:a16="http://schemas.microsoft.com/office/drawing/2014/main" id="{AC5A708F-8297-48A2-A41F-599C97D03592}"/>
              </a:ext>
            </a:extLst>
          </p:cNvPr>
          <p:cNvSpPr>
            <a:spLocks xmlns:a="http://schemas.openxmlformats.org/drawingml/2006/main" noGrp="1"/>
          </p:cNvSpPr>
          <p:nvPr/>
        </p:nvSpPr>
        <p:spPr>
          <a:xfrm xmlns:a="http://schemas.openxmlformats.org/drawingml/2006/main">
            <a:off x="1295400" y="478155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Banana appears</a:t>
            </a:r>
          </a:p>
        </p:txBody>
      </p:sp>
      <p:sp>
        <p:nvSpPr>
          <p:cNvPr id="8" name="text-5">
            <a:extLst xmlns:a="http://schemas.openxmlformats.org/drawingml/2006/main">
              <a:ext uri="{FF2B5EF4-FFF2-40B4-BE49-F238E27FC236}">
                <a16:creationId xmlns:a16="http://schemas.microsoft.com/office/drawing/2014/main" id="{BAF9A85A-2DD4-499F-89F4-AE0E54E099F6}"/>
              </a:ext>
            </a:extLst>
          </p:cNvPr>
          <p:cNvSpPr>
            <a:spLocks xmlns:a="http://schemas.openxmlformats.org/drawingml/2006/main" noGrp="1"/>
          </p:cNvSpPr>
          <p:nvPr/>
        </p:nvSpPr>
        <p:spPr>
          <a:xfrm xmlns:a="http://schemas.openxmlformats.org/drawingml/2006/main">
            <a:off x="1295400" y="5181600"/>
            <a:ext cx="56007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Expected: possible-match episode</a:t>
            </a:r>
          </a:p>
        </p:txBody>
      </p:sp>
      <p:sp>
        <p:nvSpPr>
          <p:cNvPr id="9" name="">
            <a:extLst xmlns:a="http://schemas.openxmlformats.org/drawingml/2006/main">
              <a:ext uri="{FF2B5EF4-FFF2-40B4-BE49-F238E27FC236}">
                <a16:creationId xmlns:a16="http://schemas.microsoft.com/office/drawing/2014/main" id="{EF03458D-1D14-4393-A7C4-4787818341DC}"/>
              </a:ext>
            </a:extLst>
          </p:cNvPr>
          <p:cNvSpPr>
            <a:spLocks xmlns:a="http://schemas.openxmlformats.org/drawingml/2006/main" noGrp="1"/>
          </p:cNvSpPr>
          <p:nvPr/>
        </p:nvSpPr>
        <p:spPr>
          <a:xfrm xmlns:a="http://schemas.openxmlformats.org/drawingml/2006/main">
            <a:off x="8191500" y="2114550"/>
            <a:ext cx="5905500" cy="32385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f132d86d5256434e"/>
          <a:srcRect xmlns:a="http://schemas.openxmlformats.org/drawingml/2006/main" l="0" t="39955" r="0" b="39955"/>
          <a:stretch xmlns:a="http://schemas.openxmlformats.org/drawingml/2006/main">
            <a:fillRect l="0" t="0" r="0" b="0"/>
          </a:stretch>
        </p:blipFill>
        <p:spPr>
          <a:xfrm xmlns:a="http://schemas.openxmlformats.org/drawingml/2006/main">
            <a:off x="8343900" y="2266950"/>
            <a:ext cx="5600700" cy="2000250"/>
          </a:xfrm>
          <a:prstGeom xmlns:a="http://schemas.openxmlformats.org/drawingml/2006/main" prst="rect">
            <a:avLst/>
          </a:prstGeom>
        </p:spPr>
      </p:pic>
      <p:sp>
        <p:nvSpPr>
          <p:cNvPr id="11" name="text-6">
            <a:extLst xmlns:a="http://schemas.openxmlformats.org/drawingml/2006/main">
              <a:ext uri="{FF2B5EF4-FFF2-40B4-BE49-F238E27FC236}">
                <a16:creationId xmlns:a16="http://schemas.microsoft.com/office/drawing/2014/main" id="{A83E30D8-3857-452A-9614-490C3FEAB9A2}"/>
              </a:ext>
            </a:extLst>
          </p:cNvPr>
          <p:cNvSpPr>
            <a:spLocks xmlns:a="http://schemas.openxmlformats.org/drawingml/2006/main" noGrp="1"/>
          </p:cNvSpPr>
          <p:nvPr/>
        </p:nvSpPr>
        <p:spPr>
          <a:xfrm xmlns:a="http://schemas.openxmlformats.org/drawingml/2006/main">
            <a:off x="8343900" y="4429125"/>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Control fixture</a:t>
            </a:r>
          </a:p>
        </p:txBody>
      </p:sp>
      <p:sp>
        <p:nvSpPr>
          <p:cNvPr id="12" name="text-7">
            <a:extLst xmlns:a="http://schemas.openxmlformats.org/drawingml/2006/main">
              <a:ext uri="{FF2B5EF4-FFF2-40B4-BE49-F238E27FC236}">
                <a16:creationId xmlns:a16="http://schemas.microsoft.com/office/drawing/2014/main" id="{F66D0E3F-57DA-4C2E-BFD0-7841117B096C}"/>
              </a:ext>
            </a:extLst>
          </p:cNvPr>
          <p:cNvSpPr>
            <a:spLocks xmlns:a="http://schemas.openxmlformats.org/drawingml/2006/main" noGrp="1"/>
          </p:cNvSpPr>
          <p:nvPr/>
        </p:nvSpPr>
        <p:spPr>
          <a:xfrm xmlns:a="http://schemas.openxmlformats.org/drawingml/2006/main">
            <a:off x="8343900" y="478155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No banana appears</a:t>
            </a:r>
          </a:p>
        </p:txBody>
      </p:sp>
      <p:sp>
        <p:nvSpPr>
          <p:cNvPr id="13" name="text-8">
            <a:extLst xmlns:a="http://schemas.openxmlformats.org/drawingml/2006/main">
              <a:ext uri="{FF2B5EF4-FFF2-40B4-BE49-F238E27FC236}">
                <a16:creationId xmlns:a16="http://schemas.microsoft.com/office/drawing/2014/main" id="{E2E53AB3-F75A-4CC6-9E2C-E259A8EBA145}"/>
              </a:ext>
            </a:extLst>
          </p:cNvPr>
          <p:cNvSpPr>
            <a:spLocks xmlns:a="http://schemas.openxmlformats.org/drawingml/2006/main" noGrp="1"/>
          </p:cNvSpPr>
          <p:nvPr/>
        </p:nvSpPr>
        <p:spPr>
          <a:xfrm xmlns:a="http://schemas.openxmlformats.org/drawingml/2006/main">
            <a:off x="8343900" y="5181600"/>
            <a:ext cx="56007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Expected: no false candidate</a:t>
            </a:r>
          </a:p>
        </p:txBody>
      </p:sp>
      <p:sp>
        <p:nvSpPr>
          <p:cNvPr id="14" name="text-9">
            <a:extLst xmlns:a="http://schemas.openxmlformats.org/drawingml/2006/main">
              <a:ext uri="{FF2B5EF4-FFF2-40B4-BE49-F238E27FC236}">
                <a16:creationId xmlns:a16="http://schemas.microsoft.com/office/drawing/2014/main" id="{FDD577EE-8ABC-42CB-AB5A-7A0DB03E2D9B}"/>
              </a:ext>
            </a:extLst>
          </p:cNvPr>
          <p:cNvSpPr>
            <a:spLocks xmlns:a="http://schemas.openxmlformats.org/drawingml/2006/main" noGrp="1"/>
          </p:cNvSpPr>
          <p:nvPr/>
        </p:nvSpPr>
        <p:spPr>
          <a:xfrm xmlns:a="http://schemas.openxmlformats.org/drawingml/2006/main">
            <a:off x="723900" y="576262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025" b="1">
                <a:solidFill>
                  <a:srgbClr val="17667B"/>
                </a:solidFill>
                <a:latin typeface="Arial"/>
                <a:ea typeface="Arial"/>
                <a:cs typeface="Arial"/>
              </a:defRPr>
            </a:pPr>
            <a:r>
              <a:rPr sz="2025" b="1">
                <a:solidFill>
                  <a:srgbClr val="17667B"/>
                </a:solidFill>
                <a:latin typeface="Arial"/>
                <a:ea typeface="Arial"/>
                <a:cs typeface="Arial"/>
              </a:rPr>
              <a:t>The HITL uses either video in the same three-step journey</a:t>
            </a:r>
          </a:p>
        </p:txBody>
      </p:sp>
      <p:sp>
        <p:nvSpPr>
          <p:cNvPr id="15" name="text-10">
            <a:extLst xmlns:a="http://schemas.openxmlformats.org/drawingml/2006/main">
              <a:ext uri="{FF2B5EF4-FFF2-40B4-BE49-F238E27FC236}">
                <a16:creationId xmlns:a16="http://schemas.microsoft.com/office/drawing/2014/main" id="{C2781AA6-12BD-4241-9278-6B6832FFCFE0}"/>
              </a:ext>
            </a:extLst>
          </p:cNvPr>
          <p:cNvSpPr>
            <a:spLocks xmlns:a="http://schemas.openxmlformats.org/drawingml/2006/main" noGrp="1"/>
          </p:cNvSpPr>
          <p:nvPr/>
        </p:nvSpPr>
        <p:spPr>
          <a:xfrm xmlns:a="http://schemas.openxmlformats.org/drawingml/2006/main">
            <a:off x="133350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1  Choose</a:t>
            </a:r>
          </a:p>
        </p:txBody>
      </p:sp>
      <p:sp>
        <p:nvSpPr>
          <p:cNvPr id="16" name="text-11">
            <a:extLst xmlns:a="http://schemas.openxmlformats.org/drawingml/2006/main">
              <a:ext uri="{FF2B5EF4-FFF2-40B4-BE49-F238E27FC236}">
                <a16:creationId xmlns:a16="http://schemas.microsoft.com/office/drawing/2014/main" id="{AAAA894F-FE24-4051-B52F-4FA959D8C1C4}"/>
              </a:ext>
            </a:extLst>
          </p:cNvPr>
          <p:cNvSpPr>
            <a:spLocks xmlns:a="http://schemas.openxmlformats.org/drawingml/2006/main" noGrp="1"/>
          </p:cNvSpPr>
          <p:nvPr/>
        </p:nvSpPr>
        <p:spPr>
          <a:xfrm xmlns:a="http://schemas.openxmlformats.org/drawingml/2006/main">
            <a:off x="133350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Select the positive or control</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video</a:t>
            </a:r>
          </a:p>
        </p:txBody>
      </p:sp>
      <p:sp>
        <p:nvSpPr>
          <p:cNvPr id="17" name="text-12">
            <a:extLst xmlns:a="http://schemas.openxmlformats.org/drawingml/2006/main">
              <a:ext uri="{FF2B5EF4-FFF2-40B4-BE49-F238E27FC236}">
                <a16:creationId xmlns:a16="http://schemas.microsoft.com/office/drawing/2014/main" id="{459001DC-33C2-4661-93D5-E5EF1EBC4BC6}"/>
              </a:ext>
            </a:extLst>
          </p:cNvPr>
          <p:cNvSpPr>
            <a:spLocks xmlns:a="http://schemas.openxmlformats.org/drawingml/2006/main" noGrp="1"/>
          </p:cNvSpPr>
          <p:nvPr/>
        </p:nvSpPr>
        <p:spPr>
          <a:xfrm xmlns:a="http://schemas.openxmlformats.org/drawingml/2006/main">
            <a:off x="561975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2  Observe</a:t>
            </a:r>
          </a:p>
        </p:txBody>
      </p:sp>
      <p:sp>
        <p:nvSpPr>
          <p:cNvPr id="18" name="text-13">
            <a:extLst xmlns:a="http://schemas.openxmlformats.org/drawingml/2006/main">
              <a:ext uri="{FF2B5EF4-FFF2-40B4-BE49-F238E27FC236}">
                <a16:creationId xmlns:a16="http://schemas.microsoft.com/office/drawing/2014/main" id="{26829CE3-8302-4A0B-9678-CE8E9AB624EA}"/>
              </a:ext>
            </a:extLst>
          </p:cNvPr>
          <p:cNvSpPr>
            <a:spLocks xmlns:a="http://schemas.openxmlformats.org/drawingml/2006/main" noGrp="1"/>
          </p:cNvSpPr>
          <p:nvPr/>
        </p:nvSpPr>
        <p:spPr>
          <a:xfrm xmlns:a="http://schemas.openxmlformats.org/drawingml/2006/main">
            <a:off x="561975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Watch playback and the provisional</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signal</a:t>
            </a:r>
          </a:p>
        </p:txBody>
      </p:sp>
      <p:sp>
        <p:nvSpPr>
          <p:cNvPr id="19" name="text-14">
            <a:extLst xmlns:a="http://schemas.openxmlformats.org/drawingml/2006/main">
              <a:ext uri="{FF2B5EF4-FFF2-40B4-BE49-F238E27FC236}">
                <a16:creationId xmlns:a16="http://schemas.microsoft.com/office/drawing/2014/main" id="{C1EDFA7F-52C5-4EE7-A78E-8559E168913D}"/>
              </a:ext>
            </a:extLst>
          </p:cNvPr>
          <p:cNvSpPr>
            <a:spLocks xmlns:a="http://schemas.openxmlformats.org/drawingml/2006/main" noGrp="1"/>
          </p:cNvSpPr>
          <p:nvPr/>
        </p:nvSpPr>
        <p:spPr>
          <a:xfrm xmlns:a="http://schemas.openxmlformats.org/drawingml/2006/main">
            <a:off x="990600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3  Review</a:t>
            </a:r>
          </a:p>
        </p:txBody>
      </p:sp>
      <p:sp>
        <p:nvSpPr>
          <p:cNvPr id="20" name="text-15">
            <a:extLst xmlns:a="http://schemas.openxmlformats.org/drawingml/2006/main">
              <a:ext uri="{FF2B5EF4-FFF2-40B4-BE49-F238E27FC236}">
                <a16:creationId xmlns:a16="http://schemas.microsoft.com/office/drawing/2014/main" id="{9CF47614-38D8-4E38-80AB-5F52A1AAF29E}"/>
              </a:ext>
            </a:extLst>
          </p:cNvPr>
          <p:cNvSpPr>
            <a:spLocks xmlns:a="http://schemas.openxmlformats.org/drawingml/2006/main" noGrp="1"/>
          </p:cNvSpPr>
          <p:nvPr/>
        </p:nvSpPr>
        <p:spPr>
          <a:xfrm xmlns:a="http://schemas.openxmlformats.org/drawingml/2006/main">
            <a:off x="990600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Inspect the report, images, and</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event log</a:t>
            </a:r>
          </a:p>
        </p:txBody>
      </p:sp>
      <p:sp>
        <p:nvSpPr>
          <p:cNvPr id="21" name="text-16">
            <a:extLst xmlns:a="http://schemas.openxmlformats.org/drawingml/2006/main">
              <a:ext uri="{FF2B5EF4-FFF2-40B4-BE49-F238E27FC236}">
                <a16:creationId xmlns:a16="http://schemas.microsoft.com/office/drawing/2014/main" id="{54FCF5AE-8104-4E94-AD1A-89E4BAA631C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2" name="text-17">
            <a:extLst xmlns:a="http://schemas.openxmlformats.org/drawingml/2006/main">
              <a:ext uri="{FF2B5EF4-FFF2-40B4-BE49-F238E27FC236}">
                <a16:creationId xmlns:a16="http://schemas.microsoft.com/office/drawing/2014/main" id="{F0D953D9-6D85-44B7-ACD2-E898C28C55F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b785b3b739046bc"/>
              </a:rPr>
              <a:t>Fixture annotations</a:t>
            </a:r>
          </a:p>
        </p:txBody>
      </p:sp>
      <p:sp>
        <p:nvSpPr>
          <p:cNvPr id="23" name="text-18">
            <a:extLst xmlns:a="http://schemas.openxmlformats.org/drawingml/2006/main">
              <a:ext uri="{FF2B5EF4-FFF2-40B4-BE49-F238E27FC236}">
                <a16:creationId xmlns:a16="http://schemas.microsoft.com/office/drawing/2014/main" id="{CD8F9775-7185-4131-99F3-D0C38BB45BF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91d86ec33cf4865"/>
              </a:rPr>
              <a:t>Fixture resources</a:t>
            </a:r>
          </a:p>
        </p:txBody>
      </p:sp>
      <p:sp>
        <p:nvSpPr>
          <p:cNvPr id="24" name="text-19">
            <a:extLst xmlns:a="http://schemas.openxmlformats.org/drawingml/2006/main">
              <a:ext uri="{FF2B5EF4-FFF2-40B4-BE49-F238E27FC236}">
                <a16:creationId xmlns:a16="http://schemas.microsoft.com/office/drawing/2014/main" id="{61B7BEAA-D11E-4BD6-B963-886F6D4B21F7}"/>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41fce1f766540b7"/>
              </a:rPr>
              <a:t>Harness screen</a:t>
            </a:r>
          </a:p>
        </p:txBody>
      </p:sp>
      <p:sp>
        <p:nvSpPr>
          <p:cNvPr id="25" name="text-20">
            <a:extLst xmlns:a="http://schemas.openxmlformats.org/drawingml/2006/main">
              <a:ext uri="{FF2B5EF4-FFF2-40B4-BE49-F238E27FC236}">
                <a16:creationId xmlns:a16="http://schemas.microsoft.com/office/drawing/2014/main" id="{75863DC3-E4D4-4607-98F2-57244268F8C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03</a:t>
            </a:r>
          </a:p>
        </p:txBody>
      </p:sp>
    </p:spTree>
    <p:extLst>
      <p:ext uri="{BB962C8B-B14F-4D97-AF65-F5344CB8AC3E}">
        <p14:creationId xmlns:p14="http://schemas.microsoft.com/office/powerpoint/2010/main" val="5652756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A8914C13-54C4-4577-9EFB-931FED0C137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How to test</a:t>
            </a:r>
          </a:p>
        </p:txBody>
      </p:sp>
      <p:sp>
        <p:nvSpPr>
          <p:cNvPr id="2" name="text-1">
            <a:extLst xmlns:a="http://schemas.openxmlformats.org/drawingml/2006/main">
              <a:ext uri="{FF2B5EF4-FFF2-40B4-BE49-F238E27FC236}">
                <a16:creationId xmlns:a16="http://schemas.microsoft.com/office/drawing/2014/main" id="{4C82B8FE-9390-4CAE-85A5-F688D1957C8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Three layers of evidence with different boundaries</a:t>
            </a:r>
          </a:p>
        </p:txBody>
      </p:sp>
      <p:sp>
        <p:nvSpPr>
          <p:cNvPr id="3" name="text-2">
            <a:extLst xmlns:a="http://schemas.openxmlformats.org/drawingml/2006/main">
              <a:ext uri="{FF2B5EF4-FFF2-40B4-BE49-F238E27FC236}">
                <a16:creationId xmlns:a16="http://schemas.microsoft.com/office/drawing/2014/main" id="{1157E797-DB77-4280-BAAC-F18E8EFFB48C}"/>
              </a:ext>
            </a:extLst>
          </p:cNvPr>
          <p:cNvSpPr>
            <a:spLocks xmlns:a="http://schemas.openxmlformats.org/drawingml/2006/main" noGrp="1"/>
          </p:cNvSpPr>
          <p:nvPr/>
        </p:nvSpPr>
        <p:spPr>
          <a:xfrm xmlns:a="http://schemas.openxmlformats.org/drawingml/2006/main">
            <a:off x="723900" y="19716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Mac pipeline gate</a:t>
            </a:r>
          </a:p>
        </p:txBody>
      </p:sp>
      <p:sp>
        <p:nvSpPr>
          <p:cNvPr id="4" name="text-3">
            <a:extLst xmlns:a="http://schemas.openxmlformats.org/drawingml/2006/main">
              <a:ext uri="{FF2B5EF4-FFF2-40B4-BE49-F238E27FC236}">
                <a16:creationId xmlns:a16="http://schemas.microsoft.com/office/drawing/2014/main" id="{26E58771-5C3C-426C-9EC4-E7CB794D5087}"/>
              </a:ext>
            </a:extLst>
          </p:cNvPr>
          <p:cNvSpPr>
            <a:spLocks xmlns:a="http://schemas.openxmlformats.org/drawingml/2006/main" noGrp="1"/>
          </p:cNvSpPr>
          <p:nvPr/>
        </p:nvSpPr>
        <p:spPr>
          <a:xfrm xmlns:a="http://schemas.openxmlformats.org/drawingml/2006/main">
            <a:off x="723900" y="24479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./e2e/ios/run.zsh</a:t>
            </a:r>
          </a:p>
        </p:txBody>
      </p:sp>
      <p:sp>
        <p:nvSpPr>
          <p:cNvPr id="5" name="text-4">
            <a:extLst xmlns:a="http://schemas.openxmlformats.org/drawingml/2006/main">
              <a:ext uri="{FF2B5EF4-FFF2-40B4-BE49-F238E27FC236}">
                <a16:creationId xmlns:a16="http://schemas.microsoft.com/office/drawing/2014/main" id="{5F9E26F4-9D16-454B-A2F5-E8DB802B8C75}"/>
              </a:ext>
            </a:extLst>
          </p:cNvPr>
          <p:cNvSpPr>
            <a:spLocks xmlns:a="http://schemas.openxmlformats.org/drawingml/2006/main" noGrp="1"/>
          </p:cNvSpPr>
          <p:nvPr/>
        </p:nvSpPr>
        <p:spPr>
          <a:xfrm xmlns:a="http://schemas.openxmlformats.org/drawingml/2006/main">
            <a:off x="723900" y="29813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Real video, real Vision, production pipeline, both fixtures</a:t>
            </a:r>
          </a:p>
        </p:txBody>
      </p:sp>
      <p:sp>
        <p:nvSpPr>
          <p:cNvPr id="6" name="">
            <a:extLst xmlns:a="http://schemas.openxmlformats.org/drawingml/2006/main">
              <a:ext uri="{FF2B5EF4-FFF2-40B4-BE49-F238E27FC236}">
                <a16:creationId xmlns:a16="http://schemas.microsoft.com/office/drawing/2014/main" id="{F0363E58-B377-46AF-80F2-7482076CB265}"/>
              </a:ext>
            </a:extLst>
          </p:cNvPr>
          <p:cNvSpPr>
            <a:spLocks xmlns:a="http://schemas.openxmlformats.org/drawingml/2006/main" noGrp="1"/>
          </p:cNvSpPr>
          <p:nvPr/>
        </p:nvSpPr>
        <p:spPr>
          <a:xfrm xmlns:a="http://schemas.openxmlformats.org/drawingml/2006/main">
            <a:off x="723900" y="35242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76DF4BB9-6B4B-472E-A2B9-0D163BFD22E4}"/>
              </a:ext>
            </a:extLst>
          </p:cNvPr>
          <p:cNvSpPr>
            <a:spLocks xmlns:a="http://schemas.openxmlformats.org/drawingml/2006/main" noGrp="1"/>
          </p:cNvSpPr>
          <p:nvPr/>
        </p:nvSpPr>
        <p:spPr>
          <a:xfrm xmlns:a="http://schemas.openxmlformats.org/drawingml/2006/main">
            <a:off x="723900" y="37623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Simulator app tests</a:t>
            </a:r>
          </a:p>
        </p:txBody>
      </p:sp>
      <p:sp>
        <p:nvSpPr>
          <p:cNvPr id="8" name="text-6">
            <a:extLst xmlns:a="http://schemas.openxmlformats.org/drawingml/2006/main">
              <a:ext uri="{FF2B5EF4-FFF2-40B4-BE49-F238E27FC236}">
                <a16:creationId xmlns:a16="http://schemas.microsoft.com/office/drawing/2014/main" id="{9817D791-AD7E-4654-BEAD-086E268510E5}"/>
              </a:ext>
            </a:extLst>
          </p:cNvPr>
          <p:cNvSpPr>
            <a:spLocks xmlns:a="http://schemas.openxmlformats.org/drawingml/2006/main" noGrp="1"/>
          </p:cNvSpPr>
          <p:nvPr/>
        </p:nvSpPr>
        <p:spPr>
          <a:xfrm xmlns:a="http://schemas.openxmlformats.org/drawingml/2006/main">
            <a:off x="723900" y="42386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AIShop-VisionDiagnostics scheme</a:t>
            </a:r>
          </a:p>
        </p:txBody>
      </p:sp>
      <p:sp>
        <p:nvSpPr>
          <p:cNvPr id="9" name="text-7">
            <a:extLst xmlns:a="http://schemas.openxmlformats.org/drawingml/2006/main">
              <a:ext uri="{FF2B5EF4-FFF2-40B4-BE49-F238E27FC236}">
                <a16:creationId xmlns:a16="http://schemas.microsoft.com/office/drawing/2014/main" id="{49EEDCB1-678D-448C-8286-BCDE617310CD}"/>
              </a:ext>
            </a:extLst>
          </p:cNvPr>
          <p:cNvSpPr>
            <a:spLocks xmlns:a="http://schemas.openxmlformats.org/drawingml/2006/main" noGrp="1"/>
          </p:cNvSpPr>
          <p:nvPr/>
        </p:nvSpPr>
        <p:spPr>
          <a:xfrm xmlns:a="http://schemas.openxmlformats.org/drawingml/2006/main">
            <a:off x="723900" y="47720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Startup isolation and harness-model behavior</a:t>
            </a:r>
          </a:p>
        </p:txBody>
      </p:sp>
      <p:sp>
        <p:nvSpPr>
          <p:cNvPr id="10" name="">
            <a:extLst xmlns:a="http://schemas.openxmlformats.org/drawingml/2006/main">
              <a:ext uri="{FF2B5EF4-FFF2-40B4-BE49-F238E27FC236}">
                <a16:creationId xmlns:a16="http://schemas.microsoft.com/office/drawing/2014/main" id="{571D159F-0025-452E-B322-292990021DDC}"/>
              </a:ext>
            </a:extLst>
          </p:cNvPr>
          <p:cNvSpPr>
            <a:spLocks xmlns:a="http://schemas.openxmlformats.org/drawingml/2006/main" noGrp="1"/>
          </p:cNvSpPr>
          <p:nvPr/>
        </p:nvSpPr>
        <p:spPr>
          <a:xfrm xmlns:a="http://schemas.openxmlformats.org/drawingml/2006/main">
            <a:off x="723900" y="53149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8A75758D-E5E2-4421-B165-BA450CADF332}"/>
              </a:ext>
            </a:extLst>
          </p:cNvPr>
          <p:cNvSpPr>
            <a:spLocks xmlns:a="http://schemas.openxmlformats.org/drawingml/2006/main" noGrp="1"/>
          </p:cNvSpPr>
          <p:nvPr/>
        </p:nvSpPr>
        <p:spPr>
          <a:xfrm xmlns:a="http://schemas.openxmlformats.org/drawingml/2006/main">
            <a:off x="723900" y="55530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Physical iPhone</a:t>
            </a:r>
          </a:p>
        </p:txBody>
      </p:sp>
      <p:sp>
        <p:nvSpPr>
          <p:cNvPr id="12" name="text-9">
            <a:extLst xmlns:a="http://schemas.openxmlformats.org/drawingml/2006/main">
              <a:ext uri="{FF2B5EF4-FFF2-40B4-BE49-F238E27FC236}">
                <a16:creationId xmlns:a16="http://schemas.microsoft.com/office/drawing/2014/main" id="{3F5C2077-FE5E-4793-8F24-2B9509BFFBB8}"/>
              </a:ext>
            </a:extLst>
          </p:cNvPr>
          <p:cNvSpPr>
            <a:spLocks xmlns:a="http://schemas.openxmlformats.org/drawingml/2006/main" noGrp="1"/>
          </p:cNvSpPr>
          <p:nvPr/>
        </p:nvSpPr>
        <p:spPr>
          <a:xfrm xmlns:a="http://schemas.openxmlformats.org/drawingml/2006/main">
            <a:off x="723900" y="60293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Both fixtures and exported logs</a:t>
            </a:r>
          </a:p>
        </p:txBody>
      </p:sp>
      <p:sp>
        <p:nvSpPr>
          <p:cNvPr id="13" name="text-10">
            <a:extLst xmlns:a="http://schemas.openxmlformats.org/drawingml/2006/main">
              <a:ext uri="{FF2B5EF4-FFF2-40B4-BE49-F238E27FC236}">
                <a16:creationId xmlns:a16="http://schemas.microsoft.com/office/drawing/2014/main" id="{FCAADBA2-CD16-477B-9C4D-2696787992D4}"/>
              </a:ext>
            </a:extLst>
          </p:cNvPr>
          <p:cNvSpPr>
            <a:spLocks xmlns:a="http://schemas.openxmlformats.org/drawingml/2006/main" noGrp="1"/>
          </p:cNvSpPr>
          <p:nvPr/>
        </p:nvSpPr>
        <p:spPr>
          <a:xfrm xmlns:a="http://schemas.openxmlformats.org/drawingml/2006/main">
            <a:off x="723900" y="65627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Required demonstration and host comparison remain pending</a:t>
            </a:r>
          </a:p>
        </p:txBody>
      </p:sp>
      <p:sp>
        <p:nvSpPr>
          <p:cNvPr id="14" name="text-11">
            <a:extLst xmlns:a="http://schemas.openxmlformats.org/drawingml/2006/main">
              <a:ext uri="{FF2B5EF4-FFF2-40B4-BE49-F238E27FC236}">
                <a16:creationId xmlns:a16="http://schemas.microsoft.com/office/drawing/2014/main" id="{B827EA25-1F1A-48FB-9826-71BD8D47491D}"/>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805500"/>
                </a:solidFill>
                <a:latin typeface="Arial"/>
                <a:ea typeface="Arial"/>
                <a:cs typeface="Arial"/>
              </a:defRPr>
            </a:pPr>
            <a:r>
              <a:rPr sz="1875" b="0">
                <a:solidFill>
                  <a:srgbClr val="805500"/>
                </a:solidFill>
                <a:latin typeface="Arial"/>
                <a:ea typeface="Arial"/>
                <a:cs typeface="Arial"/>
              </a:rPr>
              <a:t>Package integration is not full app-and-device end-to-end acceptance.</a:t>
            </a:r>
          </a:p>
        </p:txBody>
      </p:sp>
      <p:sp>
        <p:nvSpPr>
          <p:cNvPr id="15" name="text-12">
            <a:extLst xmlns:a="http://schemas.openxmlformats.org/drawingml/2006/main">
              <a:ext uri="{FF2B5EF4-FFF2-40B4-BE49-F238E27FC236}">
                <a16:creationId xmlns:a16="http://schemas.microsoft.com/office/drawing/2014/main" id="{187E6300-5131-4409-A224-A19270256D5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3">
            <a:extLst xmlns:a="http://schemas.openxmlformats.org/drawingml/2006/main">
              <a:ext uri="{FF2B5EF4-FFF2-40B4-BE49-F238E27FC236}">
                <a16:creationId xmlns:a16="http://schemas.microsoft.com/office/drawing/2014/main" id="{635FAC78-F24A-426C-8CE3-0A601F38A8B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a1d6fa16e9245a6"/>
              </a:rPr>
              <a:t>Mac gate</a:t>
            </a:r>
          </a:p>
        </p:txBody>
      </p:sp>
      <p:sp>
        <p:nvSpPr>
          <p:cNvPr id="17" name="text-14">
            <a:extLst xmlns:a="http://schemas.openxmlformats.org/drawingml/2006/main">
              <a:ext uri="{FF2B5EF4-FFF2-40B4-BE49-F238E27FC236}">
                <a16:creationId xmlns:a16="http://schemas.microsoft.com/office/drawing/2014/main" id="{B034EC51-04BC-4E64-B97C-7507C22C6AF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d0082b67d754caf"/>
              </a:rPr>
              <a:t>Integration tests</a:t>
            </a:r>
          </a:p>
        </p:txBody>
      </p:sp>
      <p:sp>
        <p:nvSpPr>
          <p:cNvPr id="18" name="text-15">
            <a:extLst xmlns:a="http://schemas.openxmlformats.org/drawingml/2006/main">
              <a:ext uri="{FF2B5EF4-FFF2-40B4-BE49-F238E27FC236}">
                <a16:creationId xmlns:a16="http://schemas.microsoft.com/office/drawing/2014/main" id="{7F82A591-A224-4A23-B100-D416A4F826B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04bd115fcfe47f0"/>
              </a:rPr>
              <a:t>App tests</a:t>
            </a:r>
          </a:p>
        </p:txBody>
      </p:sp>
      <p:sp>
        <p:nvSpPr>
          <p:cNvPr id="19" name="text-16">
            <a:extLst xmlns:a="http://schemas.openxmlformats.org/drawingml/2006/main">
              <a:ext uri="{FF2B5EF4-FFF2-40B4-BE49-F238E27FC236}">
                <a16:creationId xmlns:a16="http://schemas.microsoft.com/office/drawing/2014/main" id="{028D1D00-A71A-4E96-9F27-1FF6790077E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04</a:t>
            </a:r>
          </a:p>
        </p:txBody>
      </p:sp>
    </p:spTree>
    <p:extLst>
      <p:ext uri="{BB962C8B-B14F-4D97-AF65-F5344CB8AC3E}">
        <p14:creationId xmlns:p14="http://schemas.microsoft.com/office/powerpoint/2010/main" val="20974926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8FF730E4-93D0-482F-A21E-AA848DB3FC6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High-level architecture</a:t>
            </a:r>
          </a:p>
        </p:txBody>
      </p:sp>
      <p:sp>
        <p:nvSpPr>
          <p:cNvPr id="2" name="text-1">
            <a:extLst xmlns:a="http://schemas.openxmlformats.org/drawingml/2006/main">
              <a:ext uri="{FF2B5EF4-FFF2-40B4-BE49-F238E27FC236}">
                <a16:creationId xmlns:a16="http://schemas.microsoft.com/office/drawing/2014/main" id="{7A0B15A5-967D-45E5-81EF-CCDD1596A8C7}"/>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Shared processing with separate hosts and evaluation</a:t>
            </a:r>
          </a:p>
        </p:txBody>
      </p:sp>
      <p:sp>
        <p:nvSpPr>
          <p:cNvPr id="3" name="">
            <a:extLst xmlns:a="http://schemas.openxmlformats.org/drawingml/2006/main">
              <a:ext uri="{FF2B5EF4-FFF2-40B4-BE49-F238E27FC236}">
                <a16:creationId xmlns:a16="http://schemas.microsoft.com/office/drawing/2014/main" id="{C337BAA3-92FB-4EB1-8C4A-43AC7F6E97A0}"/>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4B8F7510-BFD0-4597-A1EC-53F2BDCC099B}"/>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Mac tests or iPhone debug harness</a:t>
            </a:r>
          </a:p>
        </p:txBody>
      </p:sp>
      <p:sp>
        <p:nvSpPr>
          <p:cNvPr id="5" name="text-3">
            <a:extLst xmlns:a="http://schemas.openxmlformats.org/drawingml/2006/main">
              <a:ext uri="{FF2B5EF4-FFF2-40B4-BE49-F238E27FC236}">
                <a16:creationId xmlns:a16="http://schemas.microsoft.com/office/drawing/2014/main" id="{D5A3BD38-BB4A-4931-BD22-D7040454D8E8}"/>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Select local inputs and call the same pipeline</a:t>
            </a:r>
          </a:p>
        </p:txBody>
      </p:sp>
      <p:sp>
        <p:nvSpPr>
          <p:cNvPr id="6" name="">
            <a:extLst xmlns:a="http://schemas.openxmlformats.org/drawingml/2006/main">
              <a:ext uri="{FF2B5EF4-FFF2-40B4-BE49-F238E27FC236}">
                <a16:creationId xmlns:a16="http://schemas.microsoft.com/office/drawing/2014/main" id="{B64821BE-AB2E-46F3-881E-98057310F803}"/>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FAEF61F-CA16-4FDB-AB95-C02DE5F15E0A}"/>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F9626580-EC48-468B-B0B1-32BD68C53EB0}"/>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Frame stream and target catalog</a:t>
            </a:r>
          </a:p>
        </p:txBody>
      </p:sp>
      <p:sp>
        <p:nvSpPr>
          <p:cNvPr id="9" name="text-5">
            <a:extLst xmlns:a="http://schemas.openxmlformats.org/drawingml/2006/main">
              <a:ext uri="{FF2B5EF4-FFF2-40B4-BE49-F238E27FC236}">
                <a16:creationId xmlns:a16="http://schemas.microsoft.com/office/drawing/2014/main" id="{F8EFA108-B052-4A7C-95F5-7E00A97C5A5E}"/>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Timestamped images and one cached reference feature</a:t>
            </a:r>
          </a:p>
        </p:txBody>
      </p:sp>
      <p:sp>
        <p:nvSpPr>
          <p:cNvPr id="10" name="">
            <a:extLst xmlns:a="http://schemas.openxmlformats.org/drawingml/2006/main">
              <a:ext uri="{FF2B5EF4-FFF2-40B4-BE49-F238E27FC236}">
                <a16:creationId xmlns:a16="http://schemas.microsoft.com/office/drawing/2014/main" id="{4B85F725-D162-400F-8426-105E8A9250B8}"/>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3542314-0C3D-412C-9053-F54D5A3B94AB}"/>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BBBB0949-1812-48DE-91D1-07CAD21C094C}"/>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Scorer</a:t>
            </a:r>
          </a:p>
        </p:txBody>
      </p:sp>
      <p:sp>
        <p:nvSpPr>
          <p:cNvPr id="13" name="text-7">
            <a:extLst xmlns:a="http://schemas.openxmlformats.org/drawingml/2006/main">
              <a:ext uri="{FF2B5EF4-FFF2-40B4-BE49-F238E27FC236}">
                <a16:creationId xmlns:a16="http://schemas.microsoft.com/office/drawing/2014/main" id="{F2CED16F-63B8-46F8-9098-32DFA0E5055C}"/>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Whole-frame and central-crop Vision distances</a:t>
            </a:r>
          </a:p>
        </p:txBody>
      </p:sp>
      <p:sp>
        <p:nvSpPr>
          <p:cNvPr id="14" name="">
            <a:extLst xmlns:a="http://schemas.openxmlformats.org/drawingml/2006/main">
              <a:ext uri="{FF2B5EF4-FFF2-40B4-BE49-F238E27FC236}">
                <a16:creationId xmlns:a16="http://schemas.microsoft.com/office/drawing/2014/main" id="{557BA838-5B10-44FE-A7B1-0C2DD2ED1BC0}"/>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5007635-CA5A-4518-980F-321E3F77F3AA}"/>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FE2BD146-4F29-4E91-89DF-51FF84779137}"/>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Episode aggregator</a:t>
            </a:r>
          </a:p>
        </p:txBody>
      </p:sp>
      <p:sp>
        <p:nvSpPr>
          <p:cNvPr id="17" name="text-9">
            <a:extLst xmlns:a="http://schemas.openxmlformats.org/drawingml/2006/main">
              <a:ext uri="{FF2B5EF4-FFF2-40B4-BE49-F238E27FC236}">
                <a16:creationId xmlns:a16="http://schemas.microsoft.com/office/drawing/2014/main" id="{6D32639D-3659-49DC-9A4D-767F8423C239}"/>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Require repeated support and retain the strongest frame</a:t>
            </a:r>
          </a:p>
        </p:txBody>
      </p:sp>
      <p:sp>
        <p:nvSpPr>
          <p:cNvPr id="18" name="">
            <a:extLst xmlns:a="http://schemas.openxmlformats.org/drawingml/2006/main">
              <a:ext uri="{FF2B5EF4-FFF2-40B4-BE49-F238E27FC236}">
                <a16:creationId xmlns:a16="http://schemas.microsoft.com/office/drawing/2014/main" id="{064E5624-BC24-4FB0-A9F7-04D7DC46E5D5}"/>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730F3F7-85BC-4441-B693-426DCCCAF20F}"/>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98933F94-A40A-4D2D-8C26-4AC4854AC51B}"/>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and report</a:t>
            </a:r>
          </a:p>
        </p:txBody>
      </p:sp>
      <p:sp>
        <p:nvSpPr>
          <p:cNvPr id="21" name="text-11">
            <a:extLst xmlns:a="http://schemas.openxmlformats.org/drawingml/2006/main">
              <a:ext uri="{FF2B5EF4-FFF2-40B4-BE49-F238E27FC236}">
                <a16:creationId xmlns:a16="http://schemas.microsoft.com/office/drawing/2014/main" id="{BC7E5E1C-F3CA-4731-98C1-09367BCE044A}"/>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Ordered events, replayable report, separate JPEG evidence</a:t>
            </a:r>
          </a:p>
        </p:txBody>
      </p:sp>
      <p:sp>
        <p:nvSpPr>
          <p:cNvPr id="22" name="text-12">
            <a:extLst xmlns:a="http://schemas.openxmlformats.org/drawingml/2006/main">
              <a:ext uri="{FF2B5EF4-FFF2-40B4-BE49-F238E27FC236}">
                <a16:creationId xmlns:a16="http://schemas.microsoft.com/office/drawing/2014/main" id="{7BA1462A-4295-4CDF-9179-4C076DA78B88}"/>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annotation evaluator stays outside the production package.</a:t>
            </a:r>
          </a:p>
        </p:txBody>
      </p:sp>
      <p:sp>
        <p:nvSpPr>
          <p:cNvPr id="23" name="text-13">
            <a:extLst xmlns:a="http://schemas.openxmlformats.org/drawingml/2006/main">
              <a:ext uri="{FF2B5EF4-FFF2-40B4-BE49-F238E27FC236}">
                <a16:creationId xmlns:a16="http://schemas.microsoft.com/office/drawing/2014/main" id="{DD626B93-63E6-4739-A897-5B7D89CA652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9DE9FB69-88D0-4DE6-946C-BCA0321D57F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fe061078bc44e2e"/>
              </a:rPr>
              <a:t>Core package</a:t>
            </a:r>
          </a:p>
        </p:txBody>
      </p:sp>
      <p:sp>
        <p:nvSpPr>
          <p:cNvPr id="25" name="text-15">
            <a:extLst xmlns:a="http://schemas.openxmlformats.org/drawingml/2006/main">
              <a:ext uri="{FF2B5EF4-FFF2-40B4-BE49-F238E27FC236}">
                <a16:creationId xmlns:a16="http://schemas.microsoft.com/office/drawing/2014/main" id="{CB8D484E-59D7-491A-AEEA-DDE7EE04A14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358b40d8e374ece"/>
              </a:rPr>
              <a:t>Harness</a:t>
            </a:r>
          </a:p>
        </p:txBody>
      </p:sp>
      <p:sp>
        <p:nvSpPr>
          <p:cNvPr id="26" name="text-16">
            <a:extLst xmlns:a="http://schemas.openxmlformats.org/drawingml/2006/main">
              <a:ext uri="{FF2B5EF4-FFF2-40B4-BE49-F238E27FC236}">
                <a16:creationId xmlns:a16="http://schemas.microsoft.com/office/drawing/2014/main" id="{0CAF4AF3-8E75-4189-9F03-70D02DB63842}"/>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5fe85d189af4a2b"/>
              </a:rPr>
              <a:t>Evaluator</a:t>
            </a:r>
          </a:p>
        </p:txBody>
      </p:sp>
      <p:sp>
        <p:nvSpPr>
          <p:cNvPr id="27" name="text-17">
            <a:extLst xmlns:a="http://schemas.openxmlformats.org/drawingml/2006/main">
              <a:ext uri="{FF2B5EF4-FFF2-40B4-BE49-F238E27FC236}">
                <a16:creationId xmlns:a16="http://schemas.microsoft.com/office/drawing/2014/main" id="{CF298DDA-90A0-400E-B7A0-ED97FDDEC88D}"/>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05</a:t>
            </a:r>
          </a:p>
        </p:txBody>
      </p:sp>
    </p:spTree>
    <p:extLst>
      <p:ext uri="{BB962C8B-B14F-4D97-AF65-F5344CB8AC3E}">
        <p14:creationId xmlns:p14="http://schemas.microsoft.com/office/powerpoint/2010/main" val="17538641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BF9BEEBB-7DB5-41AE-A959-D59FC4D59DC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frame through the pipeline</a:t>
            </a:r>
          </a:p>
        </p:txBody>
      </p:sp>
      <p:sp>
        <p:nvSpPr>
          <p:cNvPr id="2" name="text-1">
            <a:extLst xmlns:a="http://schemas.openxmlformats.org/drawingml/2006/main">
              <a:ext uri="{FF2B5EF4-FFF2-40B4-BE49-F238E27FC236}">
                <a16:creationId xmlns:a16="http://schemas.microsoft.com/office/drawing/2014/main" id="{559DC5AB-A68A-4F34-A6B9-75E241BA2BA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order of work is also the order of evidence</a:t>
            </a:r>
          </a:p>
        </p:txBody>
      </p:sp>
      <p:sp>
        <p:nvSpPr>
          <p:cNvPr id="3" name="">
            <a:extLst xmlns:a="http://schemas.openxmlformats.org/drawingml/2006/main">
              <a:ext uri="{FF2B5EF4-FFF2-40B4-BE49-F238E27FC236}">
                <a16:creationId xmlns:a16="http://schemas.microsoft.com/office/drawing/2014/main" id="{45694032-2899-455E-BF47-FEE43C8EEB4C}"/>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BF4672F2-5397-4CF3-AF59-3B9D838FE743}"/>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Receive and sample</a:t>
            </a:r>
          </a:p>
        </p:txBody>
      </p:sp>
      <p:sp>
        <p:nvSpPr>
          <p:cNvPr id="5" name="text-3">
            <a:extLst xmlns:a="http://schemas.openxmlformats.org/drawingml/2006/main">
              <a:ext uri="{FF2B5EF4-FFF2-40B4-BE49-F238E27FC236}">
                <a16:creationId xmlns:a16="http://schemas.microsoft.com/office/drawing/2014/main" id="{38DFF9E2-B129-40D9-87F5-002FCE552FA9}"/>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Record whether the decoded frame is eligible</a:t>
            </a:r>
          </a:p>
        </p:txBody>
      </p:sp>
      <p:sp>
        <p:nvSpPr>
          <p:cNvPr id="6" name="">
            <a:extLst xmlns:a="http://schemas.openxmlformats.org/drawingml/2006/main">
              <a:ext uri="{FF2B5EF4-FFF2-40B4-BE49-F238E27FC236}">
                <a16:creationId xmlns:a16="http://schemas.microsoft.com/office/drawing/2014/main" id="{EF9CB0EA-7F87-4EAE-B4A6-8CC651394799}"/>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0948023-5044-489C-9362-442E087D98FB}"/>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95C47C7A-95E6-456F-B157-912BE9215AE6}"/>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Measure</a:t>
            </a:r>
          </a:p>
        </p:txBody>
      </p:sp>
      <p:sp>
        <p:nvSpPr>
          <p:cNvPr id="9" name="text-5">
            <a:extLst xmlns:a="http://schemas.openxmlformats.org/drawingml/2006/main">
              <a:ext uri="{FF2B5EF4-FFF2-40B4-BE49-F238E27FC236}">
                <a16:creationId xmlns:a16="http://schemas.microsoft.com/office/drawing/2014/main" id="{51B742AA-45E0-4C23-9938-A72A9007E6A0}"/>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Produce whole-frame and crop distances</a:t>
            </a:r>
          </a:p>
        </p:txBody>
      </p:sp>
      <p:sp>
        <p:nvSpPr>
          <p:cNvPr id="10" name="">
            <a:extLst xmlns:a="http://schemas.openxmlformats.org/drawingml/2006/main">
              <a:ext uri="{FF2B5EF4-FFF2-40B4-BE49-F238E27FC236}">
                <a16:creationId xmlns:a16="http://schemas.microsoft.com/office/drawing/2014/main" id="{123D81A6-A54F-4413-AE52-F2561006903E}"/>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7A0A258-AA48-4DB1-A3D5-A42E233056F4}"/>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D24F4048-775D-4AF8-945A-936A04FD653A}"/>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Aggregate</a:t>
            </a:r>
          </a:p>
        </p:txBody>
      </p:sp>
      <p:sp>
        <p:nvSpPr>
          <p:cNvPr id="13" name="text-7">
            <a:extLst xmlns:a="http://schemas.openxmlformats.org/drawingml/2006/main">
              <a:ext uri="{FF2B5EF4-FFF2-40B4-BE49-F238E27FC236}">
                <a16:creationId xmlns:a16="http://schemas.microsoft.com/office/drawing/2014/main" id="{3F1DD0B3-306B-4A58-AAC5-A215C2594F76}"/>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Open, update, or close a candidate episode</a:t>
            </a:r>
          </a:p>
        </p:txBody>
      </p:sp>
      <p:sp>
        <p:nvSpPr>
          <p:cNvPr id="14" name="">
            <a:extLst xmlns:a="http://schemas.openxmlformats.org/drawingml/2006/main">
              <a:ext uri="{FF2B5EF4-FFF2-40B4-BE49-F238E27FC236}">
                <a16:creationId xmlns:a16="http://schemas.microsoft.com/office/drawing/2014/main" id="{D24CA420-BBA0-4C40-A19C-9F587F6C8B0B}"/>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BBF8CC9-020A-4458-9A08-9BBC1AA4C9D9}"/>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611D1EEA-925E-4EF7-8E96-66E963D0EE23}"/>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Retain and record</a:t>
            </a:r>
          </a:p>
        </p:txBody>
      </p:sp>
      <p:sp>
        <p:nvSpPr>
          <p:cNvPr id="17" name="text-9">
            <a:extLst xmlns:a="http://schemas.openxmlformats.org/drawingml/2006/main">
              <a:ext uri="{FF2B5EF4-FFF2-40B4-BE49-F238E27FC236}">
                <a16:creationId xmlns:a16="http://schemas.microsoft.com/office/drawing/2014/main" id="{722AD0F9-1CA7-41FF-9F5C-9E2314C0176D}"/>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Save best-image evidence before logging its episode event</a:t>
            </a:r>
          </a:p>
        </p:txBody>
      </p:sp>
      <p:sp>
        <p:nvSpPr>
          <p:cNvPr id="18" name="">
            <a:extLst xmlns:a="http://schemas.openxmlformats.org/drawingml/2006/main">
              <a:ext uri="{FF2B5EF4-FFF2-40B4-BE49-F238E27FC236}">
                <a16:creationId xmlns:a16="http://schemas.microsoft.com/office/drawing/2014/main" id="{5C87AE08-FAC7-4363-B060-B0BE462BDB36}"/>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93B27C1-D634-48B8-B300-C8203C0A3313}"/>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0137C6C1-D10C-4514-B649-90A5F22FB74C}"/>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Publish</a:t>
            </a:r>
          </a:p>
        </p:txBody>
      </p:sp>
      <p:sp>
        <p:nvSpPr>
          <p:cNvPr id="21" name="text-11">
            <a:extLst xmlns:a="http://schemas.openxmlformats.org/drawingml/2006/main">
              <a:ext uri="{FF2B5EF4-FFF2-40B4-BE49-F238E27FC236}">
                <a16:creationId xmlns:a16="http://schemas.microsoft.com/office/drawing/2014/main" id="{ABDB9EAD-C797-43E1-B75D-B9F6203FCBBC}"/>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Send the latest score, signal, and metrics to the host</a:t>
            </a:r>
          </a:p>
        </p:txBody>
      </p:sp>
      <p:sp>
        <p:nvSpPr>
          <p:cNvPr id="22" name="text-12">
            <a:extLst xmlns:a="http://schemas.openxmlformats.org/drawingml/2006/main">
              <a:ext uri="{FF2B5EF4-FFF2-40B4-BE49-F238E27FC236}">
                <a16:creationId xmlns:a16="http://schemas.microsoft.com/office/drawing/2014/main" id="{2284D503-9013-4920-A83E-A3E35E3D98F8}"/>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First update arrives before EOF. The pipeline never needs a second video pass.</a:t>
            </a:r>
          </a:p>
        </p:txBody>
      </p:sp>
      <p:sp>
        <p:nvSpPr>
          <p:cNvPr id="23" name="text-13">
            <a:extLst xmlns:a="http://schemas.openxmlformats.org/drawingml/2006/main">
              <a:ext uri="{FF2B5EF4-FFF2-40B4-BE49-F238E27FC236}">
                <a16:creationId xmlns:a16="http://schemas.microsoft.com/office/drawing/2014/main" id="{791C907F-3DFA-44BA-AF66-DE3D47D6A07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755C88D9-05E1-40FB-9240-EDD353EDB1F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6682409e8a94377"/>
              </a:rPr>
              <a:t>Pipeline source</a:t>
            </a:r>
          </a:p>
        </p:txBody>
      </p:sp>
      <p:sp>
        <p:nvSpPr>
          <p:cNvPr id="25" name="text-15">
            <a:extLst xmlns:a="http://schemas.openxmlformats.org/drawingml/2006/main">
              <a:ext uri="{FF2B5EF4-FFF2-40B4-BE49-F238E27FC236}">
                <a16:creationId xmlns:a16="http://schemas.microsoft.com/office/drawing/2014/main" id="{1C4D8558-D90B-4235-A151-1A25859166C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71fd387204c4446"/>
              </a:rPr>
              <a:t>Recorder</a:t>
            </a:r>
          </a:p>
        </p:txBody>
      </p:sp>
      <p:sp>
        <p:nvSpPr>
          <p:cNvPr id="26" name="text-16">
            <a:extLst xmlns:a="http://schemas.openxmlformats.org/drawingml/2006/main">
              <a:ext uri="{FF2B5EF4-FFF2-40B4-BE49-F238E27FC236}">
                <a16:creationId xmlns:a16="http://schemas.microsoft.com/office/drawing/2014/main" id="{23E43E3B-719D-4E90-ABAD-52202ADB00A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6ba090828274202"/>
              </a:rPr>
              <a:t>Pipeline tests</a:t>
            </a:r>
          </a:p>
        </p:txBody>
      </p:sp>
      <p:sp>
        <p:nvSpPr>
          <p:cNvPr id="27" name="text-17">
            <a:extLst xmlns:a="http://schemas.openxmlformats.org/drawingml/2006/main">
              <a:ext uri="{FF2B5EF4-FFF2-40B4-BE49-F238E27FC236}">
                <a16:creationId xmlns:a16="http://schemas.microsoft.com/office/drawing/2014/main" id="{99EC5048-5051-4889-934E-EB08B4C689B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06</a:t>
            </a:r>
          </a:p>
        </p:txBody>
      </p:sp>
    </p:spTree>
    <p:extLst>
      <p:ext uri="{BB962C8B-B14F-4D97-AF65-F5344CB8AC3E}">
        <p14:creationId xmlns:p14="http://schemas.microsoft.com/office/powerpoint/2010/main" val="2551799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C926A0E6-A6DB-4EDB-8067-9B082D6C364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Concurrency and ownership</a:t>
            </a:r>
          </a:p>
        </p:txBody>
      </p:sp>
      <p:sp>
        <p:nvSpPr>
          <p:cNvPr id="2" name="text-1">
            <a:extLst xmlns:a="http://schemas.openxmlformats.org/drawingml/2006/main">
              <a:ext uri="{FF2B5EF4-FFF2-40B4-BE49-F238E27FC236}">
                <a16:creationId xmlns:a16="http://schemas.microsoft.com/office/drawing/2014/main" id="{E47D6FBD-745D-44EB-B24F-717D194A4B67}"/>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Analysis work stays outside the UI actor</a:t>
            </a:r>
          </a:p>
        </p:txBody>
      </p:sp>
      <p:sp>
        <p:nvSpPr>
          <p:cNvPr id="3" name="">
            <a:extLst xmlns:a="http://schemas.openxmlformats.org/drawingml/2006/main">
              <a:ext uri="{FF2B5EF4-FFF2-40B4-BE49-F238E27FC236}">
                <a16:creationId xmlns:a16="http://schemas.microsoft.com/office/drawing/2014/main" id="{1AC83610-697B-4A3D-87C2-6660DD81AC58}"/>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1AF5CDB9-6B77-4287-8DD6-731EFB152AB5}"/>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UI on the main actor</a:t>
            </a:r>
          </a:p>
        </p:txBody>
      </p:sp>
      <p:sp>
        <p:nvSpPr>
          <p:cNvPr id="5" name="text-3">
            <a:extLst xmlns:a="http://schemas.openxmlformats.org/drawingml/2006/main">
              <a:ext uri="{FF2B5EF4-FFF2-40B4-BE49-F238E27FC236}">
                <a16:creationId xmlns:a16="http://schemas.microsoft.com/office/drawing/2014/main" id="{9823284A-CD6A-4A43-82B7-77268D134242}"/>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Start one run and display published updates</a:t>
            </a:r>
          </a:p>
        </p:txBody>
      </p:sp>
      <p:sp>
        <p:nvSpPr>
          <p:cNvPr id="6" name="">
            <a:extLst xmlns:a="http://schemas.openxmlformats.org/drawingml/2006/main">
              <a:ext uri="{FF2B5EF4-FFF2-40B4-BE49-F238E27FC236}">
                <a16:creationId xmlns:a16="http://schemas.microsoft.com/office/drawing/2014/main" id="{895B157D-C6F3-4BA3-B7A8-0BEAAF425D74}"/>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511B402-45C3-4024-B0E3-603D13A5E15A}"/>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52F04085-FA0A-4D3C-BC8A-7B6DF6B9F53A}"/>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Detached pipeline worker</a:t>
            </a:r>
          </a:p>
        </p:txBody>
      </p:sp>
      <p:sp>
        <p:nvSpPr>
          <p:cNvPr id="9" name="text-5">
            <a:extLst xmlns:a="http://schemas.openxmlformats.org/drawingml/2006/main">
              <a:ext uri="{FF2B5EF4-FFF2-40B4-BE49-F238E27FC236}">
                <a16:creationId xmlns:a16="http://schemas.microsoft.com/office/drawing/2014/main" id="{25B2A478-5C0F-4636-B226-F3E2FEB78B98}"/>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Coordinate scoring, episodes, images, and reporting</a:t>
            </a:r>
          </a:p>
        </p:txBody>
      </p:sp>
      <p:sp>
        <p:nvSpPr>
          <p:cNvPr id="10" name="">
            <a:extLst xmlns:a="http://schemas.openxmlformats.org/drawingml/2006/main">
              <a:ext uri="{FF2B5EF4-FFF2-40B4-BE49-F238E27FC236}">
                <a16:creationId xmlns:a16="http://schemas.microsoft.com/office/drawing/2014/main" id="{3A7B5218-7C58-4CA5-A289-A78446DB52C1}"/>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3693287-D95C-4855-ADEF-4784CACD16E5}"/>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B3BE8235-59D8-4905-8CF7-2AB2353D35AF}"/>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Optional paced producer</a:t>
            </a:r>
          </a:p>
        </p:txBody>
      </p:sp>
      <p:sp>
        <p:nvSpPr>
          <p:cNvPr id="13" name="text-7">
            <a:extLst xmlns:a="http://schemas.openxmlformats.org/drawingml/2006/main">
              <a:ext uri="{FF2B5EF4-FFF2-40B4-BE49-F238E27FC236}">
                <a16:creationId xmlns:a16="http://schemas.microsoft.com/office/drawing/2014/main" id="{0A142C5A-E3F2-466C-9C4E-10756370F7C9}"/>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One consumer plus one replaceable pending frame</a:t>
            </a:r>
          </a:p>
        </p:txBody>
      </p:sp>
      <p:sp>
        <p:nvSpPr>
          <p:cNvPr id="14" name="">
            <a:extLst xmlns:a="http://schemas.openxmlformats.org/drawingml/2006/main">
              <a:ext uri="{FF2B5EF4-FFF2-40B4-BE49-F238E27FC236}">
                <a16:creationId xmlns:a16="http://schemas.microsoft.com/office/drawing/2014/main" id="{70B4141C-963D-4786-AE18-E05F7A87F962}"/>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9E83D3E-84C6-4334-855D-8304691A0392}"/>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8C11C44F-EEF7-4E73-8739-99C0CB596B0A}"/>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Serialized recorder</a:t>
            </a:r>
          </a:p>
        </p:txBody>
      </p:sp>
      <p:sp>
        <p:nvSpPr>
          <p:cNvPr id="17" name="text-9">
            <a:extLst xmlns:a="http://schemas.openxmlformats.org/drawingml/2006/main">
              <a:ext uri="{FF2B5EF4-FFF2-40B4-BE49-F238E27FC236}">
                <a16:creationId xmlns:a16="http://schemas.microsoft.com/office/drawing/2014/main" id="{CBDC2316-5303-4614-A798-76FCE94B0DC5}"/>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Concurrent callbacks share one append-and-update lock</a:t>
            </a:r>
          </a:p>
        </p:txBody>
      </p:sp>
      <p:sp>
        <p:nvSpPr>
          <p:cNvPr id="18" name="">
            <a:extLst xmlns:a="http://schemas.openxmlformats.org/drawingml/2006/main">
              <a:ext uri="{FF2B5EF4-FFF2-40B4-BE49-F238E27FC236}">
                <a16:creationId xmlns:a16="http://schemas.microsoft.com/office/drawing/2014/main" id="{9E3A2928-FE74-4D18-8568-2335E74BF77C}"/>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1D7382E-7946-4EB5-BA17-3CA807A1F555}"/>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1F33FEC3-6F12-4B84-9E92-B18001928F6B}"/>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Main-actor update</a:t>
            </a:r>
          </a:p>
        </p:txBody>
      </p:sp>
      <p:sp>
        <p:nvSpPr>
          <p:cNvPr id="21" name="text-11">
            <a:extLst xmlns:a="http://schemas.openxmlformats.org/drawingml/2006/main">
              <a:ext uri="{FF2B5EF4-FFF2-40B4-BE49-F238E27FC236}">
                <a16:creationId xmlns:a16="http://schemas.microsoft.com/office/drawing/2014/main" id="{DAAEFBE4-3729-434D-AFD6-ED5F23A182C5}"/>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Generation token rejects results from an obsolete run</a:t>
            </a:r>
          </a:p>
        </p:txBody>
      </p:sp>
      <p:sp>
        <p:nvSpPr>
          <p:cNvPr id="22" name="text-12">
            <a:extLst xmlns:a="http://schemas.openxmlformats.org/drawingml/2006/main">
              <a:ext uri="{FF2B5EF4-FFF2-40B4-BE49-F238E27FC236}">
                <a16:creationId xmlns:a16="http://schemas.microsoft.com/office/drawing/2014/main" id="{47DCD5B3-1E6B-4662-A5E1-0E74B46DA584}"/>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Caller cancellation reaches both the stream and detached worker.</a:t>
            </a:r>
          </a:p>
        </p:txBody>
      </p:sp>
      <p:sp>
        <p:nvSpPr>
          <p:cNvPr id="23" name="text-13">
            <a:extLst xmlns:a="http://schemas.openxmlformats.org/drawingml/2006/main">
              <a:ext uri="{FF2B5EF4-FFF2-40B4-BE49-F238E27FC236}">
                <a16:creationId xmlns:a16="http://schemas.microsoft.com/office/drawing/2014/main" id="{DB75410D-E250-4ACE-97C8-78518C1F0C2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71CA54CB-72E1-4BC8-A8AB-55CF290AB3F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c8a6df1edc84997"/>
              </a:rPr>
              <a:t>Pipeline</a:t>
            </a:r>
          </a:p>
        </p:txBody>
      </p:sp>
      <p:sp>
        <p:nvSpPr>
          <p:cNvPr id="25" name="text-15">
            <a:extLst xmlns:a="http://schemas.openxmlformats.org/drawingml/2006/main">
              <a:ext uri="{FF2B5EF4-FFF2-40B4-BE49-F238E27FC236}">
                <a16:creationId xmlns:a16="http://schemas.microsoft.com/office/drawing/2014/main" id="{9911826F-1795-448C-9B23-F614228C37D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d690cd7d91640ea"/>
              </a:rPr>
              <a:t>Recorder</a:t>
            </a:r>
          </a:p>
        </p:txBody>
      </p:sp>
      <p:sp>
        <p:nvSpPr>
          <p:cNvPr id="26" name="text-16">
            <a:extLst xmlns:a="http://schemas.openxmlformats.org/drawingml/2006/main">
              <a:ext uri="{FF2B5EF4-FFF2-40B4-BE49-F238E27FC236}">
                <a16:creationId xmlns:a16="http://schemas.microsoft.com/office/drawing/2014/main" id="{F9D04F0E-9860-4288-8567-CA62889F615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75d967471344fd9"/>
              </a:rPr>
              <a:t>Harness model</a:t>
            </a:r>
          </a:p>
        </p:txBody>
      </p:sp>
      <p:sp>
        <p:nvSpPr>
          <p:cNvPr id="27" name="text-17">
            <a:extLst xmlns:a="http://schemas.openxmlformats.org/drawingml/2006/main">
              <a:ext uri="{FF2B5EF4-FFF2-40B4-BE49-F238E27FC236}">
                <a16:creationId xmlns:a16="http://schemas.microsoft.com/office/drawing/2014/main" id="{9FFBCD91-50C6-450E-9AE2-6BE57B17BB3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07</a:t>
            </a:r>
          </a:p>
        </p:txBody>
      </p:sp>
    </p:spTree>
    <p:extLst>
      <p:ext uri="{BB962C8B-B14F-4D97-AF65-F5344CB8AC3E}">
        <p14:creationId xmlns:p14="http://schemas.microsoft.com/office/powerpoint/2010/main" val="667091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09282F08-3718-41E1-857D-043F680AE94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frame-stream contract</a:t>
            </a:r>
          </a:p>
        </p:txBody>
      </p:sp>
      <p:sp>
        <p:nvSpPr>
          <p:cNvPr id="2" name="text-1">
            <a:extLst xmlns:a="http://schemas.openxmlformats.org/drawingml/2006/main">
              <a:ext uri="{FF2B5EF4-FFF2-40B4-BE49-F238E27FC236}">
                <a16:creationId xmlns:a16="http://schemas.microsoft.com/office/drawing/2014/main" id="{FA1CCA89-5470-4611-ADB5-27885DB57BE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2: from local video to visual evidence</a:t>
            </a:r>
          </a:p>
        </p:txBody>
      </p:sp>
      <p:sp>
        <p:nvSpPr>
          <p:cNvPr id="3" name="text-2">
            <a:extLst xmlns:a="http://schemas.openxmlformats.org/drawingml/2006/main">
              <a:ext uri="{FF2B5EF4-FFF2-40B4-BE49-F238E27FC236}">
                <a16:creationId xmlns:a16="http://schemas.microsoft.com/office/drawing/2014/main" id="{E4FEE5C7-0116-4D7D-B8B0-C2DAFECF54D6}"/>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Identity</a:t>
            </a:r>
          </a:p>
        </p:txBody>
      </p:sp>
      <p:sp>
        <p:nvSpPr>
          <p:cNvPr id="4" name="text-3">
            <a:extLst xmlns:a="http://schemas.openxmlformats.org/drawingml/2006/main">
              <a:ext uri="{FF2B5EF4-FFF2-40B4-BE49-F238E27FC236}">
                <a16:creationId xmlns:a16="http://schemas.microsoft.com/office/drawing/2014/main" id="{175FDAE8-6671-4792-A72C-3ED8E4B52D1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ID plus the original media timestamp</a:t>
            </a:r>
          </a:p>
        </p:txBody>
      </p:sp>
      <p:sp>
        <p:nvSpPr>
          <p:cNvPr id="5" name="">
            <a:extLst xmlns:a="http://schemas.openxmlformats.org/drawingml/2006/main">
              <a:ext uri="{FF2B5EF4-FFF2-40B4-BE49-F238E27FC236}">
                <a16:creationId xmlns:a16="http://schemas.microsoft.com/office/drawing/2014/main" id="{88EB502B-9DA8-4D92-922B-7DF0473B2244}"/>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22B3329F-51DD-447D-ABD6-573621C5B1EC}"/>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Time</a:t>
            </a:r>
          </a:p>
        </p:txBody>
      </p:sp>
      <p:sp>
        <p:nvSpPr>
          <p:cNvPr id="7" name="text-5">
            <a:extLst xmlns:a="http://schemas.openxmlformats.org/drawingml/2006/main">
              <a:ext uri="{FF2B5EF4-FFF2-40B4-BE49-F238E27FC236}">
                <a16:creationId xmlns:a16="http://schemas.microsoft.com/office/drawing/2014/main" id="{9B119B41-0C86-4D43-A8F5-E7F0947BDE0D}"/>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Seconds within the video, not wall-clock time</a:t>
            </a:r>
          </a:p>
        </p:txBody>
      </p:sp>
      <p:sp>
        <p:nvSpPr>
          <p:cNvPr id="8" name="">
            <a:extLst xmlns:a="http://schemas.openxmlformats.org/drawingml/2006/main">
              <a:ext uri="{FF2B5EF4-FFF2-40B4-BE49-F238E27FC236}">
                <a16:creationId xmlns:a16="http://schemas.microsoft.com/office/drawing/2014/main" id="{3D91CB9A-D0AB-4494-88C0-22853C50A2F6}"/>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846CE3D3-BEAC-435A-A0F9-D5815DC8E418}"/>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Sample index</a:t>
            </a:r>
          </a:p>
        </p:txBody>
      </p:sp>
      <p:sp>
        <p:nvSpPr>
          <p:cNvPr id="10" name="text-7">
            <a:extLst xmlns:a="http://schemas.openxmlformats.org/drawingml/2006/main">
              <a:ext uri="{FF2B5EF4-FFF2-40B4-BE49-F238E27FC236}">
                <a16:creationId xmlns:a16="http://schemas.microsoft.com/office/drawing/2014/main" id="{4084C57D-615C-48B6-97FC-2A8D12A63D8E}"/>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Eligible sample slot; a gap means work was missed</a:t>
            </a:r>
          </a:p>
        </p:txBody>
      </p:sp>
      <p:sp>
        <p:nvSpPr>
          <p:cNvPr id="11" name="">
            <a:extLst xmlns:a="http://schemas.openxmlformats.org/drawingml/2006/main">
              <a:ext uri="{FF2B5EF4-FFF2-40B4-BE49-F238E27FC236}">
                <a16:creationId xmlns:a16="http://schemas.microsoft.com/office/drawing/2014/main" id="{4FAF915F-BBE7-4218-88F5-D2519B01A575}"/>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C1D37BA5-2489-45F7-A312-D1409BBB1AB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Pixels</a:t>
            </a:r>
          </a:p>
        </p:txBody>
      </p:sp>
      <p:sp>
        <p:nvSpPr>
          <p:cNvPr id="13" name="text-9">
            <a:extLst xmlns:a="http://schemas.openxmlformats.org/drawingml/2006/main">
              <a:ext uri="{FF2B5EF4-FFF2-40B4-BE49-F238E27FC236}">
                <a16:creationId xmlns:a16="http://schemas.microsoft.com/office/drawing/2014/main" id="{DBA03DA3-CFB4-40B2-BAD1-7B346D5F0E3A}"/>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decoded image passed to one async consumer</a:t>
            </a:r>
          </a:p>
        </p:txBody>
      </p:sp>
      <p:sp>
        <p:nvSpPr>
          <p:cNvPr id="14" name="text-10">
            <a:extLst xmlns:a="http://schemas.openxmlformats.org/drawingml/2006/main">
              <a:ext uri="{FF2B5EF4-FFF2-40B4-BE49-F238E27FC236}">
                <a16:creationId xmlns:a16="http://schemas.microsoft.com/office/drawing/2014/main" id="{6BDD6B27-E4C9-4CD0-A1FA-EA1FBC7709F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27418DD6-4326-485E-A2B6-A837FE5CC03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0d4f54995d940cd"/>
              </a:rPr>
              <a:t>Frame contract</a:t>
            </a:r>
          </a:p>
        </p:txBody>
      </p:sp>
      <p:sp>
        <p:nvSpPr>
          <p:cNvPr id="16" name="text-12">
            <a:extLst xmlns:a="http://schemas.openxmlformats.org/drawingml/2006/main">
              <a:ext uri="{FF2B5EF4-FFF2-40B4-BE49-F238E27FC236}">
                <a16:creationId xmlns:a16="http://schemas.microsoft.com/office/drawing/2014/main" id="{CA5936ED-89AF-4D87-B688-8002D0DE584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61fc933127e49f7"/>
              </a:rPr>
              <a:t>Frame stream</a:t>
            </a:r>
          </a:p>
        </p:txBody>
      </p:sp>
      <p:sp>
        <p:nvSpPr>
          <p:cNvPr id="17" name="text-13">
            <a:extLst xmlns:a="http://schemas.openxmlformats.org/drawingml/2006/main">
              <a:ext uri="{FF2B5EF4-FFF2-40B4-BE49-F238E27FC236}">
                <a16:creationId xmlns:a16="http://schemas.microsoft.com/office/drawing/2014/main" id="{EEF8D55D-501F-4A13-A738-93F7E0F994F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37263c592734589"/>
              </a:rPr>
              <a:t>Stream tests</a:t>
            </a:r>
          </a:p>
        </p:txBody>
      </p:sp>
      <p:sp>
        <p:nvSpPr>
          <p:cNvPr id="18" name="text-14">
            <a:extLst xmlns:a="http://schemas.openxmlformats.org/drawingml/2006/main">
              <a:ext uri="{FF2B5EF4-FFF2-40B4-BE49-F238E27FC236}">
                <a16:creationId xmlns:a16="http://schemas.microsoft.com/office/drawing/2014/main" id="{67C5CF91-A6C2-4404-87CD-E92686BCDF5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08</a:t>
            </a:r>
          </a:p>
        </p:txBody>
      </p:sp>
    </p:spTree>
    <p:extLst>
      <p:ext uri="{BB962C8B-B14F-4D97-AF65-F5344CB8AC3E}">
        <p14:creationId xmlns:p14="http://schemas.microsoft.com/office/powerpoint/2010/main" val="9909257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284FFB2B-1CA4-450C-9095-9D116D8CD69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Incremental video decoding</a:t>
            </a:r>
          </a:p>
        </p:txBody>
      </p:sp>
      <p:sp>
        <p:nvSpPr>
          <p:cNvPr id="2" name="text-1">
            <a:extLst xmlns:a="http://schemas.openxmlformats.org/drawingml/2006/main">
              <a:ext uri="{FF2B5EF4-FFF2-40B4-BE49-F238E27FC236}">
                <a16:creationId xmlns:a16="http://schemas.microsoft.com/office/drawing/2014/main" id="{1224DE29-03A2-4645-8099-E08466FA5D8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VideoFixtureFrameStream owns input delivery</a:t>
            </a:r>
          </a:p>
        </p:txBody>
      </p:sp>
      <p:sp>
        <p:nvSpPr>
          <p:cNvPr id="3" name="">
            <a:extLst xmlns:a="http://schemas.openxmlformats.org/drawingml/2006/main">
              <a:ext uri="{FF2B5EF4-FFF2-40B4-BE49-F238E27FC236}">
                <a16:creationId xmlns:a16="http://schemas.microsoft.com/office/drawing/2014/main" id="{86D83577-C337-40FB-A111-3E452E7C97AF}"/>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F32114C8-AA37-4086-82CB-0758EBD6CDBC}"/>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the local video track</a:t>
            </a:r>
          </a:p>
        </p:txBody>
      </p:sp>
      <p:sp>
        <p:nvSpPr>
          <p:cNvPr id="5" name="text-3">
            <a:extLst xmlns:a="http://schemas.openxmlformats.org/drawingml/2006/main">
              <a:ext uri="{FF2B5EF4-FFF2-40B4-BE49-F238E27FC236}">
                <a16:creationId xmlns:a16="http://schemas.microsoft.com/office/drawing/2014/main" id="{1501D2A9-A984-4618-AFAB-09C910053696}"/>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AVAssetReader decodes incrementally</a:t>
            </a:r>
          </a:p>
        </p:txBody>
      </p:sp>
      <p:sp>
        <p:nvSpPr>
          <p:cNvPr id="6" name="">
            <a:extLst xmlns:a="http://schemas.openxmlformats.org/drawingml/2006/main">
              <a:ext uri="{FF2B5EF4-FFF2-40B4-BE49-F238E27FC236}">
                <a16:creationId xmlns:a16="http://schemas.microsoft.com/office/drawing/2014/main" id="{4D74621E-2152-44A5-BF29-EE2C725EF9D9}"/>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6C64517-8D81-4214-B071-EE6D12A3BBB2}"/>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DADA4F77-8B44-4B9F-AE80-2D847903CD96}"/>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Read its presentation timestamp</a:t>
            </a:r>
          </a:p>
        </p:txBody>
      </p:sp>
      <p:sp>
        <p:nvSpPr>
          <p:cNvPr id="9" name="text-5">
            <a:extLst xmlns:a="http://schemas.openxmlformats.org/drawingml/2006/main">
              <a:ext uri="{FF2B5EF4-FFF2-40B4-BE49-F238E27FC236}">
                <a16:creationId xmlns:a16="http://schemas.microsoft.com/office/drawing/2014/main" id="{C5121095-3FD9-4B0E-8BE4-DF4B977CC8CE}"/>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Keep media identity and received-frame accounting</a:t>
            </a:r>
          </a:p>
        </p:txBody>
      </p:sp>
      <p:sp>
        <p:nvSpPr>
          <p:cNvPr id="10" name="">
            <a:extLst xmlns:a="http://schemas.openxmlformats.org/drawingml/2006/main">
              <a:ext uri="{FF2B5EF4-FFF2-40B4-BE49-F238E27FC236}">
                <a16:creationId xmlns:a16="http://schemas.microsoft.com/office/drawing/2014/main" id="{4EBB4104-81E9-482F-8815-DF4457E8E86F}"/>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AAEDD60-D445-4435-ADA1-9E728BE88CCA}"/>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FB3A0E72-3328-46D8-A104-E16E3D64A8C2}"/>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Select an eligible sample slot</a:t>
            </a:r>
          </a:p>
        </p:txBody>
      </p:sp>
      <p:sp>
        <p:nvSpPr>
          <p:cNvPr id="13" name="text-7">
            <a:extLst xmlns:a="http://schemas.openxmlformats.org/drawingml/2006/main">
              <a:ext uri="{FF2B5EF4-FFF2-40B4-BE49-F238E27FC236}">
                <a16:creationId xmlns:a16="http://schemas.microsoft.com/office/drawing/2014/main" id="{74841EA0-58D4-4E20-9B6C-0B66294E5723}"/>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Default cadence: 2 frames per second</a:t>
            </a:r>
          </a:p>
        </p:txBody>
      </p:sp>
      <p:sp>
        <p:nvSpPr>
          <p:cNvPr id="14" name="">
            <a:extLst xmlns:a="http://schemas.openxmlformats.org/drawingml/2006/main">
              <a:ext uri="{FF2B5EF4-FFF2-40B4-BE49-F238E27FC236}">
                <a16:creationId xmlns:a16="http://schemas.microsoft.com/office/drawing/2014/main" id="{0457902B-FC18-46FF-9A6F-016FF437A2BF}"/>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C3E20E8-3978-4201-AFCE-3033133D0A9A}"/>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A938613E-4C3A-4620-A734-77DD9598CCA8}"/>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Create an image and deliver it</a:t>
            </a:r>
          </a:p>
        </p:txBody>
      </p:sp>
      <p:sp>
        <p:nvSpPr>
          <p:cNvPr id="17" name="text-9">
            <a:extLst xmlns:a="http://schemas.openxmlformats.org/drawingml/2006/main">
              <a:ext uri="{FF2B5EF4-FFF2-40B4-BE49-F238E27FC236}">
                <a16:creationId xmlns:a16="http://schemas.microsoft.com/office/drawing/2014/main" id="{BBDB7999-C9A8-48CC-8E1C-523BA429F4EB}"/>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Continue without loading the complete video</a:t>
            </a:r>
          </a:p>
        </p:txBody>
      </p:sp>
      <p:sp>
        <p:nvSpPr>
          <p:cNvPr id="18" name="text-10">
            <a:extLst xmlns:a="http://schemas.openxmlformats.org/drawingml/2006/main">
              <a:ext uri="{FF2B5EF4-FFF2-40B4-BE49-F238E27FC236}">
                <a16:creationId xmlns:a16="http://schemas.microsoft.com/office/drawing/2014/main" id="{C037DBCC-D178-48A1-8A4E-A105898C72FA}"/>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Invalid rate, unreadable video, or decode failure is an error.</a:t>
            </a:r>
          </a:p>
        </p:txBody>
      </p:sp>
      <p:sp>
        <p:nvSpPr>
          <p:cNvPr id="19" name="text-11">
            <a:extLst xmlns:a="http://schemas.openxmlformats.org/drawingml/2006/main">
              <a:ext uri="{FF2B5EF4-FFF2-40B4-BE49-F238E27FC236}">
                <a16:creationId xmlns:a16="http://schemas.microsoft.com/office/drawing/2014/main" id="{AABA26D4-5C02-49E9-AD28-7A474BD3C96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3BE26BC8-8FFE-4B13-8CF5-92D948ED180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35a4fb075004587"/>
              </a:rPr>
              <a:t>Stream implementation</a:t>
            </a:r>
          </a:p>
        </p:txBody>
      </p:sp>
      <p:sp>
        <p:nvSpPr>
          <p:cNvPr id="21" name="text-13">
            <a:extLst xmlns:a="http://schemas.openxmlformats.org/drawingml/2006/main">
              <a:ext uri="{FF2B5EF4-FFF2-40B4-BE49-F238E27FC236}">
                <a16:creationId xmlns:a16="http://schemas.microsoft.com/office/drawing/2014/main" id="{66C92BFB-34CA-4B30-878B-8B51A89B84F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4e05ed84bc747f2"/>
              </a:rPr>
              <a:t>Stream tests</a:t>
            </a:r>
          </a:p>
        </p:txBody>
      </p:sp>
      <p:sp>
        <p:nvSpPr>
          <p:cNvPr id="22" name="text-14">
            <a:extLst xmlns:a="http://schemas.openxmlformats.org/drawingml/2006/main">
              <a:ext uri="{FF2B5EF4-FFF2-40B4-BE49-F238E27FC236}">
                <a16:creationId xmlns:a16="http://schemas.microsoft.com/office/drawing/2014/main" id="{81D9B349-F803-4819-AB32-0E7C7FF32A6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09</a:t>
            </a:r>
          </a:p>
        </p:txBody>
      </p:sp>
    </p:spTree>
    <p:extLst>
      <p:ext uri="{BB962C8B-B14F-4D97-AF65-F5344CB8AC3E}">
        <p14:creationId xmlns:p14="http://schemas.microsoft.com/office/powerpoint/2010/main" val="13372195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5595A22F-1FC2-42C8-9CC7-72D0068BEA0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Replay under load</a:t>
            </a:r>
          </a:p>
        </p:txBody>
      </p:sp>
      <p:sp>
        <p:nvSpPr>
          <p:cNvPr id="2" name="text-1">
            <a:extLst xmlns:a="http://schemas.openxmlformats.org/drawingml/2006/main">
              <a:ext uri="{FF2B5EF4-FFF2-40B4-BE49-F238E27FC236}">
                <a16:creationId xmlns:a16="http://schemas.microsoft.com/office/drawing/2014/main" id="{8EBE5AFF-2BA0-4976-BA1C-4FDAE99BC3F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bounded queue favors current evidence</a:t>
            </a:r>
          </a:p>
        </p:txBody>
      </p:sp>
      <p:sp>
        <p:nvSpPr>
          <p:cNvPr id="3" name="text-2">
            <a:extLst xmlns:a="http://schemas.openxmlformats.org/drawingml/2006/main">
              <a:ext uri="{FF2B5EF4-FFF2-40B4-BE49-F238E27FC236}">
                <a16:creationId xmlns:a16="http://schemas.microsoft.com/office/drawing/2014/main" id="{13125FD2-A8AE-4422-8B6A-45B385F2B005}"/>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25E8AFDB-4345-43A9-91B1-41BEA0835778}"/>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Deterministic mode waits for the consumer</a:t>
            </a:r>
          </a:p>
        </p:txBody>
      </p:sp>
      <p:sp>
        <p:nvSpPr>
          <p:cNvPr id="5" name="text-4">
            <a:extLst xmlns:a="http://schemas.openxmlformats.org/drawingml/2006/main">
              <a:ext uri="{FF2B5EF4-FFF2-40B4-BE49-F238E27FC236}">
                <a16:creationId xmlns:a16="http://schemas.microsoft.com/office/drawing/2014/main" id="{A35C705C-C1FE-49F0-A7F9-ACC9D6FFAC47}"/>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051DF1D1-DF0F-41F2-8534-71F61973DEEA}"/>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Paced mode keeps one pending eligible frame</a:t>
            </a:r>
          </a:p>
        </p:txBody>
      </p:sp>
      <p:sp>
        <p:nvSpPr>
          <p:cNvPr id="7" name="text-6">
            <a:extLst xmlns:a="http://schemas.openxmlformats.org/drawingml/2006/main">
              <a:ext uri="{FF2B5EF4-FFF2-40B4-BE49-F238E27FC236}">
                <a16:creationId xmlns:a16="http://schemas.microsoft.com/office/drawing/2014/main" id="{F542016D-9A2E-4881-9E86-3931F2CCFF1F}"/>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F34FEB35-ED27-4C94-9501-542036B88070}"/>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A newer pending frame replaces stale work</a:t>
            </a:r>
          </a:p>
        </p:txBody>
      </p:sp>
      <p:sp>
        <p:nvSpPr>
          <p:cNvPr id="9" name="text-8">
            <a:extLst xmlns:a="http://schemas.openxmlformats.org/drawingml/2006/main">
              <a:ext uri="{FF2B5EF4-FFF2-40B4-BE49-F238E27FC236}">
                <a16:creationId xmlns:a16="http://schemas.microsoft.com/office/drawing/2014/main" id="{A9681A82-2F16-4F3D-B615-E39387545564}"/>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44048AB9-F9B1-49C7-949F-5612C4068071}"/>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27D603EE-85B1-4AE4-AB17-CBEF95E0E3E9}"/>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(frames, continuation) = AsyncThrowingStream&lt;VideoFrame, Error&gt;.makeStream(</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bufferingPolicy: .bufferingNewest(1))</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if case .dropped(let old) = continuation.yield(frame)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try self.drop(old, observer: observer)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B767E32C-0784-4D1C-AF22-E357EA64B97F}"/>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Slow-consumer tests force drops and then stop</a:t>
            </a:r>
          </a:p>
        </p:txBody>
      </p:sp>
      <p:sp>
        <p:nvSpPr>
          <p:cNvPr id="13" name="text-11">
            <a:extLst xmlns:a="http://schemas.openxmlformats.org/drawingml/2006/main">
              <a:ext uri="{FF2B5EF4-FFF2-40B4-BE49-F238E27FC236}">
                <a16:creationId xmlns:a16="http://schemas.microsoft.com/office/drawing/2014/main" id="{BE0D5C57-2BC1-450F-9F24-321B61AEC265}"/>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Received = skipped + dropped + analyzed in a successful session.</a:t>
            </a:r>
          </a:p>
        </p:txBody>
      </p:sp>
      <p:sp>
        <p:nvSpPr>
          <p:cNvPr id="14" name="text-12">
            <a:extLst xmlns:a="http://schemas.openxmlformats.org/drawingml/2006/main">
              <a:ext uri="{FF2B5EF4-FFF2-40B4-BE49-F238E27FC236}">
                <a16:creationId xmlns:a16="http://schemas.microsoft.com/office/drawing/2014/main" id="{9D6BF7ED-AD0F-4FC9-8854-B0AD0A8CD56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14CF0A9E-037E-445A-99CB-B6373FEE8F7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146b4105bd243b2"/>
              </a:rPr>
              <a:t>Stream implementation</a:t>
            </a:r>
          </a:p>
        </p:txBody>
      </p:sp>
      <p:sp>
        <p:nvSpPr>
          <p:cNvPr id="16" name="text-14">
            <a:extLst xmlns:a="http://schemas.openxmlformats.org/drawingml/2006/main">
              <a:ext uri="{FF2B5EF4-FFF2-40B4-BE49-F238E27FC236}">
                <a16:creationId xmlns:a16="http://schemas.microsoft.com/office/drawing/2014/main" id="{A1E718E5-0D6F-4DD8-A8BD-7CA9EF90267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21dfd0826534fc3"/>
              </a:rPr>
              <a:t>Integration suite</a:t>
            </a:r>
          </a:p>
        </p:txBody>
      </p:sp>
      <p:sp>
        <p:nvSpPr>
          <p:cNvPr id="17" name="text-15">
            <a:extLst xmlns:a="http://schemas.openxmlformats.org/drawingml/2006/main">
              <a:ext uri="{FF2B5EF4-FFF2-40B4-BE49-F238E27FC236}">
                <a16:creationId xmlns:a16="http://schemas.microsoft.com/office/drawing/2014/main" id="{F5402198-532A-4717-AFE8-3E09EB6A8BC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abe764c2a2740f1"/>
              </a:rPr>
              <a:t>Report builder</a:t>
            </a:r>
          </a:p>
        </p:txBody>
      </p:sp>
      <p:sp>
        <p:nvSpPr>
          <p:cNvPr id="18" name="text-16">
            <a:extLst xmlns:a="http://schemas.openxmlformats.org/drawingml/2006/main">
              <a:ext uri="{FF2B5EF4-FFF2-40B4-BE49-F238E27FC236}">
                <a16:creationId xmlns:a16="http://schemas.microsoft.com/office/drawing/2014/main" id="{EE0A535E-C20B-4EAB-BFD0-0B07D9F270D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10</a:t>
            </a:r>
          </a:p>
        </p:txBody>
      </p:sp>
    </p:spTree>
    <p:extLst>
      <p:ext uri="{BB962C8B-B14F-4D97-AF65-F5344CB8AC3E}">
        <p14:creationId xmlns:p14="http://schemas.microsoft.com/office/powerpoint/2010/main" val="35143585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1441E62E-806A-4584-A3AD-4866F84E2AA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local target catalog</a:t>
            </a:r>
          </a:p>
        </p:txBody>
      </p:sp>
      <p:sp>
        <p:nvSpPr>
          <p:cNvPr id="2" name="text-1">
            <a:extLst xmlns:a="http://schemas.openxmlformats.org/drawingml/2006/main">
              <a:ext uri="{FF2B5EF4-FFF2-40B4-BE49-F238E27FC236}">
                <a16:creationId xmlns:a16="http://schemas.microsoft.com/office/drawing/2014/main" id="{65D40705-C9D6-4D24-A5A9-4208C2D5B30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reference descriptor, computed once</a:t>
            </a:r>
          </a:p>
        </p:txBody>
      </p:sp>
      <p:sp>
        <p:nvSpPr>
          <p:cNvPr id="3" name="text-2">
            <a:extLst xmlns:a="http://schemas.openxmlformats.org/drawingml/2006/main">
              <a:ext uri="{FF2B5EF4-FFF2-40B4-BE49-F238E27FC236}">
                <a16:creationId xmlns:a16="http://schemas.microsoft.com/office/drawing/2014/main" id="{DC88FC90-3F71-476F-9409-9181AFAB2A6F}"/>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Input</a:t>
            </a:r>
          </a:p>
        </p:txBody>
      </p:sp>
      <p:sp>
        <p:nvSpPr>
          <p:cNvPr id="4" name="text-3">
            <a:extLst xmlns:a="http://schemas.openxmlformats.org/drawingml/2006/main">
              <a:ext uri="{FF2B5EF4-FFF2-40B4-BE49-F238E27FC236}">
                <a16:creationId xmlns:a16="http://schemas.microsoft.com/office/drawing/2014/main" id="{E966330C-B182-42C0-A5E4-6B1CF5DD4433}"/>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caller-supplied local reference-image URL</a:t>
            </a:r>
          </a:p>
        </p:txBody>
      </p:sp>
      <p:sp>
        <p:nvSpPr>
          <p:cNvPr id="5" name="">
            <a:extLst xmlns:a="http://schemas.openxmlformats.org/drawingml/2006/main">
              <a:ext uri="{FF2B5EF4-FFF2-40B4-BE49-F238E27FC236}">
                <a16:creationId xmlns:a16="http://schemas.microsoft.com/office/drawing/2014/main" id="{2247BEF2-3843-48B5-A49C-E5B71B224603}"/>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50FA0E33-976E-4DDC-9348-31FAA38E6922}"/>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Output</a:t>
            </a:r>
          </a:p>
        </p:txBody>
      </p:sp>
      <p:sp>
        <p:nvSpPr>
          <p:cNvPr id="7" name="text-5">
            <a:extLst xmlns:a="http://schemas.openxmlformats.org/drawingml/2006/main">
              <a:ext uri="{FF2B5EF4-FFF2-40B4-BE49-F238E27FC236}">
                <a16:creationId xmlns:a16="http://schemas.microsoft.com/office/drawing/2014/main" id="{80F36A58-5F60-43A4-BD56-A23F32C3BA4D}"/>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Product identity, reference hash, cached feature print</a:t>
            </a:r>
          </a:p>
        </p:txBody>
      </p:sp>
      <p:sp>
        <p:nvSpPr>
          <p:cNvPr id="8" name="">
            <a:extLst xmlns:a="http://schemas.openxmlformats.org/drawingml/2006/main">
              <a:ext uri="{FF2B5EF4-FFF2-40B4-BE49-F238E27FC236}">
                <a16:creationId xmlns:a16="http://schemas.microsoft.com/office/drawing/2014/main" id="{C540510D-A299-4D9A-B739-B5EED6F42AF3}"/>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D95D489-8087-4D58-8660-D8E400FFAB64}"/>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Responsibility</a:t>
            </a:r>
          </a:p>
        </p:txBody>
      </p:sp>
      <p:sp>
        <p:nvSpPr>
          <p:cNvPr id="10" name="text-7">
            <a:extLst xmlns:a="http://schemas.openxmlformats.org/drawingml/2006/main">
              <a:ext uri="{FF2B5EF4-FFF2-40B4-BE49-F238E27FC236}">
                <a16:creationId xmlns:a16="http://schemas.microsoft.com/office/drawing/2014/main" id="{BCEB4B2E-CE4E-47C8-84A6-D08E9D80D901}"/>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Load the banana reference and reuse its descriptor</a:t>
            </a:r>
          </a:p>
        </p:txBody>
      </p:sp>
      <p:sp>
        <p:nvSpPr>
          <p:cNvPr id="11" name="">
            <a:extLst xmlns:a="http://schemas.openxmlformats.org/drawingml/2006/main">
              <a:ext uri="{FF2B5EF4-FFF2-40B4-BE49-F238E27FC236}">
                <a16:creationId xmlns:a16="http://schemas.microsoft.com/office/drawing/2014/main" id="{89565CA9-F9E4-4DED-B029-C300D67D5C6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C3FAD3FD-5B94-4A3B-958D-787D70B21E0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42DE1ADD-1FF4-4778-B97F-20DB5BE9C506}"/>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app bundle lookup, network request, or annotation access</a:t>
            </a:r>
          </a:p>
        </p:txBody>
      </p:sp>
      <p:sp>
        <p:nvSpPr>
          <p:cNvPr id="14" name="text-10">
            <a:extLst xmlns:a="http://schemas.openxmlformats.org/drawingml/2006/main">
              <a:ext uri="{FF2B5EF4-FFF2-40B4-BE49-F238E27FC236}">
                <a16:creationId xmlns:a16="http://schemas.microsoft.com/office/drawing/2014/main" id="{5385BDCE-494F-42F6-9285-3B2D218D4AC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8B393752-6A13-42C4-AC5F-1DA8F8153BA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96dab26ad6f4291"/>
              </a:rPr>
              <a:t>Local catalog</a:t>
            </a:r>
          </a:p>
        </p:txBody>
      </p:sp>
      <p:sp>
        <p:nvSpPr>
          <p:cNvPr id="16" name="text-12">
            <a:extLst xmlns:a="http://schemas.openxmlformats.org/drawingml/2006/main">
              <a:ext uri="{FF2B5EF4-FFF2-40B4-BE49-F238E27FC236}">
                <a16:creationId xmlns:a16="http://schemas.microsoft.com/office/drawing/2014/main" id="{41D8F159-C8C1-4CBE-868E-9D817B7BB81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6811e7de1fc4095"/>
              </a:rPr>
              <a:t>Catalog tests</a:t>
            </a:r>
          </a:p>
        </p:txBody>
      </p:sp>
      <p:sp>
        <p:nvSpPr>
          <p:cNvPr id="17" name="text-13">
            <a:extLst xmlns:a="http://schemas.openxmlformats.org/drawingml/2006/main">
              <a:ext uri="{FF2B5EF4-FFF2-40B4-BE49-F238E27FC236}">
                <a16:creationId xmlns:a16="http://schemas.microsoft.com/office/drawing/2014/main" id="{5F932841-A219-4A77-B808-B19B65FF715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7e9eb21e4994d15"/>
              </a:rPr>
              <a:t>Diagnostic inputs</a:t>
            </a:r>
          </a:p>
        </p:txBody>
      </p:sp>
      <p:sp>
        <p:nvSpPr>
          <p:cNvPr id="18" name="text-14">
            <a:extLst xmlns:a="http://schemas.openxmlformats.org/drawingml/2006/main">
              <a:ext uri="{FF2B5EF4-FFF2-40B4-BE49-F238E27FC236}">
                <a16:creationId xmlns:a16="http://schemas.microsoft.com/office/drawing/2014/main" id="{FB53D4B9-27E9-49D1-A722-A510243AE9D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11</a:t>
            </a:r>
          </a:p>
        </p:txBody>
      </p:sp>
    </p:spTree>
    <p:extLst>
      <p:ext uri="{BB962C8B-B14F-4D97-AF65-F5344CB8AC3E}">
        <p14:creationId xmlns:p14="http://schemas.microsoft.com/office/powerpoint/2010/main" val="193621086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931953FB-CCD5-42CD-8829-92E08711598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Vision adapter</a:t>
            </a:r>
          </a:p>
        </p:txBody>
      </p:sp>
      <p:sp>
        <p:nvSpPr>
          <p:cNvPr id="2" name="text-1">
            <a:extLst xmlns:a="http://schemas.openxmlformats.org/drawingml/2006/main">
              <a:ext uri="{FF2B5EF4-FFF2-40B4-BE49-F238E27FC236}">
                <a16:creationId xmlns:a16="http://schemas.microsoft.com/office/drawing/2014/main" id="{7824ACF5-E25E-4CD5-87B1-43C1EC47BC6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small boundary around Apple's feature-print request</a:t>
            </a:r>
          </a:p>
        </p:txBody>
      </p:sp>
      <p:sp>
        <p:nvSpPr>
          <p:cNvPr id="3" name="text-2">
            <a:extLst xmlns:a="http://schemas.openxmlformats.org/drawingml/2006/main">
              <a:ext uri="{FF2B5EF4-FFF2-40B4-BE49-F238E27FC236}">
                <a16:creationId xmlns:a16="http://schemas.microsoft.com/office/drawing/2014/main" id="{9EA28770-E643-4476-B878-5E0E5D50FE19}"/>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E3D3C200-644D-44BF-BFB8-E995F8640490}"/>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Preserve encoded reference-image orientation</a:t>
            </a:r>
          </a:p>
        </p:txBody>
      </p:sp>
      <p:sp>
        <p:nvSpPr>
          <p:cNvPr id="5" name="text-4">
            <a:extLst xmlns:a="http://schemas.openxmlformats.org/drawingml/2006/main">
              <a:ext uri="{FF2B5EF4-FFF2-40B4-BE49-F238E27FC236}">
                <a16:creationId xmlns:a16="http://schemas.microsoft.com/office/drawing/2014/main" id="{E730376C-023F-4E1B-8591-3D143209FFD8}"/>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D3ED88C6-54DD-4F9A-8463-1255895FD759}"/>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Use revision 2 with scaleFill preprocessing</a:t>
            </a:r>
          </a:p>
        </p:txBody>
      </p:sp>
      <p:sp>
        <p:nvSpPr>
          <p:cNvPr id="7" name="text-6">
            <a:extLst xmlns:a="http://schemas.openxmlformats.org/drawingml/2006/main">
              <a:ext uri="{FF2B5EF4-FFF2-40B4-BE49-F238E27FC236}">
                <a16:creationId xmlns:a16="http://schemas.microsoft.com/office/drawing/2014/main" id="{2BE88F74-61F1-420A-83AD-FF3EA2705B00}"/>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5CC63FCF-2040-4156-8079-C29E54DD201C}"/>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Reject incompatible revisions or invalid distances</a:t>
            </a:r>
          </a:p>
        </p:txBody>
      </p:sp>
      <p:sp>
        <p:nvSpPr>
          <p:cNvPr id="9" name="text-8">
            <a:extLst xmlns:a="http://schemas.openxmlformats.org/drawingml/2006/main">
              <a:ext uri="{FF2B5EF4-FFF2-40B4-BE49-F238E27FC236}">
                <a16:creationId xmlns:a16="http://schemas.microsoft.com/office/drawing/2014/main" id="{36185601-B149-4E3C-9A20-6600180233C5}"/>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FDAE3E88-E300-475D-A5A5-994C9174732F}"/>
              </a:ext>
            </a:extLst>
          </p:cNvPr>
          <p:cNvSpPr>
            <a:spLocks xmlns:a="http://schemas.openxmlformats.org/drawingml/2006/main" noGrp="1"/>
          </p:cNvSpPr>
          <p:nvPr/>
        </p:nvSpPr>
        <p:spPr>
          <a:xfrm xmlns:a="http://schemas.openxmlformats.org/drawingml/2006/main">
            <a:off x="723900" y="4362450"/>
            <a:ext cx="13792200" cy="2019300"/>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C6994E04-EC9C-4C35-B5F3-CAA05DF1F0E6}"/>
              </a:ext>
            </a:extLst>
          </p:cNvPr>
          <p:cNvSpPr>
            <a:spLocks xmlns:a="http://schemas.openxmlformats.org/drawingml/2006/main" noGrp="1"/>
          </p:cNvSpPr>
          <p:nvPr/>
        </p:nvSpPr>
        <p:spPr>
          <a:xfrm xmlns:a="http://schemas.openxmlformats.org/drawingml/2006/main">
            <a:off x="933450" y="4438650"/>
            <a:ext cx="13373100" cy="18634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request = VNGenerateImageFeaturePrintRequest()</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request.revision = revision</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request.imageCropAndScaleOption = .scaleFill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handler = VNImageRequestHandler(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cgImage: image.image, orientation: image.orientation, options: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2AC316CD-25BF-4AFC-86BD-C520341B33B4}"/>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Vision tests exercise real inference and orientation</a:t>
            </a:r>
          </a:p>
        </p:txBody>
      </p:sp>
      <p:sp>
        <p:nvSpPr>
          <p:cNvPr id="13" name="text-11">
            <a:extLst xmlns:a="http://schemas.openxmlformats.org/drawingml/2006/main">
              <a:ext uri="{FF2B5EF4-FFF2-40B4-BE49-F238E27FC236}">
                <a16:creationId xmlns:a16="http://schemas.microsoft.com/office/drawing/2014/main" id="{84B1EA7B-0C1A-4D81-AE79-5152B1B5977F}"/>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Underlying inference errors remain visible. There is no mock fallback.</a:t>
            </a:r>
          </a:p>
        </p:txBody>
      </p:sp>
      <p:sp>
        <p:nvSpPr>
          <p:cNvPr id="14" name="text-12">
            <a:extLst xmlns:a="http://schemas.openxmlformats.org/drawingml/2006/main">
              <a:ext uri="{FF2B5EF4-FFF2-40B4-BE49-F238E27FC236}">
                <a16:creationId xmlns:a16="http://schemas.microsoft.com/office/drawing/2014/main" id="{3F24367F-9B37-42B9-8466-9E572073C24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997EA279-B7B5-4155-89DF-A2DA20D70C6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6815c93717143b6"/>
              </a:rPr>
              <a:t>Vision adapter</a:t>
            </a:r>
          </a:p>
        </p:txBody>
      </p:sp>
      <p:sp>
        <p:nvSpPr>
          <p:cNvPr id="16" name="text-14">
            <a:extLst xmlns:a="http://schemas.openxmlformats.org/drawingml/2006/main">
              <a:ext uri="{FF2B5EF4-FFF2-40B4-BE49-F238E27FC236}">
                <a16:creationId xmlns:a16="http://schemas.microsoft.com/office/drawing/2014/main" id="{6EADE66A-53C3-4191-9442-B130F312577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e0409c5c1b04085"/>
              </a:rPr>
              <a:t>Vision tests</a:t>
            </a:r>
          </a:p>
        </p:txBody>
      </p:sp>
      <p:sp>
        <p:nvSpPr>
          <p:cNvPr id="17" name="text-15">
            <a:extLst xmlns:a="http://schemas.openxmlformats.org/drawingml/2006/main">
              <a:ext uri="{FF2B5EF4-FFF2-40B4-BE49-F238E27FC236}">
                <a16:creationId xmlns:a16="http://schemas.microsoft.com/office/drawing/2014/main" id="{1B5DF151-5C02-45AE-803E-65CA69FDD54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12</a:t>
            </a:r>
          </a:p>
        </p:txBody>
      </p:sp>
    </p:spTree>
    <p:extLst>
      <p:ext uri="{BB962C8B-B14F-4D97-AF65-F5344CB8AC3E}">
        <p14:creationId xmlns:p14="http://schemas.microsoft.com/office/powerpoint/2010/main" val="197680168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0D67023A-47BE-4886-8DEE-6F7CDA00059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Per-frame scoring</a:t>
            </a:r>
          </a:p>
        </p:txBody>
      </p:sp>
      <p:sp>
        <p:nvSpPr>
          <p:cNvPr id="2" name="text-1">
            <a:extLst xmlns:a="http://schemas.openxmlformats.org/drawingml/2006/main">
              <a:ext uri="{FF2B5EF4-FFF2-40B4-BE49-F238E27FC236}">
                <a16:creationId xmlns:a16="http://schemas.microsoft.com/office/drawing/2014/main" id="{C9C6E405-CF92-4E2E-BC48-AB2ADD6F87B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distances describe one sampled frame</a:t>
            </a:r>
          </a:p>
        </p:txBody>
      </p:sp>
      <p:sp>
        <p:nvSpPr>
          <p:cNvPr id="3" name="text-2">
            <a:extLst xmlns:a="http://schemas.openxmlformats.org/drawingml/2006/main">
              <a:ext uri="{FF2B5EF4-FFF2-40B4-BE49-F238E27FC236}">
                <a16:creationId xmlns:a16="http://schemas.microsoft.com/office/drawing/2014/main" id="{1AF40AD8-708E-402A-A5D3-191AF7F10B27}"/>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47E35858-BD8C-4EDE-A5BA-B58D2F2F1932}"/>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Measure the whole image and a central 60% crop</a:t>
            </a:r>
          </a:p>
        </p:txBody>
      </p:sp>
      <p:sp>
        <p:nvSpPr>
          <p:cNvPr id="5" name="text-4">
            <a:extLst xmlns:a="http://schemas.openxmlformats.org/drawingml/2006/main">
              <a:ext uri="{FF2B5EF4-FFF2-40B4-BE49-F238E27FC236}">
                <a16:creationId xmlns:a16="http://schemas.microsoft.com/office/drawing/2014/main" id="{BDF331A3-4155-4819-BDC0-8FB786517A36}"/>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DD09634C-0782-40E1-BF37-386C57E44FB2}"/>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Keep both distances and select the smaller one</a:t>
            </a:r>
          </a:p>
        </p:txBody>
      </p:sp>
      <p:sp>
        <p:nvSpPr>
          <p:cNvPr id="7" name="text-6">
            <a:extLst xmlns:a="http://schemas.openxmlformats.org/drawingml/2006/main">
              <a:ext uri="{FF2B5EF4-FFF2-40B4-BE49-F238E27FC236}">
                <a16:creationId xmlns:a16="http://schemas.microsoft.com/office/drawing/2014/main" id="{AEE314F0-B59A-4F6F-AF51-9F66EB4677A0}"/>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3CE9FFF1-FFA4-48BA-B033-9B060A3EF0C3}"/>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Carry frame identity, sample slot, media time, and latency</a:t>
            </a:r>
          </a:p>
        </p:txBody>
      </p:sp>
      <p:sp>
        <p:nvSpPr>
          <p:cNvPr id="9" name="text-8">
            <a:extLst xmlns:a="http://schemas.openxmlformats.org/drawingml/2006/main">
              <a:ext uri="{FF2B5EF4-FFF2-40B4-BE49-F238E27FC236}">
                <a16:creationId xmlns:a16="http://schemas.microsoft.com/office/drawing/2014/main" id="{611C0663-3EA6-4500-95FE-B497011C8759}"/>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A22A7B8B-7AC9-421C-ABC6-DE004DBD02CA}"/>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DC5FA251-658D-4560-9234-1CB110BF42CF}"/>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distance: Double { min(wholeDistance, cropDistance)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similarity: Double { 1 / (1 + 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func supports(maximumDistance: Double) -&gt; Bool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distance &lt;= maximumDistance</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9856E5C0-349B-4832-A248-95AE104D71F8}"/>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Scorer tests verify variant choice and fixed behavior</a:t>
            </a:r>
          </a:p>
        </p:txBody>
      </p:sp>
      <p:sp>
        <p:nvSpPr>
          <p:cNvPr id="13" name="text-11">
            <a:extLst xmlns:a="http://schemas.openxmlformats.org/drawingml/2006/main">
              <a:ext uri="{FF2B5EF4-FFF2-40B4-BE49-F238E27FC236}">
                <a16:creationId xmlns:a16="http://schemas.microsoft.com/office/drawing/2014/main" id="{69DCA50B-1FD5-4172-92CF-C79D40C12BC1}"/>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Lower distance is closer. Similarity is not a probability.</a:t>
            </a:r>
          </a:p>
        </p:txBody>
      </p:sp>
      <p:sp>
        <p:nvSpPr>
          <p:cNvPr id="14" name="text-12">
            <a:extLst xmlns:a="http://schemas.openxmlformats.org/drawingml/2006/main">
              <a:ext uri="{FF2B5EF4-FFF2-40B4-BE49-F238E27FC236}">
                <a16:creationId xmlns:a16="http://schemas.microsoft.com/office/drawing/2014/main" id="{6538B3B1-FB7C-4811-AC35-1C0B93ED5125}"/>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80A7A395-7EF3-4556-AE46-C4C0F6A1C21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9f0bf868be747aa"/>
              </a:rPr>
              <a:t>Scorer and score type</a:t>
            </a:r>
          </a:p>
        </p:txBody>
      </p:sp>
      <p:sp>
        <p:nvSpPr>
          <p:cNvPr id="16" name="text-14">
            <a:extLst xmlns:a="http://schemas.openxmlformats.org/drawingml/2006/main">
              <a:ext uri="{FF2B5EF4-FFF2-40B4-BE49-F238E27FC236}">
                <a16:creationId xmlns:a16="http://schemas.microsoft.com/office/drawing/2014/main" id="{DF3D61A9-D10F-4469-B6CA-B578ECB987F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a27c42059eb48bc"/>
              </a:rPr>
              <a:t>Scorer tests</a:t>
            </a:r>
          </a:p>
        </p:txBody>
      </p:sp>
      <p:sp>
        <p:nvSpPr>
          <p:cNvPr id="17" name="text-15">
            <a:extLst xmlns:a="http://schemas.openxmlformats.org/drawingml/2006/main">
              <a:ext uri="{FF2B5EF4-FFF2-40B4-BE49-F238E27FC236}">
                <a16:creationId xmlns:a16="http://schemas.microsoft.com/office/drawing/2014/main" id="{37AC1082-5041-441F-9BE6-7F02873FA09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28c33f10280410c"/>
              </a:rPr>
              <a:t>Frozen profile</a:t>
            </a:r>
          </a:p>
        </p:txBody>
      </p:sp>
      <p:sp>
        <p:nvSpPr>
          <p:cNvPr id="18" name="text-16">
            <a:extLst xmlns:a="http://schemas.openxmlformats.org/drawingml/2006/main">
              <a:ext uri="{FF2B5EF4-FFF2-40B4-BE49-F238E27FC236}">
                <a16:creationId xmlns:a16="http://schemas.microsoft.com/office/drawing/2014/main" id="{B87880A1-B371-4574-8862-C4BD8E86F32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13</a:t>
            </a:r>
          </a:p>
        </p:txBody>
      </p:sp>
    </p:spTree>
    <p:extLst>
      <p:ext uri="{BB962C8B-B14F-4D97-AF65-F5344CB8AC3E}">
        <p14:creationId xmlns:p14="http://schemas.microsoft.com/office/powerpoint/2010/main" val="172057067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548341B8-9630-44CE-96E2-E150AE7422A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Frozen rules and their reasons</a:t>
            </a:r>
          </a:p>
        </p:txBody>
      </p:sp>
      <p:sp>
        <p:nvSpPr>
          <p:cNvPr id="2" name="text-1">
            <a:extLst xmlns:a="http://schemas.openxmlformats.org/drawingml/2006/main">
              <a:ext uri="{FF2B5EF4-FFF2-40B4-BE49-F238E27FC236}">
                <a16:creationId xmlns:a16="http://schemas.microsoft.com/office/drawing/2014/main" id="{E78EA5E4-658D-4628-9831-F0E8FAC2376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repeatable experiment needs stable decisions</a:t>
            </a:r>
          </a:p>
        </p:txBody>
      </p:sp>
      <p:sp>
        <p:nvSpPr>
          <p:cNvPr id="3" name="text-2">
            <a:extLst xmlns:a="http://schemas.openxmlformats.org/drawingml/2006/main">
              <a:ext uri="{FF2B5EF4-FFF2-40B4-BE49-F238E27FC236}">
                <a16:creationId xmlns:a16="http://schemas.microsoft.com/office/drawing/2014/main" id="{B4A539B4-8623-47C9-BD82-18E0EE1C33F1}"/>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Sampling and preprocessing</a:t>
            </a:r>
          </a:p>
        </p:txBody>
      </p:sp>
      <p:sp>
        <p:nvSpPr>
          <p:cNvPr id="4" name="text-3">
            <a:extLst xmlns:a="http://schemas.openxmlformats.org/drawingml/2006/main">
              <a:ext uri="{FF2B5EF4-FFF2-40B4-BE49-F238E27FC236}">
                <a16:creationId xmlns:a16="http://schemas.microsoft.com/office/drawing/2014/main" id="{962217D4-A5A9-4C3C-A419-90EE12B6CDFE}"/>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samples/s, Vision revision 2, scaleFill, central crop 0.6</a:t>
            </a:r>
          </a:p>
        </p:txBody>
      </p:sp>
      <p:sp>
        <p:nvSpPr>
          <p:cNvPr id="5" name="">
            <a:extLst xmlns:a="http://schemas.openxmlformats.org/drawingml/2006/main">
              <a:ext uri="{FF2B5EF4-FFF2-40B4-BE49-F238E27FC236}">
                <a16:creationId xmlns:a16="http://schemas.microsoft.com/office/drawing/2014/main" id="{D155739D-22A6-48A4-931E-5360A4504AA5}"/>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69717534-D65B-4C10-85BA-2BEB495F3ECC}"/>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Support threshold</a:t>
            </a:r>
          </a:p>
        </p:txBody>
      </p:sp>
      <p:sp>
        <p:nvSpPr>
          <p:cNvPr id="7" name="text-5">
            <a:extLst xmlns:a="http://schemas.openxmlformats.org/drawingml/2006/main">
              <a:ext uri="{FF2B5EF4-FFF2-40B4-BE49-F238E27FC236}">
                <a16:creationId xmlns:a16="http://schemas.microsoft.com/office/drawing/2014/main" id="{0ED639EC-5351-4E2F-87B0-ECB9B94C7A8C}"/>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Distance ≤ 0.4293864220380783</a:t>
            </a:r>
          </a:p>
        </p:txBody>
      </p:sp>
      <p:sp>
        <p:nvSpPr>
          <p:cNvPr id="8" name="">
            <a:extLst xmlns:a="http://schemas.openxmlformats.org/drawingml/2006/main">
              <a:ext uri="{FF2B5EF4-FFF2-40B4-BE49-F238E27FC236}">
                <a16:creationId xmlns:a16="http://schemas.microsoft.com/office/drawing/2014/main" id="{8F93380F-848E-4B42-BDEC-4F8F8BFA07D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C65F18F4-96D9-41BB-8692-C836E7646E5E}"/>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rules</a:t>
            </a:r>
          </a:p>
        </p:txBody>
      </p:sp>
      <p:sp>
        <p:nvSpPr>
          <p:cNvPr id="10" name="text-7">
            <a:extLst xmlns:a="http://schemas.openxmlformats.org/drawingml/2006/main">
              <a:ext uri="{FF2B5EF4-FFF2-40B4-BE49-F238E27FC236}">
                <a16:creationId xmlns:a16="http://schemas.microsoft.com/office/drawing/2014/main" id="{7A380D83-AB2E-439C-AE5D-586BBC3A5881}"/>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consecutive supporting slots; close after a 1.5 s gap</a:t>
            </a:r>
          </a:p>
        </p:txBody>
      </p:sp>
      <p:sp>
        <p:nvSpPr>
          <p:cNvPr id="11" name="">
            <a:extLst xmlns:a="http://schemas.openxmlformats.org/drawingml/2006/main">
              <a:ext uri="{FF2B5EF4-FFF2-40B4-BE49-F238E27FC236}">
                <a16:creationId xmlns:a16="http://schemas.microsoft.com/office/drawing/2014/main" id="{CE2E468C-01A1-4E26-A406-631F426347FF}"/>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2B6C504B-E4DE-4E98-9AC6-BD4EC84F47DA}"/>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Reason and limitation</a:t>
            </a:r>
          </a:p>
        </p:txBody>
      </p:sp>
      <p:sp>
        <p:nvSpPr>
          <p:cNvPr id="13" name="text-9">
            <a:extLst xmlns:a="http://schemas.openxmlformats.org/drawingml/2006/main">
              <a:ext uri="{FF2B5EF4-FFF2-40B4-BE49-F238E27FC236}">
                <a16:creationId xmlns:a16="http://schemas.microsoft.com/office/drawing/2014/main" id="{61B24BC4-5B73-4DC9-B49D-9DEA7C5E6554}"/>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Fixed Mac-fixture experiment, not a universal product model</a:t>
            </a:r>
          </a:p>
        </p:txBody>
      </p:sp>
      <p:sp>
        <p:nvSpPr>
          <p:cNvPr id="14" name="text-10">
            <a:extLst xmlns:a="http://schemas.openxmlformats.org/drawingml/2006/main">
              <a:ext uri="{FF2B5EF4-FFF2-40B4-BE49-F238E27FC236}">
                <a16:creationId xmlns:a16="http://schemas.microsoft.com/office/drawing/2014/main" id="{9653E116-16D6-4D25-B94A-F04E5BD32A62}"/>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Neither tests nor phone runs retune the threshold.</a:t>
            </a:r>
          </a:p>
        </p:txBody>
      </p:sp>
      <p:sp>
        <p:nvSpPr>
          <p:cNvPr id="15" name="text-11">
            <a:extLst xmlns:a="http://schemas.openxmlformats.org/drawingml/2006/main">
              <a:ext uri="{FF2B5EF4-FFF2-40B4-BE49-F238E27FC236}">
                <a16:creationId xmlns:a16="http://schemas.microsoft.com/office/drawing/2014/main" id="{E0BD03C9-ADB9-4C97-A2A7-DCC68ABAD46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A45ED474-BC58-44BA-BCBA-9A86AC17B0F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2f34f67eb364a67"/>
              </a:rPr>
              <a:t>Profile</a:t>
            </a:r>
          </a:p>
        </p:txBody>
      </p:sp>
      <p:sp>
        <p:nvSpPr>
          <p:cNvPr id="17" name="text-13">
            <a:extLst xmlns:a="http://schemas.openxmlformats.org/drawingml/2006/main">
              <a:ext uri="{FF2B5EF4-FFF2-40B4-BE49-F238E27FC236}">
                <a16:creationId xmlns:a16="http://schemas.microsoft.com/office/drawing/2014/main" id="{26847473-13F8-4268-A949-9830BBB3F69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d68d3dd4d284059"/>
              </a:rPr>
              <a:t>Calibration script</a:t>
            </a:r>
          </a:p>
        </p:txBody>
      </p:sp>
      <p:sp>
        <p:nvSpPr>
          <p:cNvPr id="18" name="text-14">
            <a:extLst xmlns:a="http://schemas.openxmlformats.org/drawingml/2006/main">
              <a:ext uri="{FF2B5EF4-FFF2-40B4-BE49-F238E27FC236}">
                <a16:creationId xmlns:a16="http://schemas.microsoft.com/office/drawing/2014/main" id="{BBCFE22F-C9C8-4B76-BBE6-932298A6F0E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532e4ecdcbe44df"/>
              </a:rPr>
              <a:t>Aggregator</a:t>
            </a:r>
          </a:p>
        </p:txBody>
      </p:sp>
      <p:sp>
        <p:nvSpPr>
          <p:cNvPr id="19" name="text-15">
            <a:extLst xmlns:a="http://schemas.openxmlformats.org/drawingml/2006/main">
              <a:ext uri="{FF2B5EF4-FFF2-40B4-BE49-F238E27FC236}">
                <a16:creationId xmlns:a16="http://schemas.microsoft.com/office/drawing/2014/main" id="{43405A58-AA66-42E3-8460-C268FB222AA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14</a:t>
            </a:r>
          </a:p>
        </p:txBody>
      </p:sp>
    </p:spTree>
    <p:extLst>
      <p:ext uri="{BB962C8B-B14F-4D97-AF65-F5344CB8AC3E}">
        <p14:creationId xmlns:p14="http://schemas.microsoft.com/office/powerpoint/2010/main" val="105400623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A09F6357-7CB7-49AF-92FE-CFC37044426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candidate episode lifecycle</a:t>
            </a:r>
          </a:p>
        </p:txBody>
      </p:sp>
      <p:sp>
        <p:nvSpPr>
          <p:cNvPr id="2" name="text-1">
            <a:extLst xmlns:a="http://schemas.openxmlformats.org/drawingml/2006/main">
              <a:ext uri="{FF2B5EF4-FFF2-40B4-BE49-F238E27FC236}">
                <a16:creationId xmlns:a16="http://schemas.microsoft.com/office/drawing/2014/main" id="{3375D24E-2AEE-41C1-9E40-1C81D4F5F5E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3: turn frame scores into retained evidence</a:t>
            </a:r>
          </a:p>
        </p:txBody>
      </p:sp>
      <p:sp>
        <p:nvSpPr>
          <p:cNvPr id="3" name="">
            <a:extLst xmlns:a="http://schemas.openxmlformats.org/drawingml/2006/main">
              <a:ext uri="{FF2B5EF4-FFF2-40B4-BE49-F238E27FC236}">
                <a16:creationId xmlns:a16="http://schemas.microsoft.com/office/drawing/2014/main" id="{65F861E0-6D97-4FF5-AE94-10EC063E68E0}"/>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1977BC90-AAF1-4C18-BF42-1A10A51EF7C7}"/>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No active episode</a:t>
            </a:r>
          </a:p>
        </p:txBody>
      </p:sp>
      <p:sp>
        <p:nvSpPr>
          <p:cNvPr id="5" name="text-3">
            <a:extLst xmlns:a="http://schemas.openxmlformats.org/drawingml/2006/main">
              <a:ext uri="{FF2B5EF4-FFF2-40B4-BE49-F238E27FC236}">
                <a16:creationId xmlns:a16="http://schemas.microsoft.com/office/drawing/2014/main" id="{1EB7772C-C208-4821-B61C-5B2DF5B59710}"/>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The first supporting sample becomes pending</a:t>
            </a:r>
          </a:p>
        </p:txBody>
      </p:sp>
      <p:sp>
        <p:nvSpPr>
          <p:cNvPr id="6" name="">
            <a:extLst xmlns:a="http://schemas.openxmlformats.org/drawingml/2006/main">
              <a:ext uri="{FF2B5EF4-FFF2-40B4-BE49-F238E27FC236}">
                <a16:creationId xmlns:a16="http://schemas.microsoft.com/office/drawing/2014/main" id="{5BCF5423-8CCF-4A45-AA45-2BCD38188BE9}"/>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50627AD-FBC3-4F06-ACB4-1980248D8A51}"/>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B203375C-A0C7-4657-933E-F257AE28D0C6}"/>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Pending support</a:t>
            </a:r>
          </a:p>
        </p:txBody>
      </p:sp>
      <p:sp>
        <p:nvSpPr>
          <p:cNvPr id="9" name="text-5">
            <a:extLst xmlns:a="http://schemas.openxmlformats.org/drawingml/2006/main">
              <a:ext uri="{FF2B5EF4-FFF2-40B4-BE49-F238E27FC236}">
                <a16:creationId xmlns:a16="http://schemas.microsoft.com/office/drawing/2014/main" id="{D5BFC940-56B3-4C87-84C2-DF03E5679210}"/>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Next consecutive supporting slot opens an episode</a:t>
            </a:r>
          </a:p>
        </p:txBody>
      </p:sp>
      <p:sp>
        <p:nvSpPr>
          <p:cNvPr id="10" name="">
            <a:extLst xmlns:a="http://schemas.openxmlformats.org/drawingml/2006/main">
              <a:ext uri="{FF2B5EF4-FFF2-40B4-BE49-F238E27FC236}">
                <a16:creationId xmlns:a16="http://schemas.microsoft.com/office/drawing/2014/main" id="{A70894BE-BABA-40BE-9381-679DD4529DBD}"/>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738C972-87BA-4DA8-917D-5FAEE0D78DDA}"/>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6776CD71-99B2-4DE7-AAD7-CB926E3C2990}"/>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episode</a:t>
            </a:r>
          </a:p>
        </p:txBody>
      </p:sp>
      <p:sp>
        <p:nvSpPr>
          <p:cNvPr id="13" name="text-7">
            <a:extLst xmlns:a="http://schemas.openxmlformats.org/drawingml/2006/main">
              <a:ext uri="{FF2B5EF4-FFF2-40B4-BE49-F238E27FC236}">
                <a16:creationId xmlns:a16="http://schemas.microsoft.com/office/drawing/2014/main" id="{4BF5DC99-13D2-4DF5-9E27-A42629897970}"/>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Further support refreshes time and may improve the best frame</a:t>
            </a:r>
          </a:p>
        </p:txBody>
      </p:sp>
      <p:sp>
        <p:nvSpPr>
          <p:cNvPr id="14" name="">
            <a:extLst xmlns:a="http://schemas.openxmlformats.org/drawingml/2006/main">
              <a:ext uri="{FF2B5EF4-FFF2-40B4-BE49-F238E27FC236}">
                <a16:creationId xmlns:a16="http://schemas.microsoft.com/office/drawing/2014/main" id="{E6A1275B-2CE4-4C67-8B6B-30F06D097E9A}"/>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F79C943-1DD7-4347-948C-F47608DEEB6C}"/>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04797BC3-218F-4F50-A13A-AC8492518EC4}"/>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Closed episode</a:t>
            </a:r>
          </a:p>
        </p:txBody>
      </p:sp>
      <p:sp>
        <p:nvSpPr>
          <p:cNvPr id="17" name="text-9">
            <a:extLst xmlns:a="http://schemas.openxmlformats.org/drawingml/2006/main">
              <a:ext uri="{FF2B5EF4-FFF2-40B4-BE49-F238E27FC236}">
                <a16:creationId xmlns:a16="http://schemas.microsoft.com/office/drawing/2014/main" id="{B5308465-AFFB-4299-B6AB-4E81C17A3FFF}"/>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Gap, stop, cancellation, error, or end closes the episode</a:t>
            </a:r>
          </a:p>
        </p:txBody>
      </p:sp>
      <p:sp>
        <p:nvSpPr>
          <p:cNvPr id="18" name="text-10">
            <a:extLst xmlns:a="http://schemas.openxmlformats.org/drawingml/2006/main">
              <a:ext uri="{FF2B5EF4-FFF2-40B4-BE49-F238E27FC236}">
                <a16:creationId xmlns:a16="http://schemas.microsoft.com/office/drawing/2014/main" id="{424B48BA-DDDF-48A0-B887-1408ADE3E9A9}"/>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A missed slot or unsupported sample resets pending support.</a:t>
            </a:r>
          </a:p>
        </p:txBody>
      </p:sp>
      <p:sp>
        <p:nvSpPr>
          <p:cNvPr id="19" name="text-11">
            <a:extLst xmlns:a="http://schemas.openxmlformats.org/drawingml/2006/main">
              <a:ext uri="{FF2B5EF4-FFF2-40B4-BE49-F238E27FC236}">
                <a16:creationId xmlns:a16="http://schemas.microsoft.com/office/drawing/2014/main" id="{02B7023A-CF18-49D3-8624-1746EE9132A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D6D96BC3-5F65-4590-AB78-C5D284AA0C7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87c4a59827b4f5e"/>
              </a:rPr>
              <a:t>Episode aggregator</a:t>
            </a:r>
          </a:p>
        </p:txBody>
      </p:sp>
      <p:sp>
        <p:nvSpPr>
          <p:cNvPr id="21" name="text-13">
            <a:extLst xmlns:a="http://schemas.openxmlformats.org/drawingml/2006/main">
              <a:ext uri="{FF2B5EF4-FFF2-40B4-BE49-F238E27FC236}">
                <a16:creationId xmlns:a16="http://schemas.microsoft.com/office/drawing/2014/main" id="{1B56FD26-6A47-46A9-9749-938271D0260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8747a90855141e3"/>
              </a:rPr>
              <a:t>Episode tests</a:t>
            </a:r>
          </a:p>
        </p:txBody>
      </p:sp>
      <p:sp>
        <p:nvSpPr>
          <p:cNvPr id="22" name="text-14">
            <a:extLst xmlns:a="http://schemas.openxmlformats.org/drawingml/2006/main">
              <a:ext uri="{FF2B5EF4-FFF2-40B4-BE49-F238E27FC236}">
                <a16:creationId xmlns:a16="http://schemas.microsoft.com/office/drawing/2014/main" id="{9A2276D1-68A0-4277-9B44-6D674674B794}"/>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e8406d4a3774e89"/>
              </a:rPr>
              <a:t>Lifecycle integration</a:t>
            </a:r>
          </a:p>
        </p:txBody>
      </p:sp>
      <p:sp>
        <p:nvSpPr>
          <p:cNvPr id="23" name="text-15">
            <a:extLst xmlns:a="http://schemas.openxmlformats.org/drawingml/2006/main">
              <a:ext uri="{FF2B5EF4-FFF2-40B4-BE49-F238E27FC236}">
                <a16:creationId xmlns:a16="http://schemas.microsoft.com/office/drawing/2014/main" id="{A2D743CB-9074-4E4D-88AB-2DF9703C727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15</a:t>
            </a:r>
          </a:p>
        </p:txBody>
      </p:sp>
    </p:spTree>
    <p:extLst>
      <p:ext uri="{BB962C8B-B14F-4D97-AF65-F5344CB8AC3E}">
        <p14:creationId xmlns:p14="http://schemas.microsoft.com/office/powerpoint/2010/main" val="116266423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F4E54498-A6CE-43F5-A3AE-8E22CAC83DA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Episode and signal contracts</a:t>
            </a:r>
          </a:p>
        </p:txBody>
      </p:sp>
      <p:sp>
        <p:nvSpPr>
          <p:cNvPr id="2" name="text-1">
            <a:extLst xmlns:a="http://schemas.openxmlformats.org/drawingml/2006/main">
              <a:ext uri="{FF2B5EF4-FFF2-40B4-BE49-F238E27FC236}">
                <a16:creationId xmlns:a16="http://schemas.microsoft.com/office/drawing/2014/main" id="{C64BD30A-F781-4FAD-83B2-FB2EBA5B1DA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Recorded history and live feedback have different jobs</a:t>
            </a:r>
          </a:p>
        </p:txBody>
      </p:sp>
      <p:sp>
        <p:nvSpPr>
          <p:cNvPr id="3" name="text-2">
            <a:extLst xmlns:a="http://schemas.openxmlformats.org/drawingml/2006/main">
              <a:ext uri="{FF2B5EF4-FFF2-40B4-BE49-F238E27FC236}">
                <a16:creationId xmlns:a16="http://schemas.microsoft.com/office/drawing/2014/main" id="{F3056482-1F29-4131-BAED-0CE68754946F}"/>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timing</a:t>
            </a:r>
          </a:p>
        </p:txBody>
      </p:sp>
      <p:sp>
        <p:nvSpPr>
          <p:cNvPr id="4" name="text-3">
            <a:extLst xmlns:a="http://schemas.openxmlformats.org/drawingml/2006/main">
              <a:ext uri="{FF2B5EF4-FFF2-40B4-BE49-F238E27FC236}">
                <a16:creationId xmlns:a16="http://schemas.microsoft.com/office/drawing/2014/main" id="{DDEDA573-0352-4CDA-99DE-490C5E3F8C1B}"/>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startedAt = first support; openedAt = confirmation sample</a:t>
            </a:r>
          </a:p>
        </p:txBody>
      </p:sp>
      <p:sp>
        <p:nvSpPr>
          <p:cNvPr id="5" name="">
            <a:extLst xmlns:a="http://schemas.openxmlformats.org/drawingml/2006/main">
              <a:ext uri="{FF2B5EF4-FFF2-40B4-BE49-F238E27FC236}">
                <a16:creationId xmlns:a16="http://schemas.microsoft.com/office/drawing/2014/main" id="{E06585E0-48B2-4043-8CCB-48FAA9664CBE}"/>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912F39D5-081E-4D6B-9691-83F502CFE32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a:t>
            </a:r>
          </a:p>
        </p:txBody>
      </p:sp>
      <p:sp>
        <p:nvSpPr>
          <p:cNvPr id="7" name="text-5">
            <a:extLst xmlns:a="http://schemas.openxmlformats.org/drawingml/2006/main">
              <a:ext uri="{FF2B5EF4-FFF2-40B4-BE49-F238E27FC236}">
                <a16:creationId xmlns:a16="http://schemas.microsoft.com/office/drawing/2014/main" id="{9F4D19A1-4DB0-4A70-A948-112B73D5E5BD}"/>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Best frame ID, timestamp, distance, variant, and image ID</a:t>
            </a:r>
          </a:p>
        </p:txBody>
      </p:sp>
      <p:sp>
        <p:nvSpPr>
          <p:cNvPr id="8" name="">
            <a:extLst xmlns:a="http://schemas.openxmlformats.org/drawingml/2006/main">
              <a:ext uri="{FF2B5EF4-FFF2-40B4-BE49-F238E27FC236}">
                <a16:creationId xmlns:a16="http://schemas.microsoft.com/office/drawing/2014/main" id="{F4CA1154-5703-49A7-8BAA-8549C26F6F4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D51032FE-6C3E-454C-86A6-483949275E02}"/>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Closure</a:t>
            </a:r>
          </a:p>
        </p:txBody>
      </p:sp>
      <p:sp>
        <p:nvSpPr>
          <p:cNvPr id="10" name="text-7">
            <a:extLst xmlns:a="http://schemas.openxmlformats.org/drawingml/2006/main">
              <a:ext uri="{FF2B5EF4-FFF2-40B4-BE49-F238E27FC236}">
                <a16:creationId xmlns:a16="http://schemas.microsoft.com/office/drawing/2014/main" id="{6156FBF7-4617-4B75-BC76-34D07116E549}"/>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Last support, close time, and explicit close reason</a:t>
            </a:r>
          </a:p>
        </p:txBody>
      </p:sp>
      <p:sp>
        <p:nvSpPr>
          <p:cNvPr id="11" name="">
            <a:extLst xmlns:a="http://schemas.openxmlformats.org/drawingml/2006/main">
              <a:ext uri="{FF2B5EF4-FFF2-40B4-BE49-F238E27FC236}">
                <a16:creationId xmlns:a16="http://schemas.microsoft.com/office/drawing/2014/main" id="{2161664C-0F6D-429B-B52A-C977B65DBB5B}"/>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5DCAFBF9-B538-4790-8769-B9A7329392F8}"/>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Live signal</a:t>
            </a:r>
          </a:p>
        </p:txBody>
      </p:sp>
      <p:sp>
        <p:nvSpPr>
          <p:cNvPr id="13" name="text-9">
            <a:extLst xmlns:a="http://schemas.openxmlformats.org/drawingml/2006/main">
              <a:ext uri="{FF2B5EF4-FFF2-40B4-BE49-F238E27FC236}">
                <a16:creationId xmlns:a16="http://schemas.microsoft.com/office/drawing/2014/main" id="{2D4DB014-1E9B-430C-A3F4-03F248BDD97B}"/>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media time, streak, latency, and possible match</a:t>
            </a:r>
          </a:p>
        </p:txBody>
      </p:sp>
      <p:sp>
        <p:nvSpPr>
          <p:cNvPr id="14" name="text-10">
            <a:extLst xmlns:a="http://schemas.openxmlformats.org/drawingml/2006/main">
              <a:ext uri="{FF2B5EF4-FFF2-40B4-BE49-F238E27FC236}">
                <a16:creationId xmlns:a16="http://schemas.microsoft.com/office/drawing/2014/main" id="{ECA15E57-5DFA-46C9-8164-EF7F2C677D5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9063854-8597-49A3-AF04-7A0A4131F9D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271a0a551c44056"/>
              </a:rPr>
              <a:t>Episode and signal types</a:t>
            </a:r>
          </a:p>
        </p:txBody>
      </p:sp>
      <p:sp>
        <p:nvSpPr>
          <p:cNvPr id="16" name="text-12">
            <a:extLst xmlns:a="http://schemas.openxmlformats.org/drawingml/2006/main">
              <a:ext uri="{FF2B5EF4-FFF2-40B4-BE49-F238E27FC236}">
                <a16:creationId xmlns:a16="http://schemas.microsoft.com/office/drawing/2014/main" id="{9DB4925D-4439-4028-AD91-3334D0CB309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a1c959554544122"/>
              </a:rPr>
              <a:t>Episode tests</a:t>
            </a:r>
          </a:p>
        </p:txBody>
      </p:sp>
      <p:sp>
        <p:nvSpPr>
          <p:cNvPr id="17" name="text-13">
            <a:extLst xmlns:a="http://schemas.openxmlformats.org/drawingml/2006/main">
              <a:ext uri="{FF2B5EF4-FFF2-40B4-BE49-F238E27FC236}">
                <a16:creationId xmlns:a16="http://schemas.microsoft.com/office/drawing/2014/main" id="{F671ABD0-3DEF-402A-AD6E-62E79ACC5EE3}"/>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5b92945ef1341e3"/>
              </a:rPr>
              <a:t>Harness display</a:t>
            </a:r>
          </a:p>
        </p:txBody>
      </p:sp>
      <p:sp>
        <p:nvSpPr>
          <p:cNvPr id="18" name="text-14">
            <a:extLst xmlns:a="http://schemas.openxmlformats.org/drawingml/2006/main">
              <a:ext uri="{FF2B5EF4-FFF2-40B4-BE49-F238E27FC236}">
                <a16:creationId xmlns:a16="http://schemas.microsoft.com/office/drawing/2014/main" id="{4E9D0A7C-338F-4527-8FF2-D2609D01E68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16</a:t>
            </a:r>
          </a:p>
        </p:txBody>
      </p:sp>
    </p:spTree>
    <p:extLst>
      <p:ext uri="{BB962C8B-B14F-4D97-AF65-F5344CB8AC3E}">
        <p14:creationId xmlns:p14="http://schemas.microsoft.com/office/powerpoint/2010/main" val="165687841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3B69A3B3-0ED4-4B36-A807-2E67BE4A970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ordered evidence path</a:t>
            </a:r>
          </a:p>
        </p:txBody>
      </p:sp>
      <p:sp>
        <p:nvSpPr>
          <p:cNvPr id="2" name="text-1">
            <a:extLst xmlns:a="http://schemas.openxmlformats.org/drawingml/2006/main">
              <a:ext uri="{FF2B5EF4-FFF2-40B4-BE49-F238E27FC236}">
                <a16:creationId xmlns:a16="http://schemas.microsoft.com/office/drawing/2014/main" id="{DB499582-C82B-471C-9481-E6BCB493355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PipelineRecorder connects the log and the live report</a:t>
            </a:r>
          </a:p>
        </p:txBody>
      </p:sp>
      <p:sp>
        <p:nvSpPr>
          <p:cNvPr id="3" name="">
            <a:extLst xmlns:a="http://schemas.openxmlformats.org/drawingml/2006/main">
              <a:ext uri="{FF2B5EF4-FFF2-40B4-BE49-F238E27FC236}">
                <a16:creationId xmlns:a16="http://schemas.microsoft.com/office/drawing/2014/main" id="{C92A689E-E67B-4825-AB7B-29863ADEE160}"/>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62897A79-0922-4064-91ED-E2E426439CD2}"/>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Concurrent callbacks</a:t>
            </a:r>
          </a:p>
        </p:txBody>
      </p:sp>
      <p:sp>
        <p:nvSpPr>
          <p:cNvPr id="5" name="text-3">
            <a:extLst xmlns:a="http://schemas.openxmlformats.org/drawingml/2006/main">
              <a:ext uri="{FF2B5EF4-FFF2-40B4-BE49-F238E27FC236}">
                <a16:creationId xmlns:a16="http://schemas.microsoft.com/office/drawing/2014/main" id="{7F1E68E9-9171-426A-A4F8-8CBF3855C7AC}"/>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Stream events and analysis results may arrive from different tasks</a:t>
            </a:r>
          </a:p>
        </p:txBody>
      </p:sp>
      <p:sp>
        <p:nvSpPr>
          <p:cNvPr id="6" name="">
            <a:extLst xmlns:a="http://schemas.openxmlformats.org/drawingml/2006/main">
              <a:ext uri="{FF2B5EF4-FFF2-40B4-BE49-F238E27FC236}">
                <a16:creationId xmlns:a16="http://schemas.microsoft.com/office/drawing/2014/main" id="{ED80AEF0-480C-4744-9FC8-24398536E190}"/>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40BE528-9851-430E-8866-07A2C3D8F183}"/>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8DA72DD4-48EC-4D84-A0C7-B892DCAAC4E1}"/>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lock</a:t>
            </a:r>
          </a:p>
        </p:txBody>
      </p:sp>
      <p:sp>
        <p:nvSpPr>
          <p:cNvPr id="9" name="text-5">
            <a:extLst xmlns:a="http://schemas.openxmlformats.org/drawingml/2006/main">
              <a:ext uri="{FF2B5EF4-FFF2-40B4-BE49-F238E27FC236}">
                <a16:creationId xmlns:a16="http://schemas.microsoft.com/office/drawing/2014/main" id="{10EB9083-6967-4A5C-8F80-00854CC7ABE8}"/>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Serialize each complete append-and-consume operation</a:t>
            </a:r>
          </a:p>
        </p:txBody>
      </p:sp>
      <p:sp>
        <p:nvSpPr>
          <p:cNvPr id="10" name="">
            <a:extLst xmlns:a="http://schemas.openxmlformats.org/drawingml/2006/main">
              <a:ext uri="{FF2B5EF4-FFF2-40B4-BE49-F238E27FC236}">
                <a16:creationId xmlns:a16="http://schemas.microsoft.com/office/drawing/2014/main" id="{9F81FFB9-AED3-47BB-91B9-A1F5D10CC4C2}"/>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9D1520E-937D-4758-9BEB-43CD1F8FBD7C}"/>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ED9D0EEF-4901-4515-AF58-8913D275C913}"/>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Session log</a:t>
            </a:r>
          </a:p>
        </p:txBody>
      </p:sp>
      <p:sp>
        <p:nvSpPr>
          <p:cNvPr id="13" name="text-7">
            <a:extLst xmlns:a="http://schemas.openxmlformats.org/drawingml/2006/main">
              <a:ext uri="{FF2B5EF4-FFF2-40B4-BE49-F238E27FC236}">
                <a16:creationId xmlns:a16="http://schemas.microsoft.com/office/drawing/2014/main" id="{087A2400-97E1-45A3-9D26-77453A258DF0}"/>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Assign sequence and write the JSONL event</a:t>
            </a:r>
          </a:p>
        </p:txBody>
      </p:sp>
      <p:sp>
        <p:nvSpPr>
          <p:cNvPr id="14" name="">
            <a:extLst xmlns:a="http://schemas.openxmlformats.org/drawingml/2006/main">
              <a:ext uri="{FF2B5EF4-FFF2-40B4-BE49-F238E27FC236}">
                <a16:creationId xmlns:a16="http://schemas.microsoft.com/office/drawing/2014/main" id="{CAB27B20-3E56-4B1D-9D47-713CC6471583}"/>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2467E62-467D-46EC-ABB1-C30E80F7CF27}"/>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36B10064-B541-4CA3-A9B6-3666BD35375D}"/>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Report builder</a:t>
            </a:r>
          </a:p>
        </p:txBody>
      </p:sp>
      <p:sp>
        <p:nvSpPr>
          <p:cNvPr id="17" name="text-9">
            <a:extLst xmlns:a="http://schemas.openxmlformats.org/drawingml/2006/main">
              <a:ext uri="{FF2B5EF4-FFF2-40B4-BE49-F238E27FC236}">
                <a16:creationId xmlns:a16="http://schemas.microsoft.com/office/drawing/2014/main" id="{019B98A3-9756-44BA-83BD-651C72C6824C}"/>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Consume that same event before releasing the lock</a:t>
            </a:r>
          </a:p>
        </p:txBody>
      </p:sp>
      <p:sp>
        <p:nvSpPr>
          <p:cNvPr id="18" name="text-10">
            <a:extLst xmlns:a="http://schemas.openxmlformats.org/drawingml/2006/main">
              <a:ext uri="{FF2B5EF4-FFF2-40B4-BE49-F238E27FC236}">
                <a16:creationId xmlns:a16="http://schemas.microsoft.com/office/drawing/2014/main" id="{A16F06E1-0A13-49D3-9FCF-CAF04333076A}"/>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 ordering rule prevents the live report from drifting from the log.</a:t>
            </a:r>
          </a:p>
        </p:txBody>
      </p:sp>
      <p:sp>
        <p:nvSpPr>
          <p:cNvPr id="19" name="text-11">
            <a:extLst xmlns:a="http://schemas.openxmlformats.org/drawingml/2006/main">
              <a:ext uri="{FF2B5EF4-FFF2-40B4-BE49-F238E27FC236}">
                <a16:creationId xmlns:a16="http://schemas.microsoft.com/office/drawing/2014/main" id="{2C75C807-95EF-43BC-922A-6D86D4106AB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C7C7E5F9-11BC-4A1D-A6B5-7C3213840E7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984c9f1466a49c0"/>
              </a:rPr>
              <a:t>Recorder</a:t>
            </a:r>
          </a:p>
        </p:txBody>
      </p:sp>
      <p:sp>
        <p:nvSpPr>
          <p:cNvPr id="21" name="text-13">
            <a:extLst xmlns:a="http://schemas.openxmlformats.org/drawingml/2006/main">
              <a:ext uri="{FF2B5EF4-FFF2-40B4-BE49-F238E27FC236}">
                <a16:creationId xmlns:a16="http://schemas.microsoft.com/office/drawing/2014/main" id="{94EA53E1-0566-4658-96A1-1DDDA0E9FB2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3e89ce0ca984367"/>
              </a:rPr>
              <a:t>Log writer</a:t>
            </a:r>
          </a:p>
        </p:txBody>
      </p:sp>
      <p:sp>
        <p:nvSpPr>
          <p:cNvPr id="22" name="text-14">
            <a:extLst xmlns:a="http://schemas.openxmlformats.org/drawingml/2006/main">
              <a:ext uri="{FF2B5EF4-FFF2-40B4-BE49-F238E27FC236}">
                <a16:creationId xmlns:a16="http://schemas.microsoft.com/office/drawing/2014/main" id="{B84D26EC-11DF-4C3F-B6C3-F922AFE9061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b752ed461104021"/>
              </a:rPr>
              <a:t>Report builder</a:t>
            </a:r>
          </a:p>
        </p:txBody>
      </p:sp>
      <p:sp>
        <p:nvSpPr>
          <p:cNvPr id="23" name="text-15">
            <a:extLst xmlns:a="http://schemas.openxmlformats.org/drawingml/2006/main">
              <a:ext uri="{FF2B5EF4-FFF2-40B4-BE49-F238E27FC236}">
                <a16:creationId xmlns:a16="http://schemas.microsoft.com/office/drawing/2014/main" id="{4839E1A0-6C46-469B-953B-F8FBC402736D}"/>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17</a:t>
            </a:r>
          </a:p>
        </p:txBody>
      </p:sp>
    </p:spTree>
    <p:extLst>
      <p:ext uri="{BB962C8B-B14F-4D97-AF65-F5344CB8AC3E}">
        <p14:creationId xmlns:p14="http://schemas.microsoft.com/office/powerpoint/2010/main" val="104890502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7329403B-2FB9-485F-AF8A-C95FE1DBCF4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Retained image evidence</a:t>
            </a:r>
          </a:p>
        </p:txBody>
      </p:sp>
      <p:sp>
        <p:nvSpPr>
          <p:cNvPr id="2" name="text-1">
            <a:extLst xmlns:a="http://schemas.openxmlformats.org/drawingml/2006/main">
              <a:ext uri="{FF2B5EF4-FFF2-40B4-BE49-F238E27FC236}">
                <a16:creationId xmlns:a16="http://schemas.microsoft.com/office/drawing/2014/main" id="{25D19EC4-E0FD-4A49-89AE-5C3A4A79605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report references pixels saved during analysis</a:t>
            </a:r>
          </a:p>
        </p:txBody>
      </p:sp>
      <p:sp>
        <p:nvSpPr>
          <p:cNvPr id="3" name="text-2">
            <a:extLst xmlns:a="http://schemas.openxmlformats.org/drawingml/2006/main">
              <a:ext uri="{FF2B5EF4-FFF2-40B4-BE49-F238E27FC236}">
                <a16:creationId xmlns:a16="http://schemas.microsoft.com/office/drawing/2014/main" id="{6F85387D-9CA5-47DA-BB49-0BC2E27C51D2}"/>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Selection</a:t>
            </a:r>
          </a:p>
        </p:txBody>
      </p:sp>
      <p:sp>
        <p:nvSpPr>
          <p:cNvPr id="4" name="text-3">
            <a:extLst xmlns:a="http://schemas.openxmlformats.org/drawingml/2006/main">
              <a:ext uri="{FF2B5EF4-FFF2-40B4-BE49-F238E27FC236}">
                <a16:creationId xmlns:a16="http://schemas.microsoft.com/office/drawing/2014/main" id="{E3C9985A-AD97-4918-8FFA-A7960B7B2378}"/>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Lowest distance wins; earliest frame wins a tie</a:t>
            </a:r>
          </a:p>
        </p:txBody>
      </p:sp>
      <p:sp>
        <p:nvSpPr>
          <p:cNvPr id="5" name="">
            <a:extLst xmlns:a="http://schemas.openxmlformats.org/drawingml/2006/main">
              <a:ext uri="{FF2B5EF4-FFF2-40B4-BE49-F238E27FC236}">
                <a16:creationId xmlns:a16="http://schemas.microsoft.com/office/drawing/2014/main" id="{03446F6A-6E11-46A9-A403-108699A67CF7}"/>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7932086D-04E6-4932-AE2C-22DDB7611FA9}"/>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Opening detail</a:t>
            </a:r>
          </a:p>
        </p:txBody>
      </p:sp>
      <p:sp>
        <p:nvSpPr>
          <p:cNvPr id="7" name="text-5">
            <a:extLst xmlns:a="http://schemas.openxmlformats.org/drawingml/2006/main">
              <a:ext uri="{FF2B5EF4-FFF2-40B4-BE49-F238E27FC236}">
                <a16:creationId xmlns:a16="http://schemas.microsoft.com/office/drawing/2014/main" id="{07575D5C-C294-43A1-847D-13EB6602742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Keep the previous frame because it may be the best first hit</a:t>
            </a:r>
          </a:p>
        </p:txBody>
      </p:sp>
      <p:sp>
        <p:nvSpPr>
          <p:cNvPr id="8" name="">
            <a:extLst xmlns:a="http://schemas.openxmlformats.org/drawingml/2006/main">
              <a:ext uri="{FF2B5EF4-FFF2-40B4-BE49-F238E27FC236}">
                <a16:creationId xmlns:a16="http://schemas.microsoft.com/office/drawing/2014/main" id="{5D990681-0015-401E-86A0-A6A355578CE0}"/>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D27AB3E0-7E9F-46AA-B3C7-6D68341C18B2}"/>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a:t>
            </a:r>
          </a:p>
        </p:txBody>
      </p:sp>
      <p:sp>
        <p:nvSpPr>
          <p:cNvPr id="10" name="text-7">
            <a:extLst xmlns:a="http://schemas.openxmlformats.org/drawingml/2006/main">
              <a:ext uri="{FF2B5EF4-FFF2-40B4-BE49-F238E27FC236}">
                <a16:creationId xmlns:a16="http://schemas.microsoft.com/office/drawing/2014/main" id="{FFDCCD0D-71E9-4D3D-B5F9-A737309D2993}"/>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Write a whole-frame JPEG separately from JSONL</a:t>
            </a:r>
          </a:p>
        </p:txBody>
      </p:sp>
      <p:sp>
        <p:nvSpPr>
          <p:cNvPr id="11" name="">
            <a:extLst xmlns:a="http://schemas.openxmlformats.org/drawingml/2006/main">
              <a:ext uri="{FF2B5EF4-FFF2-40B4-BE49-F238E27FC236}">
                <a16:creationId xmlns:a16="http://schemas.microsoft.com/office/drawing/2014/main" id="{AB17244D-BC5A-405D-AB5D-EA316DC41952}"/>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0CBCB4E-2F93-4B9E-AD35-19B366DFE4D9}"/>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Limit</a:t>
            </a:r>
          </a:p>
        </p:txBody>
      </p:sp>
      <p:sp>
        <p:nvSpPr>
          <p:cNvPr id="13" name="text-9">
            <a:extLst xmlns:a="http://schemas.openxmlformats.org/drawingml/2006/main">
              <a:ext uri="{FF2B5EF4-FFF2-40B4-BE49-F238E27FC236}">
                <a16:creationId xmlns:a16="http://schemas.microsoft.com/office/drawing/2014/main" id="{86E686CA-7A95-4E05-96EC-8C70EF4C9910}"/>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replayed log reconstructs image IDs, never missing pixels</a:t>
            </a:r>
          </a:p>
        </p:txBody>
      </p:sp>
      <p:sp>
        <p:nvSpPr>
          <p:cNvPr id="14" name="text-10">
            <a:extLst xmlns:a="http://schemas.openxmlformats.org/drawingml/2006/main">
              <a:ext uri="{FF2B5EF4-FFF2-40B4-BE49-F238E27FC236}">
                <a16:creationId xmlns:a16="http://schemas.microsoft.com/office/drawing/2014/main" id="{D8DD014A-1CD9-4D00-ADD2-7390D625B38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CEBF8502-8C6C-4F12-9745-56F46DE6740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9c6b70c4b6a43df"/>
              </a:rPr>
              <a:t>Image store</a:t>
            </a:r>
          </a:p>
        </p:txBody>
      </p:sp>
      <p:sp>
        <p:nvSpPr>
          <p:cNvPr id="16" name="text-12">
            <a:extLst xmlns:a="http://schemas.openxmlformats.org/drawingml/2006/main">
              <a:ext uri="{FF2B5EF4-FFF2-40B4-BE49-F238E27FC236}">
                <a16:creationId xmlns:a16="http://schemas.microsoft.com/office/drawing/2014/main" id="{56BF4110-6C9B-45D1-8565-3806AF30EA6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946ff81e4bb4d95"/>
              </a:rPr>
              <a:t>Pipeline selection</a:t>
            </a:r>
          </a:p>
        </p:txBody>
      </p:sp>
      <p:sp>
        <p:nvSpPr>
          <p:cNvPr id="17" name="text-13">
            <a:extLst xmlns:a="http://schemas.openxmlformats.org/drawingml/2006/main">
              <a:ext uri="{FF2B5EF4-FFF2-40B4-BE49-F238E27FC236}">
                <a16:creationId xmlns:a16="http://schemas.microsoft.com/office/drawing/2014/main" id="{96AF57EC-235E-44B7-B632-848182F1F70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972e12a78314902"/>
              </a:rPr>
              <a:t>Report tests</a:t>
            </a:r>
          </a:p>
        </p:txBody>
      </p:sp>
      <p:sp>
        <p:nvSpPr>
          <p:cNvPr id="18" name="text-14">
            <a:extLst xmlns:a="http://schemas.openxmlformats.org/drawingml/2006/main">
              <a:ext uri="{FF2B5EF4-FFF2-40B4-BE49-F238E27FC236}">
                <a16:creationId xmlns:a16="http://schemas.microsoft.com/office/drawing/2014/main" id="{EAE957D3-E61E-41F6-BFF9-7736921AA4B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18</a:t>
            </a:r>
          </a:p>
        </p:txBody>
      </p:sp>
    </p:spTree>
    <p:extLst>
      <p:ext uri="{BB962C8B-B14F-4D97-AF65-F5344CB8AC3E}">
        <p14:creationId xmlns:p14="http://schemas.microsoft.com/office/powerpoint/2010/main" val="158331723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885F9E55-0D41-4FDF-BA43-889867465E9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session-log contract</a:t>
            </a:r>
          </a:p>
        </p:txBody>
      </p:sp>
      <p:sp>
        <p:nvSpPr>
          <p:cNvPr id="2" name="text-1">
            <a:extLst xmlns:a="http://schemas.openxmlformats.org/drawingml/2006/main">
              <a:ext uri="{FF2B5EF4-FFF2-40B4-BE49-F238E27FC236}">
                <a16:creationId xmlns:a16="http://schemas.microsoft.com/office/drawing/2014/main" id="{B3A63015-392B-49AC-9F01-F563740EE88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JSON object per line, one ordered session</a:t>
            </a:r>
          </a:p>
        </p:txBody>
      </p:sp>
      <p:sp>
        <p:nvSpPr>
          <p:cNvPr id="3" name="text-2">
            <a:extLst xmlns:a="http://schemas.openxmlformats.org/drawingml/2006/main">
              <a:ext uri="{FF2B5EF4-FFF2-40B4-BE49-F238E27FC236}">
                <a16:creationId xmlns:a16="http://schemas.microsoft.com/office/drawing/2014/main" id="{371D4293-7E2F-4568-B5F3-4FB1A501D735}"/>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Envelope</a:t>
            </a:r>
          </a:p>
        </p:txBody>
      </p:sp>
      <p:sp>
        <p:nvSpPr>
          <p:cNvPr id="4" name="text-3">
            <a:extLst xmlns:a="http://schemas.openxmlformats.org/drawingml/2006/main">
              <a:ext uri="{FF2B5EF4-FFF2-40B4-BE49-F238E27FC236}">
                <a16:creationId xmlns:a16="http://schemas.microsoft.com/office/drawing/2014/main" id="{F1101280-BA13-45CE-805C-42E88A533F00}"/>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Sequence, session ID, event kind, frame ID, media timestamp</a:t>
            </a:r>
          </a:p>
        </p:txBody>
      </p:sp>
      <p:sp>
        <p:nvSpPr>
          <p:cNvPr id="5" name="">
            <a:extLst xmlns:a="http://schemas.openxmlformats.org/drawingml/2006/main">
              <a:ext uri="{FF2B5EF4-FFF2-40B4-BE49-F238E27FC236}">
                <a16:creationId xmlns:a16="http://schemas.microsoft.com/office/drawing/2014/main" id="{3464F2E8-3E4F-4189-A649-4CC7BF6BA3F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2C46F72E-B3D1-4321-9EFC-BABFCDE61CA9}"/>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Header</a:t>
            </a:r>
          </a:p>
        </p:txBody>
      </p:sp>
      <p:sp>
        <p:nvSpPr>
          <p:cNvPr id="7" name="text-5">
            <a:extLst xmlns:a="http://schemas.openxmlformats.org/drawingml/2006/main">
              <a:ext uri="{FF2B5EF4-FFF2-40B4-BE49-F238E27FC236}">
                <a16:creationId xmlns:a16="http://schemas.microsoft.com/office/drawing/2014/main" id="{C940104F-160C-417F-9270-DAF1911343F6}"/>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Schema version, host, build, fixture/reference hashes, profile</a:t>
            </a:r>
          </a:p>
        </p:txBody>
      </p:sp>
      <p:sp>
        <p:nvSpPr>
          <p:cNvPr id="8" name="">
            <a:extLst xmlns:a="http://schemas.openxmlformats.org/drawingml/2006/main">
              <a:ext uri="{FF2B5EF4-FFF2-40B4-BE49-F238E27FC236}">
                <a16:creationId xmlns:a16="http://schemas.microsoft.com/office/drawing/2014/main" id="{38697F7D-8309-4A44-8EFF-62EEF2753158}"/>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A71D856C-7B0A-4264-8871-DAF9D0E2BD00}"/>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Body</a:t>
            </a:r>
          </a:p>
        </p:txBody>
      </p:sp>
      <p:sp>
        <p:nvSpPr>
          <p:cNvPr id="10" name="text-7">
            <a:extLst xmlns:a="http://schemas.openxmlformats.org/drawingml/2006/main">
              <a:ext uri="{FF2B5EF4-FFF2-40B4-BE49-F238E27FC236}">
                <a16:creationId xmlns:a16="http://schemas.microsoft.com/office/drawing/2014/main" id="{4EEC7DDA-4CE4-4956-B0A5-491AFBF48E73}"/>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Sampling, scores, episode changes, termination, and errors</a:t>
            </a:r>
          </a:p>
        </p:txBody>
      </p:sp>
      <p:sp>
        <p:nvSpPr>
          <p:cNvPr id="11" name="">
            <a:extLst xmlns:a="http://schemas.openxmlformats.org/drawingml/2006/main">
              <a:ext uri="{FF2B5EF4-FFF2-40B4-BE49-F238E27FC236}">
                <a16:creationId xmlns:a16="http://schemas.microsoft.com/office/drawing/2014/main" id="{9F3B3DB7-DA5C-4763-B766-ABDCD98A98B2}"/>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DBE9EC64-395E-43ED-9291-776DF5AA7084}"/>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End</a:t>
            </a:r>
          </a:p>
        </p:txBody>
      </p:sp>
      <p:sp>
        <p:nvSpPr>
          <p:cNvPr id="13" name="text-9">
            <a:extLst xmlns:a="http://schemas.openxmlformats.org/drawingml/2006/main">
              <a:ext uri="{FF2B5EF4-FFF2-40B4-BE49-F238E27FC236}">
                <a16:creationId xmlns:a16="http://schemas.microsoft.com/office/drawing/2014/main" id="{6969994F-7D22-4433-BF47-2BBCF823168F}"/>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Exactly one summary and one stream-end event</a:t>
            </a:r>
          </a:p>
        </p:txBody>
      </p:sp>
      <p:sp>
        <p:nvSpPr>
          <p:cNvPr id="14" name="text-10">
            <a:extLst xmlns:a="http://schemas.openxmlformats.org/drawingml/2006/main">
              <a:ext uri="{FF2B5EF4-FFF2-40B4-BE49-F238E27FC236}">
                <a16:creationId xmlns:a16="http://schemas.microsoft.com/office/drawing/2014/main" id="{1D827F27-C9E7-49AC-A985-DFB67601202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E30D85A-692D-4839-830E-298265F719F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7a7f03c474249bf"/>
              </a:rPr>
              <a:t>Log schema</a:t>
            </a:r>
          </a:p>
        </p:txBody>
      </p:sp>
      <p:sp>
        <p:nvSpPr>
          <p:cNvPr id="16" name="text-12">
            <a:extLst xmlns:a="http://schemas.openxmlformats.org/drawingml/2006/main">
              <a:ext uri="{FF2B5EF4-FFF2-40B4-BE49-F238E27FC236}">
                <a16:creationId xmlns:a16="http://schemas.microsoft.com/office/drawing/2014/main" id="{1667C520-1B7A-4157-8A6A-8F6F4189374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516de8b80064f26"/>
              </a:rPr>
              <a:t>Log validation</a:t>
            </a:r>
          </a:p>
        </p:txBody>
      </p:sp>
      <p:sp>
        <p:nvSpPr>
          <p:cNvPr id="17" name="text-13">
            <a:extLst xmlns:a="http://schemas.openxmlformats.org/drawingml/2006/main">
              <a:ext uri="{FF2B5EF4-FFF2-40B4-BE49-F238E27FC236}">
                <a16:creationId xmlns:a16="http://schemas.microsoft.com/office/drawing/2014/main" id="{22640088-459C-4C53-B6B7-F90F1AD9AD6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61830d925fd436b"/>
              </a:rPr>
              <a:t>Log tests</a:t>
            </a:r>
          </a:p>
        </p:txBody>
      </p:sp>
      <p:sp>
        <p:nvSpPr>
          <p:cNvPr id="18" name="text-14">
            <a:extLst xmlns:a="http://schemas.openxmlformats.org/drawingml/2006/main">
              <a:ext uri="{FF2B5EF4-FFF2-40B4-BE49-F238E27FC236}">
                <a16:creationId xmlns:a16="http://schemas.microsoft.com/office/drawing/2014/main" id="{2433811A-2E70-40D5-A143-2EF30E9EEFFD}"/>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19</a:t>
            </a:r>
          </a:p>
        </p:txBody>
      </p:sp>
    </p:spTree>
    <p:extLst>
      <p:ext uri="{BB962C8B-B14F-4D97-AF65-F5344CB8AC3E}">
        <p14:creationId xmlns:p14="http://schemas.microsoft.com/office/powerpoint/2010/main" val="130975490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8A568F5F-A1C6-4916-8575-0C8725C8029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Report construction and replay</a:t>
            </a:r>
          </a:p>
        </p:txBody>
      </p:sp>
      <p:sp>
        <p:nvSpPr>
          <p:cNvPr id="2" name="text-1">
            <a:extLst xmlns:a="http://schemas.openxmlformats.org/drawingml/2006/main">
              <a:ext uri="{FF2B5EF4-FFF2-40B4-BE49-F238E27FC236}">
                <a16:creationId xmlns:a16="http://schemas.microsoft.com/office/drawing/2014/main" id="{4E0FD789-E99A-46C6-BDD7-07AFF73F3DD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same event reducer serves live and offline views</a:t>
            </a:r>
          </a:p>
        </p:txBody>
      </p:sp>
      <p:sp>
        <p:nvSpPr>
          <p:cNvPr id="3" name="text-2">
            <a:extLst xmlns:a="http://schemas.openxmlformats.org/drawingml/2006/main">
              <a:ext uri="{FF2B5EF4-FFF2-40B4-BE49-F238E27FC236}">
                <a16:creationId xmlns:a16="http://schemas.microsoft.com/office/drawing/2014/main" id="{F839F9EF-20D6-4A3F-A4A9-F948DC0ADEFA}"/>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A1B2EEF0-DC6A-4371-B1F7-F085726F622F}"/>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Count frames and accumulate latency from events</a:t>
            </a:r>
          </a:p>
        </p:txBody>
      </p:sp>
      <p:sp>
        <p:nvSpPr>
          <p:cNvPr id="5" name="text-4">
            <a:extLst xmlns:a="http://schemas.openxmlformats.org/drawingml/2006/main">
              <a:ext uri="{FF2B5EF4-FFF2-40B4-BE49-F238E27FC236}">
                <a16:creationId xmlns:a16="http://schemas.microsoft.com/office/drawing/2014/main" id="{65D16F48-642E-410A-A4A3-C8B63197F581}"/>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E25FC182-2555-41BE-9814-277A39776D5B}"/>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Update episodes by stable episode ID</a:t>
            </a:r>
          </a:p>
        </p:txBody>
      </p:sp>
      <p:sp>
        <p:nvSpPr>
          <p:cNvPr id="7" name="text-6">
            <a:extLst xmlns:a="http://schemas.openxmlformats.org/drawingml/2006/main">
              <a:ext uri="{FF2B5EF4-FFF2-40B4-BE49-F238E27FC236}">
                <a16:creationId xmlns:a16="http://schemas.microsoft.com/office/drawing/2014/main" id="{B10BD922-A20B-468B-97E4-2B1A9F950C3C}"/>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BA13A939-C99D-4F0C-9813-A15C2BB9DB1F}"/>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Rebuild and compare with the recorded final summary</a:t>
            </a:r>
          </a:p>
        </p:txBody>
      </p:sp>
      <p:sp>
        <p:nvSpPr>
          <p:cNvPr id="9" name="text-8">
            <a:extLst xmlns:a="http://schemas.openxmlformats.org/drawingml/2006/main">
              <a:ext uri="{FF2B5EF4-FFF2-40B4-BE49-F238E27FC236}">
                <a16:creationId xmlns:a16="http://schemas.microsoft.com/office/drawing/2014/main" id="{139D29F8-518E-43FB-8E01-8988FB76BA16}"/>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BF8F1EA0-37AA-487F-BAFC-B82D71BEDCFA}"/>
              </a:ext>
            </a:extLst>
          </p:cNvPr>
          <p:cNvSpPr>
            <a:spLocks xmlns:a="http://schemas.openxmlformats.org/drawingml/2006/main" noGrp="1"/>
          </p:cNvSpPr>
          <p:nvPr/>
        </p:nvSpPr>
        <p:spPr>
          <a:xfrm xmlns:a="http://schemas.openxmlformats.org/drawingml/2006/main">
            <a:off x="723900" y="4362450"/>
            <a:ext cx="13792200" cy="113347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95DAFECC-D9AF-40F6-82C2-296A6C3B8846}"/>
              </a:ext>
            </a:extLst>
          </p:cNvPr>
          <p:cNvSpPr>
            <a:spLocks xmlns:a="http://schemas.openxmlformats.org/drawingml/2006/main" noGrp="1"/>
          </p:cNvSpPr>
          <p:nvPr/>
        </p:nvSpPr>
        <p:spPr>
          <a:xfrm xmlns:a="http://schemas.openxmlformats.org/drawingml/2006/main">
            <a:off x="933450" y="4438650"/>
            <a:ext cx="13373100" cy="979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events = try SessionLog.read(url: logURL)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for event in events { try builder.consume(event)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recorded = try summary.payload(as: SessionReport.self)</a:t>
            </a:r>
          </a:p>
        </p:txBody>
      </p:sp>
      <p:sp>
        <p:nvSpPr>
          <p:cNvPr id="12" name="text-10">
            <a:extLst xmlns:a="http://schemas.openxmlformats.org/drawingml/2006/main">
              <a:ext uri="{FF2B5EF4-FFF2-40B4-BE49-F238E27FC236}">
                <a16:creationId xmlns:a16="http://schemas.microsoft.com/office/drawing/2014/main" id="{9DE73C10-813F-4A3B-97B8-8ECA3967987A}"/>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Report tests reject inconsistent summaries</a:t>
            </a:r>
          </a:p>
        </p:txBody>
      </p:sp>
      <p:sp>
        <p:nvSpPr>
          <p:cNvPr id="13" name="text-11">
            <a:extLst xmlns:a="http://schemas.openxmlformats.org/drawingml/2006/main">
              <a:ext uri="{FF2B5EF4-FFF2-40B4-BE49-F238E27FC236}">
                <a16:creationId xmlns:a16="http://schemas.microsoft.com/office/drawing/2014/main" id="{04117735-AF13-4383-8899-4DF664C44F1E}"/>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report never decodes the source video again.</a:t>
            </a:r>
          </a:p>
        </p:txBody>
      </p:sp>
      <p:sp>
        <p:nvSpPr>
          <p:cNvPr id="14" name="text-12">
            <a:extLst xmlns:a="http://schemas.openxmlformats.org/drawingml/2006/main">
              <a:ext uri="{FF2B5EF4-FFF2-40B4-BE49-F238E27FC236}">
                <a16:creationId xmlns:a16="http://schemas.microsoft.com/office/drawing/2014/main" id="{123F1CBA-16DE-43DC-B9A7-7D73316E758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16CC579E-8B3B-4EB2-B9D2-43EB0F3360F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5ba95ba50de4230"/>
              </a:rPr>
              <a:t>Report builder</a:t>
            </a:r>
          </a:p>
        </p:txBody>
      </p:sp>
      <p:sp>
        <p:nvSpPr>
          <p:cNvPr id="16" name="text-14">
            <a:extLst xmlns:a="http://schemas.openxmlformats.org/drawingml/2006/main">
              <a:ext uri="{FF2B5EF4-FFF2-40B4-BE49-F238E27FC236}">
                <a16:creationId xmlns:a16="http://schemas.microsoft.com/office/drawing/2014/main" id="{7B744F02-5F52-4033-9B2C-CFE9E1A9A9D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b96f0323afd4774"/>
              </a:rPr>
              <a:t>Report tests</a:t>
            </a:r>
          </a:p>
        </p:txBody>
      </p:sp>
      <p:sp>
        <p:nvSpPr>
          <p:cNvPr id="17" name="text-15">
            <a:extLst xmlns:a="http://schemas.openxmlformats.org/drawingml/2006/main">
              <a:ext uri="{FF2B5EF4-FFF2-40B4-BE49-F238E27FC236}">
                <a16:creationId xmlns:a16="http://schemas.microsoft.com/office/drawing/2014/main" id="{2429B111-DA15-48C3-8B68-F89B3EA18CD4}"/>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c06c2d55f894862"/>
              </a:rPr>
              <a:t>Integration replay</a:t>
            </a:r>
          </a:p>
        </p:txBody>
      </p:sp>
      <p:sp>
        <p:nvSpPr>
          <p:cNvPr id="18" name="text-16">
            <a:extLst xmlns:a="http://schemas.openxmlformats.org/drawingml/2006/main">
              <a:ext uri="{FF2B5EF4-FFF2-40B4-BE49-F238E27FC236}">
                <a16:creationId xmlns:a16="http://schemas.microsoft.com/office/drawing/2014/main" id="{CB9B0C0F-6B27-4AA4-BC57-8719B474D5D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20</a:t>
            </a:r>
          </a:p>
        </p:txBody>
      </p:sp>
    </p:spTree>
    <p:extLst>
      <p:ext uri="{BB962C8B-B14F-4D97-AF65-F5344CB8AC3E}">
        <p14:creationId xmlns:p14="http://schemas.microsoft.com/office/powerpoint/2010/main" val="175024046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0B9B9FE7-5109-4C24-B45F-C0BE9C9DFC1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Session termination</a:t>
            </a:r>
          </a:p>
        </p:txBody>
      </p:sp>
      <p:sp>
        <p:nvSpPr>
          <p:cNvPr id="2" name="text-1">
            <a:extLst xmlns:a="http://schemas.openxmlformats.org/drawingml/2006/main">
              <a:ext uri="{FF2B5EF4-FFF2-40B4-BE49-F238E27FC236}">
                <a16:creationId xmlns:a16="http://schemas.microsoft.com/office/drawing/2014/main" id="{98FC2A6B-E0A2-4D88-B188-93C699F9922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run, one finalization path</a:t>
            </a:r>
          </a:p>
        </p:txBody>
      </p:sp>
      <p:sp>
        <p:nvSpPr>
          <p:cNvPr id="3" name="">
            <a:extLst xmlns:a="http://schemas.openxmlformats.org/drawingml/2006/main">
              <a:ext uri="{FF2B5EF4-FFF2-40B4-BE49-F238E27FC236}">
                <a16:creationId xmlns:a16="http://schemas.microsoft.com/office/drawing/2014/main" id="{515E3F9B-8743-4A12-BF97-04E904C93AF8}"/>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CA9284A1-0675-4359-A742-FCA05845E50A}"/>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Running session</a:t>
            </a:r>
          </a:p>
        </p:txBody>
      </p:sp>
      <p:sp>
        <p:nvSpPr>
          <p:cNvPr id="5" name="text-3">
            <a:extLst xmlns:a="http://schemas.openxmlformats.org/drawingml/2006/main">
              <a:ext uri="{FF2B5EF4-FFF2-40B4-BE49-F238E27FC236}">
                <a16:creationId xmlns:a16="http://schemas.microsoft.com/office/drawing/2014/main" id="{177493A4-0EBB-4015-89B7-4A335E78D90D}"/>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Frames update an optional active episode</a:t>
            </a:r>
          </a:p>
        </p:txBody>
      </p:sp>
      <p:sp>
        <p:nvSpPr>
          <p:cNvPr id="6" name="">
            <a:extLst xmlns:a="http://schemas.openxmlformats.org/drawingml/2006/main">
              <a:ext uri="{FF2B5EF4-FFF2-40B4-BE49-F238E27FC236}">
                <a16:creationId xmlns:a16="http://schemas.microsoft.com/office/drawing/2014/main" id="{809BFAC8-6BC5-49C0-B386-E776C3170E02}"/>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EFEEDC4-4F7D-4794-8271-2E3B347213E4}"/>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0CB38BE0-35AF-4566-A071-BA756C8A6C42}"/>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End, user stop, or task cancellation</a:t>
            </a:r>
          </a:p>
        </p:txBody>
      </p:sp>
      <p:sp>
        <p:nvSpPr>
          <p:cNvPr id="9" name="text-5">
            <a:extLst xmlns:a="http://schemas.openxmlformats.org/drawingml/2006/main">
              <a:ext uri="{FF2B5EF4-FFF2-40B4-BE49-F238E27FC236}">
                <a16:creationId xmlns:a16="http://schemas.microsoft.com/office/drawing/2014/main" id="{8D9A6181-E76F-4290-AED1-2EC90AE3507C}"/>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Stop input and identify the stream-end reason</a:t>
            </a:r>
          </a:p>
        </p:txBody>
      </p:sp>
      <p:sp>
        <p:nvSpPr>
          <p:cNvPr id="10" name="">
            <a:extLst xmlns:a="http://schemas.openxmlformats.org/drawingml/2006/main">
              <a:ext uri="{FF2B5EF4-FFF2-40B4-BE49-F238E27FC236}">
                <a16:creationId xmlns:a16="http://schemas.microsoft.com/office/drawing/2014/main" id="{2B11EB44-ABFF-4366-9F11-0AC42C5FC649}"/>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5338B8D-24F9-45C7-9D19-D3CA96A22350}"/>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4376559F-0BD7-4748-A803-B03B6994B35D}"/>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 the active episode</a:t>
            </a:r>
          </a:p>
        </p:txBody>
      </p:sp>
      <p:sp>
        <p:nvSpPr>
          <p:cNvPr id="13" name="text-7">
            <a:extLst xmlns:a="http://schemas.openxmlformats.org/drawingml/2006/main">
              <a:ext uri="{FF2B5EF4-FFF2-40B4-BE49-F238E27FC236}">
                <a16:creationId xmlns:a16="http://schemas.microsoft.com/office/drawing/2014/main" id="{16B32F38-89A8-458B-B405-64BBE64C44FB}"/>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Retain its last evidence and explicit close reason</a:t>
            </a:r>
          </a:p>
        </p:txBody>
      </p:sp>
      <p:sp>
        <p:nvSpPr>
          <p:cNvPr id="14" name="">
            <a:extLst xmlns:a="http://schemas.openxmlformats.org/drawingml/2006/main">
              <a:ext uri="{FF2B5EF4-FFF2-40B4-BE49-F238E27FC236}">
                <a16:creationId xmlns:a16="http://schemas.microsoft.com/office/drawing/2014/main" id="{1793D26E-5264-46FE-B651-B719333FC544}"/>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9AE2087-6817-4D60-A161-81EB08C0DC4F}"/>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59E878A1-387F-4FF0-8AEE-BC13D2ACCD05}"/>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Finalize</a:t>
            </a:r>
          </a:p>
        </p:txBody>
      </p:sp>
      <p:sp>
        <p:nvSpPr>
          <p:cNvPr id="17" name="text-9">
            <a:extLst xmlns:a="http://schemas.openxmlformats.org/drawingml/2006/main">
              <a:ext uri="{FF2B5EF4-FFF2-40B4-BE49-F238E27FC236}">
                <a16:creationId xmlns:a16="http://schemas.microsoft.com/office/drawing/2014/main" id="{BE09C46A-C2D0-49EC-831E-0767890711C2}"/>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Write stream-end event, summary, and close the log</a:t>
            </a:r>
          </a:p>
        </p:txBody>
      </p:sp>
      <p:sp>
        <p:nvSpPr>
          <p:cNvPr id="18" name="text-10">
            <a:extLst xmlns:a="http://schemas.openxmlformats.org/drawingml/2006/main">
              <a:ext uri="{FF2B5EF4-FFF2-40B4-BE49-F238E27FC236}">
                <a16:creationId xmlns:a16="http://schemas.microsoft.com/office/drawing/2014/main" id="{995774B4-9183-4758-9DAA-F4C132D65413}"/>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One-shot execution and lifecycle tests guard against duplicate summaries.</a:t>
            </a:r>
          </a:p>
        </p:txBody>
      </p:sp>
      <p:sp>
        <p:nvSpPr>
          <p:cNvPr id="19" name="text-11">
            <a:extLst xmlns:a="http://schemas.openxmlformats.org/drawingml/2006/main">
              <a:ext uri="{FF2B5EF4-FFF2-40B4-BE49-F238E27FC236}">
                <a16:creationId xmlns:a16="http://schemas.microsoft.com/office/drawing/2014/main" id="{D0E72352-3D61-4387-B66B-35E233DB8C1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FC1E98D9-7FA5-4913-995C-02A207CEBEB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f85a3747e614c7e"/>
              </a:rPr>
              <a:t>Pipeline lifecycle</a:t>
            </a:r>
          </a:p>
        </p:txBody>
      </p:sp>
      <p:sp>
        <p:nvSpPr>
          <p:cNvPr id="21" name="text-13">
            <a:extLst xmlns:a="http://schemas.openxmlformats.org/drawingml/2006/main">
              <a:ext uri="{FF2B5EF4-FFF2-40B4-BE49-F238E27FC236}">
                <a16:creationId xmlns:a16="http://schemas.microsoft.com/office/drawing/2014/main" id="{7B41A371-AF14-4D4E-8171-6F884501649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33e96a799b34cc6"/>
              </a:rPr>
              <a:t>Lifecycle integration</a:t>
            </a:r>
          </a:p>
        </p:txBody>
      </p:sp>
      <p:sp>
        <p:nvSpPr>
          <p:cNvPr id="22" name="text-14">
            <a:extLst xmlns:a="http://schemas.openxmlformats.org/drawingml/2006/main">
              <a:ext uri="{FF2B5EF4-FFF2-40B4-BE49-F238E27FC236}">
                <a16:creationId xmlns:a16="http://schemas.microsoft.com/office/drawing/2014/main" id="{2723ABE0-C039-4C31-A21A-51680A7C906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6500b963ba041e1"/>
              </a:rPr>
              <a:t>One-shot test</a:t>
            </a:r>
          </a:p>
        </p:txBody>
      </p:sp>
      <p:sp>
        <p:nvSpPr>
          <p:cNvPr id="23" name="text-15">
            <a:extLst xmlns:a="http://schemas.openxmlformats.org/drawingml/2006/main">
              <a:ext uri="{FF2B5EF4-FFF2-40B4-BE49-F238E27FC236}">
                <a16:creationId xmlns:a16="http://schemas.microsoft.com/office/drawing/2014/main" id="{94D5A892-237D-4003-8911-7B201605F36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21</a:t>
            </a:r>
          </a:p>
        </p:txBody>
      </p:sp>
    </p:spTree>
    <p:extLst>
      <p:ext uri="{BB962C8B-B14F-4D97-AF65-F5344CB8AC3E}">
        <p14:creationId xmlns:p14="http://schemas.microsoft.com/office/powerpoint/2010/main" val="82442398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EEDCE66F-D128-42F5-801F-C32286B7EE0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Failure behavior</a:t>
            </a:r>
          </a:p>
        </p:txBody>
      </p:sp>
      <p:sp>
        <p:nvSpPr>
          <p:cNvPr id="2" name="text-1">
            <a:extLst xmlns:a="http://schemas.openxmlformats.org/drawingml/2006/main">
              <a:ext uri="{FF2B5EF4-FFF2-40B4-BE49-F238E27FC236}">
                <a16:creationId xmlns:a16="http://schemas.microsoft.com/office/drawing/2014/main" id="{E1D2D1AE-94A8-41B0-9D32-59EBA63F448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Errors must remain distinguishable from negative results</a:t>
            </a:r>
          </a:p>
        </p:txBody>
      </p:sp>
      <p:sp>
        <p:nvSpPr>
          <p:cNvPr id="3" name="text-2">
            <a:extLst xmlns:a="http://schemas.openxmlformats.org/drawingml/2006/main">
              <a:ext uri="{FF2B5EF4-FFF2-40B4-BE49-F238E27FC236}">
                <a16:creationId xmlns:a16="http://schemas.microsoft.com/office/drawing/2014/main" id="{902A718A-62F8-4960-8E7D-0A2F3D2A42D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Invalid input or inference</a:t>
            </a:r>
          </a:p>
        </p:txBody>
      </p:sp>
      <p:sp>
        <p:nvSpPr>
          <p:cNvPr id="4" name="text-3">
            <a:extLst xmlns:a="http://schemas.openxmlformats.org/drawingml/2006/main">
              <a:ext uri="{FF2B5EF4-FFF2-40B4-BE49-F238E27FC236}">
                <a16:creationId xmlns:a16="http://schemas.microsoft.com/office/drawing/2014/main" id="{8FE16A72-4741-49F6-8AD1-087551B3050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Throw the underlying error; no invented score</a:t>
            </a:r>
          </a:p>
        </p:txBody>
      </p:sp>
      <p:sp>
        <p:nvSpPr>
          <p:cNvPr id="5" name="">
            <a:extLst xmlns:a="http://schemas.openxmlformats.org/drawingml/2006/main">
              <a:ext uri="{FF2B5EF4-FFF2-40B4-BE49-F238E27FC236}">
                <a16:creationId xmlns:a16="http://schemas.microsoft.com/office/drawing/2014/main" id="{844F301B-AAD1-4C05-873C-44B8B186C600}"/>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AF8634FB-3059-49C0-AAEB-4495F67E5D13}"/>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Failure after log creation</a:t>
            </a:r>
          </a:p>
        </p:txBody>
      </p:sp>
      <p:sp>
        <p:nvSpPr>
          <p:cNvPr id="7" name="text-5">
            <a:extLst xmlns:a="http://schemas.openxmlformats.org/drawingml/2006/main">
              <a:ext uri="{FF2B5EF4-FFF2-40B4-BE49-F238E27FC236}">
                <a16:creationId xmlns:a16="http://schemas.microsoft.com/office/drawing/2014/main" id="{3CD581BF-0D39-4E9C-970C-E14A22A7A44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Record error and close an open episode when writing is possible</a:t>
            </a:r>
          </a:p>
        </p:txBody>
      </p:sp>
      <p:sp>
        <p:nvSpPr>
          <p:cNvPr id="8" name="">
            <a:extLst xmlns:a="http://schemas.openxmlformats.org/drawingml/2006/main">
              <a:ext uri="{FF2B5EF4-FFF2-40B4-BE49-F238E27FC236}">
                <a16:creationId xmlns:a16="http://schemas.microsoft.com/office/drawing/2014/main" id="{745AD0A7-700F-4038-A3C0-7640FEA891F1}"/>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F368C56-99B1-4DE8-94D5-2772E81488ED}"/>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 or early setup failure</a:t>
            </a:r>
          </a:p>
        </p:txBody>
      </p:sp>
      <p:sp>
        <p:nvSpPr>
          <p:cNvPr id="10" name="text-7">
            <a:extLst xmlns:a="http://schemas.openxmlformats.org/drawingml/2006/main">
              <a:ext uri="{FF2B5EF4-FFF2-40B4-BE49-F238E27FC236}">
                <a16:creationId xmlns:a16="http://schemas.microsoft.com/office/drawing/2014/main" id="{135F6AAB-E1C1-4186-9A59-1357D1EE29DB}"/>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complete summary may be impossible; surface the failure</a:t>
            </a:r>
          </a:p>
        </p:txBody>
      </p:sp>
      <p:sp>
        <p:nvSpPr>
          <p:cNvPr id="11" name="">
            <a:extLst xmlns:a="http://schemas.openxmlformats.org/drawingml/2006/main">
              <a:ext uri="{FF2B5EF4-FFF2-40B4-BE49-F238E27FC236}">
                <a16:creationId xmlns:a16="http://schemas.microsoft.com/office/drawing/2014/main" id="{018A2B6C-3649-4A6B-89B8-30BE05DCE5FA}"/>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74B7DC4C-A2A6-49A9-A319-F255870773E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reader</a:t>
            </a:r>
          </a:p>
        </p:txBody>
      </p:sp>
      <p:sp>
        <p:nvSpPr>
          <p:cNvPr id="13" name="text-9">
            <a:extLst xmlns:a="http://schemas.openxmlformats.org/drawingml/2006/main">
              <a:ext uri="{FF2B5EF4-FFF2-40B4-BE49-F238E27FC236}">
                <a16:creationId xmlns:a16="http://schemas.microsoft.com/office/drawing/2014/main" id="{9EE9A789-1892-43AF-AE3A-714A57432729}"/>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Reject failed, truncated, or inconsistent sessions</a:t>
            </a:r>
          </a:p>
        </p:txBody>
      </p:sp>
      <p:sp>
        <p:nvSpPr>
          <p:cNvPr id="14" name="text-10">
            <a:extLst xmlns:a="http://schemas.openxmlformats.org/drawingml/2006/main">
              <a:ext uri="{FF2B5EF4-FFF2-40B4-BE49-F238E27FC236}">
                <a16:creationId xmlns:a16="http://schemas.microsoft.com/office/drawing/2014/main" id="{ABBFAC22-4CD9-491E-AC9C-24FA69FCC8D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D4B22897-5C5A-46A3-9219-24007190D1F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dc02bc75f2045bf"/>
              </a:rPr>
              <a:t>Pipeline error path</a:t>
            </a:r>
          </a:p>
        </p:txBody>
      </p:sp>
      <p:sp>
        <p:nvSpPr>
          <p:cNvPr id="16" name="text-12">
            <a:extLst xmlns:a="http://schemas.openxmlformats.org/drawingml/2006/main">
              <a:ext uri="{FF2B5EF4-FFF2-40B4-BE49-F238E27FC236}">
                <a16:creationId xmlns:a16="http://schemas.microsoft.com/office/drawing/2014/main" id="{87AED6E1-BB72-4188-BEF9-96B889867BA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d42c62ae1c14aac"/>
              </a:rPr>
              <a:t>Failure tests</a:t>
            </a:r>
          </a:p>
        </p:txBody>
      </p:sp>
      <p:sp>
        <p:nvSpPr>
          <p:cNvPr id="17" name="text-13">
            <a:extLst xmlns:a="http://schemas.openxmlformats.org/drawingml/2006/main">
              <a:ext uri="{FF2B5EF4-FFF2-40B4-BE49-F238E27FC236}">
                <a16:creationId xmlns:a16="http://schemas.microsoft.com/office/drawing/2014/main" id="{BE66EF3C-E267-48BA-B1F3-DC9D31E7A5D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3e6154a12424309"/>
              </a:rPr>
              <a:t>Harness model</a:t>
            </a:r>
          </a:p>
        </p:txBody>
      </p:sp>
      <p:sp>
        <p:nvSpPr>
          <p:cNvPr id="18" name="text-14">
            <a:extLst xmlns:a="http://schemas.openxmlformats.org/drawingml/2006/main">
              <a:ext uri="{FF2B5EF4-FFF2-40B4-BE49-F238E27FC236}">
                <a16:creationId xmlns:a16="http://schemas.microsoft.com/office/drawing/2014/main" id="{1267A870-3CDD-4FCE-814A-D188F6B5CB5D}"/>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22</a:t>
            </a:r>
          </a:p>
        </p:txBody>
      </p:sp>
    </p:spTree>
    <p:extLst>
      <p:ext uri="{BB962C8B-B14F-4D97-AF65-F5344CB8AC3E}">
        <p14:creationId xmlns:p14="http://schemas.microsoft.com/office/powerpoint/2010/main" val="31859134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B15896C9-749A-455A-8957-5EE37DFFFBA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Independent fixture evaluation</a:t>
            </a:r>
          </a:p>
        </p:txBody>
      </p:sp>
      <p:sp>
        <p:nvSpPr>
          <p:cNvPr id="2" name="text-1">
            <a:extLst xmlns:a="http://schemas.openxmlformats.org/drawingml/2006/main">
              <a:ext uri="{FF2B5EF4-FFF2-40B4-BE49-F238E27FC236}">
                <a16:creationId xmlns:a16="http://schemas.microsoft.com/office/drawing/2014/main" id="{D82A6FAB-DC93-4069-80E9-D113B5A6551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4: what the evidence proves, and what it does not</a:t>
            </a:r>
          </a:p>
        </p:txBody>
      </p:sp>
      <p:sp>
        <p:nvSpPr>
          <p:cNvPr id="3" name="text-2">
            <a:extLst xmlns:a="http://schemas.openxmlformats.org/drawingml/2006/main">
              <a:ext uri="{FF2B5EF4-FFF2-40B4-BE49-F238E27FC236}">
                <a16:creationId xmlns:a16="http://schemas.microsoft.com/office/drawing/2014/main" id="{452EF38B-D011-4C2A-BCF6-0E250471D593}"/>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Expected zone</a:t>
            </a:r>
          </a:p>
        </p:txBody>
      </p:sp>
      <p:sp>
        <p:nvSpPr>
          <p:cNvPr id="4" name="text-3">
            <a:extLst xmlns:a="http://schemas.openxmlformats.org/drawingml/2006/main">
              <a:ext uri="{FF2B5EF4-FFF2-40B4-BE49-F238E27FC236}">
                <a16:creationId xmlns:a16="http://schemas.microsoft.com/office/drawing/2014/main" id="{AEB00053-E61A-45B1-AC3B-951A106D5279}"/>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At least one candidate episode opens in the positive interval</a:t>
            </a:r>
          </a:p>
        </p:txBody>
      </p:sp>
      <p:sp>
        <p:nvSpPr>
          <p:cNvPr id="5" name="">
            <a:extLst xmlns:a="http://schemas.openxmlformats.org/drawingml/2006/main">
              <a:ext uri="{FF2B5EF4-FFF2-40B4-BE49-F238E27FC236}">
                <a16:creationId xmlns:a16="http://schemas.microsoft.com/office/drawing/2014/main" id="{F942DD0A-A79F-4283-ABCF-5D6F6B064807}"/>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09BBD7C5-5EA2-4A0F-9DF0-6814B31CAEC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False-positive zone</a:t>
            </a:r>
          </a:p>
        </p:txBody>
      </p:sp>
      <p:sp>
        <p:nvSpPr>
          <p:cNvPr id="7" name="text-5">
            <a:extLst xmlns:a="http://schemas.openxmlformats.org/drawingml/2006/main">
              <a:ext uri="{FF2B5EF4-FFF2-40B4-BE49-F238E27FC236}">
                <a16:creationId xmlns:a16="http://schemas.microsoft.com/office/drawing/2014/main" id="{F45D0474-9A00-4E2E-9229-8A05A231A4AA}"/>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candidate episode may open there</a:t>
            </a:r>
          </a:p>
        </p:txBody>
      </p:sp>
      <p:sp>
        <p:nvSpPr>
          <p:cNvPr id="8" name="">
            <a:extLst xmlns:a="http://schemas.openxmlformats.org/drawingml/2006/main">
              <a:ext uri="{FF2B5EF4-FFF2-40B4-BE49-F238E27FC236}">
                <a16:creationId xmlns:a16="http://schemas.microsoft.com/office/drawing/2014/main" id="{2CB9DC05-BCBC-43B8-80A2-9CFAB8BABF70}"/>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BA6D2CF8-58D4-4403-882C-37E67FC11EF4}"/>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Do-not-care or unannotated time</a:t>
            </a:r>
          </a:p>
        </p:txBody>
      </p:sp>
      <p:sp>
        <p:nvSpPr>
          <p:cNvPr id="10" name="text-7">
            <a:extLst xmlns:a="http://schemas.openxmlformats.org/drawingml/2006/main">
              <a:ext uri="{FF2B5EF4-FFF2-40B4-BE49-F238E27FC236}">
                <a16:creationId xmlns:a16="http://schemas.microsoft.com/office/drawing/2014/main" id="{8EE737C3-0E87-464A-B82D-8F28DD525CDB}"/>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Does not satisfy the expected-zone requirement</a:t>
            </a:r>
          </a:p>
        </p:txBody>
      </p:sp>
      <p:sp>
        <p:nvSpPr>
          <p:cNvPr id="11" name="">
            <a:extLst xmlns:a="http://schemas.openxmlformats.org/drawingml/2006/main">
              <a:ext uri="{FF2B5EF4-FFF2-40B4-BE49-F238E27FC236}">
                <a16:creationId xmlns:a16="http://schemas.microsoft.com/office/drawing/2014/main" id="{B77C2367-9B3D-484E-AE1D-DF875E1912B4}"/>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7C4213A1-DF21-43C3-B508-10C4D76C49DD}"/>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Evaluation boundary</a:t>
            </a:r>
          </a:p>
        </p:txBody>
      </p:sp>
      <p:sp>
        <p:nvSpPr>
          <p:cNvPr id="13" name="text-9">
            <a:extLst xmlns:a="http://schemas.openxmlformats.org/drawingml/2006/main">
              <a:ext uri="{FF2B5EF4-FFF2-40B4-BE49-F238E27FC236}">
                <a16:creationId xmlns:a16="http://schemas.microsoft.com/office/drawing/2014/main" id="{2298D21A-4C2F-469C-83A5-9F072D6D59B4}"/>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Check hashes, profile, scores, and rebuilt episodes first</a:t>
            </a:r>
          </a:p>
        </p:txBody>
      </p:sp>
      <p:sp>
        <p:nvSpPr>
          <p:cNvPr id="14" name="text-10">
            <a:extLst xmlns:a="http://schemas.openxmlformats.org/drawingml/2006/main">
              <a:ext uri="{FF2B5EF4-FFF2-40B4-BE49-F238E27FC236}">
                <a16:creationId xmlns:a16="http://schemas.microsoft.com/office/drawing/2014/main" id="{2C31FABB-DFDE-4ECF-A583-9F35A74CC75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79C9E53A-F7A5-4242-BA1D-756B92960B8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936dad895724603"/>
              </a:rPr>
              <a:t>Fixture evaluator</a:t>
            </a:r>
          </a:p>
        </p:txBody>
      </p:sp>
      <p:sp>
        <p:nvSpPr>
          <p:cNvPr id="16" name="text-12">
            <a:extLst xmlns:a="http://schemas.openxmlformats.org/drawingml/2006/main">
              <a:ext uri="{FF2B5EF4-FFF2-40B4-BE49-F238E27FC236}">
                <a16:creationId xmlns:a16="http://schemas.microsoft.com/office/drawing/2014/main" id="{C026CB7C-98A9-43B1-9051-282F7A6971C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b8cc60a87724be0"/>
              </a:rPr>
              <a:t>Annotation data</a:t>
            </a:r>
          </a:p>
        </p:txBody>
      </p:sp>
      <p:sp>
        <p:nvSpPr>
          <p:cNvPr id="17" name="text-13">
            <a:extLst xmlns:a="http://schemas.openxmlformats.org/drawingml/2006/main">
              <a:ext uri="{FF2B5EF4-FFF2-40B4-BE49-F238E27FC236}">
                <a16:creationId xmlns:a16="http://schemas.microsoft.com/office/drawing/2014/main" id="{04EBC240-7E46-4959-B971-EBDB01904F2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01bbbb307104efa"/>
              </a:rPr>
              <a:t>Evaluator tests</a:t>
            </a:r>
          </a:p>
        </p:txBody>
      </p:sp>
      <p:sp>
        <p:nvSpPr>
          <p:cNvPr id="18" name="text-14">
            <a:extLst xmlns:a="http://schemas.openxmlformats.org/drawingml/2006/main">
              <a:ext uri="{FF2B5EF4-FFF2-40B4-BE49-F238E27FC236}">
                <a16:creationId xmlns:a16="http://schemas.microsoft.com/office/drawing/2014/main" id="{917004EA-92E4-4F29-87FB-C3C3ECA7466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23</a:t>
            </a:r>
          </a:p>
        </p:txBody>
      </p:sp>
    </p:spTree>
    <p:extLst>
      <p:ext uri="{BB962C8B-B14F-4D97-AF65-F5344CB8AC3E}">
        <p14:creationId xmlns:p14="http://schemas.microsoft.com/office/powerpoint/2010/main" val="170937111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3F5C64E9-7D3C-4C41-AA72-AFD9B6C491C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Measured fixture results</a:t>
            </a:r>
          </a:p>
        </p:txBody>
      </p:sp>
      <p:sp>
        <p:nvSpPr>
          <p:cNvPr id="2" name="text-1">
            <a:extLst xmlns:a="http://schemas.openxmlformats.org/drawingml/2006/main">
              <a:ext uri="{FF2B5EF4-FFF2-40B4-BE49-F238E27FC236}">
                <a16:creationId xmlns:a16="http://schemas.microsoft.com/office/drawing/2014/main" id="{AB51E796-66B8-4FC3-AAFD-9EA3CAC2F69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Saved macOS evidence from 20 September 2026</a:t>
            </a:r>
          </a:p>
        </p:txBody>
      </p:sp>
      <p:sp>
        <p:nvSpPr>
          <p:cNvPr id="3" name="text-2">
            <a:extLst xmlns:a="http://schemas.openxmlformats.org/drawingml/2006/main">
              <a:ext uri="{FF2B5EF4-FFF2-40B4-BE49-F238E27FC236}">
                <a16:creationId xmlns:a16="http://schemas.microsoft.com/office/drawing/2014/main" id="{2A70C742-74BC-489A-BBD0-929B61D35C1A}"/>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4" name="text-3">
            <a:extLst xmlns:a="http://schemas.openxmlformats.org/drawingml/2006/main">
              <a:ext uri="{FF2B5EF4-FFF2-40B4-BE49-F238E27FC236}">
                <a16:creationId xmlns:a16="http://schemas.microsoft.com/office/drawing/2014/main" id="{1C0A9657-B738-4A40-B529-EC3BDB56CA68}"/>
              </a:ext>
            </a:extLst>
          </p:cNvPr>
          <p:cNvSpPr>
            <a:spLocks xmlns:a="http://schemas.openxmlformats.org/drawingml/2006/main" noGrp="1"/>
          </p:cNvSpPr>
          <p:nvPr/>
        </p:nvSpPr>
        <p:spPr>
          <a:xfrm xmlns:a="http://schemas.openxmlformats.org/drawingml/2006/main">
            <a:off x="723900" y="23241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56 analyzed frames; 1 episode</a:t>
            </a:r>
          </a:p>
        </p:txBody>
      </p:sp>
      <p:sp>
        <p:nvSpPr>
          <p:cNvPr id="5" name="text-4">
            <a:extLst xmlns:a="http://schemas.openxmlformats.org/drawingml/2006/main">
              <a:ext uri="{FF2B5EF4-FFF2-40B4-BE49-F238E27FC236}">
                <a16:creationId xmlns:a16="http://schemas.microsoft.com/office/drawing/2014/main" id="{E2999841-B4A4-407C-8C01-1E4705DE29FC}"/>
              </a:ext>
            </a:extLst>
          </p:cNvPr>
          <p:cNvSpPr>
            <a:spLocks xmlns:a="http://schemas.openxmlformats.org/drawingml/2006/main" noGrp="1"/>
          </p:cNvSpPr>
          <p:nvPr/>
        </p:nvSpPr>
        <p:spPr>
          <a:xfrm xmlns:a="http://schemas.openxmlformats.org/drawingml/2006/main">
            <a:off x="723900" y="27622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Opened at 24.5 s; best frame at 25.0 s</a:t>
            </a:r>
          </a:p>
        </p:txBody>
      </p:sp>
      <p:sp>
        <p:nvSpPr>
          <p:cNvPr id="6" name="">
            <a:extLst xmlns:a="http://schemas.openxmlformats.org/drawingml/2006/main">
              <a:ext uri="{FF2B5EF4-FFF2-40B4-BE49-F238E27FC236}">
                <a16:creationId xmlns:a16="http://schemas.microsoft.com/office/drawing/2014/main" id="{1179F216-74EF-4874-902C-883DA33CB40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B0D5659D-D9BB-41F7-96D3-41DA66D5F8F4}"/>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Negative fixture</a:t>
            </a:r>
          </a:p>
        </p:txBody>
      </p:sp>
      <p:sp>
        <p:nvSpPr>
          <p:cNvPr id="8" name="text-6">
            <a:extLst xmlns:a="http://schemas.openxmlformats.org/drawingml/2006/main">
              <a:ext uri="{FF2B5EF4-FFF2-40B4-BE49-F238E27FC236}">
                <a16:creationId xmlns:a16="http://schemas.microsoft.com/office/drawing/2014/main" id="{D6CB0283-7E97-4C45-B12C-A137EE6A8083}"/>
              </a:ext>
            </a:extLst>
          </p:cNvPr>
          <p:cNvSpPr>
            <a:spLocks xmlns:a="http://schemas.openxmlformats.org/drawingml/2006/main" noGrp="1"/>
          </p:cNvSpPr>
          <p:nvPr/>
        </p:nvSpPr>
        <p:spPr>
          <a:xfrm xmlns:a="http://schemas.openxmlformats.org/drawingml/2006/main">
            <a:off x="723900" y="37147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26 analyzed frames; 0 episodes</a:t>
            </a:r>
          </a:p>
        </p:txBody>
      </p:sp>
      <p:sp>
        <p:nvSpPr>
          <p:cNvPr id="9" name="text-7">
            <a:extLst xmlns:a="http://schemas.openxmlformats.org/drawingml/2006/main">
              <a:ext uri="{FF2B5EF4-FFF2-40B4-BE49-F238E27FC236}">
                <a16:creationId xmlns:a16="http://schemas.microsoft.com/office/drawing/2014/main" id="{FA7486E1-9C32-4AD8-B004-85A60CFDE074}"/>
              </a:ext>
            </a:extLst>
          </p:cNvPr>
          <p:cNvSpPr>
            <a:spLocks xmlns:a="http://schemas.openxmlformats.org/drawingml/2006/main" noGrp="1"/>
          </p:cNvSpPr>
          <p:nvPr/>
        </p:nvSpPr>
        <p:spPr>
          <a:xfrm xmlns:a="http://schemas.openxmlformats.org/drawingml/2006/main">
            <a:off x="723900" y="41529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No openings in either fixture's false-positive zones</a:t>
            </a:r>
          </a:p>
        </p:txBody>
      </p:sp>
      <p:sp>
        <p:nvSpPr>
          <p:cNvPr id="10" name="">
            <a:extLst xmlns:a="http://schemas.openxmlformats.org/drawingml/2006/main">
              <a:ext uri="{FF2B5EF4-FFF2-40B4-BE49-F238E27FC236}">
                <a16:creationId xmlns:a16="http://schemas.microsoft.com/office/drawing/2014/main" id="{534C7610-4155-4AFA-A105-1D2A93664725}"/>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C1B95A54-0F76-4C99-AED7-5AB8B9CF3E3D}"/>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Detection delay</a:t>
            </a:r>
          </a:p>
        </p:txBody>
      </p:sp>
      <p:sp>
        <p:nvSpPr>
          <p:cNvPr id="12" name="text-9">
            <a:extLst xmlns:a="http://schemas.openxmlformats.org/drawingml/2006/main">
              <a:ext uri="{FF2B5EF4-FFF2-40B4-BE49-F238E27FC236}">
                <a16:creationId xmlns:a16="http://schemas.microsoft.com/office/drawing/2014/main" id="{8EF92074-945E-415B-AD69-BBCD6F1E4561}"/>
              </a:ext>
            </a:extLst>
          </p:cNvPr>
          <p:cNvSpPr>
            <a:spLocks xmlns:a="http://schemas.openxmlformats.org/drawingml/2006/main" noGrp="1"/>
          </p:cNvSpPr>
          <p:nvPr/>
        </p:nvSpPr>
        <p:spPr>
          <a:xfrm xmlns:a="http://schemas.openxmlformats.org/drawingml/2006/main">
            <a:off x="723900" y="51054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6.2 s after the expected zone begins</a:t>
            </a:r>
          </a:p>
        </p:txBody>
      </p:sp>
      <p:sp>
        <p:nvSpPr>
          <p:cNvPr id="13" name="text-10">
            <a:extLst xmlns:a="http://schemas.openxmlformats.org/drawingml/2006/main">
              <a:ext uri="{FF2B5EF4-FFF2-40B4-BE49-F238E27FC236}">
                <a16:creationId xmlns:a16="http://schemas.microsoft.com/office/drawing/2014/main" id="{855E16CB-B120-4F83-BDC1-B274991E9752}"/>
              </a:ext>
            </a:extLst>
          </p:cNvPr>
          <p:cNvSpPr>
            <a:spLocks xmlns:a="http://schemas.openxmlformats.org/drawingml/2006/main" noGrp="1"/>
          </p:cNvSpPr>
          <p:nvPr/>
        </p:nvSpPr>
        <p:spPr>
          <a:xfrm xmlns:a="http://schemas.openxmlformats.org/drawingml/2006/main">
            <a:off x="723900" y="55435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expected interval begins at 18.3 s</a:t>
            </a:r>
          </a:p>
        </p:txBody>
      </p:sp>
      <p:sp>
        <p:nvSpPr>
          <p:cNvPr id="14" name="">
            <a:extLst xmlns:a="http://schemas.openxmlformats.org/drawingml/2006/main">
              <a:ext uri="{FF2B5EF4-FFF2-40B4-BE49-F238E27FC236}">
                <a16:creationId xmlns:a16="http://schemas.microsoft.com/office/drawing/2014/main" id="{D6388774-36D3-4171-A877-4B13733DF85B}"/>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5" name="text-11">
            <a:extLst xmlns:a="http://schemas.openxmlformats.org/drawingml/2006/main">
              <a:ext uri="{FF2B5EF4-FFF2-40B4-BE49-F238E27FC236}">
                <a16:creationId xmlns:a16="http://schemas.microsoft.com/office/drawing/2014/main" id="{D8E87B91-2928-4ACF-9009-9DD8B71CF35C}"/>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strength</a:t>
            </a:r>
          </a:p>
        </p:txBody>
      </p:sp>
      <p:sp>
        <p:nvSpPr>
          <p:cNvPr id="16" name="text-12">
            <a:extLst xmlns:a="http://schemas.openxmlformats.org/drawingml/2006/main">
              <a:ext uri="{FF2B5EF4-FFF2-40B4-BE49-F238E27FC236}">
                <a16:creationId xmlns:a16="http://schemas.microsoft.com/office/drawing/2014/main" id="{64541B5B-0304-4F44-A68A-7F93D5D1199E}"/>
              </a:ext>
            </a:extLst>
          </p:cNvPr>
          <p:cNvSpPr>
            <a:spLocks xmlns:a="http://schemas.openxmlformats.org/drawingml/2006/main" noGrp="1"/>
          </p:cNvSpPr>
          <p:nvPr/>
        </p:nvSpPr>
        <p:spPr>
          <a:xfrm xmlns:a="http://schemas.openxmlformats.org/drawingml/2006/main">
            <a:off x="723900" y="64960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Best distance 0.34894; threshold 0.42939</a:t>
            </a:r>
          </a:p>
        </p:txBody>
      </p:sp>
      <p:sp>
        <p:nvSpPr>
          <p:cNvPr id="17" name="text-13">
            <a:extLst xmlns:a="http://schemas.openxmlformats.org/drawingml/2006/main">
              <a:ext uri="{FF2B5EF4-FFF2-40B4-BE49-F238E27FC236}">
                <a16:creationId xmlns:a16="http://schemas.microsoft.com/office/drawing/2014/main" id="{E27B7DDE-6F80-4351-9FC5-772B6A497372}"/>
              </a:ext>
            </a:extLst>
          </p:cNvPr>
          <p:cNvSpPr>
            <a:spLocks xmlns:a="http://schemas.openxmlformats.org/drawingml/2006/main" noGrp="1"/>
          </p:cNvSpPr>
          <p:nvPr/>
        </p:nvSpPr>
        <p:spPr>
          <a:xfrm xmlns:a="http://schemas.openxmlformats.org/drawingml/2006/main">
            <a:off x="723900" y="69342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Closest false-positive-zone distance across fixtures: 0.90553</a:t>
            </a:r>
          </a:p>
        </p:txBody>
      </p:sp>
      <p:sp>
        <p:nvSpPr>
          <p:cNvPr id="18" name="text-14">
            <a:extLst xmlns:a="http://schemas.openxmlformats.org/drawingml/2006/main">
              <a:ext uri="{FF2B5EF4-FFF2-40B4-BE49-F238E27FC236}">
                <a16:creationId xmlns:a16="http://schemas.microsoft.com/office/drawing/2014/main" id="{71A87BCC-BD36-4E1D-BC62-8852B990FA7C}"/>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Zero dropped frames in these deterministic runs. Phone behavior is unmeasured.</a:t>
            </a:r>
          </a:p>
        </p:txBody>
      </p:sp>
      <p:sp>
        <p:nvSpPr>
          <p:cNvPr id="19" name="text-15">
            <a:extLst xmlns:a="http://schemas.openxmlformats.org/drawingml/2006/main">
              <a:ext uri="{FF2B5EF4-FFF2-40B4-BE49-F238E27FC236}">
                <a16:creationId xmlns:a16="http://schemas.microsoft.com/office/drawing/2014/main" id="{A9C2301D-EBA2-43F4-A78A-36B90D68A2E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6">
            <a:extLst xmlns:a="http://schemas.openxmlformats.org/drawingml/2006/main">
              <a:ext uri="{FF2B5EF4-FFF2-40B4-BE49-F238E27FC236}">
                <a16:creationId xmlns:a16="http://schemas.microsoft.com/office/drawing/2014/main" id="{AB0ED3BC-CC9D-40A6-96F8-CD9F3DE6DE2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9ff79b478a04f11"/>
              </a:rPr>
              <a:t>Positive evaluation</a:t>
            </a:r>
          </a:p>
        </p:txBody>
      </p:sp>
      <p:sp>
        <p:nvSpPr>
          <p:cNvPr id="21" name="text-17">
            <a:extLst xmlns:a="http://schemas.openxmlformats.org/drawingml/2006/main">
              <a:ext uri="{FF2B5EF4-FFF2-40B4-BE49-F238E27FC236}">
                <a16:creationId xmlns:a16="http://schemas.microsoft.com/office/drawing/2014/main" id="{30088FD1-B872-48CE-9415-940A78EF97C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81e6200278040b9"/>
              </a:rPr>
              <a:t>Negative evaluation</a:t>
            </a:r>
          </a:p>
        </p:txBody>
      </p:sp>
      <p:sp>
        <p:nvSpPr>
          <p:cNvPr id="22" name="text-18">
            <a:extLst xmlns:a="http://schemas.openxmlformats.org/drawingml/2006/main">
              <a:ext uri="{FF2B5EF4-FFF2-40B4-BE49-F238E27FC236}">
                <a16:creationId xmlns:a16="http://schemas.microsoft.com/office/drawing/2014/main" id="{1878DACA-14AB-4D76-B70C-A206618C25AF}"/>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15e37c554d148ad"/>
              </a:rPr>
              <a:t>Positive report</a:t>
            </a:r>
          </a:p>
        </p:txBody>
      </p:sp>
      <p:sp>
        <p:nvSpPr>
          <p:cNvPr id="23" name="text-19">
            <a:extLst xmlns:a="http://schemas.openxmlformats.org/drawingml/2006/main">
              <a:ext uri="{FF2B5EF4-FFF2-40B4-BE49-F238E27FC236}">
                <a16:creationId xmlns:a16="http://schemas.microsoft.com/office/drawing/2014/main" id="{15B21E67-1F7A-4600-B2E9-2B505048AB5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24</a:t>
            </a:r>
          </a:p>
        </p:txBody>
      </p:sp>
    </p:spTree>
    <p:extLst>
      <p:ext uri="{BB962C8B-B14F-4D97-AF65-F5344CB8AC3E}">
        <p14:creationId xmlns:p14="http://schemas.microsoft.com/office/powerpoint/2010/main" val="40509374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B21B063C-F802-4EE1-A0FC-52E828E8F38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Mac and iPhone comparison</a:t>
            </a:r>
          </a:p>
        </p:txBody>
      </p:sp>
      <p:sp>
        <p:nvSpPr>
          <p:cNvPr id="2" name="text-1">
            <a:extLst xmlns:a="http://schemas.openxmlformats.org/drawingml/2006/main">
              <a:ext uri="{FF2B5EF4-FFF2-40B4-BE49-F238E27FC236}">
                <a16:creationId xmlns:a16="http://schemas.microsoft.com/office/drawing/2014/main" id="{DD013694-7187-466E-80F7-854AF98870F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Match evidence first, then compare decisions</a:t>
            </a:r>
          </a:p>
        </p:txBody>
      </p:sp>
      <p:sp>
        <p:nvSpPr>
          <p:cNvPr id="3" name="text-2">
            <a:extLst xmlns:a="http://schemas.openxmlformats.org/drawingml/2006/main">
              <a:ext uri="{FF2B5EF4-FFF2-40B4-BE49-F238E27FC236}">
                <a16:creationId xmlns:a16="http://schemas.microsoft.com/office/drawing/2014/main" id="{2C85F8E8-4382-4823-98F0-1F58B53D2B89}"/>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Prerequisites</a:t>
            </a:r>
          </a:p>
        </p:txBody>
      </p:sp>
      <p:sp>
        <p:nvSpPr>
          <p:cNvPr id="4" name="text-3">
            <a:extLst xmlns:a="http://schemas.openxmlformats.org/drawingml/2006/main">
              <a:ext uri="{FF2B5EF4-FFF2-40B4-BE49-F238E27FC236}">
                <a16:creationId xmlns:a16="http://schemas.microsoft.com/office/drawing/2014/main" id="{4442F6CC-681A-4A83-B55D-4C7D3BDE29D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Same inputs, reference, profile, frame IDs, and timestamps</a:t>
            </a:r>
          </a:p>
        </p:txBody>
      </p:sp>
      <p:sp>
        <p:nvSpPr>
          <p:cNvPr id="5" name="">
            <a:extLst xmlns:a="http://schemas.openxmlformats.org/drawingml/2006/main">
              <a:ext uri="{FF2B5EF4-FFF2-40B4-BE49-F238E27FC236}">
                <a16:creationId xmlns:a16="http://schemas.microsoft.com/office/drawing/2014/main" id="{4B26AE09-B967-4C09-A9E7-ABD03D5E89C2}"/>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5A4513FD-3ADA-4BC3-9C3D-F624D2FA857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Completeness</a:t>
            </a:r>
          </a:p>
        </p:txBody>
      </p:sp>
      <p:sp>
        <p:nvSpPr>
          <p:cNvPr id="7" name="text-5">
            <a:extLst xmlns:a="http://schemas.openxmlformats.org/drawingml/2006/main">
              <a:ext uri="{FF2B5EF4-FFF2-40B4-BE49-F238E27FC236}">
                <a16:creationId xmlns:a16="http://schemas.microsoft.com/office/drawing/2014/main" id="{D2BAB0BE-E370-46D7-8357-0FC8289C21AB}"/>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Both fixtures, normal exhaustion, zero drops, contiguous slots</a:t>
            </a:r>
          </a:p>
        </p:txBody>
      </p:sp>
      <p:sp>
        <p:nvSpPr>
          <p:cNvPr id="8" name="">
            <a:extLst xmlns:a="http://schemas.openxmlformats.org/drawingml/2006/main">
              <a:ext uri="{FF2B5EF4-FFF2-40B4-BE49-F238E27FC236}">
                <a16:creationId xmlns:a16="http://schemas.microsoft.com/office/drawing/2014/main" id="{494E3C9B-3A2A-46DC-B153-613CAA35E1CB}"/>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E03BC87-DEA7-4CBF-A220-3D41CE50A2B8}"/>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Agreement</a:t>
            </a:r>
          </a:p>
        </p:txBody>
      </p:sp>
      <p:sp>
        <p:nvSpPr>
          <p:cNvPr id="10" name="text-7">
            <a:extLst xmlns:a="http://schemas.openxmlformats.org/drawingml/2006/main">
              <a:ext uri="{FF2B5EF4-FFF2-40B4-BE49-F238E27FC236}">
                <a16:creationId xmlns:a16="http://schemas.microsoft.com/office/drawing/2014/main" id="{C2D9B769-3552-4593-A90A-7D41EAAD61CC}"/>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Every sampled frame is on the same side of the threshold</a:t>
            </a:r>
          </a:p>
        </p:txBody>
      </p:sp>
      <p:sp>
        <p:nvSpPr>
          <p:cNvPr id="11" name="">
            <a:extLst xmlns:a="http://schemas.openxmlformats.org/drawingml/2006/main">
              <a:ext uri="{FF2B5EF4-FFF2-40B4-BE49-F238E27FC236}">
                <a16:creationId xmlns:a16="http://schemas.microsoft.com/office/drawing/2014/main" id="{1E562491-C2BA-46AD-ABAF-5A74792B3733}"/>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482B566B-2D7C-4D72-B325-005B8357ABAF}"/>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Outcomes</a:t>
            </a:r>
          </a:p>
        </p:txBody>
      </p:sp>
      <p:sp>
        <p:nvSpPr>
          <p:cNvPr id="13" name="text-9">
            <a:extLst xmlns:a="http://schemas.openxmlformats.org/drawingml/2006/main">
              <a:ext uri="{FF2B5EF4-FFF2-40B4-BE49-F238E27FC236}">
                <a16:creationId xmlns:a16="http://schemas.microsoft.com/office/drawing/2014/main" id="{3869A25F-0715-4CA1-8D5F-7D269133C651}"/>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0 = agreement; 2 = changed decisions; 1 = failed or invalid evidence</a:t>
            </a:r>
          </a:p>
        </p:txBody>
      </p:sp>
      <p:sp>
        <p:nvSpPr>
          <p:cNvPr id="14" name="text-10">
            <a:extLst xmlns:a="http://schemas.openxmlformats.org/drawingml/2006/main">
              <a:ext uri="{FF2B5EF4-FFF2-40B4-BE49-F238E27FC236}">
                <a16:creationId xmlns:a16="http://schemas.microsoft.com/office/drawing/2014/main" id="{FBEB9A69-ECC2-4A10-9049-28C9C8A9F03B}"/>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FCD61402-4A7E-4828-A223-29A2F456B73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10e3a58f3794047"/>
              </a:rPr>
              <a:t>Comparator</a:t>
            </a:r>
          </a:p>
        </p:txBody>
      </p:sp>
      <p:sp>
        <p:nvSpPr>
          <p:cNvPr id="16" name="text-12">
            <a:extLst xmlns:a="http://schemas.openxmlformats.org/drawingml/2006/main">
              <a:ext uri="{FF2B5EF4-FFF2-40B4-BE49-F238E27FC236}">
                <a16:creationId xmlns:a16="http://schemas.microsoft.com/office/drawing/2014/main" id="{8C6B0DDE-5A99-4348-8DA4-0BC4E309D3E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7efaecc501a440a"/>
              </a:rPr>
              <a:t>Evaluation CLI</a:t>
            </a:r>
          </a:p>
        </p:txBody>
      </p:sp>
      <p:sp>
        <p:nvSpPr>
          <p:cNvPr id="17" name="text-13">
            <a:extLst xmlns:a="http://schemas.openxmlformats.org/drawingml/2006/main">
              <a:ext uri="{FF2B5EF4-FFF2-40B4-BE49-F238E27FC236}">
                <a16:creationId xmlns:a16="http://schemas.microsoft.com/office/drawing/2014/main" id="{DFA60A90-1ADF-44CA-95A2-36FC971C786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ade2880dae34a8f"/>
              </a:rPr>
              <a:t>Comparator tests</a:t>
            </a:r>
          </a:p>
        </p:txBody>
      </p:sp>
      <p:sp>
        <p:nvSpPr>
          <p:cNvPr id="18" name="text-14">
            <a:extLst xmlns:a="http://schemas.openxmlformats.org/drawingml/2006/main">
              <a:ext uri="{FF2B5EF4-FFF2-40B4-BE49-F238E27FC236}">
                <a16:creationId xmlns:a16="http://schemas.microsoft.com/office/drawing/2014/main" id="{0C90F956-4BE0-47ED-9CCA-95BC29FFB0A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25</a:t>
            </a:r>
          </a:p>
        </p:txBody>
      </p:sp>
    </p:spTree>
    <p:extLst>
      <p:ext uri="{BB962C8B-B14F-4D97-AF65-F5344CB8AC3E}">
        <p14:creationId xmlns:p14="http://schemas.microsoft.com/office/powerpoint/2010/main" val="175054552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501D745A-9B69-42DD-981D-71D814EE0EE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Diagnostic app boundary</a:t>
            </a:r>
          </a:p>
        </p:txBody>
      </p:sp>
      <p:sp>
        <p:nvSpPr>
          <p:cNvPr id="2" name="text-1">
            <a:extLst xmlns:a="http://schemas.openxmlformats.org/drawingml/2006/main">
              <a:ext uri="{FF2B5EF4-FFF2-40B4-BE49-F238E27FC236}">
                <a16:creationId xmlns:a16="http://schemas.microsoft.com/office/drawing/2014/main" id="{4E011ED1-DB42-44B7-A10D-ABA2AF7674F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Offline package behavior inside a debug-only host</a:t>
            </a:r>
          </a:p>
        </p:txBody>
      </p:sp>
      <p:sp>
        <p:nvSpPr>
          <p:cNvPr id="3" name="">
            <a:extLst xmlns:a="http://schemas.openxmlformats.org/drawingml/2006/main">
              <a:ext uri="{FF2B5EF4-FFF2-40B4-BE49-F238E27FC236}">
                <a16:creationId xmlns:a16="http://schemas.microsoft.com/office/drawing/2014/main" id="{798667DC-4D71-465D-B670-BFB4131033DD}"/>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4E1535B4-8B6A-4B19-8A64-31C482C19931}"/>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Choose the diagnostic startup route</a:t>
            </a:r>
          </a:p>
        </p:txBody>
      </p:sp>
      <p:sp>
        <p:nvSpPr>
          <p:cNvPr id="5" name="text-3">
            <a:extLst xmlns:a="http://schemas.openxmlformats.org/drawingml/2006/main">
              <a:ext uri="{FF2B5EF4-FFF2-40B4-BE49-F238E27FC236}">
                <a16:creationId xmlns:a16="http://schemas.microsoft.com/office/drawing/2014/main" id="{56919553-83E5-40D8-87D4-E7952C0FD9EB}"/>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Xcode arguments or environment select the harness</a:t>
            </a:r>
          </a:p>
        </p:txBody>
      </p:sp>
      <p:sp>
        <p:nvSpPr>
          <p:cNvPr id="6" name="">
            <a:extLst xmlns:a="http://schemas.openxmlformats.org/drawingml/2006/main">
              <a:ext uri="{FF2B5EF4-FFF2-40B4-BE49-F238E27FC236}">
                <a16:creationId xmlns:a16="http://schemas.microsoft.com/office/drawing/2014/main" id="{3248D633-7E53-4B14-9AE0-893A4E9B6E2C}"/>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33E928E-3CDA-4EAF-B6DF-7B0A6ED3E46E}"/>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55D76ED1-5319-413D-A5E5-798A07B5FFA8}"/>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Bypass normal services</a:t>
            </a:r>
          </a:p>
        </p:txBody>
      </p:sp>
      <p:sp>
        <p:nvSpPr>
          <p:cNvPr id="9" name="text-5">
            <a:extLst xmlns:a="http://schemas.openxmlformats.org/drawingml/2006/main">
              <a:ext uri="{FF2B5EF4-FFF2-40B4-BE49-F238E27FC236}">
                <a16:creationId xmlns:a16="http://schemas.microsoft.com/office/drawing/2014/main" id="{9585D366-7DE2-4ECA-B16C-2113379FBCF9}"/>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Do not initialize Firebase or authentication</a:t>
            </a:r>
          </a:p>
        </p:txBody>
      </p:sp>
      <p:sp>
        <p:nvSpPr>
          <p:cNvPr id="10" name="">
            <a:extLst xmlns:a="http://schemas.openxmlformats.org/drawingml/2006/main">
              <a:ext uri="{FF2B5EF4-FFF2-40B4-BE49-F238E27FC236}">
                <a16:creationId xmlns:a16="http://schemas.microsoft.com/office/drawing/2014/main" id="{6F72719B-90D7-42D0-816D-996A64BBBEA9}"/>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0EA0254-AB27-4861-8FAD-2060C977DBCB}"/>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31DEE634-87A3-40C1-BEF4-5DC5EDAFDFF9}"/>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 the shared pipeline</a:t>
            </a:r>
          </a:p>
        </p:txBody>
      </p:sp>
      <p:sp>
        <p:nvSpPr>
          <p:cNvPr id="13" name="text-7">
            <a:extLst xmlns:a="http://schemas.openxmlformats.org/drawingml/2006/main">
              <a:ext uri="{FF2B5EF4-FFF2-40B4-BE49-F238E27FC236}">
                <a16:creationId xmlns:a16="http://schemas.microsoft.com/office/drawing/2014/main" id="{D2E0B812-134F-4906-B1C0-98D752CC78D9}"/>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Main-actor model manages playback, updates, and reports</a:t>
            </a:r>
          </a:p>
        </p:txBody>
      </p:sp>
      <p:sp>
        <p:nvSpPr>
          <p:cNvPr id="14" name="">
            <a:extLst xmlns:a="http://schemas.openxmlformats.org/drawingml/2006/main">
              <a:ext uri="{FF2B5EF4-FFF2-40B4-BE49-F238E27FC236}">
                <a16:creationId xmlns:a16="http://schemas.microsoft.com/office/drawing/2014/main" id="{054A210A-2ED5-4499-B921-8E4A890B4F41}"/>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467D608-6326-44CA-B364-4CB5B31AEDC8}"/>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D40C9D6F-4D1B-47CA-9814-3354A76F807B}"/>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Keep Release separate</a:t>
            </a:r>
          </a:p>
        </p:txBody>
      </p:sp>
      <p:sp>
        <p:nvSpPr>
          <p:cNvPr id="17" name="text-9">
            <a:extLst xmlns:a="http://schemas.openxmlformats.org/drawingml/2006/main">
              <a:ext uri="{FF2B5EF4-FFF2-40B4-BE49-F238E27FC236}">
                <a16:creationId xmlns:a16="http://schemas.microsoft.com/office/drawing/2014/main" id="{C3A53AC3-CF17-485B-9A06-245CE00AA576}"/>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Exclude diagnostic code and fixture media</a:t>
            </a:r>
          </a:p>
        </p:txBody>
      </p:sp>
      <p:sp>
        <p:nvSpPr>
          <p:cNvPr id="18" name="text-10">
            <a:extLst xmlns:a="http://schemas.openxmlformats.org/drawingml/2006/main">
              <a:ext uri="{FF2B5EF4-FFF2-40B4-BE49-F238E27FC236}">
                <a16:creationId xmlns:a16="http://schemas.microsoft.com/office/drawing/2014/main" id="{FBEF66FE-F028-4396-A43A-3B9C2468546A}"/>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ordinary app launch follows the normal sign-in route.</a:t>
            </a:r>
          </a:p>
        </p:txBody>
      </p:sp>
      <p:sp>
        <p:nvSpPr>
          <p:cNvPr id="19" name="text-11">
            <a:extLst xmlns:a="http://schemas.openxmlformats.org/drawingml/2006/main">
              <a:ext uri="{FF2B5EF4-FFF2-40B4-BE49-F238E27FC236}">
                <a16:creationId xmlns:a16="http://schemas.microsoft.com/office/drawing/2014/main" id="{08342721-0B76-47BC-A166-E6EB68ECCE3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88E27C21-3880-46CB-9F63-2011FB60AED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449cdd058c94733"/>
              </a:rPr>
              <a:t>Bootstrap</a:t>
            </a:r>
          </a:p>
        </p:txBody>
      </p:sp>
      <p:sp>
        <p:nvSpPr>
          <p:cNvPr id="21" name="text-13">
            <a:extLst xmlns:a="http://schemas.openxmlformats.org/drawingml/2006/main">
              <a:ext uri="{FF2B5EF4-FFF2-40B4-BE49-F238E27FC236}">
                <a16:creationId xmlns:a16="http://schemas.microsoft.com/office/drawing/2014/main" id="{24D8BD19-A102-4765-A594-0DA8CD9285B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b2463d760654790"/>
              </a:rPr>
              <a:t>Harness model</a:t>
            </a:r>
          </a:p>
        </p:txBody>
      </p:sp>
      <p:sp>
        <p:nvSpPr>
          <p:cNvPr id="22" name="text-14">
            <a:extLst xmlns:a="http://schemas.openxmlformats.org/drawingml/2006/main">
              <a:ext uri="{FF2B5EF4-FFF2-40B4-BE49-F238E27FC236}">
                <a16:creationId xmlns:a16="http://schemas.microsoft.com/office/drawing/2014/main" id="{0F93BC0E-C8DA-4088-BC4B-6B01C2B9921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24922bad7574041"/>
              </a:rPr>
              <a:t>Bundle checks</a:t>
            </a:r>
          </a:p>
        </p:txBody>
      </p:sp>
      <p:sp>
        <p:nvSpPr>
          <p:cNvPr id="23" name="text-15">
            <a:extLst xmlns:a="http://schemas.openxmlformats.org/drawingml/2006/main">
              <a:ext uri="{FF2B5EF4-FFF2-40B4-BE49-F238E27FC236}">
                <a16:creationId xmlns:a16="http://schemas.microsoft.com/office/drawing/2014/main" id="{7576D1FB-A897-4652-8E29-E45B75901A8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26</a:t>
            </a:r>
          </a:p>
        </p:txBody>
      </p:sp>
    </p:spTree>
    <p:extLst>
      <p:ext uri="{BB962C8B-B14F-4D97-AF65-F5344CB8AC3E}">
        <p14:creationId xmlns:p14="http://schemas.microsoft.com/office/powerpoint/2010/main" val="31220956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AB29741E-6051-47A3-BE0D-BE7C4722F30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physical-iPhone session</a:t>
            </a:r>
          </a:p>
        </p:txBody>
      </p:sp>
      <p:sp>
        <p:nvSpPr>
          <p:cNvPr id="2" name="text-1">
            <a:extLst xmlns:a="http://schemas.openxmlformats.org/drawingml/2006/main">
              <a:ext uri="{FF2B5EF4-FFF2-40B4-BE49-F238E27FC236}">
                <a16:creationId xmlns:a16="http://schemas.microsoft.com/office/drawing/2014/main" id="{832D2DA9-A2E8-48A3-82A5-5CF95B37FBB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Manual acceptance steps still to be performed</a:t>
            </a:r>
          </a:p>
        </p:txBody>
      </p:sp>
      <p:sp>
        <p:nvSpPr>
          <p:cNvPr id="3" name="text-2">
            <a:extLst xmlns:a="http://schemas.openxmlformats.org/drawingml/2006/main">
              <a:ext uri="{FF2B5EF4-FFF2-40B4-BE49-F238E27FC236}">
                <a16:creationId xmlns:a16="http://schemas.microsoft.com/office/drawing/2014/main" id="{F1262F26-9C4E-4B20-A559-F5BE7396E72B}"/>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1  Launch from Xcode</a:t>
            </a:r>
          </a:p>
        </p:txBody>
      </p:sp>
      <p:sp>
        <p:nvSpPr>
          <p:cNvPr id="4" name="text-3">
            <a:extLst xmlns:a="http://schemas.openxmlformats.org/drawingml/2006/main">
              <a:ext uri="{FF2B5EF4-FFF2-40B4-BE49-F238E27FC236}">
                <a16:creationId xmlns:a16="http://schemas.microsoft.com/office/drawing/2014/main" id="{A1E6C36B-73A4-414C-A8D4-2B2B72D30401}"/>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Select AIShop-VisionDiagnostics and the connected phone</a:t>
            </a:r>
          </a:p>
        </p:txBody>
      </p:sp>
      <p:sp>
        <p:nvSpPr>
          <p:cNvPr id="5" name="">
            <a:extLst xmlns:a="http://schemas.openxmlformats.org/drawingml/2006/main">
              <a:ext uri="{FF2B5EF4-FFF2-40B4-BE49-F238E27FC236}">
                <a16:creationId xmlns:a16="http://schemas.microsoft.com/office/drawing/2014/main" id="{6C709BF1-E64D-49E3-B4F8-F6CD8458470A}"/>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FC76562-DE91-40F1-A06B-6C4690A52C92}"/>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2  Observe both fixtures</a:t>
            </a:r>
          </a:p>
        </p:txBody>
      </p:sp>
      <p:sp>
        <p:nvSpPr>
          <p:cNvPr id="7" name="text-5">
            <a:extLst xmlns:a="http://schemas.openxmlformats.org/drawingml/2006/main">
              <a:ext uri="{FF2B5EF4-FFF2-40B4-BE49-F238E27FC236}">
                <a16:creationId xmlns:a16="http://schemas.microsoft.com/office/drawing/2014/main" id="{EF25B623-4A86-475A-B315-2E363D9E262E}"/>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Run to the end; inspect possible match and the final report</a:t>
            </a:r>
          </a:p>
        </p:txBody>
      </p:sp>
      <p:sp>
        <p:nvSpPr>
          <p:cNvPr id="8" name="">
            <a:extLst xmlns:a="http://schemas.openxmlformats.org/drawingml/2006/main">
              <a:ext uri="{FF2B5EF4-FFF2-40B4-BE49-F238E27FC236}">
                <a16:creationId xmlns:a16="http://schemas.microsoft.com/office/drawing/2014/main" id="{A7D90F49-00FA-4F70-AA44-42D741FB361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1A4325B8-2F01-442D-A00B-92EF72943E68}"/>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3  Export complete evidence</a:t>
            </a:r>
          </a:p>
        </p:txBody>
      </p:sp>
      <p:sp>
        <p:nvSpPr>
          <p:cNvPr id="10" name="text-7">
            <a:extLst xmlns:a="http://schemas.openxmlformats.org/drawingml/2006/main">
              <a:ext uri="{FF2B5EF4-FFF2-40B4-BE49-F238E27FC236}">
                <a16:creationId xmlns:a16="http://schemas.microsoft.com/office/drawing/2014/main" id="{C6874F03-CAA6-4180-9044-BA6E3B7B4A89}"/>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Save both session logs plus reports and retained images</a:t>
            </a:r>
          </a:p>
        </p:txBody>
      </p:sp>
      <p:sp>
        <p:nvSpPr>
          <p:cNvPr id="11" name="">
            <a:extLst xmlns:a="http://schemas.openxmlformats.org/drawingml/2006/main">
              <a:ext uri="{FF2B5EF4-FFF2-40B4-BE49-F238E27FC236}">
                <a16:creationId xmlns:a16="http://schemas.microsoft.com/office/drawing/2014/main" id="{B1082AB5-BD95-4402-B7E8-D92002B3B645}"/>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1E3E479-C5BA-4091-880D-D39E546F562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4  Compare on the Mac</a:t>
            </a:r>
          </a:p>
        </p:txBody>
      </p:sp>
      <p:sp>
        <p:nvSpPr>
          <p:cNvPr id="13" name="text-9">
            <a:extLst xmlns:a="http://schemas.openxmlformats.org/drawingml/2006/main">
              <a:ext uri="{FF2B5EF4-FFF2-40B4-BE49-F238E27FC236}">
                <a16:creationId xmlns:a16="http://schemas.microsoft.com/office/drawing/2014/main" id="{05DB64EA-DC7F-4249-9A24-A1A833EB3A3B}"/>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Use AIShopVisionEvaluate --compare; record device and outcome</a:t>
            </a:r>
          </a:p>
        </p:txBody>
      </p:sp>
      <p:sp>
        <p:nvSpPr>
          <p:cNvPr id="14" name="text-10">
            <a:extLst xmlns:a="http://schemas.openxmlformats.org/drawingml/2006/main">
              <a:ext uri="{FF2B5EF4-FFF2-40B4-BE49-F238E27FC236}">
                <a16:creationId xmlns:a16="http://schemas.microsoft.com/office/drawing/2014/main" id="{0828324F-7967-4D61-9A2C-D7BE372B7440}"/>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Do not retune on phone values. HITL must observe the actual device run.</a:t>
            </a:r>
          </a:p>
        </p:txBody>
      </p:sp>
      <p:sp>
        <p:nvSpPr>
          <p:cNvPr id="15" name="text-11">
            <a:extLst xmlns:a="http://schemas.openxmlformats.org/drawingml/2006/main">
              <a:ext uri="{FF2B5EF4-FFF2-40B4-BE49-F238E27FC236}">
                <a16:creationId xmlns:a16="http://schemas.microsoft.com/office/drawing/2014/main" id="{210A0752-BD0E-4D67-AA33-1C9D6DCEF65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0E79C923-498C-4940-87AE-34AE9D7CE95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5a781b2ab3b4b4e"/>
              </a:rPr>
              <a:t>Diagnostic scheme</a:t>
            </a:r>
          </a:p>
        </p:txBody>
      </p:sp>
      <p:sp>
        <p:nvSpPr>
          <p:cNvPr id="17" name="text-13">
            <a:extLst xmlns:a="http://schemas.openxmlformats.org/drawingml/2006/main">
              <a:ext uri="{FF2B5EF4-FFF2-40B4-BE49-F238E27FC236}">
                <a16:creationId xmlns:a16="http://schemas.microsoft.com/office/drawing/2014/main" id="{80DC06D3-087F-44C9-8A0F-59EFE4DDFBC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f1a34bbc00d4d5b"/>
              </a:rPr>
              <a:t>Harness export</a:t>
            </a:r>
          </a:p>
        </p:txBody>
      </p:sp>
      <p:sp>
        <p:nvSpPr>
          <p:cNvPr id="18" name="text-14">
            <a:extLst xmlns:a="http://schemas.openxmlformats.org/drawingml/2006/main">
              <a:ext uri="{FF2B5EF4-FFF2-40B4-BE49-F238E27FC236}">
                <a16:creationId xmlns:a16="http://schemas.microsoft.com/office/drawing/2014/main" id="{B0A160D5-E22F-4FF4-8D24-1F058E04DED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d4ca4a18afe4f52"/>
              </a:rPr>
              <a:t>Phone verification</a:t>
            </a:r>
          </a:p>
        </p:txBody>
      </p:sp>
      <p:sp>
        <p:nvSpPr>
          <p:cNvPr id="19" name="text-15">
            <a:extLst xmlns:a="http://schemas.openxmlformats.org/drawingml/2006/main">
              <a:ext uri="{FF2B5EF4-FFF2-40B4-BE49-F238E27FC236}">
                <a16:creationId xmlns:a16="http://schemas.microsoft.com/office/drawing/2014/main" id="{1AF02262-10C8-408E-BA73-62615579B9F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27</a:t>
            </a:r>
          </a:p>
        </p:txBody>
      </p:sp>
    </p:spTree>
    <p:extLst>
      <p:ext uri="{BB962C8B-B14F-4D97-AF65-F5344CB8AC3E}">
        <p14:creationId xmlns:p14="http://schemas.microsoft.com/office/powerpoint/2010/main" val="129907308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4601E3E7-A6E3-4671-91F4-2C9351348F0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Where to look hardest</a:t>
            </a:r>
          </a:p>
        </p:txBody>
      </p:sp>
      <p:sp>
        <p:nvSpPr>
          <p:cNvPr id="2" name="text-1">
            <a:extLst xmlns:a="http://schemas.openxmlformats.org/drawingml/2006/main">
              <a:ext uri="{FF2B5EF4-FFF2-40B4-BE49-F238E27FC236}">
                <a16:creationId xmlns:a16="http://schemas.microsoft.com/office/drawing/2014/main" id="{E8733D02-1B09-46F9-B69E-5DB2F7FD658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Review concerns visible in the current working tree</a:t>
            </a:r>
          </a:p>
        </p:txBody>
      </p:sp>
      <p:sp>
        <p:nvSpPr>
          <p:cNvPr id="3" name="text-2">
            <a:extLst xmlns:a="http://schemas.openxmlformats.org/drawingml/2006/main">
              <a:ext uri="{FF2B5EF4-FFF2-40B4-BE49-F238E27FC236}">
                <a16:creationId xmlns:a16="http://schemas.microsoft.com/office/drawing/2014/main" id="{BEAD505E-3286-4AEA-81A4-4B34F18CA513}"/>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Paced replay versus calibration</a:t>
            </a:r>
          </a:p>
        </p:txBody>
      </p:sp>
      <p:sp>
        <p:nvSpPr>
          <p:cNvPr id="4" name="text-3">
            <a:extLst xmlns:a="http://schemas.openxmlformats.org/drawingml/2006/main">
              <a:ext uri="{FF2B5EF4-FFF2-40B4-BE49-F238E27FC236}">
                <a16:creationId xmlns:a16="http://schemas.microsoft.com/office/drawing/2014/main" id="{AAC13A5A-51C6-4319-9A75-79CD0F7B90DE}"/>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The harness may drop frames; comparison requires zero drops</a:t>
            </a:r>
          </a:p>
        </p:txBody>
      </p:sp>
      <p:sp>
        <p:nvSpPr>
          <p:cNvPr id="5" name="">
            <a:extLst xmlns:a="http://schemas.openxmlformats.org/drawingml/2006/main">
              <a:ext uri="{FF2B5EF4-FFF2-40B4-BE49-F238E27FC236}">
                <a16:creationId xmlns:a16="http://schemas.microsoft.com/office/drawing/2014/main" id="{BDA17E56-23D8-486E-AB66-BF69B895463F}"/>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15A12FD2-10A7-4A4E-896B-C1C3F4EB3671}"/>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Diagnostic launch and tests</a:t>
            </a:r>
          </a:p>
        </p:txBody>
      </p:sp>
      <p:sp>
        <p:nvSpPr>
          <p:cNvPr id="7" name="text-5">
            <a:extLst xmlns:a="http://schemas.openxmlformats.org/drawingml/2006/main">
              <a:ext uri="{FF2B5EF4-FFF2-40B4-BE49-F238E27FC236}">
                <a16:creationId xmlns:a16="http://schemas.microsoft.com/office/drawing/2014/main" id="{D592559D-0433-4EA9-A885-359B3D8FC40B}"/>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Xcode scheme selects the route; ordinary launch does not</a:t>
            </a:r>
          </a:p>
        </p:txBody>
      </p:sp>
      <p:sp>
        <p:nvSpPr>
          <p:cNvPr id="8" name="">
            <a:extLst xmlns:a="http://schemas.openxmlformats.org/drawingml/2006/main">
              <a:ext uri="{FF2B5EF4-FFF2-40B4-BE49-F238E27FC236}">
                <a16:creationId xmlns:a16="http://schemas.microsoft.com/office/drawing/2014/main" id="{AACA8151-BF78-4CBB-A891-EE10A7F3C32F}"/>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2AD6CE6-8721-4369-964C-9CB0E605C3F9}"/>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Orientation coverage</a:t>
            </a:r>
          </a:p>
        </p:txBody>
      </p:sp>
      <p:sp>
        <p:nvSpPr>
          <p:cNvPr id="10" name="text-7">
            <a:extLst xmlns:a="http://schemas.openxmlformats.org/drawingml/2006/main">
              <a:ext uri="{FF2B5EF4-FFF2-40B4-BE49-F238E27FC236}">
                <a16:creationId xmlns:a16="http://schemas.microsoft.com/office/drawing/2014/main" id="{D4AF24DB-8D9E-4572-9A05-6A173CF49715}"/>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fixtures are upright; rotated-track behavior needs a test</a:t>
            </a:r>
          </a:p>
        </p:txBody>
      </p:sp>
      <p:sp>
        <p:nvSpPr>
          <p:cNvPr id="11" name="">
            <a:extLst xmlns:a="http://schemas.openxmlformats.org/drawingml/2006/main">
              <a:ext uri="{FF2B5EF4-FFF2-40B4-BE49-F238E27FC236}">
                <a16:creationId xmlns:a16="http://schemas.microsoft.com/office/drawing/2014/main" id="{A678AE28-6346-49C0-A650-D11FCD3D207C}"/>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7AB3B0EE-6F2E-4959-8B0F-636537A50B82}"/>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Long-session resources</a:t>
            </a:r>
          </a:p>
        </p:txBody>
      </p:sp>
      <p:sp>
        <p:nvSpPr>
          <p:cNvPr id="13" name="text-9">
            <a:extLst xmlns:a="http://schemas.openxmlformats.org/drawingml/2006/main">
              <a:ext uri="{FF2B5EF4-FFF2-40B4-BE49-F238E27FC236}">
                <a16:creationId xmlns:a16="http://schemas.microsoft.com/office/drawing/2014/main" id="{AA8CC9FE-20A6-443A-9043-90103D78D343}"/>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Bounded frame queue does not bound latency history or saved images</a:t>
            </a:r>
          </a:p>
        </p:txBody>
      </p:sp>
      <p:sp>
        <p:nvSpPr>
          <p:cNvPr id="14" name="text-10">
            <a:extLst xmlns:a="http://schemas.openxmlformats.org/drawingml/2006/main">
              <a:ext uri="{FF2B5EF4-FFF2-40B4-BE49-F238E27FC236}">
                <a16:creationId xmlns:a16="http://schemas.microsoft.com/office/drawing/2014/main" id="{A3460FA6-1A33-4E2E-8611-1C52534E3036}"/>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These are review concerns, not fixes silently included in this walkthrough.</a:t>
            </a:r>
          </a:p>
        </p:txBody>
      </p:sp>
      <p:sp>
        <p:nvSpPr>
          <p:cNvPr id="15" name="text-11">
            <a:extLst xmlns:a="http://schemas.openxmlformats.org/drawingml/2006/main">
              <a:ext uri="{FF2B5EF4-FFF2-40B4-BE49-F238E27FC236}">
                <a16:creationId xmlns:a16="http://schemas.microsoft.com/office/drawing/2014/main" id="{BE3FD13D-0AE2-4239-87F0-AE50AD21690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A12C1326-F6A7-4035-8779-28A81405426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29603f94ee64e77"/>
              </a:rPr>
              <a:t>Harness replay</a:t>
            </a:r>
          </a:p>
        </p:txBody>
      </p:sp>
      <p:sp>
        <p:nvSpPr>
          <p:cNvPr id="17" name="text-13">
            <a:extLst xmlns:a="http://schemas.openxmlformats.org/drawingml/2006/main">
              <a:ext uri="{FF2B5EF4-FFF2-40B4-BE49-F238E27FC236}">
                <a16:creationId xmlns:a16="http://schemas.microsoft.com/office/drawing/2014/main" id="{90CDB1F6-EB49-4DBF-890A-A4A9593E41E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66f0a9f53a34913"/>
              </a:rPr>
              <a:t>Comparator preconditions</a:t>
            </a:r>
          </a:p>
        </p:txBody>
      </p:sp>
      <p:sp>
        <p:nvSpPr>
          <p:cNvPr id="18" name="text-14">
            <a:extLst xmlns:a="http://schemas.openxmlformats.org/drawingml/2006/main">
              <a:ext uri="{FF2B5EF4-FFF2-40B4-BE49-F238E27FC236}">
                <a16:creationId xmlns:a16="http://schemas.microsoft.com/office/drawing/2014/main" id="{07C2BC7A-E7D0-41EB-A677-85FA402FDF4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ca02423f95f42ee"/>
              </a:rPr>
              <a:t>Report resources</a:t>
            </a:r>
          </a:p>
        </p:txBody>
      </p:sp>
      <p:sp>
        <p:nvSpPr>
          <p:cNvPr id="19" name="text-15">
            <a:extLst xmlns:a="http://schemas.openxmlformats.org/drawingml/2006/main">
              <a:ext uri="{FF2B5EF4-FFF2-40B4-BE49-F238E27FC236}">
                <a16:creationId xmlns:a16="http://schemas.microsoft.com/office/drawing/2014/main" id="{32F508BD-2C35-40E9-99EA-6A0DAB8314D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28</a:t>
            </a:r>
          </a:p>
        </p:txBody>
      </p:sp>
    </p:spTree>
    <p:extLst>
      <p:ext uri="{BB962C8B-B14F-4D97-AF65-F5344CB8AC3E}">
        <p14:creationId xmlns:p14="http://schemas.microsoft.com/office/powerpoint/2010/main" val="31787380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04B02CE4-29FE-4DAD-B3B6-AF8823B8E9C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What this foundation gives us</a:t>
            </a:r>
          </a:p>
        </p:txBody>
      </p:sp>
      <p:sp>
        <p:nvSpPr>
          <p:cNvPr id="2" name="text-1">
            <a:extLst xmlns:a="http://schemas.openxmlformats.org/drawingml/2006/main">
              <a:ext uri="{FF2B5EF4-FFF2-40B4-BE49-F238E27FC236}">
                <a16:creationId xmlns:a16="http://schemas.microsoft.com/office/drawing/2014/main" id="{79E2D9F2-44A6-4CE4-AA0C-D5801E3C6DD7}"/>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Reusable mechanisms with explicit next-step boundaries</a:t>
            </a:r>
          </a:p>
        </p:txBody>
      </p:sp>
      <p:sp>
        <p:nvSpPr>
          <p:cNvPr id="3" name="text-2">
            <a:extLst xmlns:a="http://schemas.openxmlformats.org/drawingml/2006/main">
              <a:ext uri="{FF2B5EF4-FFF2-40B4-BE49-F238E27FC236}">
                <a16:creationId xmlns:a16="http://schemas.microsoft.com/office/drawing/2014/main" id="{6CC56EDE-E7BE-4D8B-B201-5E5F927103A6}"/>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 shared processing path</a:t>
            </a:r>
          </a:p>
        </p:txBody>
      </p:sp>
      <p:sp>
        <p:nvSpPr>
          <p:cNvPr id="4" name="text-3">
            <a:extLst xmlns:a="http://schemas.openxmlformats.org/drawingml/2006/main">
              <a:ext uri="{FF2B5EF4-FFF2-40B4-BE49-F238E27FC236}">
                <a16:creationId xmlns:a16="http://schemas.microsoft.com/office/drawing/2014/main" id="{CA95A13B-6C32-4792-852A-96FBE3B9FFE8}"/>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Hosts change; core analysis and evidence stay together</a:t>
            </a:r>
          </a:p>
        </p:txBody>
      </p:sp>
      <p:sp>
        <p:nvSpPr>
          <p:cNvPr id="5" name="">
            <a:extLst xmlns:a="http://schemas.openxmlformats.org/drawingml/2006/main">
              <a:ext uri="{FF2B5EF4-FFF2-40B4-BE49-F238E27FC236}">
                <a16:creationId xmlns:a16="http://schemas.microsoft.com/office/drawing/2014/main" id="{4DAB52B2-07FF-44E3-A572-4DF955DF0B21}"/>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322B98E9-0A98-43C2-8174-2934825AD4E7}"/>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Observable decisions</a:t>
            </a:r>
          </a:p>
        </p:txBody>
      </p:sp>
      <p:sp>
        <p:nvSpPr>
          <p:cNvPr id="7" name="text-5">
            <a:extLst xmlns:a="http://schemas.openxmlformats.org/drawingml/2006/main">
              <a:ext uri="{FF2B5EF4-FFF2-40B4-BE49-F238E27FC236}">
                <a16:creationId xmlns:a16="http://schemas.microsoft.com/office/drawing/2014/main" id="{F9AB8956-138F-4AB6-A36C-99EDFEDCAFFA}"/>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Stable identities, frozen rules, ordered events, replayable reports</a:t>
            </a:r>
          </a:p>
        </p:txBody>
      </p:sp>
      <p:sp>
        <p:nvSpPr>
          <p:cNvPr id="8" name="">
            <a:extLst xmlns:a="http://schemas.openxmlformats.org/drawingml/2006/main">
              <a:ext uri="{FF2B5EF4-FFF2-40B4-BE49-F238E27FC236}">
                <a16:creationId xmlns:a16="http://schemas.microsoft.com/office/drawing/2014/main" id="{F8C1DC73-1502-4987-91B5-361E2E186DD6}"/>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9DF38EBA-959B-49F7-8FFF-9526AC10F79D}"/>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Testable separation</a:t>
            </a:r>
          </a:p>
        </p:txBody>
      </p:sp>
      <p:sp>
        <p:nvSpPr>
          <p:cNvPr id="10" name="text-7">
            <a:extLst xmlns:a="http://schemas.openxmlformats.org/drawingml/2006/main">
              <a:ext uri="{FF2B5EF4-FFF2-40B4-BE49-F238E27FC236}">
                <a16:creationId xmlns:a16="http://schemas.microsoft.com/office/drawing/2014/main" id="{3173F414-F56D-45D0-8B6B-7A39864A1A0A}"/>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input, production inference, independent evaluation</a:t>
            </a:r>
          </a:p>
        </p:txBody>
      </p:sp>
      <p:sp>
        <p:nvSpPr>
          <p:cNvPr id="11" name="">
            <a:extLst xmlns:a="http://schemas.openxmlformats.org/drawingml/2006/main">
              <a:ext uri="{FF2B5EF4-FFF2-40B4-BE49-F238E27FC236}">
                <a16:creationId xmlns:a16="http://schemas.microsoft.com/office/drawing/2014/main" id="{08C593D6-40E8-4C3B-8CFA-6F9375F4C9B8}"/>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96EB1C83-8E59-4B20-890B-EBBC46721EA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Still to establish</a:t>
            </a:r>
          </a:p>
        </p:txBody>
      </p:sp>
      <p:sp>
        <p:nvSpPr>
          <p:cNvPr id="13" name="text-9">
            <a:extLst xmlns:a="http://schemas.openxmlformats.org/drawingml/2006/main">
              <a:ext uri="{FF2B5EF4-FFF2-40B4-BE49-F238E27FC236}">
                <a16:creationId xmlns:a16="http://schemas.microsoft.com/office/drawing/2014/main" id="{3F5C58FA-4ABC-46E3-A56F-C2127D66848F}"/>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Physical iPhone acceptance, live camera, regions, and broader accuracy</a:t>
            </a:r>
          </a:p>
        </p:txBody>
      </p:sp>
      <p:sp>
        <p:nvSpPr>
          <p:cNvPr id="14" name="text-10">
            <a:extLst xmlns:a="http://schemas.openxmlformats.org/drawingml/2006/main">
              <a:ext uri="{FF2B5EF4-FFF2-40B4-BE49-F238E27FC236}">
                <a16:creationId xmlns:a16="http://schemas.microsoft.com/office/drawing/2014/main" id="{4DC72D93-2AA6-46D8-925B-D8EB5413272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B6FDD445-C6B4-43E2-BD2B-B4DE3F4EF4B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bc2f5cce5cb4c73"/>
              </a:rPr>
              <a:t>Production pipeline</a:t>
            </a:r>
          </a:p>
        </p:txBody>
      </p:sp>
      <p:sp>
        <p:nvSpPr>
          <p:cNvPr id="16" name="text-12">
            <a:extLst xmlns:a="http://schemas.openxmlformats.org/drawingml/2006/main">
              <a:ext uri="{FF2B5EF4-FFF2-40B4-BE49-F238E27FC236}">
                <a16:creationId xmlns:a16="http://schemas.microsoft.com/office/drawing/2014/main" id="{0B127190-3C25-43B1-BF34-280F7C29CA3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8b28a7fd8764102"/>
              </a:rPr>
              <a:t>Integration suite</a:t>
            </a:r>
          </a:p>
        </p:txBody>
      </p:sp>
      <p:sp>
        <p:nvSpPr>
          <p:cNvPr id="17" name="text-13">
            <a:extLst xmlns:a="http://schemas.openxmlformats.org/drawingml/2006/main">
              <a:ext uri="{FF2B5EF4-FFF2-40B4-BE49-F238E27FC236}">
                <a16:creationId xmlns:a16="http://schemas.microsoft.com/office/drawing/2014/main" id="{5DF736A9-F54D-4CEA-883D-72AF87A6FD52}"/>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c1577a1b06a4d73"/>
              </a:rPr>
              <a:t>Package boundaries</a:t>
            </a:r>
          </a:p>
        </p:txBody>
      </p:sp>
      <p:sp>
        <p:nvSpPr>
          <p:cNvPr id="18" name="text-14">
            <a:extLst xmlns:a="http://schemas.openxmlformats.org/drawingml/2006/main">
              <a:ext uri="{FF2B5EF4-FFF2-40B4-BE49-F238E27FC236}">
                <a16:creationId xmlns:a16="http://schemas.microsoft.com/office/drawing/2014/main" id="{FB930C77-ABD1-474E-9A3F-B4FE6F18E469}"/>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29</a:t>
            </a:r>
          </a:p>
        </p:txBody>
      </p:sp>
    </p:spTree>
    <p:extLst>
      <p:ext uri="{BB962C8B-B14F-4D97-AF65-F5344CB8AC3E}">
        <p14:creationId xmlns:p14="http://schemas.microsoft.com/office/powerpoint/2010/main" val="65878240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2FC22C46-0FD7-4732-850D-5032F6CDD8C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fine-print map</a:t>
            </a:r>
          </a:p>
        </p:txBody>
      </p:sp>
      <p:sp>
        <p:nvSpPr>
          <p:cNvPr id="2" name="text-1">
            <a:extLst xmlns:a="http://schemas.openxmlformats.org/drawingml/2006/main">
              <a:ext uri="{FF2B5EF4-FFF2-40B4-BE49-F238E27FC236}">
                <a16:creationId xmlns:a16="http://schemas.microsoft.com/office/drawing/2014/main" id="{CA171FC7-4205-4B8C-89FA-20D12986348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route into the implementation whenever you need detail</a:t>
            </a:r>
          </a:p>
        </p:txBody>
      </p:sp>
      <p:sp>
        <p:nvSpPr>
          <p:cNvPr id="3" name="text-2">
            <a:extLst xmlns:a="http://schemas.openxmlformats.org/drawingml/2006/main">
              <a:ext uri="{FF2B5EF4-FFF2-40B4-BE49-F238E27FC236}">
                <a16:creationId xmlns:a16="http://schemas.microsoft.com/office/drawing/2014/main" id="{410DA93E-5795-4FDD-B84C-0EFA45D8D7AF}"/>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Foundations</a:t>
            </a:r>
          </a:p>
        </p:txBody>
      </p:sp>
      <p:sp>
        <p:nvSpPr>
          <p:cNvPr id="4" name="text-3">
            <a:extLst xmlns:a="http://schemas.openxmlformats.org/drawingml/2006/main">
              <a:ext uri="{FF2B5EF4-FFF2-40B4-BE49-F238E27FC236}">
                <a16:creationId xmlns:a16="http://schemas.microsoft.com/office/drawing/2014/main" id="{52621078-C37E-4C38-8D61-11111E2A6E8E}"/>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Intent, test hosts, architecture, frame flow, concurrency</a:t>
            </a:r>
          </a:p>
        </p:txBody>
      </p:sp>
      <p:sp>
        <p:nvSpPr>
          <p:cNvPr id="5" name="">
            <a:extLst xmlns:a="http://schemas.openxmlformats.org/drawingml/2006/main">
              <a:ext uri="{FF2B5EF4-FFF2-40B4-BE49-F238E27FC236}">
                <a16:creationId xmlns:a16="http://schemas.microsoft.com/office/drawing/2014/main" id="{32A49B5A-883B-47C5-9895-25043286ED6C}"/>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9967B0D3-D304-4E02-8BBC-4EDBD52AA92B}"/>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Frame analysis</a:t>
            </a:r>
          </a:p>
        </p:txBody>
      </p:sp>
      <p:sp>
        <p:nvSpPr>
          <p:cNvPr id="7" name="text-5">
            <a:extLst xmlns:a="http://schemas.openxmlformats.org/drawingml/2006/main">
              <a:ext uri="{FF2B5EF4-FFF2-40B4-BE49-F238E27FC236}">
                <a16:creationId xmlns:a16="http://schemas.microsoft.com/office/drawing/2014/main" id="{6D1EDA01-9A46-4DDE-9064-5554ED4B8F5D}"/>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Input contracts, decoding, load, reference, Vision, scoring</a:t>
            </a:r>
          </a:p>
        </p:txBody>
      </p:sp>
      <p:sp>
        <p:nvSpPr>
          <p:cNvPr id="8" name="">
            <a:extLst xmlns:a="http://schemas.openxmlformats.org/drawingml/2006/main">
              <a:ext uri="{FF2B5EF4-FFF2-40B4-BE49-F238E27FC236}">
                <a16:creationId xmlns:a16="http://schemas.microsoft.com/office/drawing/2014/main" id="{566CBA83-86B1-4B3F-B550-8097969E1C75}"/>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FF53336D-3E7A-4D49-AA84-BEF1C358CE4E}"/>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Episodes and evidence</a:t>
            </a:r>
          </a:p>
        </p:txBody>
      </p:sp>
      <p:sp>
        <p:nvSpPr>
          <p:cNvPr id="10" name="text-7">
            <a:extLst xmlns:a="http://schemas.openxmlformats.org/drawingml/2006/main">
              <a:ext uri="{FF2B5EF4-FFF2-40B4-BE49-F238E27FC236}">
                <a16:creationId xmlns:a16="http://schemas.microsoft.com/office/drawing/2014/main" id="{0A47648D-6005-4DEE-9C7C-4F21DC6051FA}"/>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State, records, storage, replay, lifecycle, failures</a:t>
            </a:r>
          </a:p>
        </p:txBody>
      </p:sp>
      <p:sp>
        <p:nvSpPr>
          <p:cNvPr id="11" name="">
            <a:extLst xmlns:a="http://schemas.openxmlformats.org/drawingml/2006/main">
              <a:ext uri="{FF2B5EF4-FFF2-40B4-BE49-F238E27FC236}">
                <a16:creationId xmlns:a16="http://schemas.microsoft.com/office/drawing/2014/main" id="{41C304AF-AC5B-44AE-8B2B-B980F3EA1593}"/>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DB4E03C-DD02-4959-A0F8-EA0F69CB2B0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Verification</a:t>
            </a:r>
          </a:p>
        </p:txBody>
      </p:sp>
      <p:sp>
        <p:nvSpPr>
          <p:cNvPr id="13" name="text-9">
            <a:extLst xmlns:a="http://schemas.openxmlformats.org/drawingml/2006/main">
              <a:ext uri="{FF2B5EF4-FFF2-40B4-BE49-F238E27FC236}">
                <a16:creationId xmlns:a16="http://schemas.microsoft.com/office/drawing/2014/main" id="{57854FDD-37CE-43C3-9CA3-A98389AE6732}"/>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Annotations, measured outcomes, calibration, app and phone</a:t>
            </a:r>
          </a:p>
        </p:txBody>
      </p:sp>
      <p:sp>
        <p:nvSpPr>
          <p:cNvPr id="14" name="text-10">
            <a:extLst xmlns:a="http://schemas.openxmlformats.org/drawingml/2006/main">
              <a:ext uri="{FF2B5EF4-FFF2-40B4-BE49-F238E27FC236}">
                <a16:creationId xmlns:a16="http://schemas.microsoft.com/office/drawing/2014/main" id="{DFD1B041-0A4D-4A42-976B-803692D01EE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949304CF-BA5A-4DA5-AF5B-E800D6DDFF7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49288611c8b4f6d"/>
              </a:rPr>
              <a:t>Source package</a:t>
            </a:r>
          </a:p>
        </p:txBody>
      </p:sp>
      <p:sp>
        <p:nvSpPr>
          <p:cNvPr id="16" name="text-12">
            <a:extLst xmlns:a="http://schemas.openxmlformats.org/drawingml/2006/main">
              <a:ext uri="{FF2B5EF4-FFF2-40B4-BE49-F238E27FC236}">
                <a16:creationId xmlns:a16="http://schemas.microsoft.com/office/drawing/2014/main" id="{7DB3CA9C-3B76-4DCB-BC6D-0F91F3D0A13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65c243d13de413f"/>
              </a:rPr>
              <a:t>Test package</a:t>
            </a:r>
          </a:p>
        </p:txBody>
      </p:sp>
      <p:sp>
        <p:nvSpPr>
          <p:cNvPr id="17" name="text-13">
            <a:extLst xmlns:a="http://schemas.openxmlformats.org/drawingml/2006/main">
              <a:ext uri="{FF2B5EF4-FFF2-40B4-BE49-F238E27FC236}">
                <a16:creationId xmlns:a16="http://schemas.microsoft.com/office/drawing/2014/main" id="{552FF58B-10D5-4A44-A4C1-DCC56F4498B4}"/>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df90fed181049d2"/>
              </a:rPr>
              <a:t>Acceptance record</a:t>
            </a:r>
          </a:p>
        </p:txBody>
      </p:sp>
      <p:sp>
        <p:nvSpPr>
          <p:cNvPr id="18" name="text-14">
            <a:extLst xmlns:a="http://schemas.openxmlformats.org/drawingml/2006/main">
              <a:ext uri="{FF2B5EF4-FFF2-40B4-BE49-F238E27FC236}">
                <a16:creationId xmlns:a16="http://schemas.microsoft.com/office/drawing/2014/main" id="{874DD6DC-2C6B-46CA-9DB0-FC36C7D38C4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30</a:t>
            </a:r>
          </a:p>
        </p:txBody>
      </p:sp>
    </p:spTree>
    <p:extLst>
      <p:ext uri="{BB962C8B-B14F-4D97-AF65-F5344CB8AC3E}">
        <p14:creationId xmlns:p14="http://schemas.microsoft.com/office/powerpoint/2010/main" val="1726561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2026-09-21T02:00:38.5690000Z</dcterms:created>
  <dcterms:modified xsi:type="dcterms:W3CDTF">2026-09-21T02:00:38.5690000Z</dcterms:modified>
</coreProperties>
</file>