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2e77ff689c4ff8" /><Relationship Type="http://schemas.openxmlformats.org/officeDocument/2006/relationships/extended-properties" Target="/docProps/app.xml" Id="R3a810f8ed8224cfe" /><Relationship Type="http://schemas.openxmlformats.org/officeDocument/2006/relationships/officeDocument" Target="/ppt/presentation.xml" Id="Rff887883c1a444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4150e953fa436b"/>
  </p:sldMasterIdLst>
  <p:notesMasterIdLst>
    <p:notesMasterId xmlns:r="http://schemas.openxmlformats.org/officeDocument/2006/relationships" r:id="R91c95ab33be54319"/>
  </p:notesMasterIdLst>
  <p:sldIdLst>
    <p:sldId xmlns:r="http://schemas.openxmlformats.org/officeDocument/2006/relationships" id="256" r:id="R83e1666e43794441"/>
    <p:sldId xmlns:r="http://schemas.openxmlformats.org/officeDocument/2006/relationships" id="257" r:id="R7823ee40faf74b0c"/>
    <p:sldId xmlns:r="http://schemas.openxmlformats.org/officeDocument/2006/relationships" id="258" r:id="Redf1f64b6c254f19"/>
    <p:sldId xmlns:r="http://schemas.openxmlformats.org/officeDocument/2006/relationships" id="259" r:id="R16b1d908f5c248da"/>
    <p:sldId xmlns:r="http://schemas.openxmlformats.org/officeDocument/2006/relationships" id="260" r:id="R2fea3de0560447bd"/>
    <p:sldId xmlns:r="http://schemas.openxmlformats.org/officeDocument/2006/relationships" id="261" r:id="Rc7fff368ddc246f6"/>
    <p:sldId xmlns:r="http://schemas.openxmlformats.org/officeDocument/2006/relationships" id="262" r:id="Ra1539117c7164a24"/>
    <p:sldId xmlns:r="http://schemas.openxmlformats.org/officeDocument/2006/relationships" id="263" r:id="R8295eee9428d4384"/>
    <p:sldId xmlns:r="http://schemas.openxmlformats.org/officeDocument/2006/relationships" id="264" r:id="Rab52be88b5344c04"/>
    <p:sldId xmlns:r="http://schemas.openxmlformats.org/officeDocument/2006/relationships" id="265" r:id="Rf30da62cf78b44a2"/>
    <p:sldId xmlns:r="http://schemas.openxmlformats.org/officeDocument/2006/relationships" id="266" r:id="Rf07540a76daf40e4"/>
    <p:sldId xmlns:r="http://schemas.openxmlformats.org/officeDocument/2006/relationships" id="267" r:id="Rbed4ea6053b740ea"/>
    <p:sldId xmlns:r="http://schemas.openxmlformats.org/officeDocument/2006/relationships" id="268" r:id="R488e20471b274027"/>
    <p:sldId xmlns:r="http://schemas.openxmlformats.org/officeDocument/2006/relationships" id="269" r:id="Rf214713fbce34374"/>
    <p:sldId xmlns:r="http://schemas.openxmlformats.org/officeDocument/2006/relationships" id="270" r:id="Rd4348dd705f94cf8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69def9f82141e4" /><Relationship Type="http://schemas.openxmlformats.org/officeDocument/2006/relationships/slideMaster" Target="/ppt/slideMasters/slideMaster1.xml" Id="R444150e953fa436b" /><Relationship Type="http://schemas.openxmlformats.org/officeDocument/2006/relationships/notesMaster" Target="/ppt/notesMasters/notesMaster1.xml" Id="R91c95ab33be54319" /><Relationship Type="http://schemas.openxmlformats.org/officeDocument/2006/relationships/presProps" Target="/ppt/presProps.xml" Id="R91421c30a4be45e8" /><Relationship Type="http://schemas.openxmlformats.org/officeDocument/2006/relationships/tableStyles" Target="/ppt/tableStyles.xml" Id="R596ac36bf05a4afe" /><Relationship Type="http://schemas.openxmlformats.org/officeDocument/2006/relationships/slide" Target="/ppt/slides/slide1.xml" Id="R83e1666e43794441" /><Relationship Type="http://schemas.openxmlformats.org/officeDocument/2006/relationships/slide" Target="/ppt/slides/slide2.xml" Id="R7823ee40faf74b0c" /><Relationship Type="http://schemas.openxmlformats.org/officeDocument/2006/relationships/slide" Target="/ppt/slides/slide3.xml" Id="Redf1f64b6c254f19" /><Relationship Type="http://schemas.openxmlformats.org/officeDocument/2006/relationships/slide" Target="/ppt/slides/slide4.xml" Id="R16b1d908f5c248da" /><Relationship Type="http://schemas.openxmlformats.org/officeDocument/2006/relationships/slide" Target="/ppt/slides/slide5.xml" Id="R2fea3de0560447bd" /><Relationship Type="http://schemas.openxmlformats.org/officeDocument/2006/relationships/slide" Target="/ppt/slides/slide6.xml" Id="Rc7fff368ddc246f6" /><Relationship Type="http://schemas.openxmlformats.org/officeDocument/2006/relationships/slide" Target="/ppt/slides/slide7.xml" Id="Ra1539117c7164a24" /><Relationship Type="http://schemas.openxmlformats.org/officeDocument/2006/relationships/slide" Target="/ppt/slides/slide8.xml" Id="R8295eee9428d4384" /><Relationship Type="http://schemas.openxmlformats.org/officeDocument/2006/relationships/slide" Target="/ppt/slides/slide9.xml" Id="Rab52be88b5344c04" /><Relationship Type="http://schemas.openxmlformats.org/officeDocument/2006/relationships/slide" Target="/ppt/slides/slide10.xml" Id="Rf30da62cf78b44a2" /><Relationship Type="http://schemas.openxmlformats.org/officeDocument/2006/relationships/slide" Target="/ppt/slides/slide11.xml" Id="Rf07540a76daf40e4" /><Relationship Type="http://schemas.openxmlformats.org/officeDocument/2006/relationships/slide" Target="/ppt/slides/slide12.xml" Id="Rbed4ea6053b740ea" /><Relationship Type="http://schemas.openxmlformats.org/officeDocument/2006/relationships/slide" Target="/ppt/slides/slide13.xml" Id="R488e20471b274027" /><Relationship Type="http://schemas.openxmlformats.org/officeDocument/2006/relationships/slide" Target="/ppt/slides/slide14.xml" Id="Rf214713fbce34374" /><Relationship Type="http://schemas.openxmlformats.org/officeDocument/2006/relationships/slide" Target="/ppt/slides/slide15.xml" Id="Rd4348dd705f94cf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c125bf451148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422f3af5944d26" /><Relationship Type="http://schemas.openxmlformats.org/officeDocument/2006/relationships/notesMaster" Target="/ppt/notesMasters/notesMaster1.xml" Id="R325870483dba44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7fe9582a784b11" /><Relationship Type="http://schemas.openxmlformats.org/officeDocument/2006/relationships/notesMaster" Target="/ppt/notesMasters/notesMaster1.xml" Id="R704be096b03741e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57e187b60f44b0" /><Relationship Type="http://schemas.openxmlformats.org/officeDocument/2006/relationships/notesMaster" Target="/ppt/notesMasters/notesMaster1.xml" Id="R7e26b7e121e945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81370caec7f40d2" /><Relationship Type="http://schemas.openxmlformats.org/officeDocument/2006/relationships/notesMaster" Target="/ppt/notesMasters/notesMaster1.xml" Id="Rebc7261a8cc54be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3f221e38444805" /><Relationship Type="http://schemas.openxmlformats.org/officeDocument/2006/relationships/notesMaster" Target="/ppt/notesMasters/notesMaster1.xml" Id="R573959d58b5048e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4c221d7d1a84658" /><Relationship Type="http://schemas.openxmlformats.org/officeDocument/2006/relationships/notesMaster" Target="/ppt/notesMasters/notesMaster1.xml" Id="Ra9907821bb2349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6ea217455e54f23" /><Relationship Type="http://schemas.openxmlformats.org/officeDocument/2006/relationships/notesMaster" Target="/ppt/notesMasters/notesMaster1.xml" Id="Rd29add6f967f443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5f5cb03d2ce468a" /><Relationship Type="http://schemas.openxmlformats.org/officeDocument/2006/relationships/notesMaster" Target="/ppt/notesMasters/notesMaster1.xml" Id="R71c742c021d14e9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4236752ba33481b" /><Relationship Type="http://schemas.openxmlformats.org/officeDocument/2006/relationships/notesMaster" Target="/ppt/notesMasters/notesMaster1.xml" Id="R0ec30023aecd4f8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e9ca83a8d6e4db1" /><Relationship Type="http://schemas.openxmlformats.org/officeDocument/2006/relationships/notesMaster" Target="/ppt/notesMasters/notesMaster1.xml" Id="R91db85b377ab4fe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4a3b27aa1af4e4a" /><Relationship Type="http://schemas.openxmlformats.org/officeDocument/2006/relationships/notesMaster" Target="/ppt/notesMasters/notesMaster1.xml" Id="R8ffba1ed528c423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59904a2c6bb45fd" /><Relationship Type="http://schemas.openxmlformats.org/officeDocument/2006/relationships/notesMaster" Target="/ppt/notesMasters/notesMaster1.xml" Id="R85f8689ece6746a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352b49fd42e49d8" /><Relationship Type="http://schemas.openxmlformats.org/officeDocument/2006/relationships/notesMaster" Target="/ppt/notesMasters/notesMaster1.xml" Id="Ra1f57a9a0b7440c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59763e565fc47ce" /><Relationship Type="http://schemas.openxmlformats.org/officeDocument/2006/relationships/notesMaster" Target="/ppt/notesMasters/notesMaster1.xml" Id="R780956a0a20243d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5ae8716e5a4481e" /><Relationship Type="http://schemas.openxmlformats.org/officeDocument/2006/relationships/notesMaster" Target="/ppt/notesMasters/notesMaster1.xml" Id="R882893ff90694a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Streaming video candidate recognition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Speaker 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module is AIShopVision, shared by native Mac tests and the iPhone app.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current feature searches prerecorded streaming frames for one known target.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banana reference is a pipeline probe, not a general produce classifier.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 will connect the intent to the code and the evidence for each component.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General object detection, bounding boxes, live camera capture, and SKU confirmation remain outside Sprint 001.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source snapshot is the uncommitted implementation on codex/ios-vision-sprint-001-target-signal, based on approval commit 90a5f8b.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Mac checks and app builds passed on 2026-09-20.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signed Debug build exists, but we have not installed or demonstrated it on the physical iPhone.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Pablo's phone review and acceptance remain pending.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Code and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[Approved scope](../../../../../../ios/AIShop/01-docs/07-planning/sprints/sprint-001-candidate-target-signal/01-sprint-plan.md)</a:t>
            </a:r>
          </a:p>
          <a:p xmlns:a="http://schemas.openxmlformats.org/drawingml/2006/main">
            <a:r>
              <a:t>- [Package](../../../../../../ios/AIShop/AIShopVision/Package.swift)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Sprint intent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Speaker 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shopper's goal is to know when to pause and inspect a likely target.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 process the stream incrementally instead of waiting for the video to finish.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user-facing phrase is exactly “possible match”.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signal is provisional evidence, not confirmation of an object or exact SKU.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session report retains a best whole frame for every episode.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There is no second pass over the source video when the session stops.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target must occupy a substantial and recognizable part of the frame.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Candidate-region detection for dense shelves belongs to later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narrow scope lets us test the streaming mechanics with real Vision first.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Code and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[Sprint plan](../../../../../../ios/AIShop/01-docs/07-planning/sprints/sprint-001-candidate-target-signal/01-sprint-plan.md)</a:t>
            </a:r>
          </a:p>
          <a:p xmlns:a="http://schemas.openxmlformats.org/drawingml/2006/main">
            <a:r>
              <a:t>- [Acceptance](../../../../../../ios/AIShop/01-docs/07-planning/sprints/sprint-001-candidate-target-signal/01-sprint-plan-acceptance.md)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Sprint use cases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Speaker 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harness is a Debug-only route for exercising the approved Sprint 001 behavior.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tester selects one of two fixed, bundled, trimmed videos.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Run starts timestamp-paced analysis using the shared pipeline.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Scores update during playback. Two eligible supporting samples can open a candidate episode.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Stop closes an open episode and produces a report from retained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Natural end-of-stream follows the same finalization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report includes the best whole frame, times, score, frame counts, and measured inference latency.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tester exports the JSONL session log locally.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Mac evaluator compares both phone fixtures against their Mac counterparts.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is a diagnostic workflow, not the final shopping experience.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Code and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[Harness](../../../../../../ios/AIShop/AIShop/Diagnostics/VisionDiagnosticHarness.swift)</a:t>
            </a:r>
          </a:p>
          <a:p xmlns:a="http://schemas.openxmlformats.org/drawingml/2006/main">
            <a:r>
              <a:t>- [Harness model](../../../../../../ios/AIShop/AIShop/Diagnostics/VisionHarnessModel.swift)</a:t>
            </a:r>
          </a:p>
          <a:p xmlns:a="http://schemas.openxmlformats.org/drawingml/2006/main">
            <a:r>
              <a:t>- [Phone verification](../../../../../../ios/AIShop/01-docs/04-benchmarks-test-strategy-and-success-criteria/sprint-001-iphone-verification.md)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How to test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Speaker 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package gate is ./e2e/ios/run.zsh, invoked from the repository root or by absolute path from any directory.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It runs swift test without selecting a subset and checks the transcript for every required test.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missing, skipped, or failed required test makes the gate fail.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Build products and logs live in a fresh temporary directory outside the Google Drive checkout.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That avoids code-signing failures caused by metadata on synced build products.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most recent Mac gate verified 29 tests with no skips.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AIShop-VisionDiagnostics Xcode scheme ran 25 app tests in Simulator.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Those tests cover existing app behavior, the diagnostic startup path, and Debug fixture identity.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package gate does not exercise the app screen.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Simulator checks do not prove real Vision compatibility on a phone.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 physical acceptance Pablo must see a live possible match before playback ends and the report afterward.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Both exported phone logs must pass the fixed-profile evaluation and calibration rules.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iPhone demonstration has not happened.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Code and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[Mac runner](../../../../../../e2e/ios/run.zsh)</a:t>
            </a:r>
          </a:p>
          <a:p xmlns:a="http://schemas.openxmlformats.org/drawingml/2006/main">
            <a:r>
              <a:t>- [Required checks](../../../../../../e2e/ios/required-tests.txt)</a:t>
            </a:r>
          </a:p>
          <a:p xmlns:a="http://schemas.openxmlformats.org/drawingml/2006/main">
            <a:r>
              <a:t>- [App scheme](../../../../../../ios/AIShop/AIShop.xcodeproj/xcshareddata/xcschemes/AIShop-VisionDiagnostics.xcscheme)</a:t>
            </a:r>
          </a:p>
          <a:p xmlns:a="http://schemas.openxmlformats.org/drawingml/2006/main">
            <a:r>
              <a:t>- [Acceptance](../../../../../../ios/AIShop/01-docs/07-planning/sprints/sprint-001-candidate-target-signal/01-sprint-plan-acceptance.md)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High-level architecture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Speaker 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the architecture from top to bottom.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Mac package tests and the iPhone harness are peer consumers of the same production package.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CandidateAnalysisPipeline coordinates the work rather than implementing the individual algorithms.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catalog lazily prepares the one target's reference representation.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fixture stream decodes local video incrementally and preserves source presentation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scorer uses Apple Vision through a small adapter.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aggregator turns supporting samples into bounded episodes.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recorder serializes stream and inference events into a consistent log and live report.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Best-frame image files remain separate from JSONL.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FixtureEvaluator belongs to the development/test target, outside the application dependency graph.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There is no network, Firebase, or authentication dependency inside AIShopVision.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Code and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[Pipeline](../../../../../../ios/AIShop/AIShopVision/Sources/AIShopVision/CandidateAnalysisPipeline/CandidateAnalysisPipeline.swift)</a:t>
            </a:r>
          </a:p>
          <a:p xmlns:a="http://schemas.openxmlformats.org/drawingml/2006/main">
            <a:r>
              <a:t>- [Package boundaries](../../../../../../ios/AIShop/AIShopVision/Package.swift)</a:t>
            </a:r>
          </a:p>
          <a:p xmlns:a="http://schemas.openxmlformats.org/drawingml/2006/main">
            <a:r>
              <a:t>- [Recorder](../../../../../../ios/AIShop/AIShopVision/Sources/AIShopVision/CandidateAnalysisPipeline/PipelineRecorder.swift)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Pipeline orchestration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Speaker 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orchestrator injects a catalog and any source conforming to FrameStream.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run method starts a detached worker so Vision work does not execute on the UI thread.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excerpt shows the worker and cancellation bridge.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Inside execute, the pipeline loads the target, receives frames, measures scores, updates episodes, and records events.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second run on the same pipeline instance fails.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pipeline retains the immediately previous frame so an opening episode can choose its first supporting sample as the best frame.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It stores selected whole frames separately from the log.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first integration update sees only one received frame, proving output begins before EOF.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tests compare the live report with a report reconstructed from the JSONL file.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Stop and task cancellation each produce exactly one session summary.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Catalog or inference failure remains an error and cannot produce accepted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Code and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[Production orchestrator](../../../../../../ios/AIShop/AIShopVision/Sources/AIShopVision/CandidateAnalysisPipeline/CandidateAnalysisPipeline.swift)</a:t>
            </a:r>
          </a:p>
          <a:p xmlns:a="http://schemas.openxmlformats.org/drawingml/2006/main">
            <a:r>
              <a:t>- [Orchestrator tests](../../../../../../ios/AIShop/AIShopVision/Tests/AIShopVisionTests/CandidateAnalysisPipelineTests.swift)</a:t>
            </a:r>
          </a:p>
          <a:p xmlns:a="http://schemas.openxmlformats.org/drawingml/2006/main">
            <a:r>
              <a:t>- [Integration suite](../../../../../../ios/AIShop/AIShopVision/Tests/AIShopVisionTests/PipelineIntegrationSuite.swift)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Incremental frame delivery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Speaker 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AVAssetReader supplies frames incrementally. We never load the entire decoded video into an array.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stream keeps source presentation timestamps rather than inventing wall-clock video times.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Frame IDs combine the fixture identity with the original rational timestamp.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Each delivered frame also has an eligible sampleIndex.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gap in those eligible indices tells the aggregator that a supporting streak was interrupted.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Ordinary raw frames that fall between the 2 fps slots are skipped without interrupting the streak.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Deterministic mode awaits each consumer before reading more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Timestamp-paced mode uses a newest-one buffer, so old pending work gives way to a more recent eligible frame.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Only one consumer performs analysis at a time.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Counters distinguish received, skipped, dropped, and delivered frames.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Tests check both videos, stable ordering, first output before EOF, slow-consumer drops, cancellation, and unreadable inputs.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code excerpt combines selected lines from the stream implementation.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Code and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[Stream](../../../../../../ios/AIShop/AIShopVision/Sources/AIShopVision/VideoFixtureFrameStream/VideoFixtureFrameStream.swift)</a:t>
            </a:r>
          </a:p>
          <a:p xmlns:a="http://schemas.openxmlformats.org/drawingml/2006/main">
            <a:r>
              <a:t>- [Stream contract](../../../../../../ios/AIShop/AIShopVision/Sources/AIShopVision/VideoFixtureFrameStream/FrameStream.swift)</a:t>
            </a:r>
          </a:p>
          <a:p xmlns:a="http://schemas.openxmlformats.org/drawingml/2006/main">
            <a:r>
              <a:t>- [Stream tests](../../../../../../ios/AIShop/AIShopVision/Tests/AIShopVisionTests/VideoFixtureFrameStreamTests.swift)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Reference image and Vision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Speaker 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local catalog exposes product ID banana-probe and the reference image identity.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It reads the reference bytes, records their SHA-256, and preserves the encoded orientation.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lock protects lazy creation and reuse of the target feature print.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adapter wraps Apple's VNGenerateImageFeaturePrintRequest.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request uses revision 2 and scaleFill on every host.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feature print is a visual representation used to calculate a distance.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adapter does not interpret that distance as accuracy or probability.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real inference tests show that the EXIF-aware image matches explicit orientation handling.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Loading the target twice generates its representation only once.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Malformed images and missing files fail explicitly.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earlier Simulator real-Vision probe failed. Native macOS became the verified integration host.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Code and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[Catalog](../../../../../../ios/AIShop/AIShopVision/Sources/AIShopVision/LocalTargetCatalog/LocalTargetCatalog.swift)</a:t>
            </a:r>
          </a:p>
          <a:p xmlns:a="http://schemas.openxmlformats.org/drawingml/2006/main">
            <a:r>
              <a:t>- [Adapter](../../../../../../ios/AIShop/AIShopVision/Sources/AIShopVision/VisionFeatureAdapter.swift)</a:t>
            </a:r>
          </a:p>
          <a:p xmlns:a="http://schemas.openxmlformats.org/drawingml/2006/main">
            <a:r>
              <a:t>- [Catalog tests](../../../../../../ios/AIShop/AIShopVision/Tests/AIShopVisionTests/LocalTargetCatalogTests.swift)</a:t>
            </a:r>
          </a:p>
          <a:p xmlns:a="http://schemas.openxmlformats.org/drawingml/2006/main">
            <a:r>
              <a:t>- [Adapter tests](../../../../../../ios/AIShop/AIShopVision/Tests/AIShopVisionTests/VisionFeatureAdapterTests.swift)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Candidate scoring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Speaker 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scorer compares two variants of each upright video frame against the same complete reference.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central crop uses 60 percent of the frame width and 60 percent of its height.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is a fixed crop, not a detected object region.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Both raw distances remain in the score record.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Lower distance means greater feature similarity.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Similarity is 1 divided by 1 plus distance, for display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separate one-time calibration command evaluates threshold intervals against fixed fixture annotations.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selected maximum-distance threshold is 0.4293864220380783.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profile also freezes 2 fps, two opening samples, a 1.5-second gap, revision 2, and scaleFill.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Regression tests use the frozen constant. The gate never invokes the calibration script.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same constant must apply on the phone.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Passing these two fixtures establishes a controlled pipeline result, not general object-recognition accuracy.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excerpt shows selected score-value lines, with the support function formatted across lines.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Code and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[Scorer](../../../../../../ios/AIShop/AIShopVision/Sources/AIShopVision/CandidateScorer/CandidateScorer.swift)</a:t>
            </a:r>
          </a:p>
          <a:p xmlns:a="http://schemas.openxmlformats.org/drawingml/2006/main">
            <a:r>
              <a:t>- [Frozen profile](../../../../../../ios/AIShop/AIShopVision/Sources/AIShopVision/CandidateScorer/ScoringProfile.swift)</a:t>
            </a:r>
          </a:p>
          <a:p xmlns:a="http://schemas.openxmlformats.org/drawingml/2006/main">
            <a:r>
              <a:t>- [Scorer tests](../../../../../../ios/AIShop/AIShopVision/Tests/AIShopVisionTests/CandidateScorerTests.swift)</a:t>
            </a:r>
          </a:p>
          <a:p xmlns:a="http://schemas.openxmlformats.org/drawingml/2006/main">
            <a:r>
              <a:t>- [Calibration tool](../../../../../../e2e/ios/calibrate-scorer.rb)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Candidate episodes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Speaker 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 eligible supporting frame alone does not open an episode.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Two consecutive eligible supporting samples open one candidate episode.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dropped eligible slot or an unsupported sampled frame resets the opening streak.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Non-sampled raw video frames do not reset that streak.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 open episode can survive a short interruption in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close boundary is exactly 1.5 seconds after the last supporting timestamp.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Stop, cancellation, error, and EOF also close an active episode.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aggregator uses media time, which makes deterministic replays reproducible.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lower distance replaces the best evidence. Equal distances keep the earlier frame.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Adjacent supporting samples stay in one episode instead of producing duplicate report rows.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later sighting after closure may create another episode.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CandidateProductSignal exposes provisional evidence, including the consecutive support count.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excerpt reformats the missed-slot reset condition for readability.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Code and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[Aggregator and signal types](../../../../../../ios/AIShop/AIShopVision/Sources/AIShopVision/CandidateEpisodeAggregator/CandidateEpisodeAggregator.swift)</a:t>
            </a:r>
          </a:p>
          <a:p xmlns:a="http://schemas.openxmlformats.org/drawingml/2006/main">
            <a:r>
              <a:t>- [Aggregator tests](../../../../../../ios/AIShop/AIShopVision/Tests/AIShopVisionTests/CandidateEpisodeAggregatorTests.swift)</a:t>
            </a:r>
          </a:p>
          <a:p xmlns:a="http://schemas.openxmlformats.org/drawingml/2006/main">
            <a:r>
              <a:t>- [Real stop/EOF integration](../../../../../../ios/AIShop/AIShopVision/Tests/AIShopVisionTests/PipelineIntegrationSuite.swift)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Session evidence and report replay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Speaker 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production pipeline owns the structured log, so all hosts produce the same form of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Every event has a session ID and ordered sequence number.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Frame-related events include a stable frame ID and media timestamp.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Score events retain both distances, the selected variant, support decision, and processing latency.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PipelineRecorder serializes concurrent stream and inference events before updating the live report.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SessionReportBuilder consumes those events and constructs episode rows and metrics.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Replay checks the completed summary against the rebuilt report and validates counter conservation.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SessionLog rejects malformed or truncated JSONL, missing scores, failed sessions, and invalid sequence IDs.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same serialized event line goes to the local file and Apple's system log.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log contains no image bytes.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RetainedImageStore holds best whole-frame JPEGs separately. Missing images stay explicit.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reconstruction claim covers report data; viewing images still requires the separate local files.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excerpt selects three report replay statements rather than showing the complete function.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Code and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[Log writer and reader](../../../../../../ios/AIShop/AIShopVision/Sources/AIShopVision/SessionLog/SessionLog.swift)</a:t>
            </a:r>
          </a:p>
          <a:p xmlns:a="http://schemas.openxmlformats.org/drawingml/2006/main">
            <a:r>
              <a:t>- [Recorder](../../../../../../ios/AIShop/AIShopVision/Sources/AIShopVision/CandidateAnalysisPipeline/PipelineRecorder.swift)</a:t>
            </a:r>
          </a:p>
          <a:p xmlns:a="http://schemas.openxmlformats.org/drawingml/2006/main">
            <a:r>
              <a:t>- [Report replay](../../../../../../ios/AIShop/AIShopVision/Sources/AIShopVision/SessionReportBuilder/SessionReportBuilder.swift)</a:t>
            </a:r>
          </a:p>
          <a:p xmlns:a="http://schemas.openxmlformats.org/drawingml/2006/main">
            <a:r>
              <a:t>- [Retained images](../../../../../../ios/AIShop/AIShopVision/Sources/AIShopVision/SessionReportBuilder/RetainedImageStore.swift)</a:t>
            </a:r>
          </a:p>
          <a:p xmlns:a="http://schemas.openxmlformats.org/drawingml/2006/main">
            <a:r>
              <a:t>- [Log tests](../../../../../../ios/AIShop/AIShopVision/Tests/AIShopVisionTests/SessionLogTests.swift)</a:t>
            </a:r>
          </a:p>
          <a:p xmlns:a="http://schemas.openxmlformats.org/drawingml/2006/main">
            <a:r>
              <a:t>- [Report tests](../../../../../../ios/AIShop/AIShopVision/Tests/AIShopVisionTests/SessionReportBuilderTests.swift)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Measured fixture outcome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Speaker 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latest native Mac gate processed the production pipeline with real Vision.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positive fixture supplied 826 decoded frames and 56 analyzed samples.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negative fixture supplied 390 decoded frames and 26 analyzed samples.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Neither deterministic run dropped an eligible sample.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expected positive interval begins at 18.3 seconds.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first candidate episode opens at 24.5 seconds, a delay of 6.2 seconds.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best frame occurs at 25.0 seconds with distance 0.3489357531070709.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Its winning comparison variant is the central crop.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retained evidence is still the entire upright frame.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Support continues through 26.0 seconds. The 1.5-second gap closes the episode at 27.5 seconds.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episode opens in any annotated false-positive zone.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Repeated runs match frame IDs, raw distances, and episode data; timing measurements are separate.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These results come from two fixed fixtures. The distractor case is still missing.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integration test writes session logs, report JSON, evaluation JSON, and separate images.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Code and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[Production fixture assertions](../../../../../../ios/AIShop/AIShopVision/Tests/AIShopVisionTests/PipelineIntegrationSuite.swift)</a:t>
            </a:r>
          </a:p>
          <a:p xmlns:a="http://schemas.openxmlformats.org/drawingml/2006/main">
            <a:r>
              <a:t>- [Fixed annotations](../../../../../../ios/AIShop/AIShopVision/Tests/AIShopVisionTests/Resources/annotations.json)</a:t>
            </a:r>
          </a:p>
          <a:p xmlns:a="http://schemas.openxmlformats.org/drawingml/2006/main">
            <a:r>
              <a:t>- [Evaluation implementation](../../../../../../ios/AIShop/AIShopVision/Sources/AIShopVisionEvaluation/FixtureEvaluator.swift)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Mac and iPhone calibration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Speaker 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evaluator is a separate development/test target, not part of the phone UI.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annotation has expected, false-positive, and do-not-care zones.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Small gaps between declared zones remain unannotated.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Evaluation judges the time an episode opens, not every frame as if it were an episode.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Calibration compares exported logs for both fixtures on both hosts.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It requires the frozen profile, fixture and reference identities, matching frame IDs, and matching timestamps.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It records the largest raw-distance difference across both comparison variants.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Every sampled frame must remain on the same side of the frozen threshold for agreement.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disagreement with unchanged episode outcomes is a Major finding that blocks Sprint 002 threshold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missed expected phone signal or an episode in a false-positive zone fails acceptance.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comparison test relabels Mac logs as synthetic phone inputs solely to test the comparator.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Those synthetic inputs are never physical-device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 actual phone calibration result exists yet.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excerpt reformats the frame-alignment guard.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Code and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[Evaluator](../../../../../../ios/AIShop/AIShopVision/Sources/AIShopVisionEvaluation/FixtureEvaluator.swift)</a:t>
            </a:r>
          </a:p>
          <a:p xmlns:a="http://schemas.openxmlformats.org/drawingml/2006/main">
            <a:r>
              <a:t>- [Offline comparison CLI](../../../../../../ios/AIShop/AIShopVision/Sources/AIShopVisionEvaluate/main.swift)</a:t>
            </a:r>
          </a:p>
          <a:p xmlns:a="http://schemas.openxmlformats.org/drawingml/2006/main">
            <a:r>
              <a:t>- [Evaluator tests](../../../../../../ios/AIShop/AIShopVision/Tests/AIShopVisionTests/FixtureEvaluatorTests.swift)</a:t>
            </a:r>
          </a:p>
          <a:p xmlns:a="http://schemas.openxmlformats.org/drawingml/2006/main">
            <a:r>
              <a:t>- [Calibration integration tests](../../../../../../ios/AIShop/AIShopVision/Tests/AIShopVisionTests/PipelineIntegrationSuite.swift)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Debug harness and application startup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Speaker 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ApplicationBootstrap decides whether the Debug diagnostic path applies.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normalSession closure contains both Firebase configuration and AuthSession construction.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diagnostic path returns nil before either normal service initializes.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normal route retains the existing authentication 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VisionHarnessModel verifies resource hashes, starts timestamp-paced replay, and receives progress on the main actor.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view shows possible match, raw-score metrics, a final report, and retained whole-frame images.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It exports the JSONL log through the local share sheet.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copy script bundles only banana.JPG and the two trimmed videos for Debug.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Release compilation removes diagnostic route strings and harness code.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separate bundle audit checks that Release contains no fixture media or annotations.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All 25 app tests passed in Simulator on 2026-09-20.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Debug, Release, and signed Debug builds succeeded.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 did not install or run this build on a physical iPhone.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excerpt reformats the bootstrap guard.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Code and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[Bootstrap](../../../../../../ios/AIShop/AIShop/App/ApplicationBootstrap.swift)</a:t>
            </a:r>
          </a:p>
          <a:p xmlns:a="http://schemas.openxmlformats.org/drawingml/2006/main">
            <a:r>
              <a:t>- [App entry](../../../../../../ios/AIShop/AIShop/App/AIShopApp.swift)</a:t>
            </a:r>
          </a:p>
          <a:p xmlns:a="http://schemas.openxmlformats.org/drawingml/2006/main">
            <a:r>
              <a:t>- [Harness model](../../../../../../ios/AIShop/AIShop/Diagnostics/VisionHarnessModel.swift)</a:t>
            </a:r>
          </a:p>
          <a:p xmlns:a="http://schemas.openxmlformats.org/drawingml/2006/main">
            <a:r>
              <a:t>- [Startup tests](../../../../../../ios/AIShop/AIShopTests/ApplicationBootstrapTests.swift)</a:t>
            </a:r>
          </a:p>
          <a:p xmlns:a="http://schemas.openxmlformats.org/drawingml/2006/main">
            <a:r>
              <a:t>- [Harness tests](../../../../../../ios/AIShop/AIShopTests/VisionHarnessModelTests.swift)</a:t>
            </a:r>
          </a:p>
          <a:p xmlns:a="http://schemas.openxmlformats.org/drawingml/2006/main">
            <a:r>
              <a:t>- [Bundle audit](../../../../../../e2e/ios/verify-app-bundle.rb)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What the implementation establishes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Speaker notes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strongest result is a testable streaming pipeline with real Vision and a controlled source edge.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same package can run without the application shell, which made native integration testing possible.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Bounded replay avoids accumulating stale inference work when the consumer slows down.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frozen scoring profile separates calibration from regression tests.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Episode logic prevents every supporting frame from becoming a duplicate report item.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Structured evidence lets us reproduce report data and inspect failures without a second video pass.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Debug startup path preserves an offline way to exercise the production package.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tests also preserve boundaries: scores are not probabilities, and synthetic calibration inputs are not phone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We have not established general recognition accuracy, dense-shelf performance, latency on iPhone, thermals, battery use, or camera behavior.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missing distractor fixture is a measurement gap.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physical demonstration and real exported-log comparison remain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source changes remain uncommitted proposals. The sprint is not accepted.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At this review point, check the feature scope and the explanation before extending the design.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Code and evidence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[Integration checks](../../../../../../ios/AIShop/AIShopVision/Tests/AIShopVisionTests/PipelineIntegrationSuite.swift)</a:t>
            </a:r>
          </a:p>
          <a:p xmlns:a="http://schemas.openxmlformats.org/drawingml/2006/main">
            <a:r>
              <a:t>- [Required Mac checks](../../../../../../e2e/ios/required-tests.txt)</a:t>
            </a:r>
          </a:p>
          <a:p xmlns:a="http://schemas.openxmlformats.org/drawingml/2006/main">
            <a:r>
              <a:t>- [Acceptance gate](../../../../../../ios/AIShop/01-docs/07-planning/sprints/sprint-001-candidate-target-signal/01-sprint-plan-acceptance.md)</a:t>
            </a:r>
          </a:p>
          <a:p xmlns:a="http://schemas.openxmlformats.org/drawingml/2006/main">
            <a:r>
              <a:t>- [Phone acceptance rules](../../../../../../ios/AIShop/01-docs/04-benchmarks-test-strategy-and-success-criteria/sprint-001-iphone-verification.md)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36bd59dec5455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1a901ac4924a9b" /><Relationship Type="http://schemas.openxmlformats.org/officeDocument/2006/relationships/slideLayout" Target="/ppt/slideLayouts/slideLayout1.xml" Id="Ra5618671960e44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5618671960e44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004f3cd95c4fdc" /><Relationship Type="http://schemas.openxmlformats.org/officeDocument/2006/relationships/notesSlide" Target="/ppt/notesSlides/notesSlide1.xml" Id="Rb04e7da4c6bd42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d4946bb078424d" /><Relationship Type="http://schemas.openxmlformats.org/officeDocument/2006/relationships/notesSlide" Target="/ppt/notesSlides/notesSlide2.xml" Id="R9134c478cc034f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9ad1d005c542d7" /><Relationship Type="http://schemas.openxmlformats.org/officeDocument/2006/relationships/notesSlide" Target="/ppt/notesSlides/notesSlide3.xml" Id="R06f535a25d044f7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38f26d89744419" /><Relationship Type="http://schemas.openxmlformats.org/officeDocument/2006/relationships/notesSlide" Target="/ppt/notesSlides/notesSlide4.xml" Id="Rd29ebaf52afa4ba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f0ea5bf8ac4dc7" /><Relationship Type="http://schemas.openxmlformats.org/officeDocument/2006/relationships/notesSlide" Target="/ppt/notesSlides/notesSlide5.xml" Id="R5495767d1f6641a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04aeb944344f44" /><Relationship Type="http://schemas.openxmlformats.org/officeDocument/2006/relationships/notesSlide" Target="/ppt/notesSlides/notesSlide6.xml" Id="Rb563593bad6248c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169ed40dfe44bd" /><Relationship Type="http://schemas.openxmlformats.org/officeDocument/2006/relationships/notesSlide" Target="/ppt/notesSlides/notesSlide7.xml" Id="R3cc6427fd5fe429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5c00c6924f47c2" /><Relationship Type="http://schemas.openxmlformats.org/officeDocument/2006/relationships/notesSlide" Target="/ppt/notesSlides/notesSlide8.xml" Id="R4276e9f83d5f47e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d8bedfb2104bcd" /><Relationship Type="http://schemas.openxmlformats.org/officeDocument/2006/relationships/notesSlide" Target="/ppt/notesSlides/notesSlide9.xml" Id="Rb28d0e0459b5470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5b8ef5f72b4fa3" /><Relationship Type="http://schemas.openxmlformats.org/officeDocument/2006/relationships/notesSlide" Target="/ppt/notesSlides/notesSlide10.xml" Id="R4a5050c85a05475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380808aaa84cbf" /><Relationship Type="http://schemas.openxmlformats.org/officeDocument/2006/relationships/notesSlide" Target="/ppt/notesSlides/notesSlide11.xml" Id="Rf78fe23eada14e2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be6d3cad6e4197" /><Relationship Type="http://schemas.openxmlformats.org/officeDocument/2006/relationships/notesSlide" Target="/ppt/notesSlides/notesSlide12.xml" Id="R5354b0f3ea1040f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129774970c4446" /><Relationship Type="http://schemas.openxmlformats.org/officeDocument/2006/relationships/notesSlide" Target="/ppt/notesSlides/notesSlide13.xml" Id="R7e32aff8f8a641c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e5e84c37e34738" /><Relationship Type="http://schemas.openxmlformats.org/officeDocument/2006/relationships/notesSlide" Target="/ppt/notesSlides/notesSlide14.xml" Id="R719988c9406d4d4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1f837c6d35469a" /><Relationship Type="http://schemas.openxmlformats.org/officeDocument/2006/relationships/notesSlide" Target="/ppt/notesSlides/notesSlide15.xml" Id="R16e28eeb15134bc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C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60577BAC-DF6C-411D-A514-90258F03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85850"/>
            <a:ext cx="135636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A8D6D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D6DD"/>
                </a:solidFill>
                <a:latin typeface="Arial"/>
                <a:ea typeface="Arial"/>
                <a:cs typeface="Arial"/>
              </a:rPr>
              <a:t>AIShopVision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0E9F2DD-C1DA-4AEE-A692-EC2A6D8E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13563600" cy="1789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Streaming video</a:t>
            </a:r>
          </a:p>
          <a:p xmlns:a="http://schemas.openxmlformats.org/drawingml/2006/main">
            <a:pPr algn="l">
              <a:defRPr sz="5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candidate recognition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E359F05-67BD-4C46-98BA-4FC76FC8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05400"/>
            <a:ext cx="13487400" cy="1036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D1E3E9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D1E3E9"/>
                </a:solidFill>
                <a:latin typeface="Arial"/>
                <a:ea typeface="Arial"/>
                <a:cs typeface="Arial"/>
              </a:rPr>
              <a:t>AIShop Sprint 001</a:t>
            </a:r>
          </a:p>
          <a:p xmlns:a="http://schemas.openxmlformats.org/drawingml/2006/main">
            <a:pPr algn="l">
              <a:defRPr sz="2850" b="0">
                <a:solidFill>
                  <a:srgbClr val="D1E3E9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D1E3E9"/>
                </a:solidFill>
                <a:latin typeface="Arial"/>
                <a:ea typeface="Arial"/>
                <a:cs typeface="Arial"/>
              </a:rPr>
              <a:t>Code and test walkthrough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4434C2D-FB09-4345-929C-910EB9202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715250"/>
            <a:ext cx="13487400" cy="374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8C1C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A8C1CF"/>
                </a:solidFill>
                <a:latin typeface="Arial"/>
                <a:ea typeface="Arial"/>
                <a:cs typeface="Arial"/>
              </a:rPr>
              <a:t>Implementation walkthrough / 20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6713999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0">
            <a:extLst xmlns:a="http://schemas.openxmlformats.org/drawingml/2006/main">
              <a:ext uri="{FF2B5EF4-FFF2-40B4-BE49-F238E27FC236}">
                <a16:creationId xmlns:a16="http://schemas.microsoft.com/office/drawing/2014/main" id="{F49D703B-7C91-4BBB-8949-C125FCDC2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3792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Sprint intent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C02AEB8-7193-452D-AF23-E48E1C3C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137541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A useful signal while video is still arriving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AC01360-8DCF-4F21-8B0F-CC483D5E5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137922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User need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5889C6B-0590-4A39-8D6C-7236DACA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13792200" cy="4787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A shopper wants to notice when one known product may be visible.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7CD7AB-BC17-4A73-A4B8-0A70C806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71825"/>
            <a:ext cx="1379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BE1"/>
          </a:solidFill>
          <a:ln xmlns:a="http://schemas.openxmlformats.org/drawingml/2006/main" w="0">
            <a:noFill/>
          </a:ln>
        </p:spPr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FCD2892B-9B6A-4A21-8280-1FF9F053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137922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Sprint behavior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F0F6F2C0-2A88-4053-A261-98EDC9C6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13792200" cy="4787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Analyze arriving frames and show “possible match” before playback ends.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31E55F-5586-41DD-954E-EA257E29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62475"/>
            <a:ext cx="1379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BE1"/>
          </a:solidFill>
          <a:ln xmlns:a="http://schemas.openxmlformats.org/drawingml/2006/main" w="0">
            <a:noFill/>
          </a:ln>
        </p:spPr>
      </p:sp>
      <p:sp>
        <p:nvSpPr>
          <p:cNvPr id="9" name="text-6">
            <a:extLst xmlns:a="http://schemas.openxmlformats.org/drawingml/2006/main">
              <a:ext uri="{FF2B5EF4-FFF2-40B4-BE49-F238E27FC236}">
                <a16:creationId xmlns:a16="http://schemas.microsoft.com/office/drawing/2014/main" id="{52BD1332-5413-4874-B3D7-DB2017B7B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137922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Session outcome</a:t>
            </a:r>
          </a:p>
        </p:txBody>
      </p:sp>
      <p:sp>
        <p:nvSpPr>
          <p:cNvPr id="10" name="text-7">
            <a:extLst xmlns:a="http://schemas.openxmlformats.org/drawingml/2006/main">
              <a:ext uri="{FF2B5EF4-FFF2-40B4-BE49-F238E27FC236}">
                <a16:creationId xmlns:a16="http://schemas.microsoft.com/office/drawing/2014/main" id="{2434E88D-0E57-4A19-A62E-EB7C76CF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05400"/>
            <a:ext cx="13792200" cy="4787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Keep the strongest whole frame and report each candidate episode.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58F7FF-08CC-470F-A23E-C778FD58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53125"/>
            <a:ext cx="1379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BE1"/>
          </a:solidFill>
          <a:ln xmlns:a="http://schemas.openxmlformats.org/drawingml/2006/main" w="0">
            <a:noFill/>
          </a:ln>
        </p:spPr>
      </p:sp>
      <p:sp>
        <p:nvSpPr>
          <p:cNvPr id="12" name="text-8">
            <a:extLst xmlns:a="http://schemas.openxmlformats.org/drawingml/2006/main">
              <a:ext uri="{FF2B5EF4-FFF2-40B4-BE49-F238E27FC236}">
                <a16:creationId xmlns:a16="http://schemas.microsoft.com/office/drawing/2014/main" id="{CDC44A9F-9C89-4872-9F99-B0883728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0"/>
            <a:ext cx="137922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Scope boundary</a:t>
            </a:r>
          </a:p>
        </p:txBody>
      </p:sp>
      <p:sp>
        <p:nvSpPr>
          <p:cNvPr id="13" name="text-9">
            <a:extLst xmlns:a="http://schemas.openxmlformats.org/drawingml/2006/main">
              <a:ext uri="{FF2B5EF4-FFF2-40B4-BE49-F238E27FC236}">
                <a16:creationId xmlns:a16="http://schemas.microsoft.com/office/drawing/2014/main" id="{A3EF004E-83C5-4ECC-BEB7-6639E5FE2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96050"/>
            <a:ext cx="13792200" cy="4787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One local target. Prerecorded input. No camera, server, or object boxes.</a:t>
            </a:r>
          </a:p>
        </p:txBody>
      </p:sp>
      <p:sp>
        <p:nvSpPr>
          <p:cNvPr id="14" name="text-10">
            <a:extLst xmlns:a="http://schemas.openxmlformats.org/drawingml/2006/main">
              <a:ext uri="{FF2B5EF4-FFF2-40B4-BE49-F238E27FC236}">
                <a16:creationId xmlns:a16="http://schemas.microsoft.com/office/drawing/2014/main" id="{954527A7-8775-46E0-9C9B-BA27083C6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8096250"/>
            <a:ext cx="428625" cy="304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7624666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0">
            <a:extLst xmlns:a="http://schemas.openxmlformats.org/drawingml/2006/main">
              <a:ext uri="{FF2B5EF4-FFF2-40B4-BE49-F238E27FC236}">
                <a16:creationId xmlns:a16="http://schemas.microsoft.com/office/drawing/2014/main" id="{F07F67EA-797E-4BC9-AC19-5E688B93B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3792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Sprint use cases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6A0E31D-F67D-41C1-9F6B-95FD91D8A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137541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The offline diagnostic journey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ECA615-09E5-46F5-8B92-0AC15C13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19300"/>
            <a:ext cx="11811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9525">
            <a:solidFill>
              <a:srgbClr val="D0DBE1"/>
            </a:solidFill>
          </a:ln>
        </p:spPr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4D1E8A78-90DB-4B9A-B639-A3CEC99A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105025"/>
            <a:ext cx="114300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1  Select a fixture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39682306-7CFF-4925-A433-5109E22DF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505075"/>
            <a:ext cx="114300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Banana present or no banana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57DB82-8EC5-430A-AEDF-93ECE9A39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57525"/>
            <a:ext cx="19050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7667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39B14A-0146-49B7-A2F5-044C1CA1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29000"/>
            <a:ext cx="11811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9525">
            <a:solidFill>
              <a:srgbClr val="D0DBE1"/>
            </a:solidFill>
          </a:ln>
        </p:spPr>
      </p:sp>
      <p:sp>
        <p:nvSpPr>
          <p:cNvPr id="8" name="text-4">
            <a:extLst xmlns:a="http://schemas.openxmlformats.org/drawingml/2006/main">
              <a:ext uri="{FF2B5EF4-FFF2-40B4-BE49-F238E27FC236}">
                <a16:creationId xmlns:a16="http://schemas.microsoft.com/office/drawing/2014/main" id="{DCE6EBC3-FA62-4E19-9B93-8788CC1D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514725"/>
            <a:ext cx="114300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2  Run and observe</a:t>
            </a:r>
          </a:p>
        </p:txBody>
      </p:sp>
      <p:sp>
        <p:nvSpPr>
          <p:cNvPr id="9" name="text-5">
            <a:extLst xmlns:a="http://schemas.openxmlformats.org/drawingml/2006/main">
              <a:ext uri="{FF2B5EF4-FFF2-40B4-BE49-F238E27FC236}">
                <a16:creationId xmlns:a16="http://schemas.microsoft.com/office/drawing/2014/main" id="{01C44EB3-C6AB-4F89-A75D-61B9F1A6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914775"/>
            <a:ext cx="114300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Timestamp-paced playback with live scores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7C1A84-5604-44F1-9B96-2FCC3A44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467225"/>
            <a:ext cx="19050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7667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80E967-1545-4476-967D-31CFD6010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38700"/>
            <a:ext cx="11811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9525">
            <a:solidFill>
              <a:srgbClr val="D0DBE1"/>
            </a:solidFill>
          </a:ln>
        </p:spPr>
      </p:sp>
      <p:sp>
        <p:nvSpPr>
          <p:cNvPr id="12" name="text-6">
            <a:extLst xmlns:a="http://schemas.openxmlformats.org/drawingml/2006/main">
              <a:ext uri="{FF2B5EF4-FFF2-40B4-BE49-F238E27FC236}">
                <a16:creationId xmlns:a16="http://schemas.microsoft.com/office/drawing/2014/main" id="{E9B2A3E5-18E0-46FE-B149-14386054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924425"/>
            <a:ext cx="114300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3  Stop or reach the end</a:t>
            </a:r>
          </a:p>
        </p:txBody>
      </p:sp>
      <p:sp>
        <p:nvSpPr>
          <p:cNvPr id="13" name="text-7">
            <a:extLst xmlns:a="http://schemas.openxmlformats.org/drawingml/2006/main">
              <a:ext uri="{FF2B5EF4-FFF2-40B4-BE49-F238E27FC236}">
                <a16:creationId xmlns:a16="http://schemas.microsoft.com/office/drawing/2014/main" id="{71D428F7-7F8A-49B1-8205-F5F6FFC5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324475"/>
            <a:ext cx="114300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Close the episode and inspect the retained best frame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946BC1-2D03-4094-8CF0-2DB7144F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876925"/>
            <a:ext cx="19050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7667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D2B34B-F2C4-454E-B635-36161513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248400"/>
            <a:ext cx="11811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9525">
            <a:solidFill>
              <a:srgbClr val="D0DBE1"/>
            </a:solidFill>
          </a:ln>
        </p:spPr>
      </p:sp>
      <p:sp>
        <p:nvSpPr>
          <p:cNvPr id="16" name="text-8">
            <a:extLst xmlns:a="http://schemas.openxmlformats.org/drawingml/2006/main">
              <a:ext uri="{FF2B5EF4-FFF2-40B4-BE49-F238E27FC236}">
                <a16:creationId xmlns:a16="http://schemas.microsoft.com/office/drawing/2014/main" id="{96A87687-3A44-4262-AAAB-9DB24F0B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334125"/>
            <a:ext cx="114300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4  Export evidence</a:t>
            </a:r>
          </a:p>
        </p:txBody>
      </p:sp>
      <p:sp>
        <p:nvSpPr>
          <p:cNvPr id="17" name="text-9">
            <a:extLst xmlns:a="http://schemas.openxmlformats.org/drawingml/2006/main">
              <a:ext uri="{FF2B5EF4-FFF2-40B4-BE49-F238E27FC236}">
                <a16:creationId xmlns:a16="http://schemas.microsoft.com/office/drawing/2014/main" id="{5A1C7EC4-871B-4F8A-A174-1F54FC117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734175"/>
            <a:ext cx="114300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Compare the phone log with the Mac run</a:t>
            </a:r>
          </a:p>
        </p:txBody>
      </p:sp>
      <p:sp>
        <p:nvSpPr>
          <p:cNvPr id="18" name="text-10">
            <a:extLst xmlns:a="http://schemas.openxmlformats.org/drawingml/2006/main">
              <a:ext uri="{FF2B5EF4-FFF2-40B4-BE49-F238E27FC236}">
                <a16:creationId xmlns:a16="http://schemas.microsoft.com/office/drawing/2014/main" id="{B710956B-1B0E-4C0C-B5BA-E4F41FD5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0"/>
            <a:ext cx="1379220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The harness uses the same production pipeline as the Mac tests.</a:t>
            </a:r>
          </a:p>
        </p:txBody>
      </p:sp>
      <p:sp>
        <p:nvSpPr>
          <p:cNvPr id="19" name="text-11">
            <a:extLst xmlns:a="http://schemas.openxmlformats.org/drawingml/2006/main">
              <a:ext uri="{FF2B5EF4-FFF2-40B4-BE49-F238E27FC236}">
                <a16:creationId xmlns:a16="http://schemas.microsoft.com/office/drawing/2014/main" id="{42C5D7BA-41AE-432D-B909-99044CD7B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8096250"/>
            <a:ext cx="428625" cy="304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439202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0">
            <a:extLst xmlns:a="http://schemas.openxmlformats.org/drawingml/2006/main">
              <a:ext uri="{FF2B5EF4-FFF2-40B4-BE49-F238E27FC236}">
                <a16:creationId xmlns:a16="http://schemas.microsoft.com/office/drawing/2014/main" id="{C7C95AE1-39BD-4D6D-A806-B4140DB73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3792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How to test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DC05EE0-B16B-4D52-BCAE-05CFC418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137541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Each test host answers a different question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9C29483-23D8-4322-A0D2-776CDFDB3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71675"/>
            <a:ext cx="13792200" cy="443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Native Mac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4D8CB09-B9D2-42D8-B1FE-5ECFB9AF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47925"/>
            <a:ext cx="13792200" cy="513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./e2e/ios/run.zsh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941AA275-DCD1-466F-85E1-82D881EAE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81325"/>
            <a:ext cx="137922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29 required tests passed with real Apple Vision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4775E8-7597-4628-8C0B-00925E532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1379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BE1"/>
          </a:solidFill>
          <a:ln xmlns:a="http://schemas.openxmlformats.org/drawingml/2006/main" w="0">
            <a:noFill/>
          </a:ln>
        </p:spPr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2F18CF5D-3337-4F76-BFB5-7623D1DB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62375"/>
            <a:ext cx="13792200" cy="443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Simulator app tests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58EEF24D-9823-4409-9D4F-13047A20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38625"/>
            <a:ext cx="13792200" cy="513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AIShop-VisionDiagnostics scheme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3B122ACB-88AF-475F-A4EF-C8CB40B3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72025"/>
            <a:ext cx="137922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25 app tests passed, including Firebase bypass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BE205B-25A6-4F19-87D3-EEB6ED96A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14950"/>
            <a:ext cx="1379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BE1"/>
          </a:solidFill>
          <a:ln xmlns:a="http://schemas.openxmlformats.org/drawingml/2006/main" w="0">
            <a:noFill/>
          </a:ln>
        </p:spPr>
      </p:sp>
      <p:sp>
        <p:nvSpPr>
          <p:cNvPr id="11" name="text-8">
            <a:extLst xmlns:a="http://schemas.openxmlformats.org/drawingml/2006/main">
              <a:ext uri="{FF2B5EF4-FFF2-40B4-BE49-F238E27FC236}">
                <a16:creationId xmlns:a16="http://schemas.microsoft.com/office/drawing/2014/main" id="{9A526D7D-CD25-4FAD-9571-E6281FCF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53075"/>
            <a:ext cx="13792200" cy="443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Physical iPhone</a:t>
            </a:r>
          </a:p>
        </p:txBody>
      </p:sp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F30E818E-69CA-441F-84C4-F5489A50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29325"/>
            <a:ext cx="13792200" cy="513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Watch both fixtures, export both logs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375698BA-475D-427F-AE6A-2B08940A0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62725"/>
            <a:ext cx="137922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Pending demonstration and Mac/phone calibration</a:t>
            </a:r>
          </a:p>
        </p:txBody>
      </p:sp>
      <p:sp>
        <p:nvSpPr>
          <p:cNvPr id="14" name="text-11">
            <a:extLst xmlns:a="http://schemas.openxmlformats.org/drawingml/2006/main">
              <a:ext uri="{FF2B5EF4-FFF2-40B4-BE49-F238E27FC236}">
                <a16:creationId xmlns:a16="http://schemas.microsoft.com/office/drawing/2014/main" id="{4A21E933-C2F0-4F79-9392-649DFA95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58125"/>
            <a:ext cx="137922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8055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805500"/>
                </a:solidFill>
                <a:latin typeface="Arial"/>
                <a:ea typeface="Arial"/>
                <a:cs typeface="Arial"/>
              </a:rPr>
              <a:t>Debug and Release builds pass. A Mac or Simulator result cannot accept the sprint.</a:t>
            </a:r>
          </a:p>
        </p:txBody>
      </p:sp>
      <p:sp>
        <p:nvSpPr>
          <p:cNvPr id="15" name="text-12">
            <a:extLst xmlns:a="http://schemas.openxmlformats.org/drawingml/2006/main">
              <a:ext uri="{FF2B5EF4-FFF2-40B4-BE49-F238E27FC236}">
                <a16:creationId xmlns:a16="http://schemas.microsoft.com/office/drawing/2014/main" id="{D66F4AF6-BD58-4297-828D-684928DDC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8096250"/>
            <a:ext cx="428625" cy="304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658336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ext-0">
            <a:extLst xmlns:a="http://schemas.openxmlformats.org/drawingml/2006/main">
              <a:ext uri="{FF2B5EF4-FFF2-40B4-BE49-F238E27FC236}">
                <a16:creationId xmlns:a16="http://schemas.microsoft.com/office/drawing/2014/main" id="{DC4B2093-2F3F-4A01-89FA-B56EBED1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3792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High-level architecture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A5D617B-2C3B-4F4A-8A71-B722DA2A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137541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One pipeline, two execution hosts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69B54E-7AA3-4B8F-A7FD-E0702E33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866900"/>
            <a:ext cx="11811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9525">
            <a:solidFill>
              <a:srgbClr val="D0DBE1"/>
            </a:solidFill>
          </a:ln>
        </p:spPr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51D0EEA8-45A4-45A5-BE1D-0998BF12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952625"/>
            <a:ext cx="114300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Mac package tests / iPhone Debug harness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9AFD71E2-B9D3-4CFA-8500-10FBBF4EC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52675"/>
            <a:ext cx="114300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Both call CandidateAnalysisPipeline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FB9CB9-424D-4FB0-9D28-6E49D2446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71775"/>
            <a:ext cx="19050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7667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F89DE2-7A9D-41A1-A163-1AC201EFF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28950"/>
            <a:ext cx="11811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9525">
            <a:solidFill>
              <a:srgbClr val="D0DBE1"/>
            </a:solidFill>
          </a:ln>
        </p:spPr>
      </p:sp>
      <p:sp>
        <p:nvSpPr>
          <p:cNvPr id="8" name="text-4">
            <a:extLst xmlns:a="http://schemas.openxmlformats.org/drawingml/2006/main">
              <a:ext uri="{FF2B5EF4-FFF2-40B4-BE49-F238E27FC236}">
                <a16:creationId xmlns:a16="http://schemas.microsoft.com/office/drawing/2014/main" id="{FEE196B8-7A54-4C96-B98F-6B45E50F2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114675"/>
            <a:ext cx="114300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Local inputs</a:t>
            </a:r>
          </a:p>
        </p:txBody>
      </p:sp>
      <p:sp>
        <p:nvSpPr>
          <p:cNvPr id="9" name="text-5">
            <a:extLst xmlns:a="http://schemas.openxmlformats.org/drawingml/2006/main">
              <a:ext uri="{FF2B5EF4-FFF2-40B4-BE49-F238E27FC236}">
                <a16:creationId xmlns:a16="http://schemas.microsoft.com/office/drawing/2014/main" id="{2C6F65B0-50EA-4BFA-8A04-863DE267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514725"/>
            <a:ext cx="114300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LocalTargetCatalog + VideoFixtureFrameStream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F7F5B5-97E5-4CC5-A6E7-3212D3B1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33825"/>
            <a:ext cx="19050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7667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23793C-240A-4E3E-8D20-94E984327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91000"/>
            <a:ext cx="11811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9525">
            <a:solidFill>
              <a:srgbClr val="D0DBE1"/>
            </a:solidFill>
          </a:ln>
        </p:spPr>
      </p:sp>
      <p:sp>
        <p:nvSpPr>
          <p:cNvPr id="12" name="text-6">
            <a:extLst xmlns:a="http://schemas.openxmlformats.org/drawingml/2006/main">
              <a:ext uri="{FF2B5EF4-FFF2-40B4-BE49-F238E27FC236}">
                <a16:creationId xmlns:a16="http://schemas.microsoft.com/office/drawing/2014/main" id="{0397453F-597A-4594-A08A-1FD22D9F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76725"/>
            <a:ext cx="114300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CandidateScorer</a:t>
            </a:r>
          </a:p>
        </p:txBody>
      </p:sp>
      <p:sp>
        <p:nvSpPr>
          <p:cNvPr id="13" name="text-7">
            <a:extLst xmlns:a="http://schemas.openxmlformats.org/drawingml/2006/main">
              <a:ext uri="{FF2B5EF4-FFF2-40B4-BE49-F238E27FC236}">
                <a16:creationId xmlns:a16="http://schemas.microsoft.com/office/drawing/2014/main" id="{6BAB93E8-3DC3-4606-B63B-FBA281CA5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676775"/>
            <a:ext cx="114300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VisionFeatureAdapter compares whole frame and central crop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C5A7D1-5727-4544-A9EF-8E31F162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095875"/>
            <a:ext cx="19050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7667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120891-24BD-4EA4-A240-9269CF805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53050"/>
            <a:ext cx="11811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9525">
            <a:solidFill>
              <a:srgbClr val="D0DBE1"/>
            </a:solidFill>
          </a:ln>
        </p:spPr>
      </p:sp>
      <p:sp>
        <p:nvSpPr>
          <p:cNvPr id="16" name="text-8">
            <a:extLst xmlns:a="http://schemas.openxmlformats.org/drawingml/2006/main">
              <a:ext uri="{FF2B5EF4-FFF2-40B4-BE49-F238E27FC236}">
                <a16:creationId xmlns:a16="http://schemas.microsoft.com/office/drawing/2014/main" id="{D3E46BFE-E922-4B59-9F02-6B2D6AD1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438775"/>
            <a:ext cx="114300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CandidateEpisodeAggregator</a:t>
            </a:r>
          </a:p>
        </p:txBody>
      </p:sp>
      <p:sp>
        <p:nvSpPr>
          <p:cNvPr id="17" name="text-9">
            <a:extLst xmlns:a="http://schemas.openxmlformats.org/drawingml/2006/main">
              <a:ext uri="{FF2B5EF4-FFF2-40B4-BE49-F238E27FC236}">
                <a16:creationId xmlns:a16="http://schemas.microsoft.com/office/drawing/2014/main" id="{64C0ECED-2C80-432D-829A-701629D3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838825"/>
            <a:ext cx="114300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Groups supporting samples and chooses the best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ED0871-683E-4E28-98D5-787834373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257925"/>
            <a:ext cx="19050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7667B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1A35E7-EF9E-466D-A072-2D3FE75CD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515100"/>
            <a:ext cx="11811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9525">
            <a:solidFill>
              <a:srgbClr val="D0DBE1"/>
            </a:solidFill>
          </a:ln>
        </p:spPr>
      </p:sp>
      <p:sp>
        <p:nvSpPr>
          <p:cNvPr id="20" name="text-10">
            <a:extLst xmlns:a="http://schemas.openxmlformats.org/drawingml/2006/main">
              <a:ext uri="{FF2B5EF4-FFF2-40B4-BE49-F238E27FC236}">
                <a16:creationId xmlns:a16="http://schemas.microsoft.com/office/drawing/2014/main" id="{B79F813E-F3B3-4B9E-917F-4F2B2A4A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600825"/>
            <a:ext cx="114300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Report and evidence</a:t>
            </a:r>
          </a:p>
        </p:txBody>
      </p:sp>
      <p:sp>
        <p:nvSpPr>
          <p:cNvPr id="21" name="text-11">
            <a:extLst xmlns:a="http://schemas.openxmlformats.org/drawingml/2006/main">
              <a:ext uri="{FF2B5EF4-FFF2-40B4-BE49-F238E27FC236}">
                <a16:creationId xmlns:a16="http://schemas.microsoft.com/office/drawing/2014/main" id="{218EBFEF-0DD3-48D2-B89D-1BEC8D41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7000875"/>
            <a:ext cx="114300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SessionReportBuilder + JSONL SessionLog + separate local images</a:t>
            </a:r>
          </a:p>
        </p:txBody>
      </p:sp>
      <p:sp>
        <p:nvSpPr>
          <p:cNvPr id="22" name="text-12">
            <a:extLst xmlns:a="http://schemas.openxmlformats.org/drawingml/2006/main">
              <a:ext uri="{FF2B5EF4-FFF2-40B4-BE49-F238E27FC236}">
                <a16:creationId xmlns:a16="http://schemas.microsoft.com/office/drawing/2014/main" id="{03C902CD-8483-4F18-BF95-DE2F0A73A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0"/>
            <a:ext cx="1379220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FixtureEvaluator is a separate test/development target. The app does not link annotations.</a:t>
            </a:r>
          </a:p>
        </p:txBody>
      </p:sp>
      <p:sp>
        <p:nvSpPr>
          <p:cNvPr id="23" name="text-13">
            <a:extLst xmlns:a="http://schemas.openxmlformats.org/drawingml/2006/main">
              <a:ext uri="{FF2B5EF4-FFF2-40B4-BE49-F238E27FC236}">
                <a16:creationId xmlns:a16="http://schemas.microsoft.com/office/drawing/2014/main" id="{8221F3A4-AA44-4A85-93C9-0E2C3C54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8096250"/>
            <a:ext cx="428625" cy="304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391130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0">
            <a:extLst xmlns:a="http://schemas.openxmlformats.org/drawingml/2006/main">
              <a:ext uri="{FF2B5EF4-FFF2-40B4-BE49-F238E27FC236}">
                <a16:creationId xmlns:a16="http://schemas.microsoft.com/office/drawing/2014/main" id="{CA491091-644E-4ED8-A11C-9B103BDB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3792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Pipeline orchestration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A978537-12C5-40F5-91AD-0B7FC498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137541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CandidateAnalysisPipeline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57EF56A-6DF0-40B1-9985-3BE12BE12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619125" cy="443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8397660-9FFA-44A9-B508-57AFA75E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85950"/>
            <a:ext cx="129921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Start a worker away from the UI thread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4920F18-C06E-46ED-84D1-D159B69B1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62225"/>
            <a:ext cx="619125" cy="443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D7C92D95-4D20-4670-BBD5-E60AFD860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43175"/>
            <a:ext cx="129921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Compose stream, scorer, aggregator, and recorder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65849659-070B-4712-920A-1D75E7350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619125" cy="443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1125C1CC-6FD8-473E-8D99-91B748D27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00400"/>
            <a:ext cx="129921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Finalize once after stop, cancellation, error, or EOF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278948FE-21F4-401F-A9BC-CD376E00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1379220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Selected Swift lines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58E3E7-CEB4-4B5A-8E2A-B1450529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13792200" cy="1724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0">
            <a:noFill/>
          </a:ln>
        </p:spPr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15D0DAE7-C4C7-4241-94E9-E9246F1EC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38650"/>
            <a:ext cx="13373100" cy="15687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let worker = Task.detached { try await self.execute(onUpdate: onUpdate) }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return try await withTaskCancellationHandler { try await worker.value } onCancel: {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    self.stream.cancel()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    worker.cancel()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160A137F-AA42-4820-B5A3-EFC0BEB9E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77075"/>
            <a:ext cx="137922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CandidateAnalysisPipelineTests + PipelineIntegrationSuite</a:t>
            </a:r>
          </a:p>
        </p:txBody>
      </p:sp>
      <p:sp>
        <p:nvSpPr>
          <p:cNvPr id="13" name="text-11">
            <a:extLst xmlns:a="http://schemas.openxmlformats.org/drawingml/2006/main">
              <a:ext uri="{FF2B5EF4-FFF2-40B4-BE49-F238E27FC236}">
                <a16:creationId xmlns:a16="http://schemas.microsoft.com/office/drawing/2014/main" id="{ED651A42-FC73-4DB5-B5DB-33189631D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534275"/>
            <a:ext cx="13792200" cy="409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Real frames arrive before EOF. Reports rebuild from logs. Cancellation finalizes once.</a:t>
            </a:r>
          </a:p>
        </p:txBody>
      </p:sp>
      <p:sp>
        <p:nvSpPr>
          <p:cNvPr id="14" name="text-12">
            <a:extLst xmlns:a="http://schemas.openxmlformats.org/drawingml/2006/main">
              <a:ext uri="{FF2B5EF4-FFF2-40B4-BE49-F238E27FC236}">
                <a16:creationId xmlns:a16="http://schemas.microsoft.com/office/drawing/2014/main" id="{E89DEE48-A580-4822-9ED2-9BDA8CC39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8096250"/>
            <a:ext cx="428625" cy="304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267561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0">
            <a:extLst xmlns:a="http://schemas.openxmlformats.org/drawingml/2006/main">
              <a:ext uri="{FF2B5EF4-FFF2-40B4-BE49-F238E27FC236}">
                <a16:creationId xmlns:a16="http://schemas.microsoft.com/office/drawing/2014/main" id="{40A6F1F1-96E7-40B0-ABDB-36CF61A6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3792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Incremental frame delivery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C770701-34BA-4559-BEA2-0CCCAE20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137541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VideoFixtureFrameStream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60B6DF3-6445-4AC2-BCBF-89F492C8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619125" cy="443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949A5D2-8409-43CB-9B46-75B2662C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85950"/>
            <a:ext cx="129921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Decode one video sample and keep its presentation timestamp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9663ACC-CC3B-4CA0-A7E7-B1F34F16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62225"/>
            <a:ext cx="619125" cy="443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1493576-9F56-4D6F-97A5-F5888245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43175"/>
            <a:ext cx="129921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Select eligible slots at 2 frames per second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94AB9623-4075-4882-9525-6A2E3885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619125" cy="443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0A33F246-7F49-4AFC-9D17-D7BA0FB16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00400"/>
            <a:ext cx="129921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Replay holds one active consumer and one replaceable pending frame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D337A19F-A216-4447-BD43-6C9B494D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1379220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Selected Swift lines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0879B7-AFA1-432B-A55D-B3544F4D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13792200" cy="1724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0">
            <a:noFill/>
          </a:ln>
        </p:spPr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1F17CD2A-A6FA-4F6F-B2B7-628A2D1F3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38650"/>
            <a:ext cx="13373100" cy="15687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let (frames, continuation) = AsyncThrowingStream&lt;VideoFrame, Error&gt;.makeStream(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    bufferingPolicy: .bufferingNewest(1))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if case .dropped(let old) = continuation.yield(frame) {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    try self.drop(old, observer: observer)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29F18250-89D9-4C6E-B6D2-38B6004FE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77075"/>
            <a:ext cx="137922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VideoFixtureFrameStreamTests</a:t>
            </a:r>
          </a:p>
        </p:txBody>
      </p:sp>
      <p:sp>
        <p:nvSpPr>
          <p:cNvPr id="13" name="text-11">
            <a:extLst xmlns:a="http://schemas.openxmlformats.org/drawingml/2006/main">
              <a:ext uri="{FF2B5EF4-FFF2-40B4-BE49-F238E27FC236}">
                <a16:creationId xmlns:a16="http://schemas.microsoft.com/office/drawing/2014/main" id="{7C9A191B-762C-47F1-9724-A78FE589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534275"/>
            <a:ext cx="13792200" cy="409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Both videos repeat with stable frame IDs. Slow replay drops stale work and stops cleanly.</a:t>
            </a:r>
          </a:p>
        </p:txBody>
      </p:sp>
      <p:sp>
        <p:nvSpPr>
          <p:cNvPr id="14" name="text-12">
            <a:extLst xmlns:a="http://schemas.openxmlformats.org/drawingml/2006/main">
              <a:ext uri="{FF2B5EF4-FFF2-40B4-BE49-F238E27FC236}">
                <a16:creationId xmlns:a16="http://schemas.microsoft.com/office/drawing/2014/main" id="{D6F3DD85-318E-4763-A10C-295F34742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8096250"/>
            <a:ext cx="428625" cy="304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804083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0">
            <a:extLst xmlns:a="http://schemas.openxmlformats.org/drawingml/2006/main">
              <a:ext uri="{FF2B5EF4-FFF2-40B4-BE49-F238E27FC236}">
                <a16:creationId xmlns:a16="http://schemas.microsoft.com/office/drawing/2014/main" id="{68F87399-F745-47AC-9E0D-40E593D0B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3792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Reference image and Vision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98A466B-BD58-4FE5-9CEC-37A3BDF8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137541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LocalTargetCatalog and VisionFeatureAdapter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83E0655-13F2-4F27-BCD5-C0EA57AEB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619125" cy="443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3C34B59-178E-46BD-924D-F429B9F86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85950"/>
            <a:ext cx="129921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Load one banana reference and preserve its EXIF orientation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2F538274-6493-484E-8572-294D5066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62225"/>
            <a:ext cx="619125" cy="443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17DB8B3-CE82-40FD-8168-67DEB32B6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43175"/>
            <a:ext cx="129921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Generate and cache the reference feature print once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62B6407B-2D7D-463B-A6B2-AFC783FE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619125" cy="443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895AE9A6-61AA-4643-80D3-F9FFDDE57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00400"/>
            <a:ext cx="129921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Use Vision revision 2 and the fixed scaleFill policy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EE1E4764-8919-4EA3-A55B-087B409C1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1379220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Selected Swift lines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F48F28-535E-4047-BC73-90E03BA9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137922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0">
            <a:noFill/>
          </a:ln>
        </p:spPr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C09FF52D-86D1-475E-A8C9-2C30ACE5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38650"/>
            <a:ext cx="13373100" cy="18634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let request = VNGenerateImageFeaturePrintRequest()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request.revision = revision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request.imageCropAndScaleOption = .scaleFill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let handler = VNImageRequestHandler(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    cgImage: image.image, orientation: image.orientation, options: [:]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 )</a:t>
            </a:r>
          </a:p>
        </p:txBody>
      </p:sp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946E3FB8-4AD3-424E-A727-F1043E8AF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77075"/>
            <a:ext cx="137922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LocalTargetCatalogTests + VisionFeatureAdapterTests</a:t>
            </a:r>
          </a:p>
        </p:txBody>
      </p:sp>
      <p:sp>
        <p:nvSpPr>
          <p:cNvPr id="13" name="text-11">
            <a:extLst xmlns:a="http://schemas.openxmlformats.org/drawingml/2006/main">
              <a:ext uri="{FF2B5EF4-FFF2-40B4-BE49-F238E27FC236}">
                <a16:creationId xmlns:a16="http://schemas.microsoft.com/office/drawing/2014/main" id="{F90A64D4-466C-4F3B-8CE1-1D57C5BD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534275"/>
            <a:ext cx="13792200" cy="409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Tests run real inference, verify EXIF behavior, reject bad images, and check lazy caching.</a:t>
            </a:r>
          </a:p>
        </p:txBody>
      </p:sp>
      <p:sp>
        <p:nvSpPr>
          <p:cNvPr id="14" name="text-12">
            <a:extLst xmlns:a="http://schemas.openxmlformats.org/drawingml/2006/main">
              <a:ext uri="{FF2B5EF4-FFF2-40B4-BE49-F238E27FC236}">
                <a16:creationId xmlns:a16="http://schemas.microsoft.com/office/drawing/2014/main" id="{CA881B98-0CDA-4E1D-BB93-F75B8182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8096250"/>
            <a:ext cx="428625" cy="304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26477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0">
            <a:extLst xmlns:a="http://schemas.openxmlformats.org/drawingml/2006/main">
              <a:ext uri="{FF2B5EF4-FFF2-40B4-BE49-F238E27FC236}">
                <a16:creationId xmlns:a16="http://schemas.microsoft.com/office/drawing/2014/main" id="{9B2E1911-E5F0-4F01-B58F-ABF0D347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3792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Candidate scoring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8349378-8EAF-4685-90B1-E0FC29F2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137541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CandidateScorer and the frozen ScoringProfile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0EEDE30-A18C-4741-A377-336EA444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619125" cy="443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DC65CCC-D7EF-4FB8-A006-891CF474B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85950"/>
            <a:ext cx="129921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Compare the whole frame and a centered 60% × 60% crop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285C63A-A575-4B60-B194-265E78AA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62225"/>
            <a:ext cx="619125" cy="443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D3F9ADB8-EAC2-4637-BEDD-C15960A2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43175"/>
            <a:ext cx="129921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Use the smaller distance as the frame's evidence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53CFE1A-C9A7-4999-803B-BFC2290F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619125" cy="443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3B4B1520-BB95-4318-AEC3-B1AE8712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00400"/>
            <a:ext cx="129921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Support the target when distance ≤ 0.4293864220380783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86F48198-8383-4C6F-BC26-9254737B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1379220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Selected Swift lines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F04B67-3B59-4655-8E75-5930C255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13792200" cy="1724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0">
            <a:noFill/>
          </a:ln>
        </p:spPr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4E5D6093-985F-4DCB-A5E6-45B30C7A1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38650"/>
            <a:ext cx="13373100" cy="15687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public var distance: Double { min(wholeDistance, cropDistance) }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public var similarity: Double { 1 / (1 + distance) }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public func supports(maximumDistance: Double) -&gt; Bool {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    distance &lt;= maximumDistance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781B0D32-33C4-4B86-840D-80125A16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77075"/>
            <a:ext cx="137922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CandidateScorerTests + fixed-profile integration tests</a:t>
            </a:r>
          </a:p>
        </p:txBody>
      </p:sp>
      <p:sp>
        <p:nvSpPr>
          <p:cNvPr id="13" name="text-11">
            <a:extLst xmlns:a="http://schemas.openxmlformats.org/drawingml/2006/main">
              <a:ext uri="{FF2B5EF4-FFF2-40B4-BE49-F238E27FC236}">
                <a16:creationId xmlns:a16="http://schemas.microsoft.com/office/drawing/2014/main" id="{C5BAA3CA-234B-414D-80EE-75814A4B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534275"/>
            <a:ext cx="13792200" cy="409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82 sampled frames support the calibration. Tests and phone runs never choose a new threshold.</a:t>
            </a:r>
          </a:p>
        </p:txBody>
      </p:sp>
      <p:sp>
        <p:nvSpPr>
          <p:cNvPr id="14" name="text-12">
            <a:extLst xmlns:a="http://schemas.openxmlformats.org/drawingml/2006/main">
              <a:ext uri="{FF2B5EF4-FFF2-40B4-BE49-F238E27FC236}">
                <a16:creationId xmlns:a16="http://schemas.microsoft.com/office/drawing/2014/main" id="{1C12966A-4961-425F-A648-801A678D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8096250"/>
            <a:ext cx="428625" cy="304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639113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ext-0">
            <a:extLst xmlns:a="http://schemas.openxmlformats.org/drawingml/2006/main">
              <a:ext uri="{FF2B5EF4-FFF2-40B4-BE49-F238E27FC236}">
                <a16:creationId xmlns:a16="http://schemas.microsoft.com/office/drawing/2014/main" id="{8D8B66EB-17AF-4448-A502-FDB2D767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3792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Candidate episodes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85B4FCD-FDF6-49DA-9C8C-185FD21B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137541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CandidateEpisodeAggregator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EEDF25-7181-449C-A78B-C9EB8000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809750"/>
            <a:ext cx="118110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9525">
            <a:solidFill>
              <a:srgbClr val="D0DBE1"/>
            </a:solidFill>
          </a:ln>
        </p:spPr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FCD7243E-C7C3-409A-9799-3EE9AA4E8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885950"/>
            <a:ext cx="19050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Waiting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C53A1409-5121-4E79-8D6F-754278E2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43100"/>
            <a:ext cx="9144000" cy="409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One supporting eligible sample starts a streak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CFAECA-2518-42A8-A126-E7BA5E640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09850"/>
            <a:ext cx="19050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7667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DF4A1D-4FA3-4B9D-98A7-BE21B592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57500"/>
            <a:ext cx="118110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9525">
            <a:solidFill>
              <a:srgbClr val="D0DBE1"/>
            </a:solidFill>
          </a:ln>
        </p:spPr>
      </p:sp>
      <p:sp>
        <p:nvSpPr>
          <p:cNvPr id="8" name="text-4">
            <a:extLst xmlns:a="http://schemas.openxmlformats.org/drawingml/2006/main">
              <a:ext uri="{FF2B5EF4-FFF2-40B4-BE49-F238E27FC236}">
                <a16:creationId xmlns:a16="http://schemas.microsoft.com/office/drawing/2014/main" id="{153F113C-127B-4BFB-AF42-E5216874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33700"/>
            <a:ext cx="19050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Open</a:t>
            </a:r>
          </a:p>
        </p:txBody>
      </p:sp>
      <p:sp>
        <p:nvSpPr>
          <p:cNvPr id="9" name="text-5">
            <a:extLst xmlns:a="http://schemas.openxmlformats.org/drawingml/2006/main">
              <a:ext uri="{FF2B5EF4-FFF2-40B4-BE49-F238E27FC236}">
                <a16:creationId xmlns:a16="http://schemas.microsoft.com/office/drawing/2014/main" id="{A1B2B127-6D69-4EA0-9E7B-5866DF2B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90850"/>
            <a:ext cx="9144000" cy="409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The second consecutive supporting sample opens an episode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676802-60F7-4640-BF32-935D04CA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57600"/>
            <a:ext cx="19050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7667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6A2BA6-A9B1-423C-88DE-85BC8330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05250"/>
            <a:ext cx="118110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9525">
            <a:solidFill>
              <a:srgbClr val="D0DBE1"/>
            </a:solidFill>
          </a:ln>
        </p:spPr>
      </p:sp>
      <p:sp>
        <p:nvSpPr>
          <p:cNvPr id="12" name="text-6">
            <a:extLst xmlns:a="http://schemas.openxmlformats.org/drawingml/2006/main">
              <a:ext uri="{FF2B5EF4-FFF2-40B4-BE49-F238E27FC236}">
                <a16:creationId xmlns:a16="http://schemas.microsoft.com/office/drawing/2014/main" id="{86F52576-EDC1-4E23-9333-43FE3CFD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981450"/>
            <a:ext cx="19050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Active</a:t>
            </a:r>
          </a:p>
        </p:txBody>
      </p:sp>
      <p:sp>
        <p:nvSpPr>
          <p:cNvPr id="13" name="text-7">
            <a:extLst xmlns:a="http://schemas.openxmlformats.org/drawingml/2006/main">
              <a:ext uri="{FF2B5EF4-FFF2-40B4-BE49-F238E27FC236}">
                <a16:creationId xmlns:a16="http://schemas.microsoft.com/office/drawing/2014/main" id="{602EC027-C279-4154-AF53-E8237134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38600"/>
            <a:ext cx="9144000" cy="409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Stronger evidence replaces the best frame; earliest wins ties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473F8C-81A3-4713-8E47-4BE69096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05350"/>
            <a:ext cx="19050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7667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39FBC2-ADCF-4BD1-866C-9D1699C1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53000"/>
            <a:ext cx="118110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9525">
            <a:solidFill>
              <a:srgbClr val="D0DBE1"/>
            </a:solidFill>
          </a:ln>
        </p:spPr>
      </p:sp>
      <p:sp>
        <p:nvSpPr>
          <p:cNvPr id="16" name="text-8">
            <a:extLst xmlns:a="http://schemas.openxmlformats.org/drawingml/2006/main">
              <a:ext uri="{FF2B5EF4-FFF2-40B4-BE49-F238E27FC236}">
                <a16:creationId xmlns:a16="http://schemas.microsoft.com/office/drawing/2014/main" id="{13B5BCDA-A747-42D4-BA02-DDA4295B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29200"/>
            <a:ext cx="19050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Closed</a:t>
            </a:r>
          </a:p>
        </p:txBody>
      </p:sp>
      <p:sp>
        <p:nvSpPr>
          <p:cNvPr id="17" name="text-9">
            <a:extLst xmlns:a="http://schemas.openxmlformats.org/drawingml/2006/main">
              <a:ext uri="{FF2B5EF4-FFF2-40B4-BE49-F238E27FC236}">
                <a16:creationId xmlns:a16="http://schemas.microsoft.com/office/drawing/2014/main" id="{2BDE6A2D-6570-4492-97D3-1FE0C3E0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086350"/>
            <a:ext cx="9144000" cy="409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1.5 seconds without support, stop, cancellation, or EOF</a:t>
            </a:r>
          </a:p>
        </p:txBody>
      </p:sp>
      <p:sp>
        <p:nvSpPr>
          <p:cNvPr id="18" name="text-10">
            <a:extLst xmlns:a="http://schemas.openxmlformats.org/drawingml/2006/main">
              <a:ext uri="{FF2B5EF4-FFF2-40B4-BE49-F238E27FC236}">
                <a16:creationId xmlns:a16="http://schemas.microsoft.com/office/drawing/2014/main" id="{3F8EDA43-45FD-4FC2-B7ED-0A7035C9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19825"/>
            <a:ext cx="1379220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Selected Swift lines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3B333B-DD1C-429A-AF63-1280A0174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543675"/>
            <a:ext cx="137922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0">
            <a:noFill/>
          </a:ln>
        </p:spPr>
      </p:sp>
      <p:sp>
        <p:nvSpPr>
          <p:cNvPr id="20" name="text-11">
            <a:extLst xmlns:a="http://schemas.openxmlformats.org/drawingml/2006/main">
              <a:ext uri="{FF2B5EF4-FFF2-40B4-BE49-F238E27FC236}">
                <a16:creationId xmlns:a16="http://schemas.microsoft.com/office/drawing/2014/main" id="{45A685C9-B657-40E7-92EB-4530A66CB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619875"/>
            <a:ext cx="13373100" cy="979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if let previous, score.sampleIndex != previous.sampleIndex + 1 {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    pending = nil; supportingStreak = 0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21" name="text-12">
            <a:extLst xmlns:a="http://schemas.openxmlformats.org/drawingml/2006/main">
              <a:ext uri="{FF2B5EF4-FFF2-40B4-BE49-F238E27FC236}">
                <a16:creationId xmlns:a16="http://schemas.microsoft.com/office/drawing/2014/main" id="{7FF28929-2903-49F2-A773-8A5523C9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48600"/>
            <a:ext cx="13792200" cy="3741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CandidateEpisodeAggregatorTests / Boundary, interrupted-streak, tie, repeat-episode, gap, stop, and EOF checks</a:t>
            </a:r>
          </a:p>
        </p:txBody>
      </p:sp>
      <p:sp>
        <p:nvSpPr>
          <p:cNvPr id="22" name="text-13">
            <a:extLst xmlns:a="http://schemas.openxmlformats.org/drawingml/2006/main">
              <a:ext uri="{FF2B5EF4-FFF2-40B4-BE49-F238E27FC236}">
                <a16:creationId xmlns:a16="http://schemas.microsoft.com/office/drawing/2014/main" id="{EB21D1C1-F3DF-46F1-8AF4-89EF2DF4B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8096250"/>
            <a:ext cx="428625" cy="304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912146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0">
            <a:extLst xmlns:a="http://schemas.openxmlformats.org/drawingml/2006/main">
              <a:ext uri="{FF2B5EF4-FFF2-40B4-BE49-F238E27FC236}">
                <a16:creationId xmlns:a16="http://schemas.microsoft.com/office/drawing/2014/main" id="{B762ABE4-2ABC-4A23-B926-036128E9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3792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Session evidence and report replay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375D541-9703-4494-8788-F67ADA28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137541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SessionLog, PipelineRecorder, and SessionReportBuilder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5AC10C8-5FAD-4FB3-939B-A9A24E49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619125" cy="443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C757125-3F1A-4A84-942C-6E28AFF0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85950"/>
            <a:ext cx="129921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Serialize stream and score events into one ordered JSONL log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AAEF57F-8C21-4762-AAEC-99CF3EB6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62225"/>
            <a:ext cx="619125" cy="443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BAA2888-ECD3-45FC-AFC7-47C7EB34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43175"/>
            <a:ext cx="129921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Build the live report from the same ordered events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3E349DF-675E-4DBE-B1A7-3FA5B641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619125" cy="443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2DFC354F-B6C1-4E1B-B973-032BC5E2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00400"/>
            <a:ext cx="129921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Rebuild report data without rereading the video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0576D0D1-D457-454D-BCB7-6BA7C8DC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1379220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Selected Swift lines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34FE1A-E5CF-4A03-AC4F-575DFEC0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13792200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0">
            <a:noFill/>
          </a:ln>
        </p:spPr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019C3AD7-E2F3-4C08-B50C-41B92DB2C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38650"/>
            <a:ext cx="13373100" cy="979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let events = try SessionLog.read(url: logURL)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for event in events { try builder.consume(event) }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let recorded = try summary.payload(as: SessionReport.self)</a:t>
            </a:r>
          </a:p>
        </p:txBody>
      </p:sp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B6A725CA-83B6-4748-B5CF-2EB19A185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77075"/>
            <a:ext cx="137922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SessionLogTests + SessionReportBuilderTests</a:t>
            </a:r>
          </a:p>
        </p:txBody>
      </p:sp>
      <p:sp>
        <p:nvSpPr>
          <p:cNvPr id="13" name="text-11">
            <a:extLst xmlns:a="http://schemas.openxmlformats.org/drawingml/2006/main">
              <a:ext uri="{FF2B5EF4-FFF2-40B4-BE49-F238E27FC236}">
                <a16:creationId xmlns:a16="http://schemas.microsoft.com/office/drawing/2014/main" id="{4F0E27C3-AC75-4D70-A556-C51558FCF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534275"/>
            <a:ext cx="13792200" cy="409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Truncated records, missing scores, write failures, and inconsistent reports remain failures.</a:t>
            </a:r>
          </a:p>
        </p:txBody>
      </p:sp>
      <p:sp>
        <p:nvSpPr>
          <p:cNvPr id="14" name="text-12">
            <a:extLst xmlns:a="http://schemas.openxmlformats.org/drawingml/2006/main">
              <a:ext uri="{FF2B5EF4-FFF2-40B4-BE49-F238E27FC236}">
                <a16:creationId xmlns:a16="http://schemas.microsoft.com/office/drawing/2014/main" id="{D82F24BA-407C-4E35-BF13-C98A294D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8096250"/>
            <a:ext cx="428625" cy="304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602593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0">
            <a:extLst xmlns:a="http://schemas.openxmlformats.org/drawingml/2006/main">
              <a:ext uri="{FF2B5EF4-FFF2-40B4-BE49-F238E27FC236}">
                <a16:creationId xmlns:a16="http://schemas.microsoft.com/office/drawing/2014/main" id="{E7A563AA-74BD-4A4D-A243-E554E055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3792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Measured fixture outcome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2984B4A-F382-4B3B-BCB6-11AC3F9E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137541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The frozen profile passes the current Mac acceptance rules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8C898C0-5590-45C6-A6C1-08563F429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137922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Positive fixture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0337688-5728-40D8-864F-C206A4263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13792200" cy="4903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56 analyzed frames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6C72C42-0729-4326-A2CB-7FFDF47C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13792200" cy="409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One episode opens at 24.5 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433AA5-0645-4A70-A617-8D95C296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71825"/>
            <a:ext cx="1379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BE1"/>
          </a:solidFill>
          <a:ln xmlns:a="http://schemas.openxmlformats.org/drawingml/2006/main" w="0">
            <a:noFill/>
          </a:ln>
        </p:spPr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9A151DD4-0594-4EB8-8F80-20589E7E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137922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Negative fixture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2E66DA18-E7A7-4CAD-8D7F-0CEC928F9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13792200" cy="4903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26 analyzed frames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0205FD65-0417-4231-B004-553990F4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52900"/>
            <a:ext cx="13792200" cy="409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No candidate episode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C17522-C5F9-4C21-9445-18A5ED1E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62475"/>
            <a:ext cx="1379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BE1"/>
          </a:solidFill>
          <a:ln xmlns:a="http://schemas.openxmlformats.org/drawingml/2006/main" w="0">
            <a:noFill/>
          </a:ln>
        </p:spPr>
      </p:sp>
      <p:sp>
        <p:nvSpPr>
          <p:cNvPr id="11" name="text-8">
            <a:extLst xmlns:a="http://schemas.openxmlformats.org/drawingml/2006/main">
              <a:ext uri="{FF2B5EF4-FFF2-40B4-BE49-F238E27FC236}">
                <a16:creationId xmlns:a16="http://schemas.microsoft.com/office/drawing/2014/main" id="{3355D04B-7A44-4A15-931C-A517A9BB1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137922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Best evidence</a:t>
            </a:r>
          </a:p>
        </p:txBody>
      </p:sp>
      <p:sp>
        <p:nvSpPr>
          <p:cNvPr id="12" name="text-9">
            <a:extLst xmlns:a="http://schemas.openxmlformats.org/drawingml/2006/main">
              <a:ext uri="{FF2B5EF4-FFF2-40B4-BE49-F238E27FC236}">
                <a16:creationId xmlns:a16="http://schemas.microsoft.com/office/drawing/2014/main" id="{EFCD60DC-9767-4ECF-82B8-AE91B80B1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05400"/>
            <a:ext cx="13792200" cy="4903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25.0 s, central-crop comparison</a:t>
            </a:r>
          </a:p>
        </p:txBody>
      </p:sp>
      <p:sp>
        <p:nvSpPr>
          <p:cNvPr id="13" name="text-10">
            <a:extLst xmlns:a="http://schemas.openxmlformats.org/drawingml/2006/main">
              <a:ext uri="{FF2B5EF4-FFF2-40B4-BE49-F238E27FC236}">
                <a16:creationId xmlns:a16="http://schemas.microsoft.com/office/drawing/2014/main" id="{08EC9B87-61E8-406C-BCF8-B1270C98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43550"/>
            <a:ext cx="13792200" cy="409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The retained image is the whole 1080 × 1920 frame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775F63-25E9-4AA7-AC57-95F892279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53125"/>
            <a:ext cx="1379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BE1"/>
          </a:solidFill>
          <a:ln xmlns:a="http://schemas.openxmlformats.org/drawingml/2006/main" w="0">
            <a:noFill/>
          </a:ln>
        </p:spPr>
      </p:sp>
      <p:sp>
        <p:nvSpPr>
          <p:cNvPr id="15" name="text-11">
            <a:extLst xmlns:a="http://schemas.openxmlformats.org/drawingml/2006/main">
              <a:ext uri="{FF2B5EF4-FFF2-40B4-BE49-F238E27FC236}">
                <a16:creationId xmlns:a16="http://schemas.microsoft.com/office/drawing/2014/main" id="{AC67FE86-70EE-470F-9065-40DBB55D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0"/>
            <a:ext cx="137922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Delay and closure</a:t>
            </a:r>
          </a:p>
        </p:txBody>
      </p:sp>
      <p:sp>
        <p:nvSpPr>
          <p:cNvPr id="16" name="text-12">
            <a:extLst xmlns:a="http://schemas.openxmlformats.org/drawingml/2006/main">
              <a:ext uri="{FF2B5EF4-FFF2-40B4-BE49-F238E27FC236}">
                <a16:creationId xmlns:a16="http://schemas.microsoft.com/office/drawing/2014/main" id="{995F9A0B-9EB6-418E-A167-26A0BA32D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96050"/>
            <a:ext cx="13792200" cy="4903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6.2 s after the expected interval begins</a:t>
            </a:r>
          </a:p>
        </p:txBody>
      </p:sp>
      <p:sp>
        <p:nvSpPr>
          <p:cNvPr id="17" name="text-13">
            <a:extLst xmlns:a="http://schemas.openxmlformats.org/drawingml/2006/main">
              <a:ext uri="{FF2B5EF4-FFF2-40B4-BE49-F238E27FC236}">
                <a16:creationId xmlns:a16="http://schemas.microsoft.com/office/drawing/2014/main" id="{159E3CF5-BBBE-452A-861A-A156A00D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934200"/>
            <a:ext cx="13792200" cy="409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The episode closes at 27.5 s after a support gap</a:t>
            </a:r>
          </a:p>
        </p:txBody>
      </p:sp>
      <p:sp>
        <p:nvSpPr>
          <p:cNvPr id="18" name="text-14">
            <a:extLst xmlns:a="http://schemas.openxmlformats.org/drawingml/2006/main">
              <a:ext uri="{FF2B5EF4-FFF2-40B4-BE49-F238E27FC236}">
                <a16:creationId xmlns:a16="http://schemas.microsoft.com/office/drawing/2014/main" id="{43353EC2-9735-44BD-A2A3-D7350243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0"/>
            <a:ext cx="1379220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No episode opens in either fixture's false-positive zones. General accuracy remains unmeasured.</a:t>
            </a:r>
          </a:p>
        </p:txBody>
      </p:sp>
      <p:sp>
        <p:nvSpPr>
          <p:cNvPr id="19" name="text-15">
            <a:extLst xmlns:a="http://schemas.openxmlformats.org/drawingml/2006/main">
              <a:ext uri="{FF2B5EF4-FFF2-40B4-BE49-F238E27FC236}">
                <a16:creationId xmlns:a16="http://schemas.microsoft.com/office/drawing/2014/main" id="{108F17E2-6771-4B66-BFCF-C522DDA9D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8096250"/>
            <a:ext cx="428625" cy="304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6840699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0">
            <a:extLst xmlns:a="http://schemas.openxmlformats.org/drawingml/2006/main">
              <a:ext uri="{FF2B5EF4-FFF2-40B4-BE49-F238E27FC236}">
                <a16:creationId xmlns:a16="http://schemas.microsoft.com/office/drawing/2014/main" id="{5C602132-7D3D-4338-BE48-A7B90613F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3792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Mac and iPhone calibration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1FF562D-B926-4AC4-B85C-A4209536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137541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FixtureEvaluator and AIShopVisionEvaluate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14BF47E-DFC1-4A54-BD40-9C5638B3F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619125" cy="443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DC2D832-21D5-4D8C-BAD0-8C8F63C8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85950"/>
            <a:ext cx="129921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Evaluate episode openings against the fixed annotation zones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BBB2E41-EA58-4110-8D4A-9C908E432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62225"/>
            <a:ext cx="619125" cy="443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99799496-A1A9-4615-B557-089638F0D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43175"/>
            <a:ext cx="129921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Match both hosts by fixture, profile, frame ID, and media timestamp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DA61F8C2-D9BA-4941-B1DD-B058CC70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619125" cy="443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111D7287-F7B8-4338-8A91-44D8BC1B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00400"/>
            <a:ext cx="129921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Record raw-distance drift and every threshold-decision disagreement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BBAC57E3-EF50-40E2-8E07-1371FA1A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1379220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Selected Swift lines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D615D0-6FFA-4198-9CC1-6334002E1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13792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0">
            <a:noFill/>
          </a:ln>
        </p:spPr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13581CC8-A44D-4DFC-B32A-E4B1BA65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38650"/>
            <a:ext cx="13373100" cy="1274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guard a.frameID == b.frameID, a.timestamp == b.timestamp,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      a.sampleIndex == b.sampleIndex else {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    throw EvaluationError.incompatibleHeader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315853C5-3296-4365-ACF2-99CAF1A8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77075"/>
            <a:ext cx="137922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FixtureEvaluatorTests + calibration integration checks</a:t>
            </a:r>
          </a:p>
        </p:txBody>
      </p:sp>
      <p:sp>
        <p:nvSpPr>
          <p:cNvPr id="13" name="text-11">
            <a:extLst xmlns:a="http://schemas.openxmlformats.org/drawingml/2006/main">
              <a:ext uri="{FF2B5EF4-FFF2-40B4-BE49-F238E27FC236}">
                <a16:creationId xmlns:a16="http://schemas.microsoft.com/office/drawing/2014/main" id="{5EC41019-73CD-4222-8C49-1745332A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534275"/>
            <a:ext cx="13792200" cy="409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The comparator rejects missing fixtures, incompatible hosts, and incomplete or corrupt evidence.</a:t>
            </a:r>
          </a:p>
        </p:txBody>
      </p:sp>
      <p:sp>
        <p:nvSpPr>
          <p:cNvPr id="14" name="text-12">
            <a:extLst xmlns:a="http://schemas.openxmlformats.org/drawingml/2006/main">
              <a:ext uri="{FF2B5EF4-FFF2-40B4-BE49-F238E27FC236}">
                <a16:creationId xmlns:a16="http://schemas.microsoft.com/office/drawing/2014/main" id="{D056A9CE-0720-4717-A0E0-3449A60FE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8096250"/>
            <a:ext cx="428625" cy="304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18140199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0">
            <a:extLst xmlns:a="http://schemas.openxmlformats.org/drawingml/2006/main">
              <a:ext uri="{FF2B5EF4-FFF2-40B4-BE49-F238E27FC236}">
                <a16:creationId xmlns:a16="http://schemas.microsoft.com/office/drawing/2014/main" id="{0752FC2C-5DF9-4628-9254-3D8B14A69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3792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Debug harness and application startup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755B29D-A4E2-4622-B443-F1C92D58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137541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ApplicationBootstrap and VisionHarnessModel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F344B73-8528-41DA-9045-F0A72850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619125" cy="443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60F4E61-8748-4390-8471-7D8F8DEF0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885950"/>
            <a:ext cx="129921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Select the diagnostic route before creating normal services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673581E-463B-4137-9103-D8FD2261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62225"/>
            <a:ext cx="619125" cy="443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4F604D1-CC14-4E6D-AD07-A6CBB414B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43175"/>
            <a:ext cx="129921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Run the same package with local fixture playback and log export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676DC81D-0D0D-4884-B875-C5CEA42E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619125" cy="443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F03697AD-3884-4AD4-AADE-B6BC1D978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00400"/>
            <a:ext cx="12992100" cy="467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Exclude the route and fixture media from Release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0E7A18A8-F658-4B4E-83C4-4E417979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13792200" cy="3625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Selected Swift lines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B14619-0957-4D74-8771-F70552F1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13792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0">
            <a:noFill/>
          </a:ln>
        </p:spPr>
      </p:sp>
      <p:sp>
        <p:nvSpPr>
          <p:cNvPr id="11" name="text-9">
            <a:extLst xmlns:a="http://schemas.openxmlformats.org/drawingml/2006/main">
              <a:ext uri="{FF2B5EF4-FFF2-40B4-BE49-F238E27FC236}">
                <a16:creationId xmlns:a16="http://schemas.microsoft.com/office/drawing/2014/main" id="{F0B2612A-9FA3-4D6E-A1E9-026C7EF1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38650"/>
            <a:ext cx="13373100" cy="1274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guard !isVisionDiagnostic(arguments: arguments, environment: environment) else {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    return nil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}</a:t>
            </a:r>
          </a:p>
          <a:p xmlns:a="http://schemas.openxmlformats.org/drawingml/2006/main">
            <a:pPr algn="l">
              <a:def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defRPr>
            </a:pPr>
            <a:r>
              <a:rPr sz="1950" b="0">
                <a:solidFill>
                  <a:srgbClr val="102C43"/>
                </a:solidFill>
                <a:latin typeface="Courier New"/>
                <a:ea typeface="Courier New"/>
                <a:cs typeface="Courier New"/>
              </a:rPr>
              <a:t>return initialize()</a:t>
            </a:r>
          </a:p>
        </p:txBody>
      </p:sp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A53A31EE-8E1C-45BF-BA8F-80185640C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77075"/>
            <a:ext cx="137922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ApplicationBootstrapTests + VisionHarnessModelTests</a:t>
            </a:r>
          </a:p>
        </p:txBody>
      </p:sp>
      <p:sp>
        <p:nvSpPr>
          <p:cNvPr id="13" name="text-11">
            <a:extLst xmlns:a="http://schemas.openxmlformats.org/drawingml/2006/main">
              <a:ext uri="{FF2B5EF4-FFF2-40B4-BE49-F238E27FC236}">
                <a16:creationId xmlns:a16="http://schemas.microsoft.com/office/drawing/2014/main" id="{8048102B-FAB7-4A94-9033-704F23971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534275"/>
            <a:ext cx="13792200" cy="409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The Simulator test host has no Firebase instance. Bundle checks verify only approved Debug media.</a:t>
            </a:r>
          </a:p>
        </p:txBody>
      </p:sp>
      <p:sp>
        <p:nvSpPr>
          <p:cNvPr id="14" name="text-12">
            <a:extLst xmlns:a="http://schemas.openxmlformats.org/drawingml/2006/main">
              <a:ext uri="{FF2B5EF4-FFF2-40B4-BE49-F238E27FC236}">
                <a16:creationId xmlns:a16="http://schemas.microsoft.com/office/drawing/2014/main" id="{E8EA940A-0205-4E4F-BB7D-8187B431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8096250"/>
            <a:ext cx="428625" cy="304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38332421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0">
            <a:extLst xmlns:a="http://schemas.openxmlformats.org/drawingml/2006/main">
              <a:ext uri="{FF2B5EF4-FFF2-40B4-BE49-F238E27FC236}">
                <a16:creationId xmlns:a16="http://schemas.microsoft.com/office/drawing/2014/main" id="{2E200D01-E9D8-46F0-8675-6A2B4702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37922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02C43"/>
                </a:solidFill>
                <a:latin typeface="Arial"/>
                <a:ea typeface="Arial"/>
                <a:cs typeface="Arial"/>
              </a:rPr>
              <a:t>What the implementation establishes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B103F3A-1421-4A5B-A7B2-06F1E892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23950"/>
            <a:ext cx="1375410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Evidence for the design decisions, with acceptance still open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5C49602-04C0-4E1D-AF10-5E5595B1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137922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Incremental behavior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98CE3E4-577D-4707-9AA2-BFC855A1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13792200" cy="4787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Real video reaches the consumer before EOF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B2C001-8E1D-47F2-871A-9CBC36F5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71825"/>
            <a:ext cx="1379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BE1"/>
          </a:solidFill>
          <a:ln xmlns:a="http://schemas.openxmlformats.org/drawingml/2006/main" w="0">
            <a:noFill/>
          </a:ln>
        </p:spPr>
      </p:sp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9D0C0A19-05CC-4EA9-B844-839313E36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137922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Controlled workload</a:t>
            </a:r>
          </a:p>
        </p:txBody>
      </p:sp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114B6D8A-4AB3-4887-9EEF-3FD74D1FE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13792200" cy="4787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One active consumer and one pending eligible frame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7E3BB7-E5E7-42B3-9897-AB9CDE42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62475"/>
            <a:ext cx="1379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BE1"/>
          </a:solidFill>
          <a:ln xmlns:a="http://schemas.openxmlformats.org/drawingml/2006/main" w="0">
            <a:noFill/>
          </a:ln>
        </p:spPr>
      </p:sp>
      <p:sp>
        <p:nvSpPr>
          <p:cNvPr id="9" name="text-6">
            <a:extLst xmlns:a="http://schemas.openxmlformats.org/drawingml/2006/main">
              <a:ext uri="{FF2B5EF4-FFF2-40B4-BE49-F238E27FC236}">
                <a16:creationId xmlns:a16="http://schemas.microsoft.com/office/drawing/2014/main" id="{9EF8459C-FBFD-4D98-A81C-B55EABFD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137922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Reproducible evidence</a:t>
            </a:r>
          </a:p>
        </p:txBody>
      </p:sp>
      <p:sp>
        <p:nvSpPr>
          <p:cNvPr id="10" name="text-7">
            <a:extLst xmlns:a="http://schemas.openxmlformats.org/drawingml/2006/main">
              <a:ext uri="{FF2B5EF4-FFF2-40B4-BE49-F238E27FC236}">
                <a16:creationId xmlns:a16="http://schemas.microsoft.com/office/drawing/2014/main" id="{04DCC4D7-F8E3-4A15-94D2-66E7C243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05400"/>
            <a:ext cx="13792200" cy="4787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Stable frame IDs, fixed thresholds, replayable reports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144012-3EED-44FB-8A64-FF481DDA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53125"/>
            <a:ext cx="13792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DBE1"/>
          </a:solidFill>
          <a:ln xmlns:a="http://schemas.openxmlformats.org/drawingml/2006/main" w="0">
            <a:noFill/>
          </a:ln>
        </p:spPr>
      </p:sp>
      <p:sp>
        <p:nvSpPr>
          <p:cNvPr id="12" name="text-8">
            <a:extLst xmlns:a="http://schemas.openxmlformats.org/drawingml/2006/main">
              <a:ext uri="{FF2B5EF4-FFF2-40B4-BE49-F238E27FC236}">
                <a16:creationId xmlns:a16="http://schemas.microsoft.com/office/drawing/2014/main" id="{21D11F98-0864-4E04-9EBE-43491B4E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0"/>
            <a:ext cx="13792200" cy="4322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667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667B"/>
                </a:solidFill>
                <a:latin typeface="Arial"/>
                <a:ea typeface="Arial"/>
                <a:cs typeface="Arial"/>
              </a:rPr>
              <a:t>Explicit uncertainty</a:t>
            </a:r>
          </a:p>
        </p:txBody>
      </p:sp>
      <p:sp>
        <p:nvSpPr>
          <p:cNvPr id="13" name="text-9">
            <a:extLst xmlns:a="http://schemas.openxmlformats.org/drawingml/2006/main">
              <a:ext uri="{FF2B5EF4-FFF2-40B4-BE49-F238E27FC236}">
                <a16:creationId xmlns:a16="http://schemas.microsoft.com/office/drawing/2014/main" id="{4DA57F67-554E-4F48-A394-537D3890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96050"/>
            <a:ext cx="13792200" cy="4787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02C43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02C43"/>
                </a:solidFill>
                <a:latin typeface="Arial"/>
                <a:ea typeface="Arial"/>
                <a:cs typeface="Arial"/>
              </a:rPr>
              <a:t>Provisional signals and an independent annotation evaluator</a:t>
            </a:r>
          </a:p>
        </p:txBody>
      </p:sp>
      <p:sp>
        <p:nvSpPr>
          <p:cNvPr id="14" name="text-10">
            <a:extLst xmlns:a="http://schemas.openxmlformats.org/drawingml/2006/main">
              <a:ext uri="{FF2B5EF4-FFF2-40B4-BE49-F238E27FC236}">
                <a16:creationId xmlns:a16="http://schemas.microsoft.com/office/drawing/2014/main" id="{AECDAC42-06C4-4E43-AA27-F08257C9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0"/>
            <a:ext cx="13792200" cy="397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80550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805500"/>
                </a:solidFill>
                <a:latin typeface="Arial"/>
                <a:ea typeface="Arial"/>
                <a:cs typeface="Arial"/>
              </a:rPr>
              <a:t>Still open: physical-iPhone demonstration, exported-log calibration, human review, and acceptance.</a:t>
            </a:r>
          </a:p>
        </p:txBody>
      </p:sp>
      <p:sp>
        <p:nvSpPr>
          <p:cNvPr id="15" name="text-11">
            <a:extLst xmlns:a="http://schemas.openxmlformats.org/drawingml/2006/main">
              <a:ext uri="{FF2B5EF4-FFF2-40B4-BE49-F238E27FC236}">
                <a16:creationId xmlns:a16="http://schemas.microsoft.com/office/drawing/2014/main" id="{484F3D60-9A69-43A3-A093-DC95B00B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97050" y="8096250"/>
            <a:ext cx="428625" cy="3044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064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76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3541049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2026-09-20T20:36:20.1400000Z</dcterms:created>
  <dcterms:modified xsi:type="dcterms:W3CDTF">2026-09-20T20:36:20.1400000Z</dcterms:modified>
</coreProperties>
</file>