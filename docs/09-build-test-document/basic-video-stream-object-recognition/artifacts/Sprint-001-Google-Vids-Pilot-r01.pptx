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3612cbb06c4aec" /><Relationship Type="http://schemas.openxmlformats.org/officeDocument/2006/relationships/extended-properties" Target="/docProps/app.xml" Id="R42bbcad3fc1549e3" /><Relationship Type="http://schemas.openxmlformats.org/officeDocument/2006/relationships/officeDocument" Target="/ppt/presentation.xml" Id="R8822bd3d46d14cc4" /></Relationships>
</file>

<file path=ppt/presentation.xml><?xml version="1.0" encoding="utf-8"?>
<p:presentation xmlns:p="http://schemas.openxmlformats.org/presentationml/2006/main">
  <p:sldMasterIdLst>
    <p:sldMasterId xmlns:r="http://schemas.openxmlformats.org/officeDocument/2006/relationships" id="2147483648" r:id="R4925f898adbf4416"/>
  </p:sldMasterIdLst>
  <p:notesMasterIdLst>
    <p:notesMasterId xmlns:r="http://schemas.openxmlformats.org/officeDocument/2006/relationships" r:id="Rc3ce109deb164178"/>
  </p:notesMasterIdLst>
  <p:sldIdLst>
    <p:sldId xmlns:r="http://schemas.openxmlformats.org/officeDocument/2006/relationships" id="256" r:id="R3eaa7527a7f142ee"/>
    <p:sldId xmlns:r="http://schemas.openxmlformats.org/officeDocument/2006/relationships" id="257" r:id="Rb97aa98f52c84699"/>
    <p:sldId xmlns:r="http://schemas.openxmlformats.org/officeDocument/2006/relationships" id="258" r:id="Rbeb1016c2d19422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0188145fea4c0c" /><Relationship Type="http://schemas.openxmlformats.org/officeDocument/2006/relationships/slideMaster" Target="/ppt/slideMasters/slideMaster1.xml" Id="R4925f898adbf4416" /><Relationship Type="http://schemas.openxmlformats.org/officeDocument/2006/relationships/notesMaster" Target="/ppt/notesMasters/notesMaster1.xml" Id="Rc3ce109deb164178" /><Relationship Type="http://schemas.openxmlformats.org/officeDocument/2006/relationships/presProps" Target="/ppt/presProps.xml" Id="R295814d2bc314c6d" /><Relationship Type="http://schemas.openxmlformats.org/officeDocument/2006/relationships/tableStyles" Target="/ppt/tableStyles.xml" Id="R65603d62927f4a59" /><Relationship Type="http://schemas.openxmlformats.org/officeDocument/2006/relationships/slide" Target="/ppt/slides/slide1.xml" Id="R3eaa7527a7f142ee" /><Relationship Type="http://schemas.openxmlformats.org/officeDocument/2006/relationships/slide" Target="/ppt/slides/slide2.xml" Id="Rb97aa98f52c84699" /><Relationship Type="http://schemas.openxmlformats.org/officeDocument/2006/relationships/slide" Target="/ppt/slides/slide3.xml" Id="Rbeb1016c2d1942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52a534005a43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d1528f5d34755" /><Relationship Type="http://schemas.openxmlformats.org/officeDocument/2006/relationships/notesMaster" Target="/ppt/notesMasters/notesMaster1.xml" Id="R88eb5f4259a34b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42988a01c4476a" /><Relationship Type="http://schemas.openxmlformats.org/officeDocument/2006/relationships/notesMaster" Target="/ppt/notesMasters/notesMaster1.xml" Id="R6fdfce95d20c48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ce6fb044484c87" /><Relationship Type="http://schemas.openxmlformats.org/officeDocument/2006/relationships/notesMaster" Target="/ppt/notesMasters/notesMaster1.xml" Id="Rd736d72c621a48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this short walkthrough of A I Shop Vision.</a:t>
            </a:r>
          </a:p>
          <a:p xmlns:a="http://schemas.openxmlformats.org/drawingml/2006/main">
            <a:r>
              <a:t/>
            </a:r>
          </a:p>
          <a:p xmlns:a="http://schemas.openxmlformats.org/drawingml/2006/main">
            <a:r>
              <a:t>The module analyzes video frames as they arrive and looks for a possible match to one known target. For Sprint One, that target is a banana reference image.</a:t>
            </a:r>
          </a:p>
          <a:p xmlns:a="http://schemas.openxmlformats.org/drawingml/2006/main">
            <a:r>
              <a:t/>
            </a:r>
          </a:p>
          <a:p xmlns:a="http://schemas.openxmlformats.org/drawingml/2006/main">
            <a:r>
              <a:t>This is a candidate signal. It does not yet locate objects with bounding boxes, confirm a product identity, or use the live camera.</a:t>
            </a:r>
          </a:p>
          <a:p xmlns:a="http://schemas.openxmlformats.org/drawingml/2006/main">
            <a:r>
              <a:t/>
            </a:r>
          </a:p>
          <a:p xmlns:a="http://schemas.openxmlformats.org/drawingml/2006/main">
            <a:r>
              <a:t>We will look at the overall architecture, then open up the pipeline that coordinates the work. You can pause the video and explore the matching code and tests in the companion presentation.</a:t>
            </a:r>
          </a:p>
          <a:p xmlns:a="http://schemas.openxmlformats.org/drawingml/2006/main">
            <a:r>
              <a:t/>
            </a:r>
          </a:p>
          <a:p xmlns:a="http://schemas.openxmlformats.org/drawingml/2006/main">
            <a:r>
              <a:t>The evidence in this walkthrough comes from the September twentieth Mac and Simulator checks. Running the feature on a physical iPhone, and Pablo's acceptance, are still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top to bottom.</a:t>
            </a:r>
          </a:p>
          <a:p xmlns:a="http://schemas.openxmlformats.org/drawingml/2006/main">
            <a:r>
              <a:t/>
            </a:r>
          </a:p>
          <a:p xmlns:a="http://schemas.openxmlformats.org/drawingml/2006/main">
            <a:r>
              <a:t>At the top, Mac package tests and the iPhone debug harness both call the same production pipeline. That lets us test the processing logic on the Mac without building a different implementation for the phone.</a:t>
            </a:r>
          </a:p>
          <a:p xmlns:a="http://schemas.openxmlformats.org/drawingml/2006/main">
            <a:r>
              <a:t/>
            </a:r>
          </a:p>
          <a:p xmlns:a="http://schemas.openxmlformats.org/drawingml/2006/main">
            <a:r>
              <a:t>The local inputs supply a reference image and an incremental stream of video frames. The scorer uses Apple Vision to compare each sampled frame with the reference, using both the whole frame and a central crop.</a:t>
            </a:r>
          </a:p>
          <a:p xmlns:a="http://schemas.openxmlformats.org/drawingml/2006/main">
            <a:r>
              <a:t/>
            </a:r>
          </a:p>
          <a:p xmlns:a="http://schemas.openxmlformats.org/drawingml/2006/main">
            <a:r>
              <a:t>The episode aggregator groups supporting samples into a possible-match episode and keeps the strongest evidence. The recorder writes an ordered event log and a session report. Retained images stay in separate files.</a:t>
            </a:r>
          </a:p>
          <a:p xmlns:a="http://schemas.openxmlformats.org/drawingml/2006/main">
            <a:r>
              <a:t/>
            </a:r>
          </a:p>
          <a:p xmlns:a="http://schemas.openxmlformats.org/drawingml/2006/main">
            <a:r>
              <a:t>The fixture evaluator sits outside the application. It checks the results against test annotations. The production package itself has no network, Firebase, or sign-in dependency.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coordinator: the candidate analysis pipeline.</a:t>
            </a:r>
          </a:p>
          <a:p xmlns:a="http://schemas.openxmlformats.org/drawingml/2006/main">
            <a:r>
              <a:t/>
            </a:r>
          </a:p>
          <a:p xmlns:a="http://schemas.openxmlformats.org/drawingml/2006/main">
            <a:r>
              <a:t>It connects the frame stream, target catalog, scorer, episode aggregator, and recorder. The individual components do the specialized work.</a:t>
            </a:r>
          </a:p>
          <a:p xmlns:a="http://schemas.openxmlformats.org/drawingml/2006/main">
            <a:r>
              <a:t/>
            </a:r>
          </a:p>
          <a:p xmlns:a="http://schemas.openxmlformats.org/drawingml/2006/main">
            <a:r>
              <a:t>Look at the first Swift line. It starts a detached worker so that image analysis runs away from the user interface thread. The following lines connect cancellation to both the stream and that worker.</a:t>
            </a:r>
          </a:p>
          <a:p xmlns:a="http://schemas.openxmlformats.org/drawingml/2006/main">
            <a:r>
              <a:t/>
            </a:r>
          </a:p>
          <a:p xmlns:a="http://schemas.openxmlformats.org/drawingml/2006/main">
            <a:r>
              <a:t>For each frame, the pipeline measures the evidence, updates the candidate episode, and records what happened. It also keeps the previous frame available, because the first sample of a newly opened episode may be the best image to retain.</a:t>
            </a:r>
          </a:p>
          <a:p xmlns:a="http://schemas.openxmlformats.org/drawingml/2006/main">
            <a:r>
              <a:t/>
            </a:r>
          </a:p>
          <a:p xmlns:a="http://schemas.openxmlformats.org/drawingml/2006/main">
            <a:r>
              <a:t>The tests check that results begin before the video ends, that a saved log can rebuild the live report, and that stopping or cancelling produces exactly one summary.</a:t>
            </a:r>
          </a:p>
          <a:p xmlns:a="http://schemas.openxmlformats.org/drawingml/2006/main">
            <a:r>
              <a:t/>
            </a:r>
          </a:p>
          <a:p xmlns:a="http://schemas.openxmlformats.org/drawingml/2006/main">
            <a:r>
              <a:t>Those checks establish important pipeline behavior. They do not replace the final demonstration on a physical iPhone.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4ad9eea6af4e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9d5ba1f11f45a4" /><Relationship Type="http://schemas.openxmlformats.org/officeDocument/2006/relationships/slideLayout" Target="/ppt/slideLayouts/slideLayout1.xml" Id="Rae34b53bcb6a40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34b53bcb6a40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ef3d085b40405e" /><Relationship Type="http://schemas.openxmlformats.org/officeDocument/2006/relationships/notesSlide" Target="/ppt/notesSlides/notesSlide1.xml" Id="R46daf07e4af747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f53cf5217c4e26" /><Relationship Type="http://schemas.openxmlformats.org/officeDocument/2006/relationships/hyperlink" Target="file:///Users/paboelustodo/Library/CloudStorage/GoogleDrive-pablo.elustondo@gmail.com/My Drive 2/1-GIT-PROJECTS/aishop/ios/AIShop/AIShopVision/Sources/AIShopVision/" TargetMode="External" Id="R1724433369d94f4c" /><Relationship Type="http://schemas.openxmlformats.org/officeDocument/2006/relationships/hyperlink" Target="file:///Users/paboelustodo/Library/CloudStorage/GoogleDrive-pablo.elustondo@gmail.com/My Drive 2/1-GIT-PROJECTS/aishop/ios/AIShop/AIShop/Diagnostics/" TargetMode="External" Id="R7fb83db10dc64330" /><Relationship Type="http://schemas.openxmlformats.org/officeDocument/2006/relationships/hyperlink" Target="file:///Users/paboelustodo/Library/CloudStorage/GoogleDrive-pablo.elustondo@gmail.com/My Drive 2/1-GIT-PROJECTS/aishop/ios/AIShop/AIShopVision/Sources/AIShopVisionEvaluation/" TargetMode="External" Id="R664604650c4c4c7b" /><Relationship Type="http://schemas.openxmlformats.org/officeDocument/2006/relationships/notesSlide" Target="/ppt/notesSlides/notesSlide2.xml" Id="R0b369985cb4b41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c01562df49421a" /><Relationship Type="http://schemas.openxmlformats.org/officeDocument/2006/relationships/hyperlink" Target="file:///Users/paboelustodo/Library/CloudStorage/GoogleDrive-pablo.elustondo@gmail.com/My Drive 2/1-GIT-PROJECTS/aishop/ios/AIShop/AIShopVision/Sources/AIShopVision/CandidateAnalysisPipeline/CandidateAnalysisPipeline.swift" TargetMode="External" Id="R02d5258784d04c57" /><Relationship Type="http://schemas.openxmlformats.org/officeDocument/2006/relationships/hyperlink" Target="file:///Users/paboelustodo/Library/CloudStorage/GoogleDrive-pablo.elustondo@gmail.com/My Drive 2/1-GIT-PROJECTS/aishop/ios/AIShop/AIShopVision/Tests/AIShopVisionTests/CandidateAnalysisPipelineTests.swift" TargetMode="External" Id="R6f0dfe8d934740c0" /><Relationship Type="http://schemas.openxmlformats.org/officeDocument/2006/relationships/hyperlink" Target="file:///Users/paboelustodo/Library/CloudStorage/GoogleDrive-pablo.elustondo@gmail.com/My Drive 2/1-GIT-PROJECTS/aishop/ios/AIShop/AIShopVision/Tests/AIShopVisionTests/PipelineIntegrationSuite.swift" TargetMode="External" Id="R20eea5a2aa894a6d" /><Relationship Type="http://schemas.openxmlformats.org/officeDocument/2006/relationships/notesSlide" Target="/ppt/notesSlides/notesSlide3.xml" Id="R624507a33edf4856" /></Relationships>
</file>

<file path=ppt/slides/slide1.xml><?xml version="1.0" encoding="utf-8"?>
<p:sld xmlns:p="http://schemas.openxmlformats.org/presentationml/2006/main">
  <p:cSld>
    <p:bg>
      <p:bgPr>
        <a:solidFill xmlns:a="http://schemas.openxmlformats.org/drawingml/2006/main">
          <a:srgbClr val="102C43"/>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4F094C4-B03F-4BFE-A6EA-C9C0D951069E}"/>
              </a:ext>
            </a:extLst>
          </p:cNvPr>
          <p:cNvSpPr>
            <a:spLocks xmlns:a="http://schemas.openxmlformats.org/drawingml/2006/main" noGrp="1"/>
          </p:cNvSpPr>
          <p:nvPr/>
        </p:nvSpPr>
        <p:spPr>
          <a:xfrm xmlns:a="http://schemas.openxmlformats.org/drawingml/2006/main">
            <a:off x="838200" y="1085850"/>
            <a:ext cx="135636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1">
                <a:solidFill>
                  <a:srgbClr val="A8D6DD"/>
                </a:solidFill>
                <a:latin typeface="Arial"/>
                <a:ea typeface="Arial"/>
                <a:cs typeface="Arial"/>
              </a:defRPr>
            </a:pPr>
            <a:r>
              <a:rPr sz="2400" b="1">
                <a:solidFill>
                  <a:srgbClr val="A8D6DD"/>
                </a:solidFill>
                <a:latin typeface="Arial"/>
                <a:ea typeface="Arial"/>
                <a:cs typeface="Arial"/>
              </a:rPr>
              <a:t>AIShopVision</a:t>
            </a:r>
          </a:p>
        </p:txBody>
      </p:sp>
      <p:sp>
        <p:nvSpPr>
          <p:cNvPr id="2" name="text-1">
            <a:extLst xmlns:a="http://schemas.openxmlformats.org/drawingml/2006/main">
              <a:ext uri="{FF2B5EF4-FFF2-40B4-BE49-F238E27FC236}">
                <a16:creationId xmlns:a16="http://schemas.microsoft.com/office/drawing/2014/main" id="{CE8598C9-CF76-4CB1-87A7-169DE139E576}"/>
              </a:ext>
            </a:extLst>
          </p:cNvPr>
          <p:cNvSpPr>
            <a:spLocks xmlns:a="http://schemas.openxmlformats.org/drawingml/2006/main" noGrp="1"/>
          </p:cNvSpPr>
          <p:nvPr/>
        </p:nvSpPr>
        <p:spPr>
          <a:xfrm xmlns:a="http://schemas.openxmlformats.org/drawingml/2006/main">
            <a:off x="838200" y="2400300"/>
            <a:ext cx="13563600" cy="17891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5850" b="1">
                <a:solidFill>
                  <a:srgbClr val="FFFFFF"/>
                </a:solidFill>
                <a:latin typeface="Arial"/>
                <a:ea typeface="Arial"/>
                <a:cs typeface="Arial"/>
              </a:defRPr>
            </a:pPr>
            <a:r>
              <a:rPr sz="5850" b="1">
                <a:solidFill>
                  <a:srgbClr val="FFFFFF"/>
                </a:solidFill>
                <a:latin typeface="Arial"/>
                <a:ea typeface="Arial"/>
                <a:cs typeface="Arial"/>
              </a:rPr>
              <a:t>Streaming video</a:t>
            </a:r>
          </a:p>
          <a:p xmlns:a="http://schemas.openxmlformats.org/drawingml/2006/main">
            <a:pPr algn="l">
              <a:buNone/>
              <a:defRPr sz="5850" b="1">
                <a:solidFill>
                  <a:srgbClr val="FFFFFF"/>
                </a:solidFill>
                <a:latin typeface="Arial"/>
                <a:ea typeface="Arial"/>
                <a:cs typeface="Arial"/>
              </a:defRPr>
            </a:pPr>
            <a:r>
              <a:rPr sz="5850" b="1">
                <a:solidFill>
                  <a:srgbClr val="FFFFFF"/>
                </a:solidFill>
                <a:latin typeface="Arial"/>
                <a:ea typeface="Arial"/>
                <a:cs typeface="Arial"/>
              </a:rPr>
              <a:t>candidate recognition</a:t>
            </a:r>
          </a:p>
        </p:txBody>
      </p:sp>
      <p:sp>
        <p:nvSpPr>
          <p:cNvPr id="3" name="text-2">
            <a:extLst xmlns:a="http://schemas.openxmlformats.org/drawingml/2006/main">
              <a:ext uri="{FF2B5EF4-FFF2-40B4-BE49-F238E27FC236}">
                <a16:creationId xmlns:a16="http://schemas.microsoft.com/office/drawing/2014/main" id="{B9F1B617-ED23-4FF2-A0C0-C17A9B3B77BB}"/>
              </a:ext>
            </a:extLst>
          </p:cNvPr>
          <p:cNvSpPr>
            <a:spLocks xmlns:a="http://schemas.openxmlformats.org/drawingml/2006/main" noGrp="1"/>
          </p:cNvSpPr>
          <p:nvPr/>
        </p:nvSpPr>
        <p:spPr>
          <a:xfrm xmlns:a="http://schemas.openxmlformats.org/drawingml/2006/main">
            <a:off x="876300" y="5105400"/>
            <a:ext cx="13487400" cy="1036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0">
                <a:solidFill>
                  <a:srgbClr val="D1E3E9"/>
                </a:solidFill>
                <a:latin typeface="Arial"/>
                <a:ea typeface="Arial"/>
                <a:cs typeface="Arial"/>
              </a:defRPr>
            </a:pPr>
            <a:r>
              <a:rPr sz="2850" b="0">
                <a:solidFill>
                  <a:srgbClr val="D1E3E9"/>
                </a:solidFill>
                <a:latin typeface="Arial"/>
                <a:ea typeface="Arial"/>
                <a:cs typeface="Arial"/>
              </a:rPr>
              <a:t>AIShop Sprint 001</a:t>
            </a:r>
          </a:p>
          <a:p xmlns:a="http://schemas.openxmlformats.org/drawingml/2006/main">
            <a:pPr algn="l">
              <a:buNone/>
              <a:defRPr sz="2850" b="0">
                <a:solidFill>
                  <a:srgbClr val="D1E3E9"/>
                </a:solidFill>
                <a:latin typeface="Arial"/>
                <a:ea typeface="Arial"/>
                <a:cs typeface="Arial"/>
              </a:defRPr>
            </a:pPr>
            <a:r>
              <a:rPr sz="2850" b="0">
                <a:solidFill>
                  <a:srgbClr val="D1E3E9"/>
                </a:solidFill>
                <a:latin typeface="Arial"/>
                <a:ea typeface="Arial"/>
                <a:cs typeface="Arial"/>
              </a:rPr>
              <a:t>Code and test walkthrough</a:t>
            </a:r>
          </a:p>
        </p:txBody>
      </p:sp>
      <p:sp>
        <p:nvSpPr>
          <p:cNvPr id="4" name="text-3">
            <a:extLst xmlns:a="http://schemas.openxmlformats.org/drawingml/2006/main">
              <a:ext uri="{FF2B5EF4-FFF2-40B4-BE49-F238E27FC236}">
                <a16:creationId xmlns:a16="http://schemas.microsoft.com/office/drawing/2014/main" id="{F398AB15-3AB2-4E9A-9461-799AABED0EC8}"/>
              </a:ext>
            </a:extLst>
          </p:cNvPr>
          <p:cNvSpPr>
            <a:spLocks xmlns:a="http://schemas.openxmlformats.org/drawingml/2006/main" noGrp="1"/>
          </p:cNvSpPr>
          <p:nvPr/>
        </p:nvSpPr>
        <p:spPr>
          <a:xfrm xmlns:a="http://schemas.openxmlformats.org/drawingml/2006/main">
            <a:off x="876300" y="7715250"/>
            <a:ext cx="13487400" cy="3741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A8C1CF"/>
                </a:solidFill>
                <a:latin typeface="Arial"/>
                <a:ea typeface="Arial"/>
                <a:cs typeface="Arial"/>
              </a:defRPr>
            </a:pPr>
            <a:r>
              <a:rPr sz="1800" b="0">
                <a:solidFill>
                  <a:srgbClr val="A8C1CF"/>
                </a:solidFill>
                <a:latin typeface="Arial"/>
                <a:ea typeface="Arial"/>
                <a:cs typeface="Arial"/>
              </a:rPr>
              <a:t>Implementation walkthrough / 20 September 2026</a:t>
            </a:r>
          </a:p>
        </p:txBody>
      </p:sp>
    </p:spTree>
    <p:extLst>
      <p:ext uri="{BB962C8B-B14F-4D97-AF65-F5344CB8AC3E}">
        <p14:creationId xmlns:p14="http://schemas.microsoft.com/office/powerpoint/2010/main" val="710772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0">
            <a:extLst xmlns:a="http://schemas.openxmlformats.org/drawingml/2006/main">
              <a:ext uri="{FF2B5EF4-FFF2-40B4-BE49-F238E27FC236}">
                <a16:creationId xmlns:a16="http://schemas.microsoft.com/office/drawing/2014/main" id="{29F24141-1A74-4620-BDDF-7929A8FC11B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750" b="1">
                <a:solidFill>
                  <a:srgbClr val="102C43"/>
                </a:solidFill>
                <a:latin typeface="Arial"/>
                <a:ea typeface="Arial"/>
                <a:cs typeface="Arial"/>
              </a:defRPr>
            </a:pPr>
            <a:r>
              <a:rPr sz="3750" b="1">
                <a:solidFill>
                  <a:srgbClr val="102C43"/>
                </a:solidFill>
                <a:latin typeface="Arial"/>
                <a:ea typeface="Arial"/>
                <a:cs typeface="Arial"/>
              </a:rPr>
              <a:t>High-level architecture</a:t>
            </a:r>
          </a:p>
        </p:txBody>
      </p:sp>
      <p:sp>
        <p:nvSpPr>
          <p:cNvPr id="2" name="text-1">
            <a:extLst xmlns:a="http://schemas.openxmlformats.org/drawingml/2006/main">
              <a:ext uri="{FF2B5EF4-FFF2-40B4-BE49-F238E27FC236}">
                <a16:creationId xmlns:a16="http://schemas.microsoft.com/office/drawing/2014/main" id="{47C60736-4C81-4C06-927E-B0228D2D511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506476"/>
                </a:solidFill>
                <a:latin typeface="Arial"/>
                <a:ea typeface="Arial"/>
                <a:cs typeface="Arial"/>
              </a:defRPr>
            </a:pPr>
            <a:r>
              <a:rPr sz="2100" b="0">
                <a:solidFill>
                  <a:srgbClr val="506476"/>
                </a:solidFill>
                <a:latin typeface="Arial"/>
                <a:ea typeface="Arial"/>
                <a:cs typeface="Arial"/>
              </a:rPr>
              <a:t>One pipeline, two execution hosts</a:t>
            </a:r>
          </a:p>
        </p:txBody>
      </p:sp>
      <p:sp>
        <p:nvSpPr>
          <p:cNvPr id="3" name="">
            <a:extLst xmlns:a="http://schemas.openxmlformats.org/drawingml/2006/main">
              <a:ext uri="{FF2B5EF4-FFF2-40B4-BE49-F238E27FC236}">
                <a16:creationId xmlns:a16="http://schemas.microsoft.com/office/drawing/2014/main" id="{8088EEF4-D598-4053-A38C-227313585BFD}"/>
              </a:ext>
            </a:extLst>
          </p:cNvPr>
          <p:cNvSpPr>
            <a:spLocks xmlns:a="http://schemas.openxmlformats.org/drawingml/2006/main" noGrp="1"/>
          </p:cNvSpPr>
          <p:nvPr/>
        </p:nvSpPr>
        <p:spPr>
          <a:xfrm xmlns:a="http://schemas.openxmlformats.org/drawingml/2006/main">
            <a:off x="1714500" y="18669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70ABC24-E531-4FDF-9B29-8909671F455A}"/>
              </a:ext>
            </a:extLst>
          </p:cNvPr>
          <p:cNvSpPr>
            <a:spLocks xmlns:a="http://schemas.openxmlformats.org/drawingml/2006/main" noGrp="1"/>
          </p:cNvSpPr>
          <p:nvPr/>
        </p:nvSpPr>
        <p:spPr>
          <a:xfrm xmlns:a="http://schemas.openxmlformats.org/drawingml/2006/main">
            <a:off x="1905000" y="19526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Mac package tests / iPhone Debug harness</a:t>
            </a:r>
          </a:p>
        </p:txBody>
      </p:sp>
      <p:sp>
        <p:nvSpPr>
          <p:cNvPr id="5" name="text-3">
            <a:extLst xmlns:a="http://schemas.openxmlformats.org/drawingml/2006/main">
              <a:ext uri="{FF2B5EF4-FFF2-40B4-BE49-F238E27FC236}">
                <a16:creationId xmlns:a16="http://schemas.microsoft.com/office/drawing/2014/main" id="{7833F7E4-D1FE-49E8-B904-3FFD777EB29F}"/>
              </a:ext>
            </a:extLst>
          </p:cNvPr>
          <p:cNvSpPr>
            <a:spLocks xmlns:a="http://schemas.openxmlformats.org/drawingml/2006/main" noGrp="1"/>
          </p:cNvSpPr>
          <p:nvPr/>
        </p:nvSpPr>
        <p:spPr>
          <a:xfrm xmlns:a="http://schemas.openxmlformats.org/drawingml/2006/main">
            <a:off x="1905000" y="23526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Both call CandidateAnalysisPipeline</a:t>
            </a:r>
          </a:p>
        </p:txBody>
      </p:sp>
      <p:sp>
        <p:nvSpPr>
          <p:cNvPr id="6" name="">
            <a:extLst xmlns:a="http://schemas.openxmlformats.org/drawingml/2006/main">
              <a:ext uri="{FF2B5EF4-FFF2-40B4-BE49-F238E27FC236}">
                <a16:creationId xmlns:a16="http://schemas.microsoft.com/office/drawing/2014/main" id="{32466115-06FC-4EA9-9E40-6F79BA791619}"/>
              </a:ext>
            </a:extLst>
          </p:cNvPr>
          <p:cNvSpPr>
            <a:spLocks xmlns:a="http://schemas.openxmlformats.org/drawingml/2006/main" noGrp="1"/>
          </p:cNvSpPr>
          <p:nvPr/>
        </p:nvSpPr>
        <p:spPr>
          <a:xfrm xmlns:a="http://schemas.openxmlformats.org/drawingml/2006/main">
            <a:off x="7524750" y="27717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C0A93A-9E5E-42C9-B528-67C699C76A79}"/>
              </a:ext>
            </a:extLst>
          </p:cNvPr>
          <p:cNvSpPr>
            <a:spLocks xmlns:a="http://schemas.openxmlformats.org/drawingml/2006/main" noGrp="1"/>
          </p:cNvSpPr>
          <p:nvPr/>
        </p:nvSpPr>
        <p:spPr>
          <a:xfrm xmlns:a="http://schemas.openxmlformats.org/drawingml/2006/main">
            <a:off x="1714500" y="30289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08A5E18F-1A8E-485B-AC73-0655C4972E87}"/>
              </a:ext>
            </a:extLst>
          </p:cNvPr>
          <p:cNvSpPr>
            <a:spLocks xmlns:a="http://schemas.openxmlformats.org/drawingml/2006/main" noGrp="1"/>
          </p:cNvSpPr>
          <p:nvPr/>
        </p:nvSpPr>
        <p:spPr>
          <a:xfrm xmlns:a="http://schemas.openxmlformats.org/drawingml/2006/main">
            <a:off x="1905000" y="31146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Local inputs</a:t>
            </a:r>
          </a:p>
        </p:txBody>
      </p:sp>
      <p:sp>
        <p:nvSpPr>
          <p:cNvPr id="9" name="text-5">
            <a:extLst xmlns:a="http://schemas.openxmlformats.org/drawingml/2006/main">
              <a:ext uri="{FF2B5EF4-FFF2-40B4-BE49-F238E27FC236}">
                <a16:creationId xmlns:a16="http://schemas.microsoft.com/office/drawing/2014/main" id="{13DF864F-7D25-4DAC-938A-094C24A80DE9}"/>
              </a:ext>
            </a:extLst>
          </p:cNvPr>
          <p:cNvSpPr>
            <a:spLocks xmlns:a="http://schemas.openxmlformats.org/drawingml/2006/main" noGrp="1"/>
          </p:cNvSpPr>
          <p:nvPr/>
        </p:nvSpPr>
        <p:spPr>
          <a:xfrm xmlns:a="http://schemas.openxmlformats.org/drawingml/2006/main">
            <a:off x="1905000" y="35147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LocalTargetCatalog + VideoFixtureFrameStream</a:t>
            </a:r>
          </a:p>
        </p:txBody>
      </p:sp>
      <p:sp>
        <p:nvSpPr>
          <p:cNvPr id="10" name="">
            <a:extLst xmlns:a="http://schemas.openxmlformats.org/drawingml/2006/main">
              <a:ext uri="{FF2B5EF4-FFF2-40B4-BE49-F238E27FC236}">
                <a16:creationId xmlns:a16="http://schemas.microsoft.com/office/drawing/2014/main" id="{6931EDCE-CE20-44D0-BBE6-F9E8B10DE315}"/>
              </a:ext>
            </a:extLst>
          </p:cNvPr>
          <p:cNvSpPr>
            <a:spLocks xmlns:a="http://schemas.openxmlformats.org/drawingml/2006/main" noGrp="1"/>
          </p:cNvSpPr>
          <p:nvPr/>
        </p:nvSpPr>
        <p:spPr>
          <a:xfrm xmlns:a="http://schemas.openxmlformats.org/drawingml/2006/main">
            <a:off x="7524750" y="39338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E3C94E-2A18-48A1-A236-5852F601B926}"/>
              </a:ext>
            </a:extLst>
          </p:cNvPr>
          <p:cNvSpPr>
            <a:spLocks xmlns:a="http://schemas.openxmlformats.org/drawingml/2006/main" noGrp="1"/>
          </p:cNvSpPr>
          <p:nvPr/>
        </p:nvSpPr>
        <p:spPr>
          <a:xfrm xmlns:a="http://schemas.openxmlformats.org/drawingml/2006/main">
            <a:off x="1714500" y="41910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BC485D0-2A7D-4144-8F24-21C3945FC269}"/>
              </a:ext>
            </a:extLst>
          </p:cNvPr>
          <p:cNvSpPr>
            <a:spLocks xmlns:a="http://schemas.openxmlformats.org/drawingml/2006/main" noGrp="1"/>
          </p:cNvSpPr>
          <p:nvPr/>
        </p:nvSpPr>
        <p:spPr>
          <a:xfrm xmlns:a="http://schemas.openxmlformats.org/drawingml/2006/main">
            <a:off x="1905000" y="4276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CandidateScorer</a:t>
            </a:r>
          </a:p>
        </p:txBody>
      </p:sp>
      <p:sp>
        <p:nvSpPr>
          <p:cNvPr id="13" name="text-7">
            <a:extLst xmlns:a="http://schemas.openxmlformats.org/drawingml/2006/main">
              <a:ext uri="{FF2B5EF4-FFF2-40B4-BE49-F238E27FC236}">
                <a16:creationId xmlns:a16="http://schemas.microsoft.com/office/drawing/2014/main" id="{A2001CD9-439E-4B1D-9764-9050A4DD0C07}"/>
              </a:ext>
            </a:extLst>
          </p:cNvPr>
          <p:cNvSpPr>
            <a:spLocks xmlns:a="http://schemas.openxmlformats.org/drawingml/2006/main" noGrp="1"/>
          </p:cNvSpPr>
          <p:nvPr/>
        </p:nvSpPr>
        <p:spPr>
          <a:xfrm xmlns:a="http://schemas.openxmlformats.org/drawingml/2006/main">
            <a:off x="1905000" y="4676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VisionFeatureAdapter compares whole frame and central crop</a:t>
            </a:r>
          </a:p>
        </p:txBody>
      </p:sp>
      <p:sp>
        <p:nvSpPr>
          <p:cNvPr id="14" name="">
            <a:extLst xmlns:a="http://schemas.openxmlformats.org/drawingml/2006/main">
              <a:ext uri="{FF2B5EF4-FFF2-40B4-BE49-F238E27FC236}">
                <a16:creationId xmlns:a16="http://schemas.microsoft.com/office/drawing/2014/main" id="{247FB6FA-7334-4C58-9E26-6DC5C9EA63D2}"/>
              </a:ext>
            </a:extLst>
          </p:cNvPr>
          <p:cNvSpPr>
            <a:spLocks xmlns:a="http://schemas.openxmlformats.org/drawingml/2006/main" noGrp="1"/>
          </p:cNvSpPr>
          <p:nvPr/>
        </p:nvSpPr>
        <p:spPr>
          <a:xfrm xmlns:a="http://schemas.openxmlformats.org/drawingml/2006/main">
            <a:off x="7524750" y="509587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C2EEB1B-BBE1-4969-800C-0E99D16B1F03}"/>
              </a:ext>
            </a:extLst>
          </p:cNvPr>
          <p:cNvSpPr>
            <a:spLocks xmlns:a="http://schemas.openxmlformats.org/drawingml/2006/main" noGrp="1"/>
          </p:cNvSpPr>
          <p:nvPr/>
        </p:nvSpPr>
        <p:spPr>
          <a:xfrm xmlns:a="http://schemas.openxmlformats.org/drawingml/2006/main">
            <a:off x="1714500" y="535305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852C9334-6373-4E6E-8537-2CABE6F7311C}"/>
              </a:ext>
            </a:extLst>
          </p:cNvPr>
          <p:cNvSpPr>
            <a:spLocks xmlns:a="http://schemas.openxmlformats.org/drawingml/2006/main" noGrp="1"/>
          </p:cNvSpPr>
          <p:nvPr/>
        </p:nvSpPr>
        <p:spPr>
          <a:xfrm xmlns:a="http://schemas.openxmlformats.org/drawingml/2006/main">
            <a:off x="1905000" y="543877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CandidateEpisodeAggregator</a:t>
            </a:r>
          </a:p>
        </p:txBody>
      </p:sp>
      <p:sp>
        <p:nvSpPr>
          <p:cNvPr id="17" name="text-9">
            <a:extLst xmlns:a="http://schemas.openxmlformats.org/drawingml/2006/main">
              <a:ext uri="{FF2B5EF4-FFF2-40B4-BE49-F238E27FC236}">
                <a16:creationId xmlns:a16="http://schemas.microsoft.com/office/drawing/2014/main" id="{75147048-0A30-4395-9FEF-1EA6FAC3FD29}"/>
              </a:ext>
            </a:extLst>
          </p:cNvPr>
          <p:cNvSpPr>
            <a:spLocks xmlns:a="http://schemas.openxmlformats.org/drawingml/2006/main" noGrp="1"/>
          </p:cNvSpPr>
          <p:nvPr/>
        </p:nvSpPr>
        <p:spPr>
          <a:xfrm xmlns:a="http://schemas.openxmlformats.org/drawingml/2006/main">
            <a:off x="1905000" y="583882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Groups supporting samples and chooses the best evidence</a:t>
            </a:r>
          </a:p>
        </p:txBody>
      </p:sp>
      <p:sp>
        <p:nvSpPr>
          <p:cNvPr id="18" name="">
            <a:extLst xmlns:a="http://schemas.openxmlformats.org/drawingml/2006/main">
              <a:ext uri="{FF2B5EF4-FFF2-40B4-BE49-F238E27FC236}">
                <a16:creationId xmlns:a16="http://schemas.microsoft.com/office/drawing/2014/main" id="{075D4ABE-C003-4DF4-9B42-52A85C905CCA}"/>
              </a:ext>
            </a:extLst>
          </p:cNvPr>
          <p:cNvSpPr>
            <a:spLocks xmlns:a="http://schemas.openxmlformats.org/drawingml/2006/main" noGrp="1"/>
          </p:cNvSpPr>
          <p:nvPr/>
        </p:nvSpPr>
        <p:spPr>
          <a:xfrm xmlns:a="http://schemas.openxmlformats.org/drawingml/2006/main">
            <a:off x="7524750" y="6257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F8703D-77CF-4CE0-B613-5AB14A28B9BB}"/>
              </a:ext>
            </a:extLst>
          </p:cNvPr>
          <p:cNvSpPr>
            <a:spLocks xmlns:a="http://schemas.openxmlformats.org/drawingml/2006/main" noGrp="1"/>
          </p:cNvSpPr>
          <p:nvPr/>
        </p:nvSpPr>
        <p:spPr>
          <a:xfrm xmlns:a="http://schemas.openxmlformats.org/drawingml/2006/main">
            <a:off x="1714500" y="6515100"/>
            <a:ext cx="11811000" cy="87630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20" name="text-10">
            <a:extLst xmlns:a="http://schemas.openxmlformats.org/drawingml/2006/main">
              <a:ext uri="{FF2B5EF4-FFF2-40B4-BE49-F238E27FC236}">
                <a16:creationId xmlns:a16="http://schemas.microsoft.com/office/drawing/2014/main" id="{94D60718-350E-4E64-8686-DC3DE3559440}"/>
              </a:ext>
            </a:extLst>
          </p:cNvPr>
          <p:cNvSpPr>
            <a:spLocks xmlns:a="http://schemas.openxmlformats.org/drawingml/2006/main" noGrp="1"/>
          </p:cNvSpPr>
          <p:nvPr/>
        </p:nvSpPr>
        <p:spPr>
          <a:xfrm xmlns:a="http://schemas.openxmlformats.org/drawingml/2006/main">
            <a:off x="1905000" y="66008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02C43"/>
                </a:solidFill>
                <a:latin typeface="Arial"/>
                <a:ea typeface="Arial"/>
                <a:cs typeface="Arial"/>
              </a:defRPr>
            </a:pPr>
            <a:r>
              <a:rPr sz="2400" b="1">
                <a:solidFill>
                  <a:srgbClr val="102C43"/>
                </a:solidFill>
                <a:latin typeface="Arial"/>
                <a:ea typeface="Arial"/>
                <a:cs typeface="Arial"/>
              </a:rPr>
              <a:t>Report and evidence</a:t>
            </a:r>
          </a:p>
        </p:txBody>
      </p:sp>
      <p:sp>
        <p:nvSpPr>
          <p:cNvPr id="21" name="text-11">
            <a:extLst xmlns:a="http://schemas.openxmlformats.org/drawingml/2006/main">
              <a:ext uri="{FF2B5EF4-FFF2-40B4-BE49-F238E27FC236}">
                <a16:creationId xmlns:a16="http://schemas.microsoft.com/office/drawing/2014/main" id="{3BC106F2-BB1A-4123-ABBE-2D70332F4BCA}"/>
              </a:ext>
            </a:extLst>
          </p:cNvPr>
          <p:cNvSpPr>
            <a:spLocks xmlns:a="http://schemas.openxmlformats.org/drawingml/2006/main" noGrp="1"/>
          </p:cNvSpPr>
          <p:nvPr/>
        </p:nvSpPr>
        <p:spPr>
          <a:xfrm xmlns:a="http://schemas.openxmlformats.org/drawingml/2006/main">
            <a:off x="1905000" y="70008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75" b="0">
                <a:solidFill>
                  <a:srgbClr val="506476"/>
                </a:solidFill>
                <a:latin typeface="Arial"/>
                <a:ea typeface="Arial"/>
                <a:cs typeface="Arial"/>
              </a:defRPr>
            </a:pPr>
            <a:r>
              <a:rPr sz="1875" b="0">
                <a:solidFill>
                  <a:srgbClr val="506476"/>
                </a:solidFill>
                <a:latin typeface="Arial"/>
                <a:ea typeface="Arial"/>
                <a:cs typeface="Arial"/>
              </a:rPr>
              <a:t>SessionReportBuilder + JSONL SessionLog + separate local images</a:t>
            </a:r>
          </a:p>
        </p:txBody>
      </p:sp>
      <p:sp>
        <p:nvSpPr>
          <p:cNvPr id="22" name="text-12">
            <a:extLst xmlns:a="http://schemas.openxmlformats.org/drawingml/2006/main">
              <a:ext uri="{FF2B5EF4-FFF2-40B4-BE49-F238E27FC236}">
                <a16:creationId xmlns:a16="http://schemas.microsoft.com/office/drawing/2014/main" id="{F723C001-FC97-475C-B9A5-698561B4F2B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506476"/>
                </a:solidFill>
                <a:latin typeface="Arial"/>
                <a:ea typeface="Arial"/>
                <a:cs typeface="Arial"/>
              </a:defRPr>
            </a:pPr>
            <a:r>
              <a:rPr sz="1950" b="0">
                <a:solidFill>
                  <a:srgbClr val="506476"/>
                </a:solidFill>
                <a:latin typeface="Arial"/>
                <a:ea typeface="Arial"/>
                <a:cs typeface="Arial"/>
              </a:rPr>
              <a:t>FixtureEvaluator is a separate test/development target. The app does not link annotations.</a:t>
            </a:r>
          </a:p>
        </p:txBody>
      </p:sp>
      <p:sp>
        <p:nvSpPr>
          <p:cNvPr id="23" name="text-13">
            <a:extLst xmlns:a="http://schemas.openxmlformats.org/drawingml/2006/main">
              <a:ext uri="{FF2B5EF4-FFF2-40B4-BE49-F238E27FC236}">
                <a16:creationId xmlns:a16="http://schemas.microsoft.com/office/drawing/2014/main" id="{91EE4BBF-8C5C-4EAF-9998-BED459CCA54B}"/>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4" name="text-14">
            <a:extLst xmlns:a="http://schemas.openxmlformats.org/drawingml/2006/main">
              <a:ext uri="{FF2B5EF4-FFF2-40B4-BE49-F238E27FC236}">
                <a16:creationId xmlns:a16="http://schemas.microsoft.com/office/drawing/2014/main" id="{BAFA99B9-5773-4285-A6D1-CF1D6725B69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24433369d94f4c"/>
              </a:rPr>
              <a:t>Pipeline components</a:t>
            </a:r>
          </a:p>
        </p:txBody>
      </p:sp>
      <p:sp>
        <p:nvSpPr>
          <p:cNvPr id="25" name="text-15">
            <a:extLst xmlns:a="http://schemas.openxmlformats.org/drawingml/2006/main">
              <a:ext uri="{FF2B5EF4-FFF2-40B4-BE49-F238E27FC236}">
                <a16:creationId xmlns:a16="http://schemas.microsoft.com/office/drawing/2014/main" id="{64FA9341-9794-4187-8DE7-8CA34290F95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fb83db10dc64330"/>
              </a:rPr>
              <a:t>Debug harness</a:t>
            </a:r>
          </a:p>
        </p:txBody>
      </p:sp>
      <p:sp>
        <p:nvSpPr>
          <p:cNvPr id="26" name="text-16">
            <a:extLst xmlns:a="http://schemas.openxmlformats.org/drawingml/2006/main">
              <a:ext uri="{FF2B5EF4-FFF2-40B4-BE49-F238E27FC236}">
                <a16:creationId xmlns:a16="http://schemas.microsoft.com/office/drawing/2014/main" id="{589AF3A3-CAA6-4DB4-8392-5802698C61B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64604650c4c4c7b"/>
              </a:rPr>
              <a:t>Evaluator</a:t>
            </a:r>
          </a:p>
        </p:txBody>
      </p:sp>
      <p:sp>
        <p:nvSpPr>
          <p:cNvPr id="27" name="text-17">
            <a:extLst xmlns:a="http://schemas.openxmlformats.org/drawingml/2006/main">
              <a:ext uri="{FF2B5EF4-FFF2-40B4-BE49-F238E27FC236}">
                <a16:creationId xmlns:a16="http://schemas.microsoft.com/office/drawing/2014/main" id="{24B418D2-842B-4359-B86B-F5DBE766D038}"/>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06476"/>
                </a:solidFill>
                <a:latin typeface="Arial"/>
                <a:ea typeface="Arial"/>
                <a:cs typeface="Arial"/>
              </a:defRPr>
            </a:pPr>
            <a:r>
              <a:rPr sz="1350" b="0">
                <a:solidFill>
                  <a:srgbClr val="506476"/>
                </a:solidFill>
                <a:latin typeface="Arial"/>
                <a:ea typeface="Arial"/>
                <a:cs typeface="Arial"/>
              </a:rPr>
              <a:t>05</a:t>
            </a:r>
          </a:p>
        </p:txBody>
      </p:sp>
    </p:spTree>
    <p:extLst>
      <p:ext uri="{BB962C8B-B14F-4D97-AF65-F5344CB8AC3E}">
        <p14:creationId xmlns:p14="http://schemas.microsoft.com/office/powerpoint/2010/main" val="1693240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FD8AE70-9DB5-4E30-9004-93C9C0D2D9C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750" b="1">
                <a:solidFill>
                  <a:srgbClr val="102C43"/>
                </a:solidFill>
                <a:latin typeface="Arial"/>
                <a:ea typeface="Arial"/>
                <a:cs typeface="Arial"/>
              </a:defRPr>
            </a:pPr>
            <a:r>
              <a:rPr sz="3750" b="1">
                <a:solidFill>
                  <a:srgbClr val="102C43"/>
                </a:solidFill>
                <a:latin typeface="Arial"/>
                <a:ea typeface="Arial"/>
                <a:cs typeface="Arial"/>
              </a:rPr>
              <a:t>Pipeline orchestration</a:t>
            </a:r>
          </a:p>
        </p:txBody>
      </p:sp>
      <p:sp>
        <p:nvSpPr>
          <p:cNvPr id="2" name="text-1">
            <a:extLst xmlns:a="http://schemas.openxmlformats.org/drawingml/2006/main">
              <a:ext uri="{FF2B5EF4-FFF2-40B4-BE49-F238E27FC236}">
                <a16:creationId xmlns:a16="http://schemas.microsoft.com/office/drawing/2014/main" id="{22CDB3A6-B85F-4794-ABDB-90DC00EEA21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506476"/>
                </a:solidFill>
                <a:latin typeface="Arial"/>
                <a:ea typeface="Arial"/>
                <a:cs typeface="Arial"/>
              </a:defRPr>
            </a:pPr>
            <a:r>
              <a:rPr sz="2100" b="0">
                <a:solidFill>
                  <a:srgbClr val="506476"/>
                </a:solidFill>
                <a:latin typeface="Arial"/>
                <a:ea typeface="Arial"/>
                <a:cs typeface="Arial"/>
              </a:rPr>
              <a:t>CandidateAnalysisPipeline</a:t>
            </a:r>
          </a:p>
        </p:txBody>
      </p:sp>
      <p:sp>
        <p:nvSpPr>
          <p:cNvPr id="3" name="text-2">
            <a:extLst xmlns:a="http://schemas.openxmlformats.org/drawingml/2006/main">
              <a:ext uri="{FF2B5EF4-FFF2-40B4-BE49-F238E27FC236}">
                <a16:creationId xmlns:a16="http://schemas.microsoft.com/office/drawing/2014/main" id="{E0D33874-62BE-4017-97A4-DCE598AAA9F8}"/>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5B6D6AF-A837-4608-99C9-B55DA744A18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Start a worker away from the UI thread</a:t>
            </a:r>
          </a:p>
        </p:txBody>
      </p:sp>
      <p:sp>
        <p:nvSpPr>
          <p:cNvPr id="5" name="text-4">
            <a:extLst xmlns:a="http://schemas.openxmlformats.org/drawingml/2006/main">
              <a:ext uri="{FF2B5EF4-FFF2-40B4-BE49-F238E27FC236}">
                <a16:creationId xmlns:a16="http://schemas.microsoft.com/office/drawing/2014/main" id="{BFE1FF4F-479E-4EF1-98C8-8442E9FA7DA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AB7AB25E-CEDD-4232-8870-6AA3E0E70CD8}"/>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Compose stream, scorer, aggregator, and recorder</a:t>
            </a:r>
          </a:p>
        </p:txBody>
      </p:sp>
      <p:sp>
        <p:nvSpPr>
          <p:cNvPr id="7" name="text-6">
            <a:extLst xmlns:a="http://schemas.openxmlformats.org/drawingml/2006/main">
              <a:ext uri="{FF2B5EF4-FFF2-40B4-BE49-F238E27FC236}">
                <a16:creationId xmlns:a16="http://schemas.microsoft.com/office/drawing/2014/main" id="{5CBC3058-EECA-4A97-8941-CD857D8C7D5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6182EDCE-F928-481D-B1E8-C7AF4A64B1E8}"/>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400" b="0">
                <a:solidFill>
                  <a:srgbClr val="102C43"/>
                </a:solidFill>
                <a:latin typeface="Arial"/>
                <a:ea typeface="Arial"/>
                <a:cs typeface="Arial"/>
              </a:defRPr>
            </a:pPr>
            <a:r>
              <a:rPr sz="2400" b="0">
                <a:solidFill>
                  <a:srgbClr val="102C43"/>
                </a:solidFill>
                <a:latin typeface="Arial"/>
                <a:ea typeface="Arial"/>
                <a:cs typeface="Arial"/>
              </a:rPr>
              <a:t>Finalize once after stop, cancellation, error, or EOF</a:t>
            </a:r>
          </a:p>
        </p:txBody>
      </p:sp>
      <p:sp>
        <p:nvSpPr>
          <p:cNvPr id="9" name="text-8">
            <a:extLst xmlns:a="http://schemas.openxmlformats.org/drawingml/2006/main">
              <a:ext uri="{FF2B5EF4-FFF2-40B4-BE49-F238E27FC236}">
                <a16:creationId xmlns:a16="http://schemas.microsoft.com/office/drawing/2014/main" id="{03F05FFD-D3AD-4330-B075-55EB4943FE61}"/>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9A9244C8-1E5C-4728-ACC0-16236222BCA9}"/>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4E08B114-3EDF-43A5-95C6-5792D7D56F98}"/>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worker = Task.detached { try await self.execute(onUpdate: onUpdate) }</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return try await withTaskCancellationHandler { try await worker.value } onCancel: {</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self.stream.cancel()</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worker.cancel()</a:t>
            </a:r>
          </a:p>
          <a:p xmlns:a="http://schemas.openxmlformats.org/drawingml/2006/main">
            <a:pPr algn="l">
              <a:buNone/>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A6B1B812-54AE-4B9C-B82B-1CFB00F30347}"/>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7667B"/>
                </a:solidFill>
                <a:latin typeface="Arial"/>
                <a:ea typeface="Arial"/>
                <a:cs typeface="Arial"/>
              </a:defRPr>
            </a:pPr>
            <a:r>
              <a:rPr sz="2175" b="1">
                <a:solidFill>
                  <a:srgbClr val="17667B"/>
                </a:solidFill>
                <a:latin typeface="Arial"/>
                <a:ea typeface="Arial"/>
                <a:cs typeface="Arial"/>
              </a:rPr>
              <a:t>CandidateAnalysisPipelineTests + PipelineIntegrationSuite</a:t>
            </a:r>
          </a:p>
        </p:txBody>
      </p:sp>
      <p:sp>
        <p:nvSpPr>
          <p:cNvPr id="13" name="text-11">
            <a:extLst xmlns:a="http://schemas.openxmlformats.org/drawingml/2006/main">
              <a:ext uri="{FF2B5EF4-FFF2-40B4-BE49-F238E27FC236}">
                <a16:creationId xmlns:a16="http://schemas.microsoft.com/office/drawing/2014/main" id="{D94863FB-CD8F-4D5E-9721-BF689EEB3B92}"/>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025" b="0">
                <a:solidFill>
                  <a:srgbClr val="506476"/>
                </a:solidFill>
                <a:latin typeface="Arial"/>
                <a:ea typeface="Arial"/>
                <a:cs typeface="Arial"/>
              </a:defRPr>
            </a:pPr>
            <a:r>
              <a:rPr sz="2025" b="0">
                <a:solidFill>
                  <a:srgbClr val="506476"/>
                </a:solidFill>
                <a:latin typeface="Arial"/>
                <a:ea typeface="Arial"/>
                <a:cs typeface="Arial"/>
              </a:rPr>
              <a:t>Real frames arrive before EOF. Reports rebuild from logs. Cancellation finalizes once.</a:t>
            </a:r>
          </a:p>
        </p:txBody>
      </p:sp>
      <p:sp>
        <p:nvSpPr>
          <p:cNvPr id="14" name="text-12">
            <a:extLst xmlns:a="http://schemas.openxmlformats.org/drawingml/2006/main">
              <a:ext uri="{FF2B5EF4-FFF2-40B4-BE49-F238E27FC236}">
                <a16:creationId xmlns:a16="http://schemas.microsoft.com/office/drawing/2014/main" id="{32B4A530-29BB-4455-B725-F5C9CECCFC6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5662F47-632B-4B33-9C47-DAA5E45F5B4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2d5258784d04c57"/>
              </a:rPr>
              <a:t>Pipeline source</a:t>
            </a:r>
          </a:p>
        </p:txBody>
      </p:sp>
      <p:sp>
        <p:nvSpPr>
          <p:cNvPr id="16" name="text-14">
            <a:extLst xmlns:a="http://schemas.openxmlformats.org/drawingml/2006/main">
              <a:ext uri="{FF2B5EF4-FFF2-40B4-BE49-F238E27FC236}">
                <a16:creationId xmlns:a16="http://schemas.microsoft.com/office/drawing/2014/main" id="{8693F791-A680-4E24-B6E6-DCE1EB7B4EF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f0dfe8d934740c0"/>
              </a:rPr>
              <a:t>Pipeline tests</a:t>
            </a:r>
          </a:p>
        </p:txBody>
      </p:sp>
      <p:sp>
        <p:nvSpPr>
          <p:cNvPr id="17" name="text-15">
            <a:extLst xmlns:a="http://schemas.openxmlformats.org/drawingml/2006/main">
              <a:ext uri="{FF2B5EF4-FFF2-40B4-BE49-F238E27FC236}">
                <a16:creationId xmlns:a16="http://schemas.microsoft.com/office/drawing/2014/main" id="{380A7649-4738-4E7A-8BC7-EF3D6A40E70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0eea5a2aa894a6d"/>
              </a:rPr>
              <a:t>Integration suite</a:t>
            </a:r>
          </a:p>
        </p:txBody>
      </p:sp>
      <p:sp>
        <p:nvSpPr>
          <p:cNvPr id="18" name="text-16">
            <a:extLst xmlns:a="http://schemas.openxmlformats.org/drawingml/2006/main">
              <a:ext uri="{FF2B5EF4-FFF2-40B4-BE49-F238E27FC236}">
                <a16:creationId xmlns:a16="http://schemas.microsoft.com/office/drawing/2014/main" id="{742FADD4-C27D-49CD-91D8-3A94353E6501}"/>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06476"/>
                </a:solidFill>
                <a:latin typeface="Arial"/>
                <a:ea typeface="Arial"/>
                <a:cs typeface="Arial"/>
              </a:defRPr>
            </a:pPr>
            <a:r>
              <a:rPr sz="1350" b="0">
                <a:solidFill>
                  <a:srgbClr val="506476"/>
                </a:solidFill>
                <a:latin typeface="Arial"/>
                <a:ea typeface="Arial"/>
                <a:cs typeface="Arial"/>
              </a:rPr>
              <a:t>06</a:t>
            </a:r>
          </a:p>
        </p:txBody>
      </p:sp>
    </p:spTree>
    <p:extLst>
      <p:ext uri="{BB962C8B-B14F-4D97-AF65-F5344CB8AC3E}">
        <p14:creationId xmlns:p14="http://schemas.microsoft.com/office/powerpoint/2010/main" val="488957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2026-09-20T21:30:22.6050000Z</dcterms:created>
  <dcterms:modified xsi:type="dcterms:W3CDTF">2026-09-20T21:30:22.6050000Z</dcterms:modified>
</coreProperties>
</file>