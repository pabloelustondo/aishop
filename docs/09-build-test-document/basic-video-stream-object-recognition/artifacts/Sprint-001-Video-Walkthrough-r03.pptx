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d7d06b76534bce" /><Relationship Type="http://schemas.openxmlformats.org/officeDocument/2006/relationships/extended-properties" Target="/docProps/app.xml" Id="R1b85d325dc034561" /><Relationship Type="http://schemas.openxmlformats.org/officeDocument/2006/relationships/officeDocument" Target="/ppt/presentation.xml" Id="R3865d2b575bd45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564f0ed4104cf8"/>
  </p:sldMasterIdLst>
  <p:notesMasterIdLst>
    <p:notesMasterId xmlns:r="http://schemas.openxmlformats.org/officeDocument/2006/relationships" r:id="R3df87b3717da4c75"/>
  </p:notesMasterIdLst>
  <p:sldIdLst>
    <p:sldId xmlns:r="http://schemas.openxmlformats.org/officeDocument/2006/relationships" id="256" r:id="R82e94e3d82454e84"/>
    <p:sldId xmlns:r="http://schemas.openxmlformats.org/officeDocument/2006/relationships" id="257" r:id="R3929b443751a4195"/>
    <p:sldId xmlns:r="http://schemas.openxmlformats.org/officeDocument/2006/relationships" id="258" r:id="R57d311c6d5a14da6"/>
    <p:sldId xmlns:r="http://schemas.openxmlformats.org/officeDocument/2006/relationships" id="259" r:id="R6959b30ece8a461e"/>
    <p:sldId xmlns:r="http://schemas.openxmlformats.org/officeDocument/2006/relationships" id="260" r:id="R306560ac55874e0a"/>
    <p:sldId xmlns:r="http://schemas.openxmlformats.org/officeDocument/2006/relationships" id="261" r:id="R769a6ce0baea4d2c"/>
    <p:sldId xmlns:r="http://schemas.openxmlformats.org/officeDocument/2006/relationships" id="262" r:id="R9443248cad084377"/>
    <p:sldId xmlns:r="http://schemas.openxmlformats.org/officeDocument/2006/relationships" id="263" r:id="R6b274a72e8e84949"/>
    <p:sldId xmlns:r="http://schemas.openxmlformats.org/officeDocument/2006/relationships" id="264" r:id="R3e85b6af199d4a4e"/>
    <p:sldId xmlns:r="http://schemas.openxmlformats.org/officeDocument/2006/relationships" id="265" r:id="R65520f8166404464"/>
    <p:sldId xmlns:r="http://schemas.openxmlformats.org/officeDocument/2006/relationships" id="266" r:id="R75d73e928f47492c"/>
    <p:sldId xmlns:r="http://schemas.openxmlformats.org/officeDocument/2006/relationships" id="267" r:id="R3d27db38152e43f2"/>
    <p:sldId xmlns:r="http://schemas.openxmlformats.org/officeDocument/2006/relationships" id="268" r:id="R2c5c91355d734ac5"/>
    <p:sldId xmlns:r="http://schemas.openxmlformats.org/officeDocument/2006/relationships" id="269" r:id="R95aa29117496460b"/>
    <p:sldId xmlns:r="http://schemas.openxmlformats.org/officeDocument/2006/relationships" id="270" r:id="R180bc980cd784194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f86b693163412e" /><Relationship Type="http://schemas.openxmlformats.org/officeDocument/2006/relationships/slideMaster" Target="/ppt/slideMasters/slideMaster1.xml" Id="R0c564f0ed4104cf8" /><Relationship Type="http://schemas.openxmlformats.org/officeDocument/2006/relationships/notesMaster" Target="/ppt/notesMasters/notesMaster1.xml" Id="R3df87b3717da4c75" /><Relationship Type="http://schemas.openxmlformats.org/officeDocument/2006/relationships/presProps" Target="/ppt/presProps.xml" Id="R3311051859064aff" /><Relationship Type="http://schemas.openxmlformats.org/officeDocument/2006/relationships/tableStyles" Target="/ppt/tableStyles.xml" Id="R09e59bc7e9cf43b8" /><Relationship Type="http://schemas.openxmlformats.org/officeDocument/2006/relationships/slide" Target="/ppt/slides/slide1.xml" Id="R82e94e3d82454e84" /><Relationship Type="http://schemas.openxmlformats.org/officeDocument/2006/relationships/slide" Target="/ppt/slides/slide2.xml" Id="R3929b443751a4195" /><Relationship Type="http://schemas.openxmlformats.org/officeDocument/2006/relationships/slide" Target="/ppt/slides/slide3.xml" Id="R57d311c6d5a14da6" /><Relationship Type="http://schemas.openxmlformats.org/officeDocument/2006/relationships/slide" Target="/ppt/slides/slide4.xml" Id="R6959b30ece8a461e" /><Relationship Type="http://schemas.openxmlformats.org/officeDocument/2006/relationships/slide" Target="/ppt/slides/slide5.xml" Id="R306560ac55874e0a" /><Relationship Type="http://schemas.openxmlformats.org/officeDocument/2006/relationships/slide" Target="/ppt/slides/slide6.xml" Id="R769a6ce0baea4d2c" /><Relationship Type="http://schemas.openxmlformats.org/officeDocument/2006/relationships/slide" Target="/ppt/slides/slide7.xml" Id="R9443248cad084377" /><Relationship Type="http://schemas.openxmlformats.org/officeDocument/2006/relationships/slide" Target="/ppt/slides/slide8.xml" Id="R6b274a72e8e84949" /><Relationship Type="http://schemas.openxmlformats.org/officeDocument/2006/relationships/slide" Target="/ppt/slides/slide9.xml" Id="R3e85b6af199d4a4e" /><Relationship Type="http://schemas.openxmlformats.org/officeDocument/2006/relationships/slide" Target="/ppt/slides/slide10.xml" Id="R65520f8166404464" /><Relationship Type="http://schemas.openxmlformats.org/officeDocument/2006/relationships/slide" Target="/ppt/slides/slide11.xml" Id="R75d73e928f47492c" /><Relationship Type="http://schemas.openxmlformats.org/officeDocument/2006/relationships/slide" Target="/ppt/slides/slide12.xml" Id="R3d27db38152e43f2" /><Relationship Type="http://schemas.openxmlformats.org/officeDocument/2006/relationships/slide" Target="/ppt/slides/slide13.xml" Id="R2c5c91355d734ac5" /><Relationship Type="http://schemas.openxmlformats.org/officeDocument/2006/relationships/slide" Target="/ppt/slides/slide14.xml" Id="R95aa29117496460b" /><Relationship Type="http://schemas.openxmlformats.org/officeDocument/2006/relationships/slide" Target="/ppt/slides/slide15.xml" Id="R180bc980cd7841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16c1b2870f4b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916b72d3f240f6" /><Relationship Type="http://schemas.openxmlformats.org/officeDocument/2006/relationships/notesMaster" Target="/ppt/notesMasters/notesMaster1.xml" Id="R33404c9eda5a43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ecae19663341a6" /><Relationship Type="http://schemas.openxmlformats.org/officeDocument/2006/relationships/notesMaster" Target="/ppt/notesMasters/notesMaster1.xml" Id="R4195e39c888549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6d8395422a4abb" /><Relationship Type="http://schemas.openxmlformats.org/officeDocument/2006/relationships/notesMaster" Target="/ppt/notesMasters/notesMaster1.xml" Id="R8c6c3674cfd141c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3b04848fdf49ff" /><Relationship Type="http://schemas.openxmlformats.org/officeDocument/2006/relationships/notesMaster" Target="/ppt/notesMasters/notesMaster1.xml" Id="Rc60e239420fc4d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f67318798b4658" /><Relationship Type="http://schemas.openxmlformats.org/officeDocument/2006/relationships/notesMaster" Target="/ppt/notesMasters/notesMaster1.xml" Id="R74e6526aa4f144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bdf39da29cc4dad" /><Relationship Type="http://schemas.openxmlformats.org/officeDocument/2006/relationships/notesMaster" Target="/ppt/notesMasters/notesMaster1.xml" Id="R421a0110d5e0487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eaac00e8ba4209" /><Relationship Type="http://schemas.openxmlformats.org/officeDocument/2006/relationships/notesMaster" Target="/ppt/notesMasters/notesMaster1.xml" Id="Rd2fd3273dafe45a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2dd0e43954d491e" /><Relationship Type="http://schemas.openxmlformats.org/officeDocument/2006/relationships/notesMaster" Target="/ppt/notesMasters/notesMaster1.xml" Id="Rbbca95e7c5274c1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a1a30f752ec437a" /><Relationship Type="http://schemas.openxmlformats.org/officeDocument/2006/relationships/notesMaster" Target="/ppt/notesMasters/notesMaster1.xml" Id="Rf676ac01dfac424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b1cfd8746cf46dc" /><Relationship Type="http://schemas.openxmlformats.org/officeDocument/2006/relationships/notesMaster" Target="/ppt/notesMasters/notesMaster1.xml" Id="Rad86ca51a69a4a8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45f938f49f94e26" /><Relationship Type="http://schemas.openxmlformats.org/officeDocument/2006/relationships/notesMaster" Target="/ppt/notesMasters/notesMaster1.xml" Id="R0cc38b9c3a5f4c0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401d261ff3441fc" /><Relationship Type="http://schemas.openxmlformats.org/officeDocument/2006/relationships/notesMaster" Target="/ppt/notesMasters/notesMaster1.xml" Id="R3416cebffdd84b8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4e669b9c70d4b6d" /><Relationship Type="http://schemas.openxmlformats.org/officeDocument/2006/relationships/notesMaster" Target="/ppt/notesMasters/notesMaster1.xml" Id="R1607a44ed5e74b7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7f21cb187c440e1" /><Relationship Type="http://schemas.openxmlformats.org/officeDocument/2006/relationships/notesMaster" Target="/ppt/notesMasters/notesMaster1.xml" Id="R8ee9d2c8ce854ef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b64f53a6db6430a" /><Relationship Type="http://schemas.openxmlformats.org/officeDocument/2006/relationships/notesMaster" Target="/ppt/notesMasters/notesMaster1.xml" Id="R327a6cd8a5234e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Streaming video candidate recognition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Speaker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module is AIShopVision, shared by native Mac tests and the iPhone app.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current feature searches prerecorded streaming frames for one known target.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banana reference is a pipeline probe, not a general produce classifier.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 will connect the intent to the code and the evidence for each component.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General object detection, bounding boxes, live camera capture, and SKU confirmation remain outside Sprint 001.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source snapshot is the uncommitted implementation on codex/ios-vision-sprint-001-target-signal, based on approval commit 90a5f8b.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Mac checks and app builds passed on 2026-09-20.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signed Debug build exists, but we have not installed or demonstrated it on the physical iPhone.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Pablo's phone review and acceptance remain pending.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Code and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[Approved scope](../../../../ios/AIShop/01-docs/07-planning/sprints/sprint-001-candidate-target-signal/01-sprint-plan.md)</a:t>
            </a:r>
          </a:p>
          <a:p xmlns:a="http://schemas.openxmlformats.org/drawingml/2006/main">
            <a:r>
              <a:t>- [Package](../../../../ios/AIShop/AIShopVision/Package.swift)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Sprint intent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Speaker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shopper's goal is to know when to pause and inspect a likely target.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 process the stream incrementally instead of waiting for the video to finish.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user-facing phrase is exactly “possible match”.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signal is provisional evidence, not confirmation of an object or exact SKU.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session report retains a best whole frame for every episode.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There is no second pass over the source video when the session stops.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target must occupy a substantial and recognizable part of the frame.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Candidate-region detection for dense shelves belongs to later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narrow scope lets us test the streaming mechanics with real Vision first.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Code and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[Sprint plan](../../../../ios/AIShop/01-docs/07-planning/sprints/sprint-001-candidate-target-signal/01-sprint-plan.md)</a:t>
            </a:r>
          </a:p>
          <a:p xmlns:a="http://schemas.openxmlformats.org/drawingml/2006/main">
            <a:r>
              <a:t>- [Acceptance](../../../../ios/AIShop/01-docs/07-planning/sprints/sprint-001-candidate-target-signal/01-sprint-plan-acceptance.md)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Sprint use cases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Speaker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harness is a Debug-only route for exercising the approved Sprint 001 behavior.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tester selects one of two fixed, bundled, trimmed videos.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starts timestamp-paced analysis using the shared pipeline.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Scores update during playback. Two eligible supporting samples can open a candidate episode.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Stop closes an open episode and produces a report from retained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Natural end-of-stream follows the same finalization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report includes the best whole frame, times, score, frame counts, and measured inference latency.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tester exports the JSONL session log locally.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Mac evaluator compares both phone fixtures against their Mac counterparts.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is a diagnostic workflow, not the final shopping experience.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Code and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[Harness](../../../../ios/AIShop/AIShop/Diagnostics/VisionDiagnosticHarness.swift)</a:t>
            </a:r>
          </a:p>
          <a:p xmlns:a="http://schemas.openxmlformats.org/drawingml/2006/main">
            <a:r>
              <a:t>- [Harness model](../../../../ios/AIShop/AIShop/Diagnostics/VisionHarnessModel.swift)</a:t>
            </a:r>
          </a:p>
          <a:p xmlns:a="http://schemas.openxmlformats.org/drawingml/2006/main">
            <a:r>
              <a:t>- [Phone verification](../../../../ios/AIShop/01-docs/04-benchmarks-test-strategy-and-success-criteria/sprint-001-iphone-verification.md)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How to test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Speaker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package gate is ./e2e/ios/run.zsh, invoked from the repository root or by absolute path from any directory.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It runs swift test without selecting a subset and checks the transcript for every required test.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missing, skipped, or failed required test makes the gate fail.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Build products and logs live in a fresh temporary directory outside the Google Drive checkout.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That avoids code-signing failures caused by metadata on synced build products.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most recent Mac gate verified 29 tests with no skips.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AIShop-VisionDiagnostics Xcode scheme ran 25 app tests in Simulator.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Those tests cover existing app behavior, the diagnostic startup path, and Debug fixture identity.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package gate does not exercise the app screen.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Simulator checks do not prove real Vision compatibility on a phone.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 physical acceptance Pablo must see a live possible match before playback ends and the report afterward.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Both exported phone logs must pass the fixed-profile evaluation and calibration rules.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iPhone demonstration has not happened.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Code and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[Mac runner](../../../../e2e/ios/run.zsh)</a:t>
            </a:r>
          </a:p>
          <a:p xmlns:a="http://schemas.openxmlformats.org/drawingml/2006/main">
            <a:r>
              <a:t>- [Required checks](../../../../e2e/ios/required-tests.txt)</a:t>
            </a:r>
          </a:p>
          <a:p xmlns:a="http://schemas.openxmlformats.org/drawingml/2006/main">
            <a:r>
              <a:t>- [App scheme](../../../../ios/AIShop/AIShop.xcodeproj/xcshareddata/xcschemes/AIShop-VisionDiagnostics.xcscheme)</a:t>
            </a:r>
          </a:p>
          <a:p xmlns:a="http://schemas.openxmlformats.org/drawingml/2006/main">
            <a:r>
              <a:t>- [Acceptance](../../../../ios/AIShop/01-docs/07-planning/sprints/sprint-001-candidate-target-signal/01-sprint-plan-acceptance.md)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High-level architecture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Speaker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the architecture from top to bottom.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Mac package tests and the iPhone harness are peer consumers of the same production package.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CandidateAnalysisPipeline coordinates the work rather than implementing the individual algorithms.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catalog lazily prepares the one target's reference representation.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fixture stream decodes local video incrementally and preserves source presentation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scorer uses Apple Vision through a small adapter.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aggregator turns supporting samples into bounded episodes.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recorder serializes stream and inference events into a consistent log and live report.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Best-frame image files remain separate from JSONL.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FixtureEvaluator belongs to the development/test target, outside the application dependency graph.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There is no network, Firebase, or authentication dependency inside AIShopVision.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Code and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[Pipeline](../../../../ios/AIShop/AIShopVision/Sources/AIShopVision/CandidateAnalysisPipeline/CandidateAnalysisPipeline.swift)</a:t>
            </a:r>
          </a:p>
          <a:p xmlns:a="http://schemas.openxmlformats.org/drawingml/2006/main">
            <a:r>
              <a:t>- [Package boundaries](../../../../ios/AIShop/AIShopVision/Package.swift)</a:t>
            </a:r>
          </a:p>
          <a:p xmlns:a="http://schemas.openxmlformats.org/drawingml/2006/main">
            <a:r>
              <a:t>- [Recorder](../../../../ios/AIShop/AIShopVision/Sources/AIShopVision/CandidateAnalysisPipeline/PipelineRecorder.swift)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Pipeline orchestration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Speaker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orchestrator injects a catalog and any source conforming to FrameStream.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run method starts a detached worker so Vision work does not execute on the UI thread.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excerpt shows the worker and cancellation bridge.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Inside execute, the pipeline loads the target, receives frames, measures scores, updates episodes, and records events.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second run on the same pipeline instance fails.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pipeline retains the immediately previous frame so an opening episode can choose its first supporting sample as the best frame.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It stores selected whole frames separately from the log.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first integration update sees only one received frame, proving output begins before EOF.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tests compare the live report with a report reconstructed from the JSONL file.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Stop and task cancellation each produce exactly one session summary.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Catalog or inference failure remains an error and cannot produce accepted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Code and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[Production orchestrator](../../../../ios/AIShop/AIShopVision/Sources/AIShopVision/CandidateAnalysisPipeline/CandidateAnalysisPipeline.swift)</a:t>
            </a:r>
          </a:p>
          <a:p xmlns:a="http://schemas.openxmlformats.org/drawingml/2006/main">
            <a:r>
              <a:t>- [Orchestrator tests](../../../../ios/AIShop/AIShopVision/Tests/AIShopVisionTests/CandidateAnalysisPipelineTests.swift)</a:t>
            </a:r>
          </a:p>
          <a:p xmlns:a="http://schemas.openxmlformats.org/drawingml/2006/main">
            <a:r>
              <a:t>- [Integration suite](../../../../ios/AIShop/AIShopVision/Tests/AIShopVisionTests/PipelineIntegrationSuite.swift)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Incremental frame delivery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Speaker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AVAssetReader supplies frames incrementally. We never load the entire decoded video into an array.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stream keeps source presentation timestamps rather than inventing wall-clock video times.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Frame IDs combine the fixture identity with the original rational timestamp.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Each delivered frame also has an eligible sampleIndex.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gap in those eligible indices tells the aggregator that a supporting streak was interrupted.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Ordinary raw frames that fall between the 2 fps slots are skipped without interrupting the streak.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Deterministic mode awaits each consumer before reading more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Timestamp-paced mode uses a newest-one buffer, so old pending work gives way to a more recent eligible frame.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Only one consumer performs analysis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Counters distinguish received, skipped, dropped, and delivered frames.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Tests check both videos, stable ordering, first output before EOF, slow-consumer drops, cancellation, and unreadable inputs.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code excerpt combines selected lines from the stream implementation.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Code and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[Stream](../../../../ios/AIShop/AIShopVision/Sources/AIShopVision/VideoFixtureFrameStream/VideoFixtureFrameStream.swift)</a:t>
            </a:r>
          </a:p>
          <a:p xmlns:a="http://schemas.openxmlformats.org/drawingml/2006/main">
            <a:r>
              <a:t>- [Stream contract](../../../../ios/AIShop/AIShopVision/Sources/AIShopVision/VideoFixtureFrameStream/FrameStream.swift)</a:t>
            </a:r>
          </a:p>
          <a:p xmlns:a="http://schemas.openxmlformats.org/drawingml/2006/main">
            <a:r>
              <a:t>- [Stream tests](../../../../ios/AIShop/AIShopVision/Tests/AIShopVisionTests/VideoFixtureFrameStreamTests.swift)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Reference image and Vision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Speaker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local catalog exposes product ID banana-probe and the reference image identity.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It reads the reference bytes, records their SHA-256, and preserves the encoded orientation.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lock protects lazy creation and reuse of the target feature print.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adapter wraps Apple's VNGenerateImageFeaturePrintRequest.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request uses revision 2 and scaleFill on every host.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feature print is a visual representation used to calculate a distance.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adapter does not interpret that distance as accuracy or probability.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real inference tests show that the EXIF-aware image matches explicit orientation handling.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Loading the target twice generates its representation only once.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Malformed images and missing files fail explicitly.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earlier Simulator real-Vision probe failed. Native macOS became the verified integration host.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Code and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[Catalog](../../../../ios/AIShop/AIShopVision/Sources/AIShopVision/LocalTargetCatalog/LocalTargetCatalog.swift)</a:t>
            </a:r>
          </a:p>
          <a:p xmlns:a="http://schemas.openxmlformats.org/drawingml/2006/main">
            <a:r>
              <a:t>- [Adapter](../../../../ios/AIShop/AIShopVision/Sources/AIShopVision/VisionFeatureAdapter.swift)</a:t>
            </a:r>
          </a:p>
          <a:p xmlns:a="http://schemas.openxmlformats.org/drawingml/2006/main">
            <a:r>
              <a:t>- [Catalog tests](../../../../ios/AIShop/AIShopVision/Tests/AIShopVisionTests/LocalTargetCatalogTests.swift)</a:t>
            </a:r>
          </a:p>
          <a:p xmlns:a="http://schemas.openxmlformats.org/drawingml/2006/main">
            <a:r>
              <a:t>- [Adapter tests](../../../../ios/AIShop/AIShopVision/Tests/AIShopVisionTests/VisionFeatureAdapterTests.swift)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Candidate scoring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Speaker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scorer compares two variants of each upright video frame against the same complete reference.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central crop uses 60 percent of the frame width and 60 percent of its height.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is a fixed crop, not a detected object region.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Both raw distances remain in the score record.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Lower distance means greater feature similarity.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Similarity is 1 divided by 1 plus distance, for display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separate one-time calibration command evaluates threshold intervals against fixed fixture annotations.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selected maximum-distance threshold is 0.4293864220380783.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profile also freezes 2 fps, two opening samples, a 1.5-second gap, revision 2, and scaleFill.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Regression tests use the frozen constant. The gate never invokes the calibration script.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same constant must apply on the phone.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Passing these two fixtures establishes a controlled pipeline result, not general object-recognition accuracy.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excerpt shows selected score-value lines, with the support function formatted across lines.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Code and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[Scorer](../../../../ios/AIShop/AIShopVision/Sources/AIShopVision/CandidateScorer/CandidateScorer.swift)</a:t>
            </a:r>
          </a:p>
          <a:p xmlns:a="http://schemas.openxmlformats.org/drawingml/2006/main">
            <a:r>
              <a:t>- [Frozen profile](../../../../ios/AIShop/AIShopVision/Sources/AIShopVision/CandidateScorer/ScoringProfile.swift)</a:t>
            </a:r>
          </a:p>
          <a:p xmlns:a="http://schemas.openxmlformats.org/drawingml/2006/main">
            <a:r>
              <a:t>- [Scorer tests](../../../../ios/AIShop/AIShopVision/Tests/AIShopVisionTests/CandidateScorerTests.swift)</a:t>
            </a:r>
          </a:p>
          <a:p xmlns:a="http://schemas.openxmlformats.org/drawingml/2006/main">
            <a:r>
              <a:t>- [Calibration tool](../../../../e2e/ios/calibrate-scorer.rb)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Candidate episodes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Speaker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 eligible supporting frame alone does not open an episode.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Two consecutive eligible supporting samples open one candidate episode.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dropped eligible slot or an unsupported sampled frame resets the opening streak.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Non-sampled raw video frames do not reset that streak.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 open episode can survive a short interruption in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close boundary is exactly 1.5 seconds after the last supporting timestamp.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Stop, cancellation, error, and EOF also close an active episode.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aggregator uses media time, which makes deterministic replays reproducible.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lower distance replaces the best evidence. Equal distances keep the earlier frame.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Adjacent supporting samples stay in one episode instead of producing duplicate report rows.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later sighting after closure may create another episode.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CandidateProductSignal exposes provisional evidence, including the consecutive support count.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excerpt reformats the missed-slot reset condition for readability.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Code and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[Aggregator and signal types](../../../../ios/AIShop/AIShopVision/Sources/AIShopVision/CandidateEpisodeAggregator/CandidateEpisodeAggregator.swift)</a:t>
            </a:r>
          </a:p>
          <a:p xmlns:a="http://schemas.openxmlformats.org/drawingml/2006/main">
            <a:r>
              <a:t>- [Aggregator tests](../../../../ios/AIShop/AIShopVision/Tests/AIShopVisionTests/CandidateEpisodeAggregatorTests.swift)</a:t>
            </a:r>
          </a:p>
          <a:p xmlns:a="http://schemas.openxmlformats.org/drawingml/2006/main">
            <a:r>
              <a:t>- [Real stop/EOF integration](../../../../ios/AIShop/AIShopVision/Tests/AIShopVisionTests/PipelineIntegrationSuite.swift)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Session evidence and report replay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Speaker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production pipeline owns the structured log, so all hosts produce the same form of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Every event has a session ID and ordered sequence number.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Frame-related events include a stable frame ID and media timestamp.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Score events retain both distances, the selected variant, support decision, and processing latency.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PipelineRecorder serializes concurrent stream and inference events before updating the live report.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SessionReportBuilder consumes those events and constructs episode rows and metrics.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Replay checks the completed summary against the rebuilt report and validates counter conservation.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SessionLog rejects malformed or truncated JSONL, missing scores, failed sessions, and invalid sequence IDs.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same serialized event line goes to the local file and Apple's system log.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log contains no image bytes.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RetainedImageStore holds best whole-frame JPEGs separately. Missing images stay explicit.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reconstruction claim covers report data; viewing images still requires the separate local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excerpt selects three report replay statements rather than showing the complete function.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Code and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[Log writer and reader](../../../../ios/AIShop/AIShopVision/Sources/AIShopVision/SessionLog/SessionLog.swift)</a:t>
            </a:r>
          </a:p>
          <a:p xmlns:a="http://schemas.openxmlformats.org/drawingml/2006/main">
            <a:r>
              <a:t>- [Recorder](../../../../ios/AIShop/AIShopVision/Sources/AIShopVision/CandidateAnalysisPipeline/PipelineRecorder.swift)</a:t>
            </a:r>
          </a:p>
          <a:p xmlns:a="http://schemas.openxmlformats.org/drawingml/2006/main">
            <a:r>
              <a:t>- [Report replay](../../../../ios/AIShop/AIShopVision/Sources/AIShopVision/SessionReportBuilder/SessionReportBuilder.swift)</a:t>
            </a:r>
          </a:p>
          <a:p xmlns:a="http://schemas.openxmlformats.org/drawingml/2006/main">
            <a:r>
              <a:t>- [Retained images](../../../../ios/AIShop/AIShopVision/Sources/AIShopVision/SessionReportBuilder/RetainedImageStore.swift)</a:t>
            </a:r>
          </a:p>
          <a:p xmlns:a="http://schemas.openxmlformats.org/drawingml/2006/main">
            <a:r>
              <a:t>- [Log tests](../../../../ios/AIShop/AIShopVision/Tests/AIShopVisionTests/SessionLogTests.swift)</a:t>
            </a:r>
          </a:p>
          <a:p xmlns:a="http://schemas.openxmlformats.org/drawingml/2006/main">
            <a:r>
              <a:t>- [Report tests](../../../../ios/AIShop/AIShopVision/Tests/AIShopVisionTests/SessionReportBuilderTests.swift)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Measured fixture outcome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Speaker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latest native Mac gate processed the production pipeline with real Vision.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positive fixture supplied 826 decoded frames and 56 analyzed samples.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negative fixture supplied 390 decoded frames and 26 analyzed samples.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Neither deterministic run dropped an eligible sample.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expected positive interval begins at 18.3 seconds.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first candidate episode opens at 24.5 seconds, a delay of 6.2 seconds.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best frame occurs at 25.0 seconds with distance 0.3489357531070709.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Its winning comparison variant is the central crop.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retained evidence is still the entire upright frame.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 continues through 26.0 seconds. The 1.5-second gap closes the episode at 27.5 seconds.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episode opens in any annotated false-positive zone.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Repeated runs match frame IDs, raw distances, and episode data; timing measurements are separate.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These results come from two fixed fixtures. The distractor case is still missing.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integration test writes session logs, report JSON, evaluation JSON, and separate images.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Code and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[Production fixture assertions](../../../../ios/AIShop/AIShopVision/Tests/AIShopVisionTests/PipelineIntegrationSuite.swift)</a:t>
            </a:r>
          </a:p>
          <a:p xmlns:a="http://schemas.openxmlformats.org/drawingml/2006/main">
            <a:r>
              <a:t>- [Fixed annotations](../../../../ios/AIShop/AIShopVision/Tests/AIShopVisionTests/Resources/annotations.json)</a:t>
            </a:r>
          </a:p>
          <a:p xmlns:a="http://schemas.openxmlformats.org/drawingml/2006/main">
            <a:r>
              <a:t>- [Evaluation implementation](../../../../ios/AIShop/AIShopVision/Sources/AIShopVisionEvaluation/FixtureEvaluator.swift)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Mac and iPhone calibration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Speaker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evaluator is a separate development/test target, not part of the phone UI.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annotation has expected, false-positive, and do-not-care zones.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Small gaps between declared zones remain unannotated.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Evaluation judges the time an episode opens, not every frame as if it were an episode.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Calibration compares exported logs for both fixtures on both hosts.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It requires the frozen profile, fixture and reference identities, matching frame IDs, and matching timestamps.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It records the largest raw-distance difference across both comparison variants.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Every sampled frame must remain on the same side of the frozen threshold for agreement.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disagreement with unchanged episode outcomes is a Major finding that blocks Sprint 002 threshold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missed expected phone signal or an episode in a false-positive zone fails acceptance.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comparison test relabels Mac logs as synthetic phone inputs solely to test the comparator.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Those synthetic inputs are never physical-device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actual phone calibration result exists yet.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excerpt reformats the frame-alignment guard.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Code and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[Evaluator](../../../../ios/AIShop/AIShopVision/Sources/AIShopVisionEvaluation/FixtureEvaluator.swift)</a:t>
            </a:r>
          </a:p>
          <a:p xmlns:a="http://schemas.openxmlformats.org/drawingml/2006/main">
            <a:r>
              <a:t>- [Offline comparison CLI](../../../../ios/AIShop/AIShopVision/Sources/AIShopVisionEvaluate/main.swift)</a:t>
            </a:r>
          </a:p>
          <a:p xmlns:a="http://schemas.openxmlformats.org/drawingml/2006/main">
            <a:r>
              <a:t>- [Evaluator tests](../../../../ios/AIShop/AIShopVision/Tests/AIShopVisionTests/FixtureEvaluatorTests.swift)</a:t>
            </a:r>
          </a:p>
          <a:p xmlns:a="http://schemas.openxmlformats.org/drawingml/2006/main">
            <a:r>
              <a:t>- [Calibration integration tests](../../../../ios/AIShop/AIShopVision/Tests/AIShopVisionTests/PipelineIntegrationSuite.swift)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Debug harness and application startup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Speaker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ApplicationBootstrap decides whether the Debug diagnostic path applies.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normalSession closure contains both Firebase configuration and AuthSession construction.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diagnostic path returns nil before either normal service initializes.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normal route retains the existing authentication 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VisionHarnessModel verifies resource hashes, starts timestamp-paced replay, and receives progress on the main actor.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view shows possible match, raw-score metrics, a final report, and retained whole-frame images.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It exports the JSONL log through the local share 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copy script bundles only banana.JPG and the two trimmed videos for Debug.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Release compilation removes diagnostic route strings and harness code.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separate bundle audit checks that Release contains no fixture media or annotations.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25 app tests passed in Simulator on 2026-09-20.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Debug, Release, and signed Debug builds succeeded.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 did not install or run this build on a physical iPhone.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excerpt reformats the bootstrap guard.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Code and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[Bootstrap](../../../../ios/AIShop/AIShop/App/ApplicationBootstrap.swift)</a:t>
            </a:r>
          </a:p>
          <a:p xmlns:a="http://schemas.openxmlformats.org/drawingml/2006/main">
            <a:r>
              <a:t>- [App entry](../../../../ios/AIShop/AIShop/App/AIShopApp.swift)</a:t>
            </a:r>
          </a:p>
          <a:p xmlns:a="http://schemas.openxmlformats.org/drawingml/2006/main">
            <a:r>
              <a:t>- [Harness model](../../../../ios/AIShop/AIShop/Diagnostics/VisionHarnessModel.swift)</a:t>
            </a:r>
          </a:p>
          <a:p xmlns:a="http://schemas.openxmlformats.org/drawingml/2006/main">
            <a:r>
              <a:t>- [Startup tests](../../../../ios/AIShop/AIShopTests/ApplicationBootstrapTests.swift)</a:t>
            </a:r>
          </a:p>
          <a:p xmlns:a="http://schemas.openxmlformats.org/drawingml/2006/main">
            <a:r>
              <a:t>- [Harness tests](../../../../ios/AIShop/AIShopTests/VisionHarnessModelTests.swift)</a:t>
            </a:r>
          </a:p>
          <a:p xmlns:a="http://schemas.openxmlformats.org/drawingml/2006/main">
            <a:r>
              <a:t>- [Bundle audit](../../../../e2e/ios/verify-app-bundle.rb)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What the implementation establishes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Speaker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strongest result is a testable streaming pipeline with real Vision and a controlled source edge.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same package can run without the application shell, which made native integration testing possible.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Bounded replay avoids accumulating stale inference work when the consumer slows down.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frozen scoring profile separates calibration from regression tests.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Episode logic prevents every supporting frame from becoming a duplicate report item.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Structured evidence lets us reproduce report data and inspect failures without a second video pass.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Debug startup path preserves an offline way to exercise the production package.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tests also preserve boundaries: scores are not probabilities, and synthetic calibration inputs are not phone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 have not established general recognition accuracy, dense-shelf performance, latency on iPhone, thermals, battery use, or camera behavior.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missing distractor fixture is a measurement gap.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physical demonstration and real exported-log comparison remain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source changes remain uncommitted proposals. The sprint is not accepted.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At this review point, check the feature scope and the explanation before extending the design.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Code and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[Integration checks](../../../../ios/AIShop/AIShopVision/Tests/AIShopVisionTests/PipelineIntegrationSuite.swift)</a:t>
            </a:r>
          </a:p>
          <a:p xmlns:a="http://schemas.openxmlformats.org/drawingml/2006/main">
            <a:r>
              <a:t>- [Required Mac checks](../../../../e2e/ios/required-tests.txt)</a:t>
            </a:r>
          </a:p>
          <a:p xmlns:a="http://schemas.openxmlformats.org/drawingml/2006/main">
            <a:r>
              <a:t>- [Acceptance gate](../../../../ios/AIShop/01-docs/07-planning/sprints/sprint-001-candidate-target-signal/01-sprint-plan-acceptance.md)</a:t>
            </a:r>
          </a:p>
          <a:p xmlns:a="http://schemas.openxmlformats.org/drawingml/2006/main">
            <a:r>
              <a:t>- [Phone acceptance rules](../../../../ios/AIShop/01-docs/04-benchmarks-test-strategy-and-success-criteria/sprint-001-iphone-verification.md)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2ef252cca640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bf2eb5aba54e4e" /><Relationship Type="http://schemas.openxmlformats.org/officeDocument/2006/relationships/slideLayout" Target="/ppt/slideLayouts/slideLayout1.xml" Id="R018374512e484a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8374512e484a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f3a0892c7d4973" /><Relationship Type="http://schemas.openxmlformats.org/officeDocument/2006/relationships/notesSlide" Target="/ppt/notesSlides/notesSlide1.xml" Id="R339105721fd147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94118295e8449b" /><Relationship Type="http://schemas.openxmlformats.org/officeDocument/2006/relationships/notesSlide" Target="/ppt/notesSlides/notesSlide2.xml" Id="Rf2a932a463514b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607ae06b664dba" /><Relationship Type="http://schemas.openxmlformats.org/officeDocument/2006/relationships/hyperlink" Target="file:///Users/paboelustodo/Library/CloudStorage/GoogleDrive-pablo.elustondo@gmail.com/My%20Drive%202/1-GIT-PROJECTS/aishop/ios/AIShop/AIShop/Diagnostics/VisionDiagnosticHarness.swift" TargetMode="External" Id="R3fc6521ddab94ea2" /><Relationship Type="http://schemas.openxmlformats.org/officeDocument/2006/relationships/hyperlink" Target="file:///Users/paboelustodo/Library/CloudStorage/GoogleDrive-pablo.elustondo@gmail.com/My%20Drive%202/1-GIT-PROJECTS/aishop/ios/AIShop/AIShop/Diagnostics/VisionHarnessModel.swift" TargetMode="External" Id="Raef41378cec642a4" /><Relationship Type="http://schemas.openxmlformats.org/officeDocument/2006/relationships/notesSlide" Target="/ppt/notesSlides/notesSlide3.xml" Id="Rfae43d2ec8c14d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41b6bbe5ef482d" /><Relationship Type="http://schemas.openxmlformats.org/officeDocument/2006/relationships/hyperlink" Target="file:///Users/paboelustodo/Library/CloudStorage/GoogleDrive-pablo.elustondo@gmail.com/My%20Drive%202/1-GIT-PROJECTS/aishop/e2e/ios/run.zsh" TargetMode="External" Id="R67a74d5c31654f23" /><Relationship Type="http://schemas.openxmlformats.org/officeDocument/2006/relationships/hyperlink" Target="file:///Users/paboelustodo/Library/CloudStorage/GoogleDrive-pablo.elustondo@gmail.com/My%20Drive%202/1-GIT-PROJECTS/aishop/ios/AIShop/AIShopVision/Tests/AIShopVisionTests/" TargetMode="External" Id="R93079ebe50c34b7e" /><Relationship Type="http://schemas.openxmlformats.org/officeDocument/2006/relationships/hyperlink" Target="file:///Users/paboelustodo/Library/CloudStorage/GoogleDrive-pablo.elustondo@gmail.com/My%20Drive%202/1-GIT-PROJECTS/aishop/ios/AIShop/AIShopTests/" TargetMode="External" Id="R4b55a088d422453a" /><Relationship Type="http://schemas.openxmlformats.org/officeDocument/2006/relationships/notesSlide" Target="/ppt/notesSlides/notesSlide4.xml" Id="R24edea80faf4439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9c95d2e903432c" /><Relationship Type="http://schemas.openxmlformats.org/officeDocument/2006/relationships/hyperlink" Target="file:///Users/paboelustodo/Library/CloudStorage/GoogleDrive-pablo.elustondo@gmail.com/My%20Drive%202/1-GIT-PROJECTS/aishop/ios/AIShop/AIShopVision/Sources/AIShopVision/" TargetMode="External" Id="Reb6204e24f8b4652" /><Relationship Type="http://schemas.openxmlformats.org/officeDocument/2006/relationships/hyperlink" Target="file:///Users/paboelustodo/Library/CloudStorage/GoogleDrive-pablo.elustondo@gmail.com/My%20Drive%202/1-GIT-PROJECTS/aishop/ios/AIShop/AIShop/Diagnostics/" TargetMode="External" Id="R1cb9e5c0fb934742" /><Relationship Type="http://schemas.openxmlformats.org/officeDocument/2006/relationships/hyperlink" Target="file:///Users/paboelustodo/Library/CloudStorage/GoogleDrive-pablo.elustondo@gmail.com/My%20Drive%202/1-GIT-PROJECTS/aishop/ios/AIShop/AIShopVision/Sources/AIShopVisionEvaluation/" TargetMode="External" Id="R07d0571d183b4073" /><Relationship Type="http://schemas.openxmlformats.org/officeDocument/2006/relationships/notesSlide" Target="/ppt/notesSlides/notesSlide5.xml" Id="Rf485df4303c94c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9028e36cf349bf" /><Relationship Type="http://schemas.openxmlformats.org/officeDocument/2006/relationships/hyperlink" Target="file:///Users/paboelustodo/Library/CloudStorage/GoogleDrive-pablo.elustondo@gmail.com/My%20Drive%202/1-GIT-PROJECTS/aishop/ios/AIShop/AIShopVision/Sources/AIShopVision/CandidateAnalysisPipeline/CandidateAnalysisPipeline.swift" TargetMode="External" Id="Rd59739d1e7604499" /><Relationship Type="http://schemas.openxmlformats.org/officeDocument/2006/relationships/hyperlink" Target="file:///Users/paboelustodo/Library/CloudStorage/GoogleDrive-pablo.elustondo@gmail.com/My%20Drive%202/1-GIT-PROJECTS/aishop/ios/AIShop/AIShopVision/Tests/AIShopVisionTests/CandidateAnalysisPipelineTests.swift" TargetMode="External" Id="Ra9cd57b5f24241a7" /><Relationship Type="http://schemas.openxmlformats.org/officeDocument/2006/relationships/hyperlink" Target="file:///Users/paboelustodo/Library/CloudStorage/GoogleDrive-pablo.elustondo@gmail.com/My%20Drive%202/1-GIT-PROJECTS/aishop/ios/AIShop/AIShopVision/Tests/AIShopVisionTests/PipelineIntegrationSuite.swift" TargetMode="External" Id="R799ab8e5ec6a446d" /><Relationship Type="http://schemas.openxmlformats.org/officeDocument/2006/relationships/notesSlide" Target="/ppt/notesSlides/notesSlide6.xml" Id="Ra31635e984a148d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e37d250942407f" /><Relationship Type="http://schemas.openxmlformats.org/officeDocument/2006/relationships/hyperlink" Target="file:///Users/paboelustodo/Library/CloudStorage/GoogleDrive-pablo.elustondo@gmail.com/My%20Drive%202/1-GIT-PROJECTS/aishop/ios/AIShop/AIShopVision/Sources/AIShopVision/VideoFixtureFrameStream/VideoFixtureFrameStream.swift" TargetMode="External" Id="R4c27715ebc7044f1" /><Relationship Type="http://schemas.openxmlformats.org/officeDocument/2006/relationships/hyperlink" Target="file:///Users/paboelustodo/Library/CloudStorage/GoogleDrive-pablo.elustondo@gmail.com/My%20Drive%202/1-GIT-PROJECTS/aishop/ios/AIShop/AIShopVision/Sources/AIShopVision/VideoFixtureFrameStream/FrameStream.swift" TargetMode="External" Id="Re08f0d30d0a44c6b" /><Relationship Type="http://schemas.openxmlformats.org/officeDocument/2006/relationships/hyperlink" Target="file:///Users/paboelustodo/Library/CloudStorage/GoogleDrive-pablo.elustondo@gmail.com/My%20Drive%202/1-GIT-PROJECTS/aishop/ios/AIShop/AIShopVision/Tests/AIShopVisionTests/VideoFixtureFrameStreamTests.swift" TargetMode="External" Id="Rbe12fecc04b348e7" /><Relationship Type="http://schemas.openxmlformats.org/officeDocument/2006/relationships/notesSlide" Target="/ppt/notesSlides/notesSlide7.xml" Id="R7b48760fe52c45e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70e9012c714723" /><Relationship Type="http://schemas.openxmlformats.org/officeDocument/2006/relationships/hyperlink" Target="file:///Users/paboelustodo/Library/CloudStorage/GoogleDrive-pablo.elustondo@gmail.com/My%20Drive%202/1-GIT-PROJECTS/aishop/ios/AIShop/AIShopVision/Sources/AIShopVision/LocalTargetCatalog/LocalTargetCatalog.swift" TargetMode="External" Id="R39c8b57f9ec64b66" /><Relationship Type="http://schemas.openxmlformats.org/officeDocument/2006/relationships/hyperlink" Target="file:///Users/paboelustodo/Library/CloudStorage/GoogleDrive-pablo.elustondo@gmail.com/My%20Drive%202/1-GIT-PROJECTS/aishop/ios/AIShop/AIShopVision/Sources/AIShopVision/VisionFeatureAdapter.swift" TargetMode="External" Id="Rdcd90031f3ea4fe6" /><Relationship Type="http://schemas.openxmlformats.org/officeDocument/2006/relationships/hyperlink" Target="file:///Users/paboelustodo/Library/CloudStorage/GoogleDrive-pablo.elustondo@gmail.com/My%20Drive%202/1-GIT-PROJECTS/aishop/ios/AIShop/AIShopVision/Tests/AIShopVisionTests/" TargetMode="External" Id="Rdd3b41dc13e54bf1" /><Relationship Type="http://schemas.openxmlformats.org/officeDocument/2006/relationships/notesSlide" Target="/ppt/notesSlides/notesSlide8.xml" Id="Rb81c06728074481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6dedae8fe74204" /><Relationship Type="http://schemas.openxmlformats.org/officeDocument/2006/relationships/hyperlink" Target="file:///Users/paboelustodo/Library/CloudStorage/GoogleDrive-pablo.elustondo@gmail.com/My%20Drive%202/1-GIT-PROJECTS/aishop/ios/AIShop/AIShopVision/Sources/AIShopVision/CandidateScorer/CandidateScorer.swift" TargetMode="External" Id="R6a8648267acc4464" /><Relationship Type="http://schemas.openxmlformats.org/officeDocument/2006/relationships/hyperlink" Target="file:///Users/paboelustodo/Library/CloudStorage/GoogleDrive-pablo.elustondo@gmail.com/My%20Drive%202/1-GIT-PROJECTS/aishop/ios/AIShop/AIShopVision/Sources/AIShopVision/CandidateScorer/ScoringProfile.swift" TargetMode="External" Id="Rdc95cf6fe8724745" /><Relationship Type="http://schemas.openxmlformats.org/officeDocument/2006/relationships/hyperlink" Target="file:///Users/paboelustodo/Library/CloudStorage/GoogleDrive-pablo.elustondo@gmail.com/My%20Drive%202/1-GIT-PROJECTS/aishop/ios/AIShop/AIShopVision/Tests/AIShopVisionTests/CandidateScorerTests.swift" TargetMode="External" Id="R236ef0a8b2f74c1c" /><Relationship Type="http://schemas.openxmlformats.org/officeDocument/2006/relationships/notesSlide" Target="/ppt/notesSlides/notesSlide9.xml" Id="R30bbf3516ea445c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47505898044e5e" /><Relationship Type="http://schemas.openxmlformats.org/officeDocument/2006/relationships/hyperlink" Target="file:///Users/paboelustodo/Library/CloudStorage/GoogleDrive-pablo.elustondo@gmail.com/My%20Drive%202/1-GIT-PROJECTS/aishop/ios/AIShop/AIShopVision/Sources/AIShopVision/CandidateEpisodeAggregator/CandidateEpisodeAggregator.swift" TargetMode="External" Id="Rd3f84bf113bd4959" /><Relationship Type="http://schemas.openxmlformats.org/officeDocument/2006/relationships/hyperlink" Target="file:///Users/paboelustodo/Library/CloudStorage/GoogleDrive-pablo.elustondo@gmail.com/My%20Drive%202/1-GIT-PROJECTS/aishop/ios/AIShop/AIShopVision/Tests/AIShopVisionTests/CandidateEpisodeAggregatorTests.swift" TargetMode="External" Id="Rbb4fb5855d614650" /><Relationship Type="http://schemas.openxmlformats.org/officeDocument/2006/relationships/notesSlide" Target="/ppt/notesSlides/notesSlide10.xml" Id="Rda8dfcbc10a64aa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efe92e8687401d" /><Relationship Type="http://schemas.openxmlformats.org/officeDocument/2006/relationships/hyperlink" Target="file:///Users/paboelustodo/Library/CloudStorage/GoogleDrive-pablo.elustondo@gmail.com/My%20Drive%202/1-GIT-PROJECTS/aishop/ios/AIShop/AIShopVision/Sources/AIShopVision/SessionLog/SessionLog.swift" TargetMode="External" Id="R514f0ff044a24c08" /><Relationship Type="http://schemas.openxmlformats.org/officeDocument/2006/relationships/hyperlink" Target="file:///Users/paboelustodo/Library/CloudStorage/GoogleDrive-pablo.elustondo@gmail.com/My%20Drive%202/1-GIT-PROJECTS/aishop/ios/AIShop/AIShopVision/Sources/AIShopVision/CandidateAnalysisPipeline/PipelineRecorder.swift" TargetMode="External" Id="R7e13f09991c44a64" /><Relationship Type="http://schemas.openxmlformats.org/officeDocument/2006/relationships/hyperlink" Target="file:///Users/paboelustodo/Library/CloudStorage/GoogleDrive-pablo.elustondo@gmail.com/My%20Drive%202/1-GIT-PROJECTS/aishop/ios/AIShop/AIShopVision/Sources/AIShopVision/SessionReportBuilder/SessionReportBuilder.swift" TargetMode="External" Id="Ra13f121e643d4a7b" /><Relationship Type="http://schemas.openxmlformats.org/officeDocument/2006/relationships/notesSlide" Target="/ppt/notesSlides/notesSlide11.xml" Id="Rdf3ad5809ad34e7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bab4778f82479e" /><Relationship Type="http://schemas.openxmlformats.org/officeDocument/2006/relationships/hyperlink" Target="file:///Users/paboelustodo/Library/CloudStorage/GoogleDrive-pablo.elustondo@gmail.com/My%20Drive%202/1-GIT-PROJECTS/aishop/ios/AIShop/AIShopVision/Tests/AIShopVisionTests/PipelineIntegrationSuite.swift" TargetMode="External" Id="Rb98c4d11555244a0" /><Relationship Type="http://schemas.openxmlformats.org/officeDocument/2006/relationships/hyperlink" Target="file:///Users/paboelustodo/Library/CloudStorage/GoogleDrive-pablo.elustondo@gmail.com/My%20Drive%202/1-GIT-PROJECTS/aishop/ios/AIShop/AIShopVision/Sources/AIShopVisionEvaluation/FixtureEvaluator.swift" TargetMode="External" Id="R432d7e8d2ee44b27" /><Relationship Type="http://schemas.openxmlformats.org/officeDocument/2006/relationships/notesSlide" Target="/ppt/notesSlides/notesSlide12.xml" Id="R600757ac6d0845a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7d6ce4d16e4caa" /><Relationship Type="http://schemas.openxmlformats.org/officeDocument/2006/relationships/hyperlink" Target="file:///Users/paboelustodo/Library/CloudStorage/GoogleDrive-pablo.elustondo@gmail.com/My%20Drive%202/1-GIT-PROJECTS/aishop/ios/AIShop/AIShopVision/Sources/AIShopVisionEvaluation/FixtureEvaluator.swift" TargetMode="External" Id="R4855836eae7a4939" /><Relationship Type="http://schemas.openxmlformats.org/officeDocument/2006/relationships/hyperlink" Target="file:///Users/paboelustodo/Library/CloudStorage/GoogleDrive-pablo.elustondo@gmail.com/My%20Drive%202/1-GIT-PROJECTS/aishop/ios/AIShop/AIShopVision/Sources/AIShopVisionEvaluate/main.swift" TargetMode="External" Id="R3a760491862244cd" /><Relationship Type="http://schemas.openxmlformats.org/officeDocument/2006/relationships/hyperlink" Target="file:///Users/paboelustodo/Library/CloudStorage/GoogleDrive-pablo.elustondo@gmail.com/My%20Drive%202/1-GIT-PROJECTS/aishop/ios/AIShop/AIShopVision/Tests/AIShopVisionTests/FixtureEvaluatorTests.swift" TargetMode="External" Id="Rfcd67d06a2474c07" /><Relationship Type="http://schemas.openxmlformats.org/officeDocument/2006/relationships/notesSlide" Target="/ppt/notesSlides/notesSlide13.xml" Id="R19c5aa153fc0433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7298ce96b146bb" /><Relationship Type="http://schemas.openxmlformats.org/officeDocument/2006/relationships/hyperlink" Target="file:///Users/paboelustodo/Library/CloudStorage/GoogleDrive-pablo.elustondo@gmail.com/My%20Drive%202/1-GIT-PROJECTS/aishop/ios/AIShop/AIShop/App/ApplicationBootstrap.swift" TargetMode="External" Id="Rbbc612dd53c34694" /><Relationship Type="http://schemas.openxmlformats.org/officeDocument/2006/relationships/hyperlink" Target="file:///Users/paboelustodo/Library/CloudStorage/GoogleDrive-pablo.elustondo@gmail.com/My%20Drive%202/1-GIT-PROJECTS/aishop/ios/AIShop/AIShop/Diagnostics/VisionHarnessModel.swift" TargetMode="External" Id="Rcec673fabb524a4f" /><Relationship Type="http://schemas.openxmlformats.org/officeDocument/2006/relationships/hyperlink" Target="file:///Users/paboelustodo/Library/CloudStorage/GoogleDrive-pablo.elustondo@gmail.com/My%20Drive%202/1-GIT-PROJECTS/aishop/ios/AIShop/AIShopTests/" TargetMode="External" Id="R30213812ca0e4fda" /><Relationship Type="http://schemas.openxmlformats.org/officeDocument/2006/relationships/notesSlide" Target="/ppt/notesSlides/notesSlide14.xml" Id="Ree6c152cff6d4ee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db9bb487244534" /><Relationship Type="http://schemas.openxmlformats.org/officeDocument/2006/relationships/hyperlink" Target="file:///Users/paboelustodo/Library/CloudStorage/GoogleDrive-pablo.elustondo@gmail.com/My%20Drive%202/1-GIT-PROJECTS/aishop/ios/AIShop/AIShopVision/Sources/AIShopVision/" TargetMode="External" Id="Rd1b2aea7a5524fb8" /><Relationship Type="http://schemas.openxmlformats.org/officeDocument/2006/relationships/hyperlink" Target="file:///Users/paboelustodo/Library/CloudStorage/GoogleDrive-pablo.elustondo@gmail.com/My%20Drive%202/1-GIT-PROJECTS/aishop/ios/AIShop/AIShopVision/Tests/AIShopVisionTests/PipelineIntegrationSuite.swift" TargetMode="External" Id="Rb47be6e9963a4dc7" /><Relationship Type="http://schemas.openxmlformats.org/officeDocument/2006/relationships/notesSlide" Target="/ppt/notesSlides/notesSlide15.xml" Id="Ra7e9fb98c8384b7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C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C4F094C4-B03F-4BFE-A6EA-C9C0D9510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85850"/>
            <a:ext cx="135636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A8D6D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D6DD"/>
                </a:solidFill>
                <a:latin typeface="Arial"/>
                <a:ea typeface="Arial"/>
                <a:cs typeface="Arial"/>
              </a:rPr>
              <a:t>AIShopVision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E8598C9-CF76-4CB1-87A7-169DE139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3563600" cy="1789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Streaming video</a:t>
            </a:r>
          </a:p>
          <a:p xmlns:a="http://schemas.openxmlformats.org/drawingml/2006/main">
            <a:pPr algn="l"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candidate recognition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9F1B617-ED23-4FF2-A0C0-C17A9B3B7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05400"/>
            <a:ext cx="13487400" cy="1036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D1E3E9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D1E3E9"/>
                </a:solidFill>
                <a:latin typeface="Arial"/>
                <a:ea typeface="Arial"/>
                <a:cs typeface="Arial"/>
              </a:rPr>
              <a:t>AIShop Sprint 001</a:t>
            </a:r>
          </a:p>
          <a:p xmlns:a="http://schemas.openxmlformats.org/drawingml/2006/main">
            <a:pPr algn="l">
              <a:defRPr sz="2850" b="0">
                <a:solidFill>
                  <a:srgbClr val="D1E3E9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D1E3E9"/>
                </a:solidFill>
                <a:latin typeface="Arial"/>
                <a:ea typeface="Arial"/>
                <a:cs typeface="Arial"/>
              </a:rPr>
              <a:t>Code and test walkthrough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398AB15-3AB2-4E9A-9461-799AABE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715250"/>
            <a:ext cx="13487400" cy="374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8C1C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8C1CF"/>
                </a:solidFill>
                <a:latin typeface="Arial"/>
                <a:ea typeface="Arial"/>
                <a:cs typeface="Arial"/>
              </a:rPr>
              <a:t>Implementation walkthrough / 20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7107728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0">
            <a:extLst xmlns:a="http://schemas.openxmlformats.org/drawingml/2006/main">
              <a:ext uri="{FF2B5EF4-FFF2-40B4-BE49-F238E27FC236}">
                <a16:creationId xmlns:a16="http://schemas.microsoft.com/office/drawing/2014/main" id="{0991D2C0-FCC3-4B45-8406-016BDA58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3792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Sprint intent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1F24192-AFE1-4407-AF17-6729C393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37541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A useful signal while video is still arriving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C38C251-D7E0-4AA1-982A-499EBA2F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137922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User need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7D662BA-E27E-45CD-AA04-50005D43F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13792200" cy="4787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A shopper wants to notice when one known product may be visible.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AEA53C-72D7-48EF-9F4C-B89461F59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71825"/>
            <a:ext cx="1379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BE1"/>
          </a:solidFill>
          <a:ln xmlns:a="http://schemas.openxmlformats.org/drawingml/2006/main" w="0">
            <a:noFill/>
          </a:ln>
        </p:spPr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49264B0E-54DF-45D7-AA98-08B4B198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137922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Sprint behavior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710609BF-2E76-45A2-A8E3-FE0A2B01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13792200" cy="4787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Analyze arriving frames and show “possible match” before playback ends.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2E9866-D2D6-47BE-BB54-3388FC1D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62475"/>
            <a:ext cx="1379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BE1"/>
          </a:solidFill>
          <a:ln xmlns:a="http://schemas.openxmlformats.org/drawingml/2006/main" w="0">
            <a:noFill/>
          </a:ln>
        </p:spPr>
      </p:sp>
      <p:sp>
        <p:nvSpPr>
          <p:cNvPr id="9" name="text-6">
            <a:extLst xmlns:a="http://schemas.openxmlformats.org/drawingml/2006/main">
              <a:ext uri="{FF2B5EF4-FFF2-40B4-BE49-F238E27FC236}">
                <a16:creationId xmlns:a16="http://schemas.microsoft.com/office/drawing/2014/main" id="{C8F3C811-4134-476B-9DCB-9774BE4A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137922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Session outcome</a:t>
            </a:r>
          </a:p>
        </p:txBody>
      </p:sp>
      <p:sp>
        <p:nvSpPr>
          <p:cNvPr id="10" name="text-7">
            <a:extLst xmlns:a="http://schemas.openxmlformats.org/drawingml/2006/main">
              <a:ext uri="{FF2B5EF4-FFF2-40B4-BE49-F238E27FC236}">
                <a16:creationId xmlns:a16="http://schemas.microsoft.com/office/drawing/2014/main" id="{32ADAF9D-58BC-4BFC-832B-8ABF9355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05400"/>
            <a:ext cx="13792200" cy="4787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Keep the strongest whole frame and report each candidate episode.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9EB8C4-AEBE-48D4-B7B2-DBAEDCD1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53125"/>
            <a:ext cx="1379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BE1"/>
          </a:solidFill>
          <a:ln xmlns:a="http://schemas.openxmlformats.org/drawingml/2006/main" w="0">
            <a:noFill/>
          </a:ln>
        </p:spPr>
      </p:sp>
      <p:sp>
        <p:nvSpPr>
          <p:cNvPr id="12" name="text-8">
            <a:extLst xmlns:a="http://schemas.openxmlformats.org/drawingml/2006/main">
              <a:ext uri="{FF2B5EF4-FFF2-40B4-BE49-F238E27FC236}">
                <a16:creationId xmlns:a16="http://schemas.microsoft.com/office/drawing/2014/main" id="{AE3D3D03-9E40-4BB0-867A-718281E9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0"/>
            <a:ext cx="137922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Scope boundary</a:t>
            </a:r>
          </a:p>
        </p:txBody>
      </p:sp>
      <p:sp>
        <p:nvSpPr>
          <p:cNvPr id="13" name="text-9">
            <a:extLst xmlns:a="http://schemas.openxmlformats.org/drawingml/2006/main">
              <a:ext uri="{FF2B5EF4-FFF2-40B4-BE49-F238E27FC236}">
                <a16:creationId xmlns:a16="http://schemas.microsoft.com/office/drawing/2014/main" id="{690F6FFE-37A8-46AC-8231-488ADB1E7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96050"/>
            <a:ext cx="13792200" cy="4787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One local target. Prerecorded input. No camera, server, or object boxes.</a:t>
            </a:r>
          </a:p>
        </p:txBody>
      </p:sp>
      <p:sp>
        <p:nvSpPr>
          <p:cNvPr id="14" name="text-10">
            <a:extLst xmlns:a="http://schemas.openxmlformats.org/drawingml/2006/main">
              <a:ext uri="{FF2B5EF4-FFF2-40B4-BE49-F238E27FC236}">
                <a16:creationId xmlns:a16="http://schemas.microsoft.com/office/drawing/2014/main" id="{A20979B1-F4E2-474C-BCD4-EC6016CD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8096250"/>
            <a:ext cx="428625" cy="304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881192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0">
            <a:extLst xmlns:a="http://schemas.openxmlformats.org/drawingml/2006/main">
              <a:ext uri="{FF2B5EF4-FFF2-40B4-BE49-F238E27FC236}">
                <a16:creationId xmlns:a16="http://schemas.microsoft.com/office/drawing/2014/main" id="{435E463A-41C1-4D96-8E9A-ADBC10B1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3792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Sprint use cases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BB6FFC5-7C2B-4129-BF0F-CFDAF6AE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37541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The offline diagnostic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50850A-A6B7-4677-8C3A-7E80A904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19300"/>
            <a:ext cx="11811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9525">
            <a:solidFill>
              <a:srgbClr val="D0DBE1"/>
            </a:solidFill>
          </a:ln>
        </p:spPr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CB32FBB3-D934-46F9-B3C4-06D01BCA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105025"/>
            <a:ext cx="114300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1  Select a fixture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5DC1F720-948D-4564-A8E2-EAE01DB68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505075"/>
            <a:ext cx="114300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Banana present or no banana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79B1D6-81B0-497D-B94E-79D195EC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57525"/>
            <a:ext cx="19050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7667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0CC991-E717-415E-9413-119C5233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29000"/>
            <a:ext cx="11811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9525">
            <a:solidFill>
              <a:srgbClr val="D0DBE1"/>
            </a:solidFill>
          </a:ln>
        </p:spPr>
      </p:sp>
      <p:sp>
        <p:nvSpPr>
          <p:cNvPr id="8" name="text-4">
            <a:extLst xmlns:a="http://schemas.openxmlformats.org/drawingml/2006/main">
              <a:ext uri="{FF2B5EF4-FFF2-40B4-BE49-F238E27FC236}">
                <a16:creationId xmlns:a16="http://schemas.microsoft.com/office/drawing/2014/main" id="{2F77F89F-25C7-4594-A419-D9027292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514725"/>
            <a:ext cx="114300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2  Run and observe</a:t>
            </a:r>
          </a:p>
        </p:txBody>
      </p:sp>
      <p:sp>
        <p:nvSpPr>
          <p:cNvPr id="9" name="text-5">
            <a:extLst xmlns:a="http://schemas.openxmlformats.org/drawingml/2006/main">
              <a:ext uri="{FF2B5EF4-FFF2-40B4-BE49-F238E27FC236}">
                <a16:creationId xmlns:a16="http://schemas.microsoft.com/office/drawing/2014/main" id="{9935D14A-611C-4D8F-8469-84395469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914775"/>
            <a:ext cx="114300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Timestamp-paced playback with live scores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4181E6-72AA-4023-9087-A3D9300F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67225"/>
            <a:ext cx="19050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7667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7F5B0F-34AD-46CD-82EF-D329865C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38700"/>
            <a:ext cx="11811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9525">
            <a:solidFill>
              <a:srgbClr val="D0DBE1"/>
            </a:solidFill>
          </a:ln>
        </p:spPr>
      </p:sp>
      <p:sp>
        <p:nvSpPr>
          <p:cNvPr id="12" name="text-6">
            <a:extLst xmlns:a="http://schemas.openxmlformats.org/drawingml/2006/main">
              <a:ext uri="{FF2B5EF4-FFF2-40B4-BE49-F238E27FC236}">
                <a16:creationId xmlns:a16="http://schemas.microsoft.com/office/drawing/2014/main" id="{325AB11A-2F56-40DF-A34A-6CA2DDFCE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24425"/>
            <a:ext cx="114300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3  Stop or reach the end</a:t>
            </a:r>
          </a:p>
        </p:txBody>
      </p:sp>
      <p:sp>
        <p:nvSpPr>
          <p:cNvPr id="13" name="text-7">
            <a:extLst xmlns:a="http://schemas.openxmlformats.org/drawingml/2006/main">
              <a:ext uri="{FF2B5EF4-FFF2-40B4-BE49-F238E27FC236}">
                <a16:creationId xmlns:a16="http://schemas.microsoft.com/office/drawing/2014/main" id="{66923A28-BDF0-4AE5-BAC1-CE2A094B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24475"/>
            <a:ext cx="114300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Close the episode and inspect the retained best frame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0B34D5-FD11-4309-9753-955A39E4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876925"/>
            <a:ext cx="19050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7667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903E8B-64B1-47B9-AC4A-F41D1048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248400"/>
            <a:ext cx="11811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9525">
            <a:solidFill>
              <a:srgbClr val="D0DBE1"/>
            </a:solidFill>
          </a:ln>
        </p:spPr>
      </p:sp>
      <p:sp>
        <p:nvSpPr>
          <p:cNvPr id="16" name="text-8">
            <a:extLst xmlns:a="http://schemas.openxmlformats.org/drawingml/2006/main">
              <a:ext uri="{FF2B5EF4-FFF2-40B4-BE49-F238E27FC236}">
                <a16:creationId xmlns:a16="http://schemas.microsoft.com/office/drawing/2014/main" id="{4224E424-C713-4716-8284-C3C2B3D0A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334125"/>
            <a:ext cx="114300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4  Export evidence</a:t>
            </a:r>
          </a:p>
        </p:txBody>
      </p:sp>
      <p:sp>
        <p:nvSpPr>
          <p:cNvPr id="17" name="text-9">
            <a:extLst xmlns:a="http://schemas.openxmlformats.org/drawingml/2006/main">
              <a:ext uri="{FF2B5EF4-FFF2-40B4-BE49-F238E27FC236}">
                <a16:creationId xmlns:a16="http://schemas.microsoft.com/office/drawing/2014/main" id="{0F815CD1-B435-429B-AB52-686F4EB46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734175"/>
            <a:ext cx="114300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Compare the phone log with the Mac run</a:t>
            </a:r>
          </a:p>
        </p:txBody>
      </p:sp>
      <p:sp>
        <p:nvSpPr>
          <p:cNvPr id="18" name="text-10">
            <a:extLst xmlns:a="http://schemas.openxmlformats.org/drawingml/2006/main">
              <a:ext uri="{FF2B5EF4-FFF2-40B4-BE49-F238E27FC236}">
                <a16:creationId xmlns:a16="http://schemas.microsoft.com/office/drawing/2014/main" id="{96E63E22-621D-44E1-B07E-D8B93C89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48575"/>
            <a:ext cx="1379220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The harness uses the same production pipeline as the Mac tests.</a:t>
            </a:r>
          </a:p>
        </p:txBody>
      </p:sp>
      <p:sp>
        <p:nvSpPr>
          <p:cNvPr id="19" name="text-11">
            <a:extLst xmlns:a="http://schemas.openxmlformats.org/drawingml/2006/main">
              <a:ext uri="{FF2B5EF4-FFF2-40B4-BE49-F238E27FC236}">
                <a16:creationId xmlns:a16="http://schemas.microsoft.com/office/drawing/2014/main" id="{66DD50E6-E8E5-4D82-B5CD-634CB601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43875"/>
            <a:ext cx="857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Code:</a:t>
            </a:r>
          </a:p>
        </p:txBody>
      </p:sp>
      <p:sp>
        <p:nvSpPr>
          <p:cNvPr id="20" name="text-12">
            <a:extLst xmlns:a="http://schemas.openxmlformats.org/drawingml/2006/main">
              <a:ext uri="{FF2B5EF4-FFF2-40B4-BE49-F238E27FC236}">
                <a16:creationId xmlns:a16="http://schemas.microsoft.com/office/drawing/2014/main" id="{FEC6C9D7-88CD-4702-B7D0-338637FC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143875"/>
            <a:ext cx="3905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u="sng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1725" b="0" u="sng">
                <a:solidFill>
                  <a:srgbClr val="17667B"/>
                </a:solidFill>
                <a:latin typeface="Arial"/>
                <a:ea typeface="Arial"/>
                <a:cs typeface="Arial"/>
                <a:hlinkClick xmlns:r="http://schemas.openxmlformats.org/officeDocument/2006/relationships" r:id="R3fc6521ddab94ea2"/>
              </a:rPr>
              <a:t>Diagnostic screen</a:t>
            </a:r>
          </a:p>
        </p:txBody>
      </p:sp>
      <p:sp>
        <p:nvSpPr>
          <p:cNvPr id="21" name="text-13">
            <a:extLst xmlns:a="http://schemas.openxmlformats.org/drawingml/2006/main">
              <a:ext uri="{FF2B5EF4-FFF2-40B4-BE49-F238E27FC236}">
                <a16:creationId xmlns:a16="http://schemas.microsoft.com/office/drawing/2014/main" id="{13C76151-95C9-4258-84CF-DA1CAD01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143875"/>
            <a:ext cx="3905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u="sng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1725" b="0" u="sng">
                <a:solidFill>
                  <a:srgbClr val="17667B"/>
                </a:solidFill>
                <a:latin typeface="Arial"/>
                <a:ea typeface="Arial"/>
                <a:cs typeface="Arial"/>
                <a:hlinkClick xmlns:r="http://schemas.openxmlformats.org/officeDocument/2006/relationships" r:id="Raef41378cec642a4"/>
              </a:rPr>
              <a:t>Harness model</a:t>
            </a:r>
          </a:p>
        </p:txBody>
      </p:sp>
      <p:sp>
        <p:nvSpPr>
          <p:cNvPr id="22" name="text-14">
            <a:extLst xmlns:a="http://schemas.openxmlformats.org/drawingml/2006/main">
              <a:ext uri="{FF2B5EF4-FFF2-40B4-BE49-F238E27FC236}">
                <a16:creationId xmlns:a16="http://schemas.microsoft.com/office/drawing/2014/main" id="{8EDB0D1A-1FBB-43EB-BD1D-D1F7B4A5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8096250"/>
            <a:ext cx="428625" cy="304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479905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0">
            <a:extLst xmlns:a="http://schemas.openxmlformats.org/drawingml/2006/main">
              <a:ext uri="{FF2B5EF4-FFF2-40B4-BE49-F238E27FC236}">
                <a16:creationId xmlns:a16="http://schemas.microsoft.com/office/drawing/2014/main" id="{8862F807-10C3-4A6B-A3C9-B19E326D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3792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How to test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D962F97-98FD-42F7-8F18-D1C9F3AF0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37541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Each test host answers a different question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F446E0D-4245-4500-968A-398E5B7A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71675"/>
            <a:ext cx="13792200" cy="44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Native Mac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18497CA-4FF6-432D-9217-1B2EDE27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47925"/>
            <a:ext cx="13792200" cy="513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./e2e/ios/run.zsh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DFEECF5-A9FF-4BB1-B748-DAADC33D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81325"/>
            <a:ext cx="137922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29 required tests passed with real Apple Vision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C5DE3C-14DF-4F5E-B71E-36B038AE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1379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BE1"/>
          </a:solidFill>
          <a:ln xmlns:a="http://schemas.openxmlformats.org/drawingml/2006/main" w="0">
            <a:noFill/>
          </a:ln>
        </p:spPr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4E906913-9AC4-45C9-A82B-AF61FAB4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62375"/>
            <a:ext cx="13792200" cy="44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Simulator app tests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2286A364-8662-495E-A8FF-85746F30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38625"/>
            <a:ext cx="13792200" cy="513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AIShop-VisionDiagnostics scheme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40B24825-EA36-4612-AED7-6660D0A8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72025"/>
            <a:ext cx="137922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25 app tests passed, including Firebase bypass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63AEE4-11B3-4254-A084-21557002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14950"/>
            <a:ext cx="1379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BE1"/>
          </a:solidFill>
          <a:ln xmlns:a="http://schemas.openxmlformats.org/drawingml/2006/main" w="0">
            <a:noFill/>
          </a:ln>
        </p:spPr>
      </p:sp>
      <p:sp>
        <p:nvSpPr>
          <p:cNvPr id="11" name="text-8">
            <a:extLst xmlns:a="http://schemas.openxmlformats.org/drawingml/2006/main">
              <a:ext uri="{FF2B5EF4-FFF2-40B4-BE49-F238E27FC236}">
                <a16:creationId xmlns:a16="http://schemas.microsoft.com/office/drawing/2014/main" id="{E6B21C52-BB76-420D-81DB-5B693B6F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53075"/>
            <a:ext cx="13792200" cy="44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Physical iPhone</a:t>
            </a:r>
          </a:p>
        </p:txBody>
      </p:sp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A81FC755-6D99-4165-9954-417DCDC4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29325"/>
            <a:ext cx="13792200" cy="513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Watch both fixtures, export both logs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A22FFAF1-23D7-480F-9940-1FBC10B1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62725"/>
            <a:ext cx="137922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Pending demonstration and Mac/phone calibration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CC94C8B4-C2AA-4BA9-B5A0-739AB851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48575"/>
            <a:ext cx="137922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8055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05500"/>
                </a:solidFill>
                <a:latin typeface="Arial"/>
                <a:ea typeface="Arial"/>
                <a:cs typeface="Arial"/>
              </a:rPr>
              <a:t>Debug and Release builds pass. A Mac or Simulator result cannot accept the sprint.</a:t>
            </a:r>
          </a:p>
        </p:txBody>
      </p:sp>
      <p:sp>
        <p:nvSpPr>
          <p:cNvPr id="15" name="text-12">
            <a:extLst xmlns:a="http://schemas.openxmlformats.org/drawingml/2006/main">
              <a:ext uri="{FF2B5EF4-FFF2-40B4-BE49-F238E27FC236}">
                <a16:creationId xmlns:a16="http://schemas.microsoft.com/office/drawing/2014/main" id="{6A7E8829-9E4E-44AD-B401-1274C440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43875"/>
            <a:ext cx="857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Code:</a:t>
            </a:r>
          </a:p>
        </p:txBody>
      </p:sp>
      <p:sp>
        <p:nvSpPr>
          <p:cNvPr id="16" name="text-13">
            <a:extLst xmlns:a="http://schemas.openxmlformats.org/drawingml/2006/main">
              <a:ext uri="{FF2B5EF4-FFF2-40B4-BE49-F238E27FC236}">
                <a16:creationId xmlns:a16="http://schemas.microsoft.com/office/drawing/2014/main" id="{AB8B5B5C-D964-413E-A939-460FFA28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143875"/>
            <a:ext cx="3905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u="sng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1725" b="0" u="sng">
                <a:solidFill>
                  <a:srgbClr val="17667B"/>
                </a:solidFill>
                <a:latin typeface="Arial"/>
                <a:ea typeface="Arial"/>
                <a:cs typeface="Arial"/>
                <a:hlinkClick xmlns:r="http://schemas.openxmlformats.org/officeDocument/2006/relationships" r:id="R67a74d5c31654f23"/>
              </a:rPr>
              <a:t>Gate script</a:t>
            </a:r>
          </a:p>
        </p:txBody>
      </p:sp>
      <p:sp>
        <p:nvSpPr>
          <p:cNvPr id="17" name="text-14">
            <a:extLst xmlns:a="http://schemas.openxmlformats.org/drawingml/2006/main">
              <a:ext uri="{FF2B5EF4-FFF2-40B4-BE49-F238E27FC236}">
                <a16:creationId xmlns:a16="http://schemas.microsoft.com/office/drawing/2014/main" id="{6062C3B7-B94D-4B93-A815-547787F2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143875"/>
            <a:ext cx="3905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u="sng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1725" b="0" u="sng">
                <a:solidFill>
                  <a:srgbClr val="17667B"/>
                </a:solidFill>
                <a:latin typeface="Arial"/>
                <a:ea typeface="Arial"/>
                <a:cs typeface="Arial"/>
                <a:hlinkClick xmlns:r="http://schemas.openxmlformats.org/officeDocument/2006/relationships" r:id="R93079ebe50c34b7e"/>
              </a:rPr>
              <a:t>Package tests</a:t>
            </a:r>
          </a:p>
        </p:txBody>
      </p:sp>
      <p:sp>
        <p:nvSpPr>
          <p:cNvPr id="18" name="text-15">
            <a:extLst xmlns:a="http://schemas.openxmlformats.org/drawingml/2006/main">
              <a:ext uri="{FF2B5EF4-FFF2-40B4-BE49-F238E27FC236}">
                <a16:creationId xmlns:a16="http://schemas.microsoft.com/office/drawing/2014/main" id="{FD82FB4B-6B15-400F-8B68-2867802A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143875"/>
            <a:ext cx="3905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u="sng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1725" b="0" u="sng">
                <a:solidFill>
                  <a:srgbClr val="17667B"/>
                </a:solidFill>
                <a:latin typeface="Arial"/>
                <a:ea typeface="Arial"/>
                <a:cs typeface="Arial"/>
                <a:hlinkClick xmlns:r="http://schemas.openxmlformats.org/officeDocument/2006/relationships" r:id="R4b55a088d422453a"/>
              </a:rPr>
              <a:t>App tests</a:t>
            </a:r>
          </a:p>
        </p:txBody>
      </p:sp>
      <p:sp>
        <p:nvSpPr>
          <p:cNvPr id="19" name="text-16">
            <a:extLst xmlns:a="http://schemas.openxmlformats.org/drawingml/2006/main">
              <a:ext uri="{FF2B5EF4-FFF2-40B4-BE49-F238E27FC236}">
                <a16:creationId xmlns:a16="http://schemas.microsoft.com/office/drawing/2014/main" id="{5C098247-0C0C-4B20-90F9-C8AB247A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8096250"/>
            <a:ext cx="428625" cy="304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825081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0">
            <a:extLst xmlns:a="http://schemas.openxmlformats.org/drawingml/2006/main">
              <a:ext uri="{FF2B5EF4-FFF2-40B4-BE49-F238E27FC236}">
                <a16:creationId xmlns:a16="http://schemas.microsoft.com/office/drawing/2014/main" id="{29F24141-1A74-4620-BDDF-7929A8FC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3792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High-level architecture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7C60736-4C81-4C06-927E-B0228D2D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37541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One pipeline, two execution hosts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88EEF4-D598-4053-A38C-22731358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866900"/>
            <a:ext cx="11811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9525">
            <a:solidFill>
              <a:srgbClr val="D0DBE1"/>
            </a:solidFill>
          </a:ln>
        </p:spPr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F70ABC24-E531-4FDF-9B29-8909671F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952625"/>
            <a:ext cx="114300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Mac package tests / iPhone Debug harness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7833F7E4-D1FE-49E8-B904-3FFD777E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52675"/>
            <a:ext cx="114300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Both call CandidateAnalysisPipeline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466115-06FC-4EA9-9E40-6F79BA79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71775"/>
            <a:ext cx="19050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7667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C0A93A-9E5E-42C9-B528-67C699C7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28950"/>
            <a:ext cx="11811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9525">
            <a:solidFill>
              <a:srgbClr val="D0DBE1"/>
            </a:solidFill>
          </a:ln>
        </p:spPr>
      </p:sp>
      <p:sp>
        <p:nvSpPr>
          <p:cNvPr id="8" name="text-4">
            <a:extLst xmlns:a="http://schemas.openxmlformats.org/drawingml/2006/main">
              <a:ext uri="{FF2B5EF4-FFF2-40B4-BE49-F238E27FC236}">
                <a16:creationId xmlns:a16="http://schemas.microsoft.com/office/drawing/2014/main" id="{08A5E18F-1A8E-485B-AC73-0655C497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14675"/>
            <a:ext cx="114300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Local inputs</a:t>
            </a:r>
          </a:p>
        </p:txBody>
      </p:sp>
      <p:sp>
        <p:nvSpPr>
          <p:cNvPr id="9" name="text-5">
            <a:extLst xmlns:a="http://schemas.openxmlformats.org/drawingml/2006/main">
              <a:ext uri="{FF2B5EF4-FFF2-40B4-BE49-F238E27FC236}">
                <a16:creationId xmlns:a16="http://schemas.microsoft.com/office/drawing/2014/main" id="{13DF864F-7D25-4DAC-938A-094C24A8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514725"/>
            <a:ext cx="114300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LocalTargetCatalog + VideoFixtureFrameStream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31EDCE-CE20-44D0-BBE6-F9E8B10D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33825"/>
            <a:ext cx="19050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7667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E3C94E-2A18-48A1-A236-5852F601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91000"/>
            <a:ext cx="11811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9525">
            <a:solidFill>
              <a:srgbClr val="D0DBE1"/>
            </a:solidFill>
          </a:ln>
        </p:spPr>
      </p:sp>
      <p:sp>
        <p:nvSpPr>
          <p:cNvPr id="12" name="text-6">
            <a:extLst xmlns:a="http://schemas.openxmlformats.org/drawingml/2006/main">
              <a:ext uri="{FF2B5EF4-FFF2-40B4-BE49-F238E27FC236}">
                <a16:creationId xmlns:a16="http://schemas.microsoft.com/office/drawing/2014/main" id="{6BC485D0-2A7D-4144-8F24-21C3945F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76725"/>
            <a:ext cx="114300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CandidateScorer</a:t>
            </a:r>
          </a:p>
        </p:txBody>
      </p:sp>
      <p:sp>
        <p:nvSpPr>
          <p:cNvPr id="13" name="text-7">
            <a:extLst xmlns:a="http://schemas.openxmlformats.org/drawingml/2006/main">
              <a:ext uri="{FF2B5EF4-FFF2-40B4-BE49-F238E27FC236}">
                <a16:creationId xmlns:a16="http://schemas.microsoft.com/office/drawing/2014/main" id="{A2001CD9-439E-4B1D-9764-9050A4DD0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676775"/>
            <a:ext cx="114300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VisionFeatureAdapter compares whole frame and central crop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7FB6FA-7334-4C58-9E26-6DC5C9EA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95875"/>
            <a:ext cx="19050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7667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2EEB1B-BBE1-4969-800C-0E99D16B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53050"/>
            <a:ext cx="11811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9525">
            <a:solidFill>
              <a:srgbClr val="D0DBE1"/>
            </a:solidFill>
          </a:ln>
        </p:spPr>
      </p:sp>
      <p:sp>
        <p:nvSpPr>
          <p:cNvPr id="16" name="text-8">
            <a:extLst xmlns:a="http://schemas.openxmlformats.org/drawingml/2006/main">
              <a:ext uri="{FF2B5EF4-FFF2-40B4-BE49-F238E27FC236}">
                <a16:creationId xmlns:a16="http://schemas.microsoft.com/office/drawing/2014/main" id="{852C9334-6373-4E6E-8537-2CABE6F7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438775"/>
            <a:ext cx="114300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CandidateEpisodeAggregator</a:t>
            </a:r>
          </a:p>
        </p:txBody>
      </p:sp>
      <p:sp>
        <p:nvSpPr>
          <p:cNvPr id="17" name="text-9">
            <a:extLst xmlns:a="http://schemas.openxmlformats.org/drawingml/2006/main">
              <a:ext uri="{FF2B5EF4-FFF2-40B4-BE49-F238E27FC236}">
                <a16:creationId xmlns:a16="http://schemas.microsoft.com/office/drawing/2014/main" id="{75147048-0A30-4395-9FEF-1EA6FAC3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838825"/>
            <a:ext cx="114300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Groups supporting samples and chooses the best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5D4ABE-C003-4DF4-9B42-52A85C90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257925"/>
            <a:ext cx="19050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7667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F8703D-77CF-4CE0-B613-5AB14A28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515100"/>
            <a:ext cx="11811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9525">
            <a:solidFill>
              <a:srgbClr val="D0DBE1"/>
            </a:solidFill>
          </a:ln>
        </p:spPr>
      </p:sp>
      <p:sp>
        <p:nvSpPr>
          <p:cNvPr id="20" name="text-10">
            <a:extLst xmlns:a="http://schemas.openxmlformats.org/drawingml/2006/main">
              <a:ext uri="{FF2B5EF4-FFF2-40B4-BE49-F238E27FC236}">
                <a16:creationId xmlns:a16="http://schemas.microsoft.com/office/drawing/2014/main" id="{94D60718-350E-4E64-8686-DC3DE355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600825"/>
            <a:ext cx="114300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Report and evidence</a:t>
            </a:r>
          </a:p>
        </p:txBody>
      </p:sp>
      <p:sp>
        <p:nvSpPr>
          <p:cNvPr id="21" name="text-11">
            <a:extLst xmlns:a="http://schemas.openxmlformats.org/drawingml/2006/main">
              <a:ext uri="{FF2B5EF4-FFF2-40B4-BE49-F238E27FC236}">
                <a16:creationId xmlns:a16="http://schemas.microsoft.com/office/drawing/2014/main" id="{3BC106F2-BB1A-4123-ABBE-2D70332F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7000875"/>
            <a:ext cx="114300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SessionReportBuilder + JSONL SessionLog + separate local images</a:t>
            </a:r>
          </a:p>
        </p:txBody>
      </p:sp>
      <p:sp>
        <p:nvSpPr>
          <p:cNvPr id="22" name="text-12">
            <a:extLst xmlns:a="http://schemas.openxmlformats.org/drawingml/2006/main">
              <a:ext uri="{FF2B5EF4-FFF2-40B4-BE49-F238E27FC236}">
                <a16:creationId xmlns:a16="http://schemas.microsoft.com/office/drawing/2014/main" id="{F723C001-FC97-475C-B9A5-698561B4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48575"/>
            <a:ext cx="1379220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FixtureEvaluator is a separate test/development target. The app does not link annotations.</a:t>
            </a:r>
          </a:p>
        </p:txBody>
      </p:sp>
      <p:sp>
        <p:nvSpPr>
          <p:cNvPr id="23" name="text-13">
            <a:extLst xmlns:a="http://schemas.openxmlformats.org/drawingml/2006/main">
              <a:ext uri="{FF2B5EF4-FFF2-40B4-BE49-F238E27FC236}">
                <a16:creationId xmlns:a16="http://schemas.microsoft.com/office/drawing/2014/main" id="{91EE4BBF-8C5C-4EAF-9998-BED459CC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43875"/>
            <a:ext cx="857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Code:</a:t>
            </a:r>
          </a:p>
        </p:txBody>
      </p:sp>
      <p:sp>
        <p:nvSpPr>
          <p:cNvPr id="24" name="text-14">
            <a:extLst xmlns:a="http://schemas.openxmlformats.org/drawingml/2006/main">
              <a:ext uri="{FF2B5EF4-FFF2-40B4-BE49-F238E27FC236}">
                <a16:creationId xmlns:a16="http://schemas.microsoft.com/office/drawing/2014/main" id="{BAFA99B9-5773-4285-A6D1-CF1D6725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143875"/>
            <a:ext cx="3905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u="sng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1725" b="0" u="sng">
                <a:solidFill>
                  <a:srgbClr val="17667B"/>
                </a:solidFill>
                <a:latin typeface="Arial"/>
                <a:ea typeface="Arial"/>
                <a:cs typeface="Arial"/>
                <a:hlinkClick xmlns:r="http://schemas.openxmlformats.org/officeDocument/2006/relationships" r:id="Reb6204e24f8b4652"/>
              </a:rPr>
              <a:t>Pipeline components</a:t>
            </a:r>
          </a:p>
        </p:txBody>
      </p:sp>
      <p:sp>
        <p:nvSpPr>
          <p:cNvPr id="25" name="text-15">
            <a:extLst xmlns:a="http://schemas.openxmlformats.org/drawingml/2006/main">
              <a:ext uri="{FF2B5EF4-FFF2-40B4-BE49-F238E27FC236}">
                <a16:creationId xmlns:a16="http://schemas.microsoft.com/office/drawing/2014/main" id="{64FA9341-9794-4187-8DE7-8CA34290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143875"/>
            <a:ext cx="3905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u="sng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1725" b="0" u="sng">
                <a:solidFill>
                  <a:srgbClr val="17667B"/>
                </a:solidFill>
                <a:latin typeface="Arial"/>
                <a:ea typeface="Arial"/>
                <a:cs typeface="Arial"/>
                <a:hlinkClick xmlns:r="http://schemas.openxmlformats.org/officeDocument/2006/relationships" r:id="R1cb9e5c0fb934742"/>
              </a:rPr>
              <a:t>Debug harness</a:t>
            </a:r>
          </a:p>
        </p:txBody>
      </p:sp>
      <p:sp>
        <p:nvSpPr>
          <p:cNvPr id="26" name="text-16">
            <a:extLst xmlns:a="http://schemas.openxmlformats.org/drawingml/2006/main">
              <a:ext uri="{FF2B5EF4-FFF2-40B4-BE49-F238E27FC236}">
                <a16:creationId xmlns:a16="http://schemas.microsoft.com/office/drawing/2014/main" id="{589AF3A3-CAA6-4DB4-8392-5802698C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143875"/>
            <a:ext cx="3905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u="sng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1725" b="0" u="sng">
                <a:solidFill>
                  <a:srgbClr val="17667B"/>
                </a:solidFill>
                <a:latin typeface="Arial"/>
                <a:ea typeface="Arial"/>
                <a:cs typeface="Arial"/>
                <a:hlinkClick xmlns:r="http://schemas.openxmlformats.org/officeDocument/2006/relationships" r:id="R07d0571d183b4073"/>
              </a:rPr>
              <a:t>Evaluator</a:t>
            </a:r>
          </a:p>
        </p:txBody>
      </p:sp>
      <p:sp>
        <p:nvSpPr>
          <p:cNvPr id="27" name="text-17">
            <a:extLst xmlns:a="http://schemas.openxmlformats.org/drawingml/2006/main">
              <a:ext uri="{FF2B5EF4-FFF2-40B4-BE49-F238E27FC236}">
                <a16:creationId xmlns:a16="http://schemas.microsoft.com/office/drawing/2014/main" id="{24B418D2-842B-4359-B86B-F5DBE766D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8096250"/>
            <a:ext cx="428625" cy="304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932408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0">
            <a:extLst xmlns:a="http://schemas.openxmlformats.org/drawingml/2006/main">
              <a:ext uri="{FF2B5EF4-FFF2-40B4-BE49-F238E27FC236}">
                <a16:creationId xmlns:a16="http://schemas.microsoft.com/office/drawing/2014/main" id="{2FD8AE70-9DB5-4E30-9004-93C9C0D2D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3792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Pipeline orchestration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2CDB3A6-B85F-4794-ABDB-90DC00EE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37541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CandidateAnalysisPipeline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0D33874-62BE-4017-97A4-DCE598AA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619125" cy="44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5B6D6AF-A837-4608-99C9-B55DA744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85950"/>
            <a:ext cx="129921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Start a worker away from the UI thread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FE1FF4F-479E-4EF1-98C8-8442E9FA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62225"/>
            <a:ext cx="619125" cy="44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B7AB25E-CEDD-4232-8870-6AA3E0E7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43175"/>
            <a:ext cx="129921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Compose stream, scorer, aggregator, and recorder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CBC3058-EECA-4A97-8941-CD857D8C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619125" cy="44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6182EDCE-F928-481D-B1E8-C7AF4A64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00400"/>
            <a:ext cx="129921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Finalize once after stop, cancellation, error, or EOF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03F05FFD-D3AD-4330-B075-55EB4943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1379220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Selected Swift lines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9244C8-1E5C-4728-ACC0-16236222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13792200" cy="1724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0">
            <a:noFill/>
          </a:ln>
        </p:spPr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4E08B114-3EDF-43A5-95C6-5792D7D5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38650"/>
            <a:ext cx="13373100" cy="15687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let worker = Task.detached { try await self.execute(onUpdate: onUpdate) }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return try await withTaskCancellationHandler { try await worker.value } onCancel: {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    self.stream.cancel()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    worker.cancel()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A6B1B812-54AE-4B9C-B82B-1CFB00F3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77075"/>
            <a:ext cx="137922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CandidateAnalysisPipelineTests + PipelineIntegrationSuite</a:t>
            </a:r>
          </a:p>
        </p:txBody>
      </p:sp>
      <p:sp>
        <p:nvSpPr>
          <p:cNvPr id="13" name="text-11">
            <a:extLst xmlns:a="http://schemas.openxmlformats.org/drawingml/2006/main">
              <a:ext uri="{FF2B5EF4-FFF2-40B4-BE49-F238E27FC236}">
                <a16:creationId xmlns:a16="http://schemas.microsoft.com/office/drawing/2014/main" id="{D94863FB-CD8F-4D5E-9721-BF689EEB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534275"/>
            <a:ext cx="13792200" cy="409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Real frames arrive before EOF. Reports rebuild from logs. Cancellation finalizes once.</a:t>
            </a:r>
          </a:p>
        </p:txBody>
      </p:sp>
      <p:sp>
        <p:nvSpPr>
          <p:cNvPr id="14" name="text-12">
            <a:extLst xmlns:a="http://schemas.openxmlformats.org/drawingml/2006/main">
              <a:ext uri="{FF2B5EF4-FFF2-40B4-BE49-F238E27FC236}">
                <a16:creationId xmlns:a16="http://schemas.microsoft.com/office/drawing/2014/main" id="{32B4A530-29BB-4455-B725-F5C9CECC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43875"/>
            <a:ext cx="857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Code:</a:t>
            </a:r>
          </a:p>
        </p:txBody>
      </p:sp>
      <p:sp>
        <p:nvSpPr>
          <p:cNvPr id="15" name="text-13">
            <a:extLst xmlns:a="http://schemas.openxmlformats.org/drawingml/2006/main">
              <a:ext uri="{FF2B5EF4-FFF2-40B4-BE49-F238E27FC236}">
                <a16:creationId xmlns:a16="http://schemas.microsoft.com/office/drawing/2014/main" id="{25662F47-632B-4B33-9C47-DAA5E45F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143875"/>
            <a:ext cx="3905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u="sng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1725" b="0" u="sng">
                <a:solidFill>
                  <a:srgbClr val="17667B"/>
                </a:solidFill>
                <a:latin typeface="Arial"/>
                <a:ea typeface="Arial"/>
                <a:cs typeface="Arial"/>
                <a:hlinkClick xmlns:r="http://schemas.openxmlformats.org/officeDocument/2006/relationships" r:id="Rd59739d1e7604499"/>
              </a:rPr>
              <a:t>Pipeline source</a:t>
            </a:r>
          </a:p>
        </p:txBody>
      </p:sp>
      <p:sp>
        <p:nvSpPr>
          <p:cNvPr id="16" name="text-14">
            <a:extLst xmlns:a="http://schemas.openxmlformats.org/drawingml/2006/main">
              <a:ext uri="{FF2B5EF4-FFF2-40B4-BE49-F238E27FC236}">
                <a16:creationId xmlns:a16="http://schemas.microsoft.com/office/drawing/2014/main" id="{8693F791-A680-4E24-B6E6-DCE1EB7B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143875"/>
            <a:ext cx="3905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u="sng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1725" b="0" u="sng">
                <a:solidFill>
                  <a:srgbClr val="17667B"/>
                </a:solidFill>
                <a:latin typeface="Arial"/>
                <a:ea typeface="Arial"/>
                <a:cs typeface="Arial"/>
                <a:hlinkClick xmlns:r="http://schemas.openxmlformats.org/officeDocument/2006/relationships" r:id="Ra9cd57b5f24241a7"/>
              </a:rPr>
              <a:t>Pipeline tests</a:t>
            </a:r>
          </a:p>
        </p:txBody>
      </p:sp>
      <p:sp>
        <p:nvSpPr>
          <p:cNvPr id="17" name="text-15">
            <a:extLst xmlns:a="http://schemas.openxmlformats.org/drawingml/2006/main">
              <a:ext uri="{FF2B5EF4-FFF2-40B4-BE49-F238E27FC236}">
                <a16:creationId xmlns:a16="http://schemas.microsoft.com/office/drawing/2014/main" id="{380A7649-4738-4E7A-8BC7-EF3D6A40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143875"/>
            <a:ext cx="3905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u="sng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1725" b="0" u="sng">
                <a:solidFill>
                  <a:srgbClr val="17667B"/>
                </a:solidFill>
                <a:latin typeface="Arial"/>
                <a:ea typeface="Arial"/>
                <a:cs typeface="Arial"/>
                <a:hlinkClick xmlns:r="http://schemas.openxmlformats.org/officeDocument/2006/relationships" r:id="R799ab8e5ec6a446d"/>
              </a:rPr>
              <a:t>Integration suite</a:t>
            </a:r>
          </a:p>
        </p:txBody>
      </p:sp>
      <p:sp>
        <p:nvSpPr>
          <p:cNvPr id="18" name="text-16">
            <a:extLst xmlns:a="http://schemas.openxmlformats.org/drawingml/2006/main">
              <a:ext uri="{FF2B5EF4-FFF2-40B4-BE49-F238E27FC236}">
                <a16:creationId xmlns:a16="http://schemas.microsoft.com/office/drawing/2014/main" id="{742FADD4-C27D-49CD-91D8-3A94353E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8096250"/>
            <a:ext cx="428625" cy="304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889576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0">
            <a:extLst xmlns:a="http://schemas.openxmlformats.org/drawingml/2006/main">
              <a:ext uri="{FF2B5EF4-FFF2-40B4-BE49-F238E27FC236}">
                <a16:creationId xmlns:a16="http://schemas.microsoft.com/office/drawing/2014/main" id="{4B99F65C-FA6F-4E35-9D4F-E35D2D68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3792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Incremental frame delivery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C3D5287-2632-4D4C-822C-323BC7B8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37541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VideoFixtureFrameStream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280F2A8-DF67-42EA-9EDF-D56B5389D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619125" cy="44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F6523EC-39E1-48FC-8905-AC2F21E9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85950"/>
            <a:ext cx="129921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Decode one video sample and keep its presentation timestamp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DDAB902-404B-4B15-9E4E-D2AC0384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62225"/>
            <a:ext cx="619125" cy="44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DFA8D5BD-4F72-461F-AFE9-B5FBA9C9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43175"/>
            <a:ext cx="129921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Select eligible slots at 2 frames per second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E639336C-99B6-473E-88E6-272EF6CF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619125" cy="44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D29C2290-5613-4467-BB7D-5ACE25C4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00400"/>
            <a:ext cx="129921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Replay holds one active consumer and one replaceable pending frame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782A7D64-B4EF-4F3E-924F-BF13E468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1379220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Selected Swift lines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A149D3-F5A0-442D-8020-60F982527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13792200" cy="1724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0">
            <a:noFill/>
          </a:ln>
        </p:spPr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2915E532-FE28-47E2-A7B5-5907B5A8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38650"/>
            <a:ext cx="13373100" cy="15687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let (frames, continuation) = AsyncThrowingStream&lt;VideoFrame, Error&gt;.makeStream(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    bufferingPolicy: .bufferingNewest(1))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if case .dropped(let old) = continuation.yield(frame) {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    try self.drop(old, observer: observer)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CD64FE4A-B32B-4CD6-8163-EBA6B6E7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77075"/>
            <a:ext cx="137922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VideoFixtureFrameStreamTests</a:t>
            </a:r>
          </a:p>
        </p:txBody>
      </p:sp>
      <p:sp>
        <p:nvSpPr>
          <p:cNvPr id="13" name="text-11">
            <a:extLst xmlns:a="http://schemas.openxmlformats.org/drawingml/2006/main">
              <a:ext uri="{FF2B5EF4-FFF2-40B4-BE49-F238E27FC236}">
                <a16:creationId xmlns:a16="http://schemas.microsoft.com/office/drawing/2014/main" id="{E9F7D647-5D22-4404-A279-908AD406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534275"/>
            <a:ext cx="13792200" cy="409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Both videos repeat with stable frame IDs. Slow replay drops stale work and stops cleanly.</a:t>
            </a:r>
          </a:p>
        </p:txBody>
      </p:sp>
      <p:sp>
        <p:nvSpPr>
          <p:cNvPr id="14" name="text-12">
            <a:extLst xmlns:a="http://schemas.openxmlformats.org/drawingml/2006/main">
              <a:ext uri="{FF2B5EF4-FFF2-40B4-BE49-F238E27FC236}">
                <a16:creationId xmlns:a16="http://schemas.microsoft.com/office/drawing/2014/main" id="{47BC5CD9-3CCC-4FFC-8629-D49466E8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43875"/>
            <a:ext cx="857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Code:</a:t>
            </a:r>
          </a:p>
        </p:txBody>
      </p:sp>
      <p:sp>
        <p:nvSpPr>
          <p:cNvPr id="15" name="text-13">
            <a:extLst xmlns:a="http://schemas.openxmlformats.org/drawingml/2006/main">
              <a:ext uri="{FF2B5EF4-FFF2-40B4-BE49-F238E27FC236}">
                <a16:creationId xmlns:a16="http://schemas.microsoft.com/office/drawing/2014/main" id="{3217C426-033C-460B-8FB3-A0D1CC1F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143875"/>
            <a:ext cx="3905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u="sng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1725" b="0" u="sng">
                <a:solidFill>
                  <a:srgbClr val="17667B"/>
                </a:solidFill>
                <a:latin typeface="Arial"/>
                <a:ea typeface="Arial"/>
                <a:cs typeface="Arial"/>
                <a:hlinkClick xmlns:r="http://schemas.openxmlformats.org/officeDocument/2006/relationships" r:id="R4c27715ebc7044f1"/>
              </a:rPr>
              <a:t>Frame stream</a:t>
            </a:r>
          </a:p>
        </p:txBody>
      </p:sp>
      <p:sp>
        <p:nvSpPr>
          <p:cNvPr id="16" name="text-14">
            <a:extLst xmlns:a="http://schemas.openxmlformats.org/drawingml/2006/main">
              <a:ext uri="{FF2B5EF4-FFF2-40B4-BE49-F238E27FC236}">
                <a16:creationId xmlns:a16="http://schemas.microsoft.com/office/drawing/2014/main" id="{3E3C3AFA-9309-4D52-A67C-2910B6ED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143875"/>
            <a:ext cx="3905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u="sng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1725" b="0" u="sng">
                <a:solidFill>
                  <a:srgbClr val="17667B"/>
                </a:solidFill>
                <a:latin typeface="Arial"/>
                <a:ea typeface="Arial"/>
                <a:cs typeface="Arial"/>
                <a:hlinkClick xmlns:r="http://schemas.openxmlformats.org/officeDocument/2006/relationships" r:id="Re08f0d30d0a44c6b"/>
              </a:rPr>
              <a:t>Stream contract</a:t>
            </a:r>
          </a:p>
        </p:txBody>
      </p:sp>
      <p:sp>
        <p:nvSpPr>
          <p:cNvPr id="17" name="text-15">
            <a:extLst xmlns:a="http://schemas.openxmlformats.org/drawingml/2006/main">
              <a:ext uri="{FF2B5EF4-FFF2-40B4-BE49-F238E27FC236}">
                <a16:creationId xmlns:a16="http://schemas.microsoft.com/office/drawing/2014/main" id="{0B61B46C-D338-40B0-912F-0E53D291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143875"/>
            <a:ext cx="3905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u="sng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1725" b="0" u="sng">
                <a:solidFill>
                  <a:srgbClr val="17667B"/>
                </a:solidFill>
                <a:latin typeface="Arial"/>
                <a:ea typeface="Arial"/>
                <a:cs typeface="Arial"/>
                <a:hlinkClick xmlns:r="http://schemas.openxmlformats.org/officeDocument/2006/relationships" r:id="Rbe12fecc04b348e7"/>
              </a:rPr>
              <a:t>Streaming tests</a:t>
            </a:r>
          </a:p>
        </p:txBody>
      </p:sp>
      <p:sp>
        <p:nvSpPr>
          <p:cNvPr id="18" name="text-16">
            <a:extLst xmlns:a="http://schemas.openxmlformats.org/drawingml/2006/main">
              <a:ext uri="{FF2B5EF4-FFF2-40B4-BE49-F238E27FC236}">
                <a16:creationId xmlns:a16="http://schemas.microsoft.com/office/drawing/2014/main" id="{0DF1C60B-7EE9-4575-BD1C-D0132AAE6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8096250"/>
            <a:ext cx="428625" cy="304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615744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0">
            <a:extLst xmlns:a="http://schemas.openxmlformats.org/drawingml/2006/main">
              <a:ext uri="{FF2B5EF4-FFF2-40B4-BE49-F238E27FC236}">
                <a16:creationId xmlns:a16="http://schemas.microsoft.com/office/drawing/2014/main" id="{148D0407-2BC7-44A0-B7C1-F7E6CE8D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3792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Reference image and Vision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DC928D8-3CAF-4476-9A3B-FDEE44AA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37541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LocalTargetCatalog and VisionFeatureAdapter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1BFF0C3-55EA-47F1-B35C-CDC45180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619125" cy="44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572AFC8-A76A-40FF-A7A6-68F4FF32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85950"/>
            <a:ext cx="129921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Load one banana reference and preserve its EXIF orientation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5472B97-69B7-41EA-A989-7F540069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62225"/>
            <a:ext cx="619125" cy="44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0CB459F-5631-4A38-ACDC-F7D55689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43175"/>
            <a:ext cx="129921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Generate and cache the reference feature print once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67F0E33-8E2C-4269-BC1C-CF46A5F9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619125" cy="44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79B707AB-8C69-4776-B293-2DF34CCA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00400"/>
            <a:ext cx="129921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Use Vision revision 2 and the fixed scaleFill policy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75318AD3-D5FC-45A4-88C4-F9569307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1379220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Selected Swift lines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559071-03CF-4C22-A72B-20499C27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137922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0">
            <a:noFill/>
          </a:ln>
        </p:spPr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36877913-334D-44B0-91A9-2DB7A07F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38650"/>
            <a:ext cx="13373100" cy="18634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let request = VNGenerateImageFeaturePrintRequest()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request.revision = revision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request.imageCropAndScaleOption = .scaleFill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let handler = VNImageRequestHandler(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    cgImage: image.image, orientation: image.orientation, options: [:]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 )</a:t>
            </a:r>
          </a:p>
        </p:txBody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F866E3F0-752A-4DBF-A743-E9280235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77075"/>
            <a:ext cx="137922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LocalTargetCatalogTests + VisionFeatureAdapterTests</a:t>
            </a:r>
          </a:p>
        </p:txBody>
      </p:sp>
      <p:sp>
        <p:nvSpPr>
          <p:cNvPr id="13" name="text-11">
            <a:extLst xmlns:a="http://schemas.openxmlformats.org/drawingml/2006/main">
              <a:ext uri="{FF2B5EF4-FFF2-40B4-BE49-F238E27FC236}">
                <a16:creationId xmlns:a16="http://schemas.microsoft.com/office/drawing/2014/main" id="{081BBEBB-77F0-4801-904A-C4EDBD46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534275"/>
            <a:ext cx="13792200" cy="409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Tests run real inference, verify EXIF behavior, reject bad images, and check lazy caching.</a:t>
            </a:r>
          </a:p>
        </p:txBody>
      </p:sp>
      <p:sp>
        <p:nvSpPr>
          <p:cNvPr id="14" name="text-12">
            <a:extLst xmlns:a="http://schemas.openxmlformats.org/drawingml/2006/main">
              <a:ext uri="{FF2B5EF4-FFF2-40B4-BE49-F238E27FC236}">
                <a16:creationId xmlns:a16="http://schemas.microsoft.com/office/drawing/2014/main" id="{B8929B17-4B06-47F2-BBEC-61CA11A8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43875"/>
            <a:ext cx="857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Code:</a:t>
            </a:r>
          </a:p>
        </p:txBody>
      </p:sp>
      <p:sp>
        <p:nvSpPr>
          <p:cNvPr id="15" name="text-13">
            <a:extLst xmlns:a="http://schemas.openxmlformats.org/drawingml/2006/main">
              <a:ext uri="{FF2B5EF4-FFF2-40B4-BE49-F238E27FC236}">
                <a16:creationId xmlns:a16="http://schemas.microsoft.com/office/drawing/2014/main" id="{3100EB7C-66BA-4971-92E8-CBDF3485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143875"/>
            <a:ext cx="3905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u="sng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1725" b="0" u="sng">
                <a:solidFill>
                  <a:srgbClr val="17667B"/>
                </a:solidFill>
                <a:latin typeface="Arial"/>
                <a:ea typeface="Arial"/>
                <a:cs typeface="Arial"/>
                <a:hlinkClick xmlns:r="http://schemas.openxmlformats.org/officeDocument/2006/relationships" r:id="R39c8b57f9ec64b66"/>
              </a:rPr>
              <a:t>Target catalog</a:t>
            </a:r>
          </a:p>
        </p:txBody>
      </p:sp>
      <p:sp>
        <p:nvSpPr>
          <p:cNvPr id="16" name="text-14">
            <a:extLst xmlns:a="http://schemas.openxmlformats.org/drawingml/2006/main">
              <a:ext uri="{FF2B5EF4-FFF2-40B4-BE49-F238E27FC236}">
                <a16:creationId xmlns:a16="http://schemas.microsoft.com/office/drawing/2014/main" id="{A3558547-1912-455E-973D-95EA8BA9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143875"/>
            <a:ext cx="3905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u="sng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1725" b="0" u="sng">
                <a:solidFill>
                  <a:srgbClr val="17667B"/>
                </a:solidFill>
                <a:latin typeface="Arial"/>
                <a:ea typeface="Arial"/>
                <a:cs typeface="Arial"/>
                <a:hlinkClick xmlns:r="http://schemas.openxmlformats.org/officeDocument/2006/relationships" r:id="Rdcd90031f3ea4fe6"/>
              </a:rPr>
              <a:t>Vision adapter</a:t>
            </a:r>
          </a:p>
        </p:txBody>
      </p:sp>
      <p:sp>
        <p:nvSpPr>
          <p:cNvPr id="17" name="text-15">
            <a:extLst xmlns:a="http://schemas.openxmlformats.org/drawingml/2006/main">
              <a:ext uri="{FF2B5EF4-FFF2-40B4-BE49-F238E27FC236}">
                <a16:creationId xmlns:a16="http://schemas.microsoft.com/office/drawing/2014/main" id="{AB061B52-9D4C-44EE-A156-936B48DE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143875"/>
            <a:ext cx="3905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u="sng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1725" b="0" u="sng">
                <a:solidFill>
                  <a:srgbClr val="17667B"/>
                </a:solidFill>
                <a:latin typeface="Arial"/>
                <a:ea typeface="Arial"/>
                <a:cs typeface="Arial"/>
                <a:hlinkClick xmlns:r="http://schemas.openxmlformats.org/officeDocument/2006/relationships" r:id="Rdd3b41dc13e54bf1"/>
              </a:rPr>
              <a:t>Package tests</a:t>
            </a:r>
          </a:p>
        </p:txBody>
      </p:sp>
      <p:sp>
        <p:nvSpPr>
          <p:cNvPr id="18" name="text-16">
            <a:extLst xmlns:a="http://schemas.openxmlformats.org/drawingml/2006/main">
              <a:ext uri="{FF2B5EF4-FFF2-40B4-BE49-F238E27FC236}">
                <a16:creationId xmlns:a16="http://schemas.microsoft.com/office/drawing/2014/main" id="{C08EF685-6722-43C1-AFF2-7D396A59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8096250"/>
            <a:ext cx="428625" cy="304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568449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0">
            <a:extLst xmlns:a="http://schemas.openxmlformats.org/drawingml/2006/main">
              <a:ext uri="{FF2B5EF4-FFF2-40B4-BE49-F238E27FC236}">
                <a16:creationId xmlns:a16="http://schemas.microsoft.com/office/drawing/2014/main" id="{95BB8DEB-E752-4F0E-8CA2-1FCB8C967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3792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Candidate scoring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C2AD793-14EE-4E3D-A0DA-4C268230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37541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CandidateScorer and the frozen ScoringProfile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81F8CD6-E60A-472A-9123-792AB903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619125" cy="44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3D6675C-5037-4268-A380-05D31CB4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85950"/>
            <a:ext cx="129921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Compare the whole frame and a centered 60% × 60% crop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40FDB64-3208-41EB-9951-9FA88C4C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62225"/>
            <a:ext cx="619125" cy="44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16D134A-0AAA-422E-B626-5670A8C5C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43175"/>
            <a:ext cx="129921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Use the smaller distance as the frame's evidence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FF7F301-8BE3-42D1-835C-A13F4EC9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619125" cy="44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2C679BA-1FFD-4357-BE8A-833E987A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00400"/>
            <a:ext cx="129921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Support the target when distance ≤ 0.4293864220380783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E4A4CF36-473F-4F4E-8642-898F2CCFD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1379220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Selected Swift lines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7663BD-8A6F-4775-A7EE-6DFA0DFA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13792200" cy="1724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0">
            <a:noFill/>
          </a:ln>
        </p:spPr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C2375675-741E-4146-BBFE-D734D83A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38650"/>
            <a:ext cx="13373100" cy="15687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public var distance: Double { min(wholeDistance, cropDistance) }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public var similarity: Double { 1 / (1 + distance) }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public func supports(maximumDistance: Double) -&gt; Bool {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    distance &lt;= maximumDistance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36B61450-0E3C-4282-A7F2-302F0CC8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77075"/>
            <a:ext cx="137922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CandidateScorerTests + fixed-profile integration tests</a:t>
            </a:r>
          </a:p>
        </p:txBody>
      </p:sp>
      <p:sp>
        <p:nvSpPr>
          <p:cNvPr id="13" name="text-11">
            <a:extLst xmlns:a="http://schemas.openxmlformats.org/drawingml/2006/main">
              <a:ext uri="{FF2B5EF4-FFF2-40B4-BE49-F238E27FC236}">
                <a16:creationId xmlns:a16="http://schemas.microsoft.com/office/drawing/2014/main" id="{452EF656-1402-4E6A-BE3A-BA4F079C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534275"/>
            <a:ext cx="13792200" cy="409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82 sampled frames support the calibration. Tests and phone runs never choose a new threshold.</a:t>
            </a:r>
          </a:p>
        </p:txBody>
      </p:sp>
      <p:sp>
        <p:nvSpPr>
          <p:cNvPr id="14" name="text-12">
            <a:extLst xmlns:a="http://schemas.openxmlformats.org/drawingml/2006/main">
              <a:ext uri="{FF2B5EF4-FFF2-40B4-BE49-F238E27FC236}">
                <a16:creationId xmlns:a16="http://schemas.microsoft.com/office/drawing/2014/main" id="{29B94274-CF89-4D0F-922D-0F1F9A4F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43875"/>
            <a:ext cx="857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Code:</a:t>
            </a:r>
          </a:p>
        </p:txBody>
      </p:sp>
      <p:sp>
        <p:nvSpPr>
          <p:cNvPr id="15" name="text-13">
            <a:extLst xmlns:a="http://schemas.openxmlformats.org/drawingml/2006/main">
              <a:ext uri="{FF2B5EF4-FFF2-40B4-BE49-F238E27FC236}">
                <a16:creationId xmlns:a16="http://schemas.microsoft.com/office/drawing/2014/main" id="{24D7C386-96C6-4466-869F-434D6B06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143875"/>
            <a:ext cx="3905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u="sng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1725" b="0" u="sng">
                <a:solidFill>
                  <a:srgbClr val="17667B"/>
                </a:solidFill>
                <a:latin typeface="Arial"/>
                <a:ea typeface="Arial"/>
                <a:cs typeface="Arial"/>
                <a:hlinkClick xmlns:r="http://schemas.openxmlformats.org/officeDocument/2006/relationships" r:id="R6a8648267acc4464"/>
              </a:rPr>
              <a:t>Candidate scorer</a:t>
            </a:r>
          </a:p>
        </p:txBody>
      </p:sp>
      <p:sp>
        <p:nvSpPr>
          <p:cNvPr id="16" name="text-14">
            <a:extLst xmlns:a="http://schemas.openxmlformats.org/drawingml/2006/main">
              <a:ext uri="{FF2B5EF4-FFF2-40B4-BE49-F238E27FC236}">
                <a16:creationId xmlns:a16="http://schemas.microsoft.com/office/drawing/2014/main" id="{0696AF7D-A158-4D71-A55B-56CA58CF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143875"/>
            <a:ext cx="3905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u="sng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1725" b="0" u="sng">
                <a:solidFill>
                  <a:srgbClr val="17667B"/>
                </a:solidFill>
                <a:latin typeface="Arial"/>
                <a:ea typeface="Arial"/>
                <a:cs typeface="Arial"/>
                <a:hlinkClick xmlns:r="http://schemas.openxmlformats.org/officeDocument/2006/relationships" r:id="Rdc95cf6fe8724745"/>
              </a:rPr>
              <a:t>Scoring profile</a:t>
            </a:r>
          </a:p>
        </p:txBody>
      </p:sp>
      <p:sp>
        <p:nvSpPr>
          <p:cNvPr id="17" name="text-15">
            <a:extLst xmlns:a="http://schemas.openxmlformats.org/drawingml/2006/main">
              <a:ext uri="{FF2B5EF4-FFF2-40B4-BE49-F238E27FC236}">
                <a16:creationId xmlns:a16="http://schemas.microsoft.com/office/drawing/2014/main" id="{AFF4E451-9F33-4F4C-B578-C6209E91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143875"/>
            <a:ext cx="3905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u="sng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1725" b="0" u="sng">
                <a:solidFill>
                  <a:srgbClr val="17667B"/>
                </a:solidFill>
                <a:latin typeface="Arial"/>
                <a:ea typeface="Arial"/>
                <a:cs typeface="Arial"/>
                <a:hlinkClick xmlns:r="http://schemas.openxmlformats.org/officeDocument/2006/relationships" r:id="R236ef0a8b2f74c1c"/>
              </a:rPr>
              <a:t>Scorer tests</a:t>
            </a:r>
          </a:p>
        </p:txBody>
      </p:sp>
      <p:sp>
        <p:nvSpPr>
          <p:cNvPr id="18" name="text-16">
            <a:extLst xmlns:a="http://schemas.openxmlformats.org/drawingml/2006/main">
              <a:ext uri="{FF2B5EF4-FFF2-40B4-BE49-F238E27FC236}">
                <a16:creationId xmlns:a16="http://schemas.microsoft.com/office/drawing/2014/main" id="{95D5BDAC-142E-4898-9F13-8C88F9D6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8096250"/>
            <a:ext cx="428625" cy="304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259644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-0">
            <a:extLst xmlns:a="http://schemas.openxmlformats.org/drawingml/2006/main">
              <a:ext uri="{FF2B5EF4-FFF2-40B4-BE49-F238E27FC236}">
                <a16:creationId xmlns:a16="http://schemas.microsoft.com/office/drawing/2014/main" id="{612E9C9F-6900-4074-B79E-9F5B67D2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3792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Candidate episodes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BD9B609-9D54-4DFC-9978-4B8FD628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37541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CandidateEpisodeAggregator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F324A9-F714-4878-9635-08A3F5BC8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809750"/>
            <a:ext cx="118110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9525">
            <a:solidFill>
              <a:srgbClr val="D0DBE1"/>
            </a:solidFill>
          </a:ln>
        </p:spPr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4AA8FBBA-AC7F-42C8-B556-658D812B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885950"/>
            <a:ext cx="19050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Waiting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56D50C9B-C38F-48B6-AAB5-70353B9B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43100"/>
            <a:ext cx="9144000" cy="409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One supporting eligible sample starts a streak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385CAF-FBBE-449C-9BB1-BAD52E62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09850"/>
            <a:ext cx="19050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7667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525BDB-A27C-434D-9E13-080469AE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57500"/>
            <a:ext cx="118110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9525">
            <a:solidFill>
              <a:srgbClr val="D0DBE1"/>
            </a:solidFill>
          </a:ln>
        </p:spPr>
      </p:sp>
      <p:sp>
        <p:nvSpPr>
          <p:cNvPr id="8" name="text-4">
            <a:extLst xmlns:a="http://schemas.openxmlformats.org/drawingml/2006/main">
              <a:ext uri="{FF2B5EF4-FFF2-40B4-BE49-F238E27FC236}">
                <a16:creationId xmlns:a16="http://schemas.microsoft.com/office/drawing/2014/main" id="{977B3428-68E9-4613-85FB-428C8C3D7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33700"/>
            <a:ext cx="19050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Open</a:t>
            </a:r>
          </a:p>
        </p:txBody>
      </p:sp>
      <p:sp>
        <p:nvSpPr>
          <p:cNvPr id="9" name="text-5">
            <a:extLst xmlns:a="http://schemas.openxmlformats.org/drawingml/2006/main">
              <a:ext uri="{FF2B5EF4-FFF2-40B4-BE49-F238E27FC236}">
                <a16:creationId xmlns:a16="http://schemas.microsoft.com/office/drawing/2014/main" id="{1FFF2FCF-5632-4429-8653-6294D97F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90850"/>
            <a:ext cx="9144000" cy="409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The second consecutive supporting sample opens an episode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FEEFFA-ACC9-4B9F-946D-553EB316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57600"/>
            <a:ext cx="19050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7667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6540DC-CA33-4A92-8551-B85AAF023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05250"/>
            <a:ext cx="118110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9525">
            <a:solidFill>
              <a:srgbClr val="D0DBE1"/>
            </a:solidFill>
          </a:ln>
        </p:spPr>
      </p:sp>
      <p:sp>
        <p:nvSpPr>
          <p:cNvPr id="12" name="text-6">
            <a:extLst xmlns:a="http://schemas.openxmlformats.org/drawingml/2006/main">
              <a:ext uri="{FF2B5EF4-FFF2-40B4-BE49-F238E27FC236}">
                <a16:creationId xmlns:a16="http://schemas.microsoft.com/office/drawing/2014/main" id="{2E5CF579-98D6-4BCF-99DB-D33C68B5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981450"/>
            <a:ext cx="19050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Active</a:t>
            </a:r>
          </a:p>
        </p:txBody>
      </p:sp>
      <p:sp>
        <p:nvSpPr>
          <p:cNvPr id="13" name="text-7">
            <a:extLst xmlns:a="http://schemas.openxmlformats.org/drawingml/2006/main">
              <a:ext uri="{FF2B5EF4-FFF2-40B4-BE49-F238E27FC236}">
                <a16:creationId xmlns:a16="http://schemas.microsoft.com/office/drawing/2014/main" id="{A4141B10-9003-405E-A778-5A63309E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38600"/>
            <a:ext cx="9144000" cy="409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Stronger evidence replaces the best frame; earliest wins ties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19D0EF-0180-48B6-BB5F-8EA60C80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05350"/>
            <a:ext cx="19050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7667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C3E88B-89EC-433A-A1B7-42230D1A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53000"/>
            <a:ext cx="118110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9525">
            <a:solidFill>
              <a:srgbClr val="D0DBE1"/>
            </a:solidFill>
          </a:ln>
        </p:spPr>
      </p:sp>
      <p:sp>
        <p:nvSpPr>
          <p:cNvPr id="16" name="text-8">
            <a:extLst xmlns:a="http://schemas.openxmlformats.org/drawingml/2006/main">
              <a:ext uri="{FF2B5EF4-FFF2-40B4-BE49-F238E27FC236}">
                <a16:creationId xmlns:a16="http://schemas.microsoft.com/office/drawing/2014/main" id="{B6BADC68-F5C9-4F21-9B08-EACD1313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29200"/>
            <a:ext cx="19050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Closed</a:t>
            </a:r>
          </a:p>
        </p:txBody>
      </p:sp>
      <p:sp>
        <p:nvSpPr>
          <p:cNvPr id="17" name="text-9">
            <a:extLst xmlns:a="http://schemas.openxmlformats.org/drawingml/2006/main">
              <a:ext uri="{FF2B5EF4-FFF2-40B4-BE49-F238E27FC236}">
                <a16:creationId xmlns:a16="http://schemas.microsoft.com/office/drawing/2014/main" id="{CB3DDD3C-661D-4FC1-9998-61061A94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86350"/>
            <a:ext cx="9144000" cy="409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1.5 seconds without support, stop, cancellation, or EOF</a:t>
            </a:r>
          </a:p>
        </p:txBody>
      </p:sp>
      <p:sp>
        <p:nvSpPr>
          <p:cNvPr id="18" name="text-10">
            <a:extLst xmlns:a="http://schemas.openxmlformats.org/drawingml/2006/main">
              <a:ext uri="{FF2B5EF4-FFF2-40B4-BE49-F238E27FC236}">
                <a16:creationId xmlns:a16="http://schemas.microsoft.com/office/drawing/2014/main" id="{8A8AA556-0AB1-4DCC-B65A-E3ADFE88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19825"/>
            <a:ext cx="1379220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Selected Swift lines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3BA18B-B126-4D35-A49E-8D5C5210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43675"/>
            <a:ext cx="137922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0">
            <a:noFill/>
          </a:ln>
        </p:spPr>
      </p:sp>
      <p:sp>
        <p:nvSpPr>
          <p:cNvPr id="20" name="text-11">
            <a:extLst xmlns:a="http://schemas.openxmlformats.org/drawingml/2006/main">
              <a:ext uri="{FF2B5EF4-FFF2-40B4-BE49-F238E27FC236}">
                <a16:creationId xmlns:a16="http://schemas.microsoft.com/office/drawing/2014/main" id="{CEBA6FD7-468A-42AB-9289-1374E7B6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619875"/>
            <a:ext cx="13373100" cy="979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if let previous, score.sampleIndex != previous.sampleIndex + 1 {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    pending = nil; supportingStreak = 0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21" name="text-12">
            <a:extLst xmlns:a="http://schemas.openxmlformats.org/drawingml/2006/main">
              <a:ext uri="{FF2B5EF4-FFF2-40B4-BE49-F238E27FC236}">
                <a16:creationId xmlns:a16="http://schemas.microsoft.com/office/drawing/2014/main" id="{72B09531-C010-4F59-A2C1-E555B697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743825"/>
            <a:ext cx="13792200" cy="374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CandidateEpisodeAggregatorTests / Boundary, interrupted-streak, tie, repeat-episode, gap, stop, and EOF checks</a:t>
            </a:r>
          </a:p>
        </p:txBody>
      </p:sp>
      <p:sp>
        <p:nvSpPr>
          <p:cNvPr id="22" name="text-13">
            <a:extLst xmlns:a="http://schemas.openxmlformats.org/drawingml/2006/main">
              <a:ext uri="{FF2B5EF4-FFF2-40B4-BE49-F238E27FC236}">
                <a16:creationId xmlns:a16="http://schemas.microsoft.com/office/drawing/2014/main" id="{69336872-C53C-4433-9F02-696415D1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43875"/>
            <a:ext cx="857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Code:</a:t>
            </a:r>
          </a:p>
        </p:txBody>
      </p:sp>
      <p:sp>
        <p:nvSpPr>
          <p:cNvPr id="23" name="text-14">
            <a:extLst xmlns:a="http://schemas.openxmlformats.org/drawingml/2006/main">
              <a:ext uri="{FF2B5EF4-FFF2-40B4-BE49-F238E27FC236}">
                <a16:creationId xmlns:a16="http://schemas.microsoft.com/office/drawing/2014/main" id="{8564144F-C9C8-4A96-9131-4868BE42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143875"/>
            <a:ext cx="3905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u="sng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1725" b="0" u="sng">
                <a:solidFill>
                  <a:srgbClr val="17667B"/>
                </a:solidFill>
                <a:latin typeface="Arial"/>
                <a:ea typeface="Arial"/>
                <a:cs typeface="Arial"/>
                <a:hlinkClick xmlns:r="http://schemas.openxmlformats.org/officeDocument/2006/relationships" r:id="Rd3f84bf113bd4959"/>
              </a:rPr>
              <a:t>Episode aggregator</a:t>
            </a:r>
          </a:p>
        </p:txBody>
      </p:sp>
      <p:sp>
        <p:nvSpPr>
          <p:cNvPr id="24" name="text-15">
            <a:extLst xmlns:a="http://schemas.openxmlformats.org/drawingml/2006/main">
              <a:ext uri="{FF2B5EF4-FFF2-40B4-BE49-F238E27FC236}">
                <a16:creationId xmlns:a16="http://schemas.microsoft.com/office/drawing/2014/main" id="{691B1234-7535-4C30-9F48-8DA185DA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143875"/>
            <a:ext cx="3905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u="sng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1725" b="0" u="sng">
                <a:solidFill>
                  <a:srgbClr val="17667B"/>
                </a:solidFill>
                <a:latin typeface="Arial"/>
                <a:ea typeface="Arial"/>
                <a:cs typeface="Arial"/>
                <a:hlinkClick xmlns:r="http://schemas.openxmlformats.org/officeDocument/2006/relationships" r:id="Rbb4fb5855d614650"/>
              </a:rPr>
              <a:t>Episode tests</a:t>
            </a:r>
          </a:p>
        </p:txBody>
      </p:sp>
      <p:sp>
        <p:nvSpPr>
          <p:cNvPr id="25" name="text-16">
            <a:extLst xmlns:a="http://schemas.openxmlformats.org/drawingml/2006/main">
              <a:ext uri="{FF2B5EF4-FFF2-40B4-BE49-F238E27FC236}">
                <a16:creationId xmlns:a16="http://schemas.microsoft.com/office/drawing/2014/main" id="{7873143A-1F25-4C82-B469-BAD9F83CE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8096250"/>
            <a:ext cx="428625" cy="304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757627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0">
            <a:extLst xmlns:a="http://schemas.openxmlformats.org/drawingml/2006/main">
              <a:ext uri="{FF2B5EF4-FFF2-40B4-BE49-F238E27FC236}">
                <a16:creationId xmlns:a16="http://schemas.microsoft.com/office/drawing/2014/main" id="{D5D77DB7-3DD1-488D-970E-1DEBB462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3792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Session evidence and report replay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CCF7290-FEC2-4B1D-978A-08B6B482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37541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SessionLog, PipelineRecorder, and SessionReportBuilder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BCCC789-0E2D-48FE-AF82-130C2B22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619125" cy="44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2E0F6B4-2C8D-434C-8557-E42903A1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85950"/>
            <a:ext cx="129921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Serialize stream and score events into one ordered JSONL log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11F356F-3B98-4230-A244-5E3FDE43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62225"/>
            <a:ext cx="619125" cy="44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B00B9DE-FD7C-473E-B213-A8A607A4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43175"/>
            <a:ext cx="129921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Build the live report from the same ordered events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7E3B876-C2C2-4DF4-9E6E-1E758D5BE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619125" cy="44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C197786F-67E8-4F0E-B4DE-09A9B6F1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00400"/>
            <a:ext cx="129921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Rebuild report data without rereading the video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C084A8F9-BF32-4835-B25A-4C6FD7FE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1379220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Selected Swift lines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1720F0-12B6-4F0C-9C37-3B206D51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137922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0">
            <a:noFill/>
          </a:ln>
        </p:spPr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7F8EB797-3425-4F85-9086-F2671495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38650"/>
            <a:ext cx="13373100" cy="979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let events = try SessionLog.read(url: logURL)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for event in events { try builder.consume(event) }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let recorded = try summary.payload(as: SessionReport.self)</a:t>
            </a:r>
          </a:p>
        </p:txBody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1A2BFB02-5C63-4BB0-B225-10B43080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77075"/>
            <a:ext cx="137922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SessionLogTests + SessionReportBuilderTests</a:t>
            </a:r>
          </a:p>
        </p:txBody>
      </p:sp>
      <p:sp>
        <p:nvSpPr>
          <p:cNvPr id="13" name="text-11">
            <a:extLst xmlns:a="http://schemas.openxmlformats.org/drawingml/2006/main">
              <a:ext uri="{FF2B5EF4-FFF2-40B4-BE49-F238E27FC236}">
                <a16:creationId xmlns:a16="http://schemas.microsoft.com/office/drawing/2014/main" id="{857897B9-EE31-40B6-B690-6198CEFC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534275"/>
            <a:ext cx="13792200" cy="409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Truncated records, missing scores, write failures, and inconsistent reports remain failures.</a:t>
            </a:r>
          </a:p>
        </p:txBody>
      </p:sp>
      <p:sp>
        <p:nvSpPr>
          <p:cNvPr id="14" name="text-12">
            <a:extLst xmlns:a="http://schemas.openxmlformats.org/drawingml/2006/main">
              <a:ext uri="{FF2B5EF4-FFF2-40B4-BE49-F238E27FC236}">
                <a16:creationId xmlns:a16="http://schemas.microsoft.com/office/drawing/2014/main" id="{CFF6AC38-FCE3-43A0-9B0D-235352441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43875"/>
            <a:ext cx="857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Code:</a:t>
            </a:r>
          </a:p>
        </p:txBody>
      </p:sp>
      <p:sp>
        <p:nvSpPr>
          <p:cNvPr id="15" name="text-13">
            <a:extLst xmlns:a="http://schemas.openxmlformats.org/drawingml/2006/main">
              <a:ext uri="{FF2B5EF4-FFF2-40B4-BE49-F238E27FC236}">
                <a16:creationId xmlns:a16="http://schemas.microsoft.com/office/drawing/2014/main" id="{C7DDA2AF-85DD-4519-B53A-49EA7F96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143875"/>
            <a:ext cx="3905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u="sng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1725" b="0" u="sng">
                <a:solidFill>
                  <a:srgbClr val="17667B"/>
                </a:solidFill>
                <a:latin typeface="Arial"/>
                <a:ea typeface="Arial"/>
                <a:cs typeface="Arial"/>
                <a:hlinkClick xmlns:r="http://schemas.openxmlformats.org/officeDocument/2006/relationships" r:id="R514f0ff044a24c08"/>
              </a:rPr>
              <a:t>Session log</a:t>
            </a:r>
          </a:p>
        </p:txBody>
      </p:sp>
      <p:sp>
        <p:nvSpPr>
          <p:cNvPr id="16" name="text-14">
            <a:extLst xmlns:a="http://schemas.openxmlformats.org/drawingml/2006/main">
              <a:ext uri="{FF2B5EF4-FFF2-40B4-BE49-F238E27FC236}">
                <a16:creationId xmlns:a16="http://schemas.microsoft.com/office/drawing/2014/main" id="{522599EE-B228-4707-A6BE-9C165B70F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143875"/>
            <a:ext cx="3905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u="sng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1725" b="0" u="sng">
                <a:solidFill>
                  <a:srgbClr val="17667B"/>
                </a:solidFill>
                <a:latin typeface="Arial"/>
                <a:ea typeface="Arial"/>
                <a:cs typeface="Arial"/>
                <a:hlinkClick xmlns:r="http://schemas.openxmlformats.org/officeDocument/2006/relationships" r:id="R7e13f09991c44a64"/>
              </a:rPr>
              <a:t>Pipeline recorder</a:t>
            </a:r>
          </a:p>
        </p:txBody>
      </p:sp>
      <p:sp>
        <p:nvSpPr>
          <p:cNvPr id="17" name="text-15">
            <a:extLst xmlns:a="http://schemas.openxmlformats.org/drawingml/2006/main">
              <a:ext uri="{FF2B5EF4-FFF2-40B4-BE49-F238E27FC236}">
                <a16:creationId xmlns:a16="http://schemas.microsoft.com/office/drawing/2014/main" id="{005130DC-FED0-4633-A20C-75FD6788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143875"/>
            <a:ext cx="3905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u="sng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1725" b="0" u="sng">
                <a:solidFill>
                  <a:srgbClr val="17667B"/>
                </a:solidFill>
                <a:latin typeface="Arial"/>
                <a:ea typeface="Arial"/>
                <a:cs typeface="Arial"/>
                <a:hlinkClick xmlns:r="http://schemas.openxmlformats.org/officeDocument/2006/relationships" r:id="Ra13f121e643d4a7b"/>
              </a:rPr>
              <a:t>Report builder</a:t>
            </a:r>
          </a:p>
        </p:txBody>
      </p:sp>
      <p:sp>
        <p:nvSpPr>
          <p:cNvPr id="18" name="text-16">
            <a:extLst xmlns:a="http://schemas.openxmlformats.org/drawingml/2006/main">
              <a:ext uri="{FF2B5EF4-FFF2-40B4-BE49-F238E27FC236}">
                <a16:creationId xmlns:a16="http://schemas.microsoft.com/office/drawing/2014/main" id="{6AC018D0-E3AB-414C-BF56-21173F3A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8096250"/>
            <a:ext cx="428625" cy="304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745706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0">
            <a:extLst xmlns:a="http://schemas.openxmlformats.org/drawingml/2006/main">
              <a:ext uri="{FF2B5EF4-FFF2-40B4-BE49-F238E27FC236}">
                <a16:creationId xmlns:a16="http://schemas.microsoft.com/office/drawing/2014/main" id="{0A6C436D-FC4B-48DA-BE7A-E498809B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3792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Measured fixture outcome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F369005-7CB1-4D27-BB76-89C13AC57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37541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The frozen profile passes the current Mac acceptance rules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F68B9F9-7034-4F3A-9F5C-0CF721E0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137922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Positive fixture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C773E90-AAD9-4AB5-AB15-65910262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13792200" cy="4903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56 analyzed frames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20D9325-5DFF-484D-9424-CED45016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13792200" cy="409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One episode opens at 24.5 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D4E460-80EA-4908-B70C-26E18B39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71825"/>
            <a:ext cx="1379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BE1"/>
          </a:solidFill>
          <a:ln xmlns:a="http://schemas.openxmlformats.org/drawingml/2006/main" w="0">
            <a:noFill/>
          </a:ln>
        </p:spPr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BAE1C8D3-A891-4F61-AD19-7A0FFC34C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137922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Negative fixture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DBE2DB12-3A23-4106-B3C9-D6C4BABB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13792200" cy="4903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26 analyzed frames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C9D591AF-80FE-40A7-9510-1B945251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52900"/>
            <a:ext cx="13792200" cy="409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No candidate episode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E7B214-AE7E-47FD-AA40-4AD66F7F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62475"/>
            <a:ext cx="1379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BE1"/>
          </a:solidFill>
          <a:ln xmlns:a="http://schemas.openxmlformats.org/drawingml/2006/main" w="0">
            <a:noFill/>
          </a:ln>
        </p:spPr>
      </p:sp>
      <p:sp>
        <p:nvSpPr>
          <p:cNvPr id="11" name="text-8">
            <a:extLst xmlns:a="http://schemas.openxmlformats.org/drawingml/2006/main">
              <a:ext uri="{FF2B5EF4-FFF2-40B4-BE49-F238E27FC236}">
                <a16:creationId xmlns:a16="http://schemas.microsoft.com/office/drawing/2014/main" id="{09B3CA81-79AC-4753-95E5-84842BB4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137922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Best evidence</a:t>
            </a:r>
          </a:p>
        </p:txBody>
      </p:sp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4109F22A-6CC3-49B5-97BC-24B9C6F2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05400"/>
            <a:ext cx="13792200" cy="4903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25.0 s, central-crop comparison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88B23A88-639C-4E09-AFA0-B721DA61C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43550"/>
            <a:ext cx="13792200" cy="409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The retained image is the whole 1080 × 1920 frame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A0B99B-A48B-4777-91E1-CBFF5C9B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53125"/>
            <a:ext cx="1379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BE1"/>
          </a:solidFill>
          <a:ln xmlns:a="http://schemas.openxmlformats.org/drawingml/2006/main" w="0">
            <a:noFill/>
          </a:ln>
        </p:spPr>
      </p:sp>
      <p:sp>
        <p:nvSpPr>
          <p:cNvPr id="15" name="text-11">
            <a:extLst xmlns:a="http://schemas.openxmlformats.org/drawingml/2006/main">
              <a:ext uri="{FF2B5EF4-FFF2-40B4-BE49-F238E27FC236}">
                <a16:creationId xmlns:a16="http://schemas.microsoft.com/office/drawing/2014/main" id="{1D0F6738-DE83-4D70-BE7D-68351F75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0"/>
            <a:ext cx="137922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Delay and closure</a:t>
            </a:r>
          </a:p>
        </p:txBody>
      </p:sp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5B6A5E4B-8E39-44CA-903D-924C1180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96050"/>
            <a:ext cx="13792200" cy="4903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6.2 s after the expected interval begins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3B926BD4-A8F8-4E0B-89A5-448158B1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934200"/>
            <a:ext cx="13792200" cy="409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The episode closes at 27.5 s after a support gap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6A2DFA52-0AFB-42C3-9E88-4F65129E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48575"/>
            <a:ext cx="137922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No episode opens in either fixture's false-positive zones. General accuracy remains unmeasured.</a:t>
            </a:r>
          </a:p>
        </p:txBody>
      </p:sp>
      <p:sp>
        <p:nvSpPr>
          <p:cNvPr id="19" name="text-15">
            <a:extLst xmlns:a="http://schemas.openxmlformats.org/drawingml/2006/main">
              <a:ext uri="{FF2B5EF4-FFF2-40B4-BE49-F238E27FC236}">
                <a16:creationId xmlns:a16="http://schemas.microsoft.com/office/drawing/2014/main" id="{0E36FBF4-E2D2-4045-8123-4E89A328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43875"/>
            <a:ext cx="857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Code:</a:t>
            </a:r>
          </a:p>
        </p:txBody>
      </p:sp>
      <p:sp>
        <p:nvSpPr>
          <p:cNvPr id="20" name="text-16">
            <a:extLst xmlns:a="http://schemas.openxmlformats.org/drawingml/2006/main">
              <a:ext uri="{FF2B5EF4-FFF2-40B4-BE49-F238E27FC236}">
                <a16:creationId xmlns:a16="http://schemas.microsoft.com/office/drawing/2014/main" id="{07D67F74-D5B4-4982-B0E8-D0A6018E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143875"/>
            <a:ext cx="3905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u="sng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1725" b="0" u="sng">
                <a:solidFill>
                  <a:srgbClr val="17667B"/>
                </a:solidFill>
                <a:latin typeface="Arial"/>
                <a:ea typeface="Arial"/>
                <a:cs typeface="Arial"/>
                <a:hlinkClick xmlns:r="http://schemas.openxmlformats.org/officeDocument/2006/relationships" r:id="Rb98c4d11555244a0"/>
              </a:rPr>
              <a:t>Integration suite</a:t>
            </a:r>
          </a:p>
        </p:txBody>
      </p:sp>
      <p:sp>
        <p:nvSpPr>
          <p:cNvPr id="21" name="text-17">
            <a:extLst xmlns:a="http://schemas.openxmlformats.org/drawingml/2006/main">
              <a:ext uri="{FF2B5EF4-FFF2-40B4-BE49-F238E27FC236}">
                <a16:creationId xmlns:a16="http://schemas.microsoft.com/office/drawing/2014/main" id="{133BAA20-B062-4707-84F0-B8B960D0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143875"/>
            <a:ext cx="3905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u="sng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1725" b="0" u="sng">
                <a:solidFill>
                  <a:srgbClr val="17667B"/>
                </a:solidFill>
                <a:latin typeface="Arial"/>
                <a:ea typeface="Arial"/>
                <a:cs typeface="Arial"/>
                <a:hlinkClick xmlns:r="http://schemas.openxmlformats.org/officeDocument/2006/relationships" r:id="R432d7e8d2ee44b27"/>
              </a:rPr>
              <a:t>Fixture evaluator</a:t>
            </a:r>
          </a:p>
        </p:txBody>
      </p:sp>
      <p:sp>
        <p:nvSpPr>
          <p:cNvPr id="22" name="text-18">
            <a:extLst xmlns:a="http://schemas.openxmlformats.org/drawingml/2006/main">
              <a:ext uri="{FF2B5EF4-FFF2-40B4-BE49-F238E27FC236}">
                <a16:creationId xmlns:a16="http://schemas.microsoft.com/office/drawing/2014/main" id="{2CF07360-2620-48CA-9D81-B06E20BA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8096250"/>
            <a:ext cx="428625" cy="304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3541704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0">
            <a:extLst xmlns:a="http://schemas.openxmlformats.org/drawingml/2006/main">
              <a:ext uri="{FF2B5EF4-FFF2-40B4-BE49-F238E27FC236}">
                <a16:creationId xmlns:a16="http://schemas.microsoft.com/office/drawing/2014/main" id="{8D55A07B-892E-47AC-B6E8-EC872EC7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3792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Mac and iPhone calibration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F979D29-90CD-477C-82DB-2716F3F2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37541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FixtureEvaluator and AIShopVisionEvaluate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F0A34B7-6F5F-40C6-8235-1137F825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619125" cy="44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595B3C8-81E3-4D92-85C8-00F6335F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85950"/>
            <a:ext cx="129921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Evaluate episode openings against the fixed annotation zones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AC367FE-C90A-4F9D-BA27-753657CE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62225"/>
            <a:ext cx="619125" cy="44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3E42867-CC52-453D-8D39-7185379D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43175"/>
            <a:ext cx="129921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Match both hosts by fixture, profile, frame ID, and media timestamp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AD7B0D19-D835-4679-AB99-521473F2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619125" cy="44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CA3222C6-FA19-4506-BCE5-BE7FE2B1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00400"/>
            <a:ext cx="129921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Record raw-distance drift and every threshold-decision disagreement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5723FA79-C6E0-4A9E-8EFD-61457FB1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1379220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Selected Swift lines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14AB25-3A1E-499F-A131-BD82EF7C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13792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0">
            <a:noFill/>
          </a:ln>
        </p:spPr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0252D452-2F3D-4719-92B5-35E1FB95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38650"/>
            <a:ext cx="13373100" cy="1274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guard a.frameID == b.frameID, a.timestamp == b.timestamp,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      a.sampleIndex == b.sampleIndex else {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    throw EvaluationError.incompatibleHeader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65B7829B-681B-4195-9C57-27950DDA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77075"/>
            <a:ext cx="137922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FixtureEvaluatorTests + calibration integration checks</a:t>
            </a:r>
          </a:p>
        </p:txBody>
      </p:sp>
      <p:sp>
        <p:nvSpPr>
          <p:cNvPr id="13" name="text-11">
            <a:extLst xmlns:a="http://schemas.openxmlformats.org/drawingml/2006/main">
              <a:ext uri="{FF2B5EF4-FFF2-40B4-BE49-F238E27FC236}">
                <a16:creationId xmlns:a16="http://schemas.microsoft.com/office/drawing/2014/main" id="{1E2D4451-4E48-4165-8B13-2AE2DBBD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534275"/>
            <a:ext cx="13792200" cy="409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The comparator rejects missing fixtures, incompatible hosts, and incomplete or corrupt evidence.</a:t>
            </a:r>
          </a:p>
        </p:txBody>
      </p:sp>
      <p:sp>
        <p:nvSpPr>
          <p:cNvPr id="14" name="text-12">
            <a:extLst xmlns:a="http://schemas.openxmlformats.org/drawingml/2006/main">
              <a:ext uri="{FF2B5EF4-FFF2-40B4-BE49-F238E27FC236}">
                <a16:creationId xmlns:a16="http://schemas.microsoft.com/office/drawing/2014/main" id="{52292205-6358-4BD9-9FCE-502A6213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43875"/>
            <a:ext cx="857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Code:</a:t>
            </a:r>
          </a:p>
        </p:txBody>
      </p:sp>
      <p:sp>
        <p:nvSpPr>
          <p:cNvPr id="15" name="text-13">
            <a:extLst xmlns:a="http://schemas.openxmlformats.org/drawingml/2006/main">
              <a:ext uri="{FF2B5EF4-FFF2-40B4-BE49-F238E27FC236}">
                <a16:creationId xmlns:a16="http://schemas.microsoft.com/office/drawing/2014/main" id="{044E75D0-8862-4B45-B474-6897E6DA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143875"/>
            <a:ext cx="3905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u="sng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1725" b="0" u="sng">
                <a:solidFill>
                  <a:srgbClr val="17667B"/>
                </a:solidFill>
                <a:latin typeface="Arial"/>
                <a:ea typeface="Arial"/>
                <a:cs typeface="Arial"/>
                <a:hlinkClick xmlns:r="http://schemas.openxmlformats.org/officeDocument/2006/relationships" r:id="R4855836eae7a4939"/>
              </a:rPr>
              <a:t>Fixture evaluator</a:t>
            </a:r>
          </a:p>
        </p:txBody>
      </p:sp>
      <p:sp>
        <p:nvSpPr>
          <p:cNvPr id="16" name="text-14">
            <a:extLst xmlns:a="http://schemas.openxmlformats.org/drawingml/2006/main">
              <a:ext uri="{FF2B5EF4-FFF2-40B4-BE49-F238E27FC236}">
                <a16:creationId xmlns:a16="http://schemas.microsoft.com/office/drawing/2014/main" id="{0D0AEF33-8241-4BBF-913A-EE405488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143875"/>
            <a:ext cx="3905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u="sng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1725" b="0" u="sng">
                <a:solidFill>
                  <a:srgbClr val="17667B"/>
                </a:solidFill>
                <a:latin typeface="Arial"/>
                <a:ea typeface="Arial"/>
                <a:cs typeface="Arial"/>
                <a:hlinkClick xmlns:r="http://schemas.openxmlformats.org/officeDocument/2006/relationships" r:id="R3a760491862244cd"/>
              </a:rPr>
              <a:t>Evaluation CLI</a:t>
            </a:r>
          </a:p>
        </p:txBody>
      </p:sp>
      <p:sp>
        <p:nvSpPr>
          <p:cNvPr id="17" name="text-15">
            <a:extLst xmlns:a="http://schemas.openxmlformats.org/drawingml/2006/main">
              <a:ext uri="{FF2B5EF4-FFF2-40B4-BE49-F238E27FC236}">
                <a16:creationId xmlns:a16="http://schemas.microsoft.com/office/drawing/2014/main" id="{F1717C8A-1790-4237-B3A7-4E472562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143875"/>
            <a:ext cx="3905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u="sng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1725" b="0" u="sng">
                <a:solidFill>
                  <a:srgbClr val="17667B"/>
                </a:solidFill>
                <a:latin typeface="Arial"/>
                <a:ea typeface="Arial"/>
                <a:cs typeface="Arial"/>
                <a:hlinkClick xmlns:r="http://schemas.openxmlformats.org/officeDocument/2006/relationships" r:id="Rfcd67d06a2474c07"/>
              </a:rPr>
              <a:t>Evaluator tests</a:t>
            </a:r>
          </a:p>
        </p:txBody>
      </p:sp>
      <p:sp>
        <p:nvSpPr>
          <p:cNvPr id="18" name="text-16">
            <a:extLst xmlns:a="http://schemas.openxmlformats.org/drawingml/2006/main">
              <a:ext uri="{FF2B5EF4-FFF2-40B4-BE49-F238E27FC236}">
                <a16:creationId xmlns:a16="http://schemas.microsoft.com/office/drawing/2014/main" id="{5345EE2B-2F7F-4841-97F1-4EF02C9B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8096250"/>
            <a:ext cx="428625" cy="304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1770636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0">
            <a:extLst xmlns:a="http://schemas.openxmlformats.org/drawingml/2006/main">
              <a:ext uri="{FF2B5EF4-FFF2-40B4-BE49-F238E27FC236}">
                <a16:creationId xmlns:a16="http://schemas.microsoft.com/office/drawing/2014/main" id="{C2CB40CB-4CF6-4523-BBC2-93670B92E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3792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Debug harness and application startup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43F8567-E992-4E15-BA83-B4D55DF28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37541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ApplicationBootstrap and VisionHarnessModel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DBDA40E-E477-42D8-8C64-9B160964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619125" cy="44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BF9AC35-389F-49A2-B1DE-9C1F35D2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85950"/>
            <a:ext cx="129921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Select the diagnostic route before creating normal services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BE0DD4C-319A-4D6D-B814-D5BAC692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62225"/>
            <a:ext cx="619125" cy="44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979C8E4-5314-4463-8529-F3BECB70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43175"/>
            <a:ext cx="129921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Run the same package with local fixture playback and log export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FDFC21FC-FB2C-45A0-AB2D-B77EA15C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619125" cy="44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0228EAF2-E5D9-4707-820A-68E0571C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00400"/>
            <a:ext cx="129921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Exclude the route and fixture media from Release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BFC7619D-B9E3-4A38-B955-AFE226E3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1379220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Selected Swift lines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DEE33B-05CA-4430-A4BD-3924E327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13792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0">
            <a:noFill/>
          </a:ln>
        </p:spPr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FDD023E4-D396-4782-9D3C-074B06C3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38650"/>
            <a:ext cx="13373100" cy="1274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guard !isVisionDiagnostic(arguments: arguments, environment: environment) else {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    return nil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}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return initialize()</a:t>
            </a:r>
          </a:p>
        </p:txBody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3449262B-D3BC-4AF7-A2C5-EF37CF95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77075"/>
            <a:ext cx="137922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ApplicationBootstrapTests + VisionHarnessModelTests</a:t>
            </a:r>
          </a:p>
        </p:txBody>
      </p:sp>
      <p:sp>
        <p:nvSpPr>
          <p:cNvPr id="13" name="text-11">
            <a:extLst xmlns:a="http://schemas.openxmlformats.org/drawingml/2006/main">
              <a:ext uri="{FF2B5EF4-FFF2-40B4-BE49-F238E27FC236}">
                <a16:creationId xmlns:a16="http://schemas.microsoft.com/office/drawing/2014/main" id="{990ECBB1-09FB-4045-8C13-CD8F713F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534275"/>
            <a:ext cx="13792200" cy="409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The Simulator test host has no Firebase instance. Bundle checks verify only approved Debug media.</a:t>
            </a:r>
          </a:p>
        </p:txBody>
      </p:sp>
      <p:sp>
        <p:nvSpPr>
          <p:cNvPr id="14" name="text-12">
            <a:extLst xmlns:a="http://schemas.openxmlformats.org/drawingml/2006/main">
              <a:ext uri="{FF2B5EF4-FFF2-40B4-BE49-F238E27FC236}">
                <a16:creationId xmlns:a16="http://schemas.microsoft.com/office/drawing/2014/main" id="{3B78148E-FB0B-4B9A-BEE5-CE6CE932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43875"/>
            <a:ext cx="857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Code:</a:t>
            </a:r>
          </a:p>
        </p:txBody>
      </p:sp>
      <p:sp>
        <p:nvSpPr>
          <p:cNvPr id="15" name="text-13">
            <a:extLst xmlns:a="http://schemas.openxmlformats.org/drawingml/2006/main">
              <a:ext uri="{FF2B5EF4-FFF2-40B4-BE49-F238E27FC236}">
                <a16:creationId xmlns:a16="http://schemas.microsoft.com/office/drawing/2014/main" id="{C0962EEE-3E49-40F4-8094-4F83AA66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143875"/>
            <a:ext cx="3905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u="sng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1725" b="0" u="sng">
                <a:solidFill>
                  <a:srgbClr val="17667B"/>
                </a:solidFill>
                <a:latin typeface="Arial"/>
                <a:ea typeface="Arial"/>
                <a:cs typeface="Arial"/>
                <a:hlinkClick xmlns:r="http://schemas.openxmlformats.org/officeDocument/2006/relationships" r:id="Rbbc612dd53c34694"/>
              </a:rPr>
              <a:t>Application bootstrap</a:t>
            </a:r>
          </a:p>
        </p:txBody>
      </p:sp>
      <p:sp>
        <p:nvSpPr>
          <p:cNvPr id="16" name="text-14">
            <a:extLst xmlns:a="http://schemas.openxmlformats.org/drawingml/2006/main">
              <a:ext uri="{FF2B5EF4-FFF2-40B4-BE49-F238E27FC236}">
                <a16:creationId xmlns:a16="http://schemas.microsoft.com/office/drawing/2014/main" id="{2E5435CC-7DD6-48C0-9C41-1745CAF9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143875"/>
            <a:ext cx="3905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u="sng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1725" b="0" u="sng">
                <a:solidFill>
                  <a:srgbClr val="17667B"/>
                </a:solidFill>
                <a:latin typeface="Arial"/>
                <a:ea typeface="Arial"/>
                <a:cs typeface="Arial"/>
                <a:hlinkClick xmlns:r="http://schemas.openxmlformats.org/officeDocument/2006/relationships" r:id="Rcec673fabb524a4f"/>
              </a:rPr>
              <a:t>Harness model</a:t>
            </a:r>
          </a:p>
        </p:txBody>
      </p:sp>
      <p:sp>
        <p:nvSpPr>
          <p:cNvPr id="17" name="text-15">
            <a:extLst xmlns:a="http://schemas.openxmlformats.org/drawingml/2006/main">
              <a:ext uri="{FF2B5EF4-FFF2-40B4-BE49-F238E27FC236}">
                <a16:creationId xmlns:a16="http://schemas.microsoft.com/office/drawing/2014/main" id="{0B3EA06D-816A-42D6-B321-45E8F4D7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143875"/>
            <a:ext cx="3905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u="sng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1725" b="0" u="sng">
                <a:solidFill>
                  <a:srgbClr val="17667B"/>
                </a:solidFill>
                <a:latin typeface="Arial"/>
                <a:ea typeface="Arial"/>
                <a:cs typeface="Arial"/>
                <a:hlinkClick xmlns:r="http://schemas.openxmlformats.org/officeDocument/2006/relationships" r:id="R30213812ca0e4fda"/>
              </a:rPr>
              <a:t>App tests</a:t>
            </a:r>
          </a:p>
        </p:txBody>
      </p:sp>
      <p:sp>
        <p:nvSpPr>
          <p:cNvPr id="18" name="text-16">
            <a:extLst xmlns:a="http://schemas.openxmlformats.org/drawingml/2006/main">
              <a:ext uri="{FF2B5EF4-FFF2-40B4-BE49-F238E27FC236}">
                <a16:creationId xmlns:a16="http://schemas.microsoft.com/office/drawing/2014/main" id="{20326A8E-FCEE-44BD-8A65-ED07E565D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8096250"/>
            <a:ext cx="428625" cy="304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94042025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0">
            <a:extLst xmlns:a="http://schemas.openxmlformats.org/drawingml/2006/main">
              <a:ext uri="{FF2B5EF4-FFF2-40B4-BE49-F238E27FC236}">
                <a16:creationId xmlns:a16="http://schemas.microsoft.com/office/drawing/2014/main" id="{4D2FDBFF-6CC4-44A2-A869-A112FD4A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3792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What the implementation establishes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532EE42-6ACB-45EE-93EB-FD242872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37541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Evidence for the design decisions, with acceptance still open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D69658F-E18F-4CDF-A9BF-640CEECE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137922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Incremental behavior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3991730-3F3D-4892-B970-B74ACD8B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13792200" cy="4787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Real video reaches the consumer before EOF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5AD904-A027-42E1-B6BA-2E3316BE6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71825"/>
            <a:ext cx="1379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BE1"/>
          </a:solidFill>
          <a:ln xmlns:a="http://schemas.openxmlformats.org/drawingml/2006/main" w="0">
            <a:noFill/>
          </a:ln>
        </p:spPr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4258C999-95A5-415C-B2A1-CFBBA56E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137922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Controlled workload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B7D47698-9EDC-4475-848F-37D7D2A8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13792200" cy="4787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One active consumer and one pending eligible frame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04660D-01F2-47F6-9778-D9DF7371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62475"/>
            <a:ext cx="1379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BE1"/>
          </a:solidFill>
          <a:ln xmlns:a="http://schemas.openxmlformats.org/drawingml/2006/main" w="0">
            <a:noFill/>
          </a:ln>
        </p:spPr>
      </p:sp>
      <p:sp>
        <p:nvSpPr>
          <p:cNvPr id="9" name="text-6">
            <a:extLst xmlns:a="http://schemas.openxmlformats.org/drawingml/2006/main">
              <a:ext uri="{FF2B5EF4-FFF2-40B4-BE49-F238E27FC236}">
                <a16:creationId xmlns:a16="http://schemas.microsoft.com/office/drawing/2014/main" id="{CBF29B96-7371-4B7F-A693-AF316E00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137922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Reproducible evidence</a:t>
            </a:r>
          </a:p>
        </p:txBody>
      </p:sp>
      <p:sp>
        <p:nvSpPr>
          <p:cNvPr id="10" name="text-7">
            <a:extLst xmlns:a="http://schemas.openxmlformats.org/drawingml/2006/main">
              <a:ext uri="{FF2B5EF4-FFF2-40B4-BE49-F238E27FC236}">
                <a16:creationId xmlns:a16="http://schemas.microsoft.com/office/drawing/2014/main" id="{B5388D44-5213-4D85-94A4-90D8B53F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05400"/>
            <a:ext cx="13792200" cy="4787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Stable frame IDs, fixed thresholds, replayable reports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3F72F7-7071-475C-B64C-4464D1C1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53125"/>
            <a:ext cx="1379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BE1"/>
          </a:solidFill>
          <a:ln xmlns:a="http://schemas.openxmlformats.org/drawingml/2006/main" w="0">
            <a:noFill/>
          </a:ln>
        </p:spPr>
      </p:sp>
      <p:sp>
        <p:nvSpPr>
          <p:cNvPr id="12" name="text-8">
            <a:extLst xmlns:a="http://schemas.openxmlformats.org/drawingml/2006/main">
              <a:ext uri="{FF2B5EF4-FFF2-40B4-BE49-F238E27FC236}">
                <a16:creationId xmlns:a16="http://schemas.microsoft.com/office/drawing/2014/main" id="{5D9DA3BA-CB51-48E1-80FC-11278E54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0"/>
            <a:ext cx="137922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Explicit uncertainty</a:t>
            </a:r>
          </a:p>
        </p:txBody>
      </p:sp>
      <p:sp>
        <p:nvSpPr>
          <p:cNvPr id="13" name="text-9">
            <a:extLst xmlns:a="http://schemas.openxmlformats.org/drawingml/2006/main">
              <a:ext uri="{FF2B5EF4-FFF2-40B4-BE49-F238E27FC236}">
                <a16:creationId xmlns:a16="http://schemas.microsoft.com/office/drawing/2014/main" id="{B310C4F2-4303-490C-B793-B647EA8C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96050"/>
            <a:ext cx="13792200" cy="4787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Provisional signals and an independent annotation evaluator</a:t>
            </a:r>
          </a:p>
        </p:txBody>
      </p:sp>
      <p:sp>
        <p:nvSpPr>
          <p:cNvPr id="14" name="text-10">
            <a:extLst xmlns:a="http://schemas.openxmlformats.org/drawingml/2006/main">
              <a:ext uri="{FF2B5EF4-FFF2-40B4-BE49-F238E27FC236}">
                <a16:creationId xmlns:a16="http://schemas.microsoft.com/office/drawing/2014/main" id="{AF9B7510-63DB-460A-8470-621753AE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48575"/>
            <a:ext cx="1379220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80550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805500"/>
                </a:solidFill>
                <a:latin typeface="Arial"/>
                <a:ea typeface="Arial"/>
                <a:cs typeface="Arial"/>
              </a:rPr>
              <a:t>Still open: physical-iPhone demonstration, exported-log calibration, human review, and acceptance.</a:t>
            </a:r>
          </a:p>
        </p:txBody>
      </p:sp>
      <p:sp>
        <p:nvSpPr>
          <p:cNvPr id="15" name="text-11">
            <a:extLst xmlns:a="http://schemas.openxmlformats.org/drawingml/2006/main">
              <a:ext uri="{FF2B5EF4-FFF2-40B4-BE49-F238E27FC236}">
                <a16:creationId xmlns:a16="http://schemas.microsoft.com/office/drawing/2014/main" id="{9BCFC36B-A17F-4974-956E-C75623718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43875"/>
            <a:ext cx="857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Code:</a:t>
            </a:r>
          </a:p>
        </p:txBody>
      </p:sp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1DF72806-86EC-42CC-AB21-23D7139AC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143875"/>
            <a:ext cx="3905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u="sng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1725" b="0" u="sng">
                <a:solidFill>
                  <a:srgbClr val="17667B"/>
                </a:solidFill>
                <a:latin typeface="Arial"/>
                <a:ea typeface="Arial"/>
                <a:cs typeface="Arial"/>
                <a:hlinkClick xmlns:r="http://schemas.openxmlformats.org/officeDocument/2006/relationships" r:id="Rd1b2aea7a5524fb8"/>
              </a:rPr>
              <a:t>Pipeline components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786C7D5C-BF24-47F2-A758-52DD1528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143875"/>
            <a:ext cx="390525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u="sng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1725" b="0" u="sng">
                <a:solidFill>
                  <a:srgbClr val="17667B"/>
                </a:solidFill>
                <a:latin typeface="Arial"/>
                <a:ea typeface="Arial"/>
                <a:cs typeface="Arial"/>
                <a:hlinkClick xmlns:r="http://schemas.openxmlformats.org/officeDocument/2006/relationships" r:id="Rb47be6e9963a4dc7"/>
              </a:rPr>
              <a:t>Integration suite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1B9D7BFC-93F0-4419-99E8-5D6BEBE7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8096250"/>
            <a:ext cx="428625" cy="304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5328220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2026-09-20T21:22:17.8120000Z</dcterms:created>
  <dcterms:modified xsi:type="dcterms:W3CDTF">2026-09-20T21:22:17.8120000Z</dcterms:modified>
</coreProperties>
</file>