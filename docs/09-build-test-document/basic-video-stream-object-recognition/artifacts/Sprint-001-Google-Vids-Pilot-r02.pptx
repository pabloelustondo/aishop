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d731facf894c51" /><Relationship Type="http://schemas.openxmlformats.org/officeDocument/2006/relationships/extended-properties" Target="/docProps/app.xml" Id="Rfc4da846cc884280" /><Relationship Type="http://schemas.openxmlformats.org/officeDocument/2006/relationships/officeDocument" Target="/ppt/presentation.xml" Id="Rd5ac2ce3f97f4e16" /></Relationships>
</file>

<file path=ppt/presentation.xml><?xml version="1.0" encoding="utf-8"?>
<p:presentation xmlns:p="http://schemas.openxmlformats.org/presentationml/2006/main">
  <p:sldMasterIdLst>
    <p:sldMasterId xmlns:r="http://schemas.openxmlformats.org/officeDocument/2006/relationships" id="2147483648" r:id="R9953eacfbed14428"/>
  </p:sldMasterIdLst>
  <p:notesMasterIdLst>
    <p:notesMasterId xmlns:r="http://schemas.openxmlformats.org/officeDocument/2006/relationships" r:id="R5c9f74ff56bc4c8f"/>
  </p:notesMasterIdLst>
  <p:sldIdLst>
    <p:sldId xmlns:r="http://schemas.openxmlformats.org/officeDocument/2006/relationships" id="256" r:id="R8f36527ef73f4cf9"/>
    <p:sldId xmlns:r="http://schemas.openxmlformats.org/officeDocument/2006/relationships" id="257" r:id="R8dc821263fb042ed"/>
    <p:sldId xmlns:r="http://schemas.openxmlformats.org/officeDocument/2006/relationships" id="258" r:id="Ra4f8db1d6ce04ea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c2e1e13a1145b7" /><Relationship Type="http://schemas.openxmlformats.org/officeDocument/2006/relationships/slideMaster" Target="/ppt/slideMasters/slideMaster1.xml" Id="R9953eacfbed14428" /><Relationship Type="http://schemas.openxmlformats.org/officeDocument/2006/relationships/notesMaster" Target="/ppt/notesMasters/notesMaster1.xml" Id="R5c9f74ff56bc4c8f" /><Relationship Type="http://schemas.openxmlformats.org/officeDocument/2006/relationships/presProps" Target="/ppt/presProps.xml" Id="R971b1ae21f6c4119" /><Relationship Type="http://schemas.openxmlformats.org/officeDocument/2006/relationships/tableStyles" Target="/ppt/tableStyles.xml" Id="R21a59a3e42e942e9" /><Relationship Type="http://schemas.openxmlformats.org/officeDocument/2006/relationships/slide" Target="/ppt/slides/slide1.xml" Id="R8f36527ef73f4cf9" /><Relationship Type="http://schemas.openxmlformats.org/officeDocument/2006/relationships/slide" Target="/ppt/slides/slide2.xml" Id="R8dc821263fb042ed" /><Relationship Type="http://schemas.openxmlformats.org/officeDocument/2006/relationships/slide" Target="/ppt/slides/slide3.xml" Id="Ra4f8db1d6ce04e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34189bff1743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b7f946712741fb" /><Relationship Type="http://schemas.openxmlformats.org/officeDocument/2006/relationships/notesMaster" Target="/ppt/notesMasters/notesMaster1.xml" Id="R02d1312534944d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eaca95acc14ced" /><Relationship Type="http://schemas.openxmlformats.org/officeDocument/2006/relationships/notesMaster" Target="/ppt/notesMasters/notesMaster1.xml" Id="R4acf408c3c754d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68b123cc6b4f13" /><Relationship Type="http://schemas.openxmlformats.org/officeDocument/2006/relationships/notesMaster" Target="/ppt/notesMasters/notesMaster1.xml" Id="R9f5f6d5ed4324c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this short walkthrough of A I Shop Vision.</a:t>
            </a:r>
          </a:p>
          <a:p xmlns:a="http://schemas.openxmlformats.org/drawingml/2006/main">
            <a:r>
              <a:t/>
            </a:r>
          </a:p>
          <a:p xmlns:a="http://schemas.openxmlformats.org/drawingml/2006/main">
            <a:r>
              <a:t>The module analyzes video frames as they arrive and looks for a possible match to one known target. For Sprint One, that target is a banana reference image.</a:t>
            </a:r>
          </a:p>
          <a:p xmlns:a="http://schemas.openxmlformats.org/drawingml/2006/main">
            <a:r>
              <a:t/>
            </a:r>
          </a:p>
          <a:p xmlns:a="http://schemas.openxmlformats.org/drawingml/2006/main">
            <a:r>
              <a:t>This is a candidate signal. It does not yet locate objects with bounding boxes, confirm a product identity, or use the live camera.</a:t>
            </a:r>
          </a:p>
          <a:p xmlns:a="http://schemas.openxmlformats.org/drawingml/2006/main">
            <a:r>
              <a:t/>
            </a:r>
          </a:p>
          <a:p xmlns:a="http://schemas.openxmlformats.org/drawingml/2006/main">
            <a:r>
              <a:t>We will look at the overall architecture, then open up the pipeline that coordinates the work. You can pause the video and explore the matching code and tests in the companion presentation.</a:t>
            </a:r>
          </a:p>
          <a:p xmlns:a="http://schemas.openxmlformats.org/drawingml/2006/main">
            <a:r>
              <a:t/>
            </a:r>
          </a:p>
          <a:p xmlns:a="http://schemas.openxmlformats.org/drawingml/2006/main">
            <a:r>
              <a:t>The evidence in this walkthrough comes from the September twentieth Mac and Simulator checks. Running the feature on a physical iPhone, and Pablo's acceptance, are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top to bottom.</a:t>
            </a:r>
          </a:p>
          <a:p xmlns:a="http://schemas.openxmlformats.org/drawingml/2006/main">
            <a:r>
              <a:t/>
            </a:r>
          </a:p>
          <a:p xmlns:a="http://schemas.openxmlformats.org/drawingml/2006/main">
            <a:r>
              <a:t>Mac package tests and the iPhone debug harness call the same production pipeline. We test the processing logic on the Mac without creating a different implementation for the phone.</a:t>
            </a:r>
          </a:p>
          <a:p xmlns:a="http://schemas.openxmlformats.org/drawingml/2006/main">
            <a:r>
              <a:t/>
            </a:r>
          </a:p>
          <a:p xmlns:a="http://schemas.openxmlformats.org/drawingml/2006/main">
            <a:r>
              <a:t>Local inputs supply a reference image and a stream of video frames. The scorer uses Apple Vision to compare each sampled frame with the reference, using the whole frame and a central crop.</a:t>
            </a:r>
          </a:p>
          <a:p xmlns:a="http://schemas.openxmlformats.org/drawingml/2006/main">
            <a:r>
              <a:t/>
            </a:r>
          </a:p>
          <a:p xmlns:a="http://schemas.openxmlformats.org/drawingml/2006/main">
            <a:r>
              <a:t>The episode aggregator groups supporting samples into a possible-match episode and keeps the strongest evidence. The recorder writes an event log and a session report. Retained images stay in separate files.</a:t>
            </a:r>
          </a:p>
          <a:p xmlns:a="http://schemas.openxmlformats.org/drawingml/2006/main">
            <a:r>
              <a:t/>
            </a:r>
          </a:p>
          <a:p xmlns:a="http://schemas.openxmlformats.org/drawingml/2006/main">
            <a:r>
              <a:t>The fixture evaluator checks results against test annotations. The production package has no network, Firebase, or sign-in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candidate analysis pipeline: the coordinator.</a:t>
            </a:r>
          </a:p>
          <a:p xmlns:a="http://schemas.openxmlformats.org/drawingml/2006/main">
            <a:r>
              <a:t/>
            </a:r>
          </a:p>
          <a:p xmlns:a="http://schemas.openxmlformats.org/drawingml/2006/main">
            <a:r>
              <a:t>It connects the frame stream, target catalog, scorer, episode aggregator, and recorder.</a:t>
            </a:r>
          </a:p>
          <a:p xmlns:a="http://schemas.openxmlformats.org/drawingml/2006/main">
            <a:r>
              <a:t/>
            </a:r>
          </a:p>
          <a:p xmlns:a="http://schemas.openxmlformats.org/drawingml/2006/main">
            <a:r>
              <a:t>The first Swift line starts a detached worker, keeping image analysis away from the user interface thread. The following lines connect cancellation to the stream and worker.</a:t>
            </a:r>
          </a:p>
          <a:p xmlns:a="http://schemas.openxmlformats.org/drawingml/2006/main">
            <a:r>
              <a:t/>
            </a:r>
          </a:p>
          <a:p xmlns:a="http://schemas.openxmlformats.org/drawingml/2006/main">
            <a:r>
              <a:t>For each frame, the pipeline measures evidence, updates the episode, and records events. It keeps the previous frame available: the first sample in a new episode may be the best image to retain.</a:t>
            </a:r>
          </a:p>
          <a:p xmlns:a="http://schemas.openxmlformats.org/drawingml/2006/main">
            <a:r>
              <a:t/>
            </a:r>
          </a:p>
          <a:p xmlns:a="http://schemas.openxmlformats.org/drawingml/2006/main">
            <a:r>
              <a:t>Tests check that results start before the video ends, replay rebuilds the live report, and stopping or cancelling produces exactly one summary.</a:t>
            </a:r>
          </a:p>
          <a:p xmlns:a="http://schemas.openxmlformats.org/drawingml/2006/main">
            <a:r>
              <a:t/>
            </a:r>
          </a:p>
          <a:p xmlns:a="http://schemas.openxmlformats.org/drawingml/2006/main">
            <a:r>
              <a:t>These checks do not replace the final demonstration on a physical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f8625ddd9849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52fd214df43ca" /><Relationship Type="http://schemas.openxmlformats.org/officeDocument/2006/relationships/slideLayout" Target="/ppt/slideLayouts/slideLayout1.xml" Id="R29c0cc33ab1542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c0cc33ab1542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69888081624edb" /><Relationship Type="http://schemas.openxmlformats.org/officeDocument/2006/relationships/notesSlide" Target="/ppt/notesSlides/notesSlide1.xml" Id="R806c46f39a6749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4fbf7eec994294" /><Relationship Type="http://schemas.openxmlformats.org/officeDocument/2006/relationships/hyperlink" Target="file:///Users/paboelustodo/Library/CloudStorage/GoogleDrive-pablo.elustondo@gmail.com/My Drive 2/1-GIT-PROJECTS/aishop/ios/AIShop/AIShopVision/Sources/AIShopVision/" TargetMode="External" Id="Rd62167250213430e" /><Relationship Type="http://schemas.openxmlformats.org/officeDocument/2006/relationships/hyperlink" Target="file:///Users/paboelustodo/Library/CloudStorage/GoogleDrive-pablo.elustondo@gmail.com/My Drive 2/1-GIT-PROJECTS/aishop/ios/AIShop/AIShop/Diagnostics/" TargetMode="External" Id="Rb30bbb64ea1c444e" /><Relationship Type="http://schemas.openxmlformats.org/officeDocument/2006/relationships/hyperlink" Target="file:///Users/paboelustodo/Library/CloudStorage/GoogleDrive-pablo.elustondo@gmail.com/My Drive 2/1-GIT-PROJECTS/aishop/ios/AIShop/AIShopVision/Sources/AIShopVisionEvaluation/" TargetMode="External" Id="Rd782163a0e1441be" /><Relationship Type="http://schemas.openxmlformats.org/officeDocument/2006/relationships/notesSlide" Target="/ppt/notesSlides/notesSlide2.xml" Id="Rab09882fdab448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200fccf7a94e32" /><Relationship Type="http://schemas.openxmlformats.org/officeDocument/2006/relationships/hyperlink" Target="file:///Users/paboelustodo/Library/CloudStorage/GoogleDrive-pablo.elustondo@gmail.com/My Drive 2/1-GIT-PROJECTS/aishop/ios/AIShop/AIShopVision/Sources/AIShopVision/CandidateAnalysisPipeline/CandidateAnalysisPipeline.swift" TargetMode="External" Id="Rf52f8987912440bd" /><Relationship Type="http://schemas.openxmlformats.org/officeDocument/2006/relationships/hyperlink" Target="file:///Users/paboelustodo/Library/CloudStorage/GoogleDrive-pablo.elustondo@gmail.com/My Drive 2/1-GIT-PROJECTS/aishop/ios/AIShop/AIShopVision/Tests/AIShopVisionTests/CandidateAnalysisPipelineTests.swift" TargetMode="External" Id="R2fd6ac972c1e48e4" /><Relationship Type="http://schemas.openxmlformats.org/officeDocument/2006/relationships/hyperlink" Target="file:///Users/paboelustodo/Library/CloudStorage/GoogleDrive-pablo.elustondo@gmail.com/My Drive 2/1-GIT-PROJECTS/aishop/ios/AIShop/AIShopVision/Tests/AIShopVisionTests/PipelineIntegrationSuite.swift" TargetMode="External" Id="R43e5def86f9a468c" /><Relationship Type="http://schemas.openxmlformats.org/officeDocument/2006/relationships/notesSlide" Target="/ppt/notesSlides/notesSlide3.xml" Id="R76198b502b404d73"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4F094C4-B03F-4BFE-A6EA-C9C0D951069E}"/>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CE8598C9-CF76-4CB1-87A7-169DE139E576}"/>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850" b="1">
                <a:solidFill>
                  <a:srgbClr val="FFFFFF"/>
                </a:solidFill>
                <a:latin typeface="Arial"/>
                <a:ea typeface="Arial"/>
                <a:cs typeface="Arial"/>
              </a:defRPr>
            </a:pPr>
            <a:r>
              <a:rPr sz="5850" b="1">
                <a:solidFill>
                  <a:srgbClr val="FFFFFF"/>
                </a:solidFill>
                <a:latin typeface="Arial"/>
                <a:ea typeface="Arial"/>
                <a:cs typeface="Arial"/>
              </a:rPr>
              <a:t>Streaming video</a:t>
            </a:r>
          </a:p>
          <a:p xmlns:a="http://schemas.openxmlformats.org/drawingml/2006/main">
            <a:pPr algn="l">
              <a:buNone/>
              <a:defRPr sz="5850" b="1">
                <a:solidFill>
                  <a:srgbClr val="FFFFFF"/>
                </a:solidFill>
                <a:latin typeface="Arial"/>
                <a:ea typeface="Arial"/>
                <a:cs typeface="Arial"/>
              </a:defRPr>
            </a:pPr>
            <a:r>
              <a:rPr sz="5850" b="1">
                <a:solidFill>
                  <a:srgbClr val="FFFFFF"/>
                </a:solidFill>
                <a:latin typeface="Arial"/>
                <a:ea typeface="Arial"/>
                <a:cs typeface="Arial"/>
              </a:rPr>
              <a:t>candidate recognition</a:t>
            </a:r>
          </a:p>
        </p:txBody>
      </p:sp>
      <p:sp>
        <p:nvSpPr>
          <p:cNvPr id="3" name="text-2">
            <a:extLst xmlns:a="http://schemas.openxmlformats.org/drawingml/2006/main">
              <a:ext uri="{FF2B5EF4-FFF2-40B4-BE49-F238E27FC236}">
                <a16:creationId xmlns:a16="http://schemas.microsoft.com/office/drawing/2014/main" id="{B9F1B617-ED23-4FF2-A0C0-C17A9B3B77BB}"/>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buNone/>
              <a:defRPr sz="2850" b="0">
                <a:solidFill>
                  <a:srgbClr val="D1E3E9"/>
                </a:solidFill>
                <a:latin typeface="Arial"/>
                <a:ea typeface="Arial"/>
                <a:cs typeface="Arial"/>
              </a:defRPr>
            </a:pPr>
            <a:r>
              <a:rPr sz="2850" b="0">
                <a:solidFill>
                  <a:srgbClr val="D1E3E9"/>
                </a:solidFill>
                <a:latin typeface="Arial"/>
                <a:ea typeface="Arial"/>
                <a:cs typeface="Arial"/>
              </a:rPr>
              <a:t>Code and test walkthrough</a:t>
            </a:r>
          </a:p>
        </p:txBody>
      </p:sp>
      <p:sp>
        <p:nvSpPr>
          <p:cNvPr id="4" name="text-3">
            <a:extLst xmlns:a="http://schemas.openxmlformats.org/drawingml/2006/main">
              <a:ext uri="{FF2B5EF4-FFF2-40B4-BE49-F238E27FC236}">
                <a16:creationId xmlns:a16="http://schemas.microsoft.com/office/drawing/2014/main" id="{F398AB15-3AB2-4E9A-9461-799AABED0EC8}"/>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A8C1CF"/>
                </a:solidFill>
                <a:latin typeface="Arial"/>
                <a:ea typeface="Arial"/>
                <a:cs typeface="Arial"/>
              </a:defRPr>
            </a:pPr>
            <a:r>
              <a:rPr sz="1800" b="0">
                <a:solidFill>
                  <a:srgbClr val="A8C1CF"/>
                </a:solidFill>
                <a:latin typeface="Arial"/>
                <a:ea typeface="Arial"/>
                <a:cs typeface="Arial"/>
              </a:rPr>
              <a:t>Implementation walkthrough / 20 September 2026</a:t>
            </a:r>
          </a:p>
        </p:txBody>
      </p:sp>
    </p:spTree>
    <p:extLst>
      <p:ext uri="{BB962C8B-B14F-4D97-AF65-F5344CB8AC3E}">
        <p14:creationId xmlns:p14="http://schemas.microsoft.com/office/powerpoint/2010/main" val="710772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29F24141-1A74-4620-BDDF-7929A8FC11B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47C60736-4C81-4C06-927E-B0228D2D51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506476"/>
                </a:solidFill>
                <a:latin typeface="Arial"/>
                <a:ea typeface="Arial"/>
                <a:cs typeface="Arial"/>
              </a:defRPr>
            </a:pPr>
            <a:r>
              <a:rPr sz="2100" b="0">
                <a:solidFill>
                  <a:srgbClr val="506476"/>
                </a:solidFill>
                <a:latin typeface="Arial"/>
                <a:ea typeface="Arial"/>
                <a:cs typeface="Arial"/>
              </a:rPr>
              <a:t>One pipeline, two execution hosts</a:t>
            </a:r>
          </a:p>
        </p:txBody>
      </p:sp>
      <p:sp>
        <p:nvSpPr>
          <p:cNvPr id="3" name="">
            <a:extLst xmlns:a="http://schemas.openxmlformats.org/drawingml/2006/main">
              <a:ext uri="{FF2B5EF4-FFF2-40B4-BE49-F238E27FC236}">
                <a16:creationId xmlns:a16="http://schemas.microsoft.com/office/drawing/2014/main" id="{8088EEF4-D598-4053-A38C-227313585BF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70ABC24-E531-4FDF-9B29-8909671F455A}"/>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Mac package tests / iPhone Debug harness</a:t>
            </a:r>
          </a:p>
        </p:txBody>
      </p:sp>
      <p:sp>
        <p:nvSpPr>
          <p:cNvPr id="5" name="text-3">
            <a:extLst xmlns:a="http://schemas.openxmlformats.org/drawingml/2006/main">
              <a:ext uri="{FF2B5EF4-FFF2-40B4-BE49-F238E27FC236}">
                <a16:creationId xmlns:a16="http://schemas.microsoft.com/office/drawing/2014/main" id="{7833F7E4-D1FE-49E8-B904-3FFD777EB29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Both call CandidateAnalysisPipeline</a:t>
            </a:r>
          </a:p>
        </p:txBody>
      </p:sp>
      <p:sp>
        <p:nvSpPr>
          <p:cNvPr id="6" name="">
            <a:extLst xmlns:a="http://schemas.openxmlformats.org/drawingml/2006/main">
              <a:ext uri="{FF2B5EF4-FFF2-40B4-BE49-F238E27FC236}">
                <a16:creationId xmlns:a16="http://schemas.microsoft.com/office/drawing/2014/main" id="{32466115-06FC-4EA9-9E40-6F79BA79161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C0A93A-9E5E-42C9-B528-67C699C76A7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8A5E18F-1A8E-485B-AC73-0655C4972E8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Local inputs</a:t>
            </a:r>
          </a:p>
        </p:txBody>
      </p:sp>
      <p:sp>
        <p:nvSpPr>
          <p:cNvPr id="9" name="text-5">
            <a:extLst xmlns:a="http://schemas.openxmlformats.org/drawingml/2006/main">
              <a:ext uri="{FF2B5EF4-FFF2-40B4-BE49-F238E27FC236}">
                <a16:creationId xmlns:a16="http://schemas.microsoft.com/office/drawing/2014/main" id="{13DF864F-7D25-4DAC-938A-094C24A80DE9}"/>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LocalTargetCatalog + VideoFixtureFrameStream</a:t>
            </a:r>
          </a:p>
        </p:txBody>
      </p:sp>
      <p:sp>
        <p:nvSpPr>
          <p:cNvPr id="10" name="">
            <a:extLst xmlns:a="http://schemas.openxmlformats.org/drawingml/2006/main">
              <a:ext uri="{FF2B5EF4-FFF2-40B4-BE49-F238E27FC236}">
                <a16:creationId xmlns:a16="http://schemas.microsoft.com/office/drawing/2014/main" id="{6931EDCE-CE20-44D0-BBE6-F9E8B10DE315}"/>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E3C94E-2A18-48A1-A236-5852F601B926}"/>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BC485D0-2A7D-4144-8F24-21C3945FC26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CandidateScorer</a:t>
            </a:r>
          </a:p>
        </p:txBody>
      </p:sp>
      <p:sp>
        <p:nvSpPr>
          <p:cNvPr id="13" name="text-7">
            <a:extLst xmlns:a="http://schemas.openxmlformats.org/drawingml/2006/main">
              <a:ext uri="{FF2B5EF4-FFF2-40B4-BE49-F238E27FC236}">
                <a16:creationId xmlns:a16="http://schemas.microsoft.com/office/drawing/2014/main" id="{A2001CD9-439E-4B1D-9764-9050A4DD0C07}"/>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VisionFeatureAdapter compares whole frame and central crop</a:t>
            </a:r>
          </a:p>
        </p:txBody>
      </p:sp>
      <p:sp>
        <p:nvSpPr>
          <p:cNvPr id="14" name="">
            <a:extLst xmlns:a="http://schemas.openxmlformats.org/drawingml/2006/main">
              <a:ext uri="{FF2B5EF4-FFF2-40B4-BE49-F238E27FC236}">
                <a16:creationId xmlns:a16="http://schemas.microsoft.com/office/drawing/2014/main" id="{247FB6FA-7334-4C58-9E26-6DC5C9EA63D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2EEB1B-BBE1-4969-800C-0E99D16B1F0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52C9334-6373-4E6E-8537-2CABE6F7311C}"/>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CandidateEpisodeAggregator</a:t>
            </a:r>
          </a:p>
        </p:txBody>
      </p:sp>
      <p:sp>
        <p:nvSpPr>
          <p:cNvPr id="17" name="text-9">
            <a:extLst xmlns:a="http://schemas.openxmlformats.org/drawingml/2006/main">
              <a:ext uri="{FF2B5EF4-FFF2-40B4-BE49-F238E27FC236}">
                <a16:creationId xmlns:a16="http://schemas.microsoft.com/office/drawing/2014/main" id="{75147048-0A30-4395-9FEF-1EA6FAC3FD2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Groups supporting samples and chooses the best evidence</a:t>
            </a:r>
          </a:p>
        </p:txBody>
      </p:sp>
      <p:sp>
        <p:nvSpPr>
          <p:cNvPr id="18" name="">
            <a:extLst xmlns:a="http://schemas.openxmlformats.org/drawingml/2006/main">
              <a:ext uri="{FF2B5EF4-FFF2-40B4-BE49-F238E27FC236}">
                <a16:creationId xmlns:a16="http://schemas.microsoft.com/office/drawing/2014/main" id="{075D4ABE-C003-4DF4-9B42-52A85C905CCA}"/>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F8703D-77CF-4CE0-B613-5AB14A28B9B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94D60718-350E-4E64-8686-DC3DE355944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Report and evidence</a:t>
            </a:r>
          </a:p>
        </p:txBody>
      </p:sp>
      <p:sp>
        <p:nvSpPr>
          <p:cNvPr id="21" name="text-11">
            <a:extLst xmlns:a="http://schemas.openxmlformats.org/drawingml/2006/main">
              <a:ext uri="{FF2B5EF4-FFF2-40B4-BE49-F238E27FC236}">
                <a16:creationId xmlns:a16="http://schemas.microsoft.com/office/drawing/2014/main" id="{3BC106F2-BB1A-4123-ABBE-2D70332F4BCA}"/>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SessionReportBuilder + JSONL SessionLog + separate local images</a:t>
            </a:r>
          </a:p>
        </p:txBody>
      </p:sp>
      <p:sp>
        <p:nvSpPr>
          <p:cNvPr id="22" name="text-12">
            <a:extLst xmlns:a="http://schemas.openxmlformats.org/drawingml/2006/main">
              <a:ext uri="{FF2B5EF4-FFF2-40B4-BE49-F238E27FC236}">
                <a16:creationId xmlns:a16="http://schemas.microsoft.com/office/drawing/2014/main" id="{F723C001-FC97-475C-B9A5-698561B4F2B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506476"/>
                </a:solidFill>
                <a:latin typeface="Arial"/>
                <a:ea typeface="Arial"/>
                <a:cs typeface="Arial"/>
              </a:defRPr>
            </a:pPr>
            <a:r>
              <a:rPr sz="1950" b="0">
                <a:solidFill>
                  <a:srgbClr val="506476"/>
                </a:solidFill>
                <a:latin typeface="Arial"/>
                <a:ea typeface="Arial"/>
                <a:cs typeface="Arial"/>
              </a:rPr>
              <a:t>FixtureEvaluator is a separate test/development target. The app does not link annotations.</a:t>
            </a:r>
          </a:p>
        </p:txBody>
      </p:sp>
      <p:sp>
        <p:nvSpPr>
          <p:cNvPr id="23" name="text-13">
            <a:extLst xmlns:a="http://schemas.openxmlformats.org/drawingml/2006/main">
              <a:ext uri="{FF2B5EF4-FFF2-40B4-BE49-F238E27FC236}">
                <a16:creationId xmlns:a16="http://schemas.microsoft.com/office/drawing/2014/main" id="{91EE4BBF-8C5C-4EAF-9998-BED459CCA54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BAFA99B9-5773-4285-A6D1-CF1D6725B69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62167250213430e"/>
              </a:rPr>
              <a:t>Pipeline components</a:t>
            </a:r>
          </a:p>
        </p:txBody>
      </p:sp>
      <p:sp>
        <p:nvSpPr>
          <p:cNvPr id="25" name="text-15">
            <a:extLst xmlns:a="http://schemas.openxmlformats.org/drawingml/2006/main">
              <a:ext uri="{FF2B5EF4-FFF2-40B4-BE49-F238E27FC236}">
                <a16:creationId xmlns:a16="http://schemas.microsoft.com/office/drawing/2014/main" id="{64FA9341-9794-4187-8DE7-8CA34290F95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30bbb64ea1c444e"/>
              </a:rPr>
              <a:t>Debug harness</a:t>
            </a:r>
          </a:p>
        </p:txBody>
      </p:sp>
      <p:sp>
        <p:nvSpPr>
          <p:cNvPr id="26" name="text-16">
            <a:extLst xmlns:a="http://schemas.openxmlformats.org/drawingml/2006/main">
              <a:ext uri="{FF2B5EF4-FFF2-40B4-BE49-F238E27FC236}">
                <a16:creationId xmlns:a16="http://schemas.microsoft.com/office/drawing/2014/main" id="{589AF3A3-CAA6-4DB4-8392-5802698C61B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782163a0e1441be"/>
              </a:rPr>
              <a:t>Evaluator</a:t>
            </a:r>
          </a:p>
        </p:txBody>
      </p:sp>
      <p:sp>
        <p:nvSpPr>
          <p:cNvPr id="27" name="text-17">
            <a:extLst xmlns:a="http://schemas.openxmlformats.org/drawingml/2006/main">
              <a:ext uri="{FF2B5EF4-FFF2-40B4-BE49-F238E27FC236}">
                <a16:creationId xmlns:a16="http://schemas.microsoft.com/office/drawing/2014/main" id="{24B418D2-842B-4359-B86B-F5DBE766D03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693240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FD8AE70-9DB5-4E30-9004-93C9C0D2D9C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750" b="1">
                <a:solidFill>
                  <a:srgbClr val="102C43"/>
                </a:solidFill>
                <a:latin typeface="Arial"/>
                <a:ea typeface="Arial"/>
                <a:cs typeface="Arial"/>
              </a:defRPr>
            </a:pPr>
            <a:r>
              <a:rPr sz="3750" b="1">
                <a:solidFill>
                  <a:srgbClr val="102C43"/>
                </a:solidFill>
                <a:latin typeface="Arial"/>
                <a:ea typeface="Arial"/>
                <a:cs typeface="Arial"/>
              </a:rPr>
              <a:t>Pipeline orchestration</a:t>
            </a:r>
          </a:p>
        </p:txBody>
      </p:sp>
      <p:sp>
        <p:nvSpPr>
          <p:cNvPr id="2" name="text-1">
            <a:extLst xmlns:a="http://schemas.openxmlformats.org/drawingml/2006/main">
              <a:ext uri="{FF2B5EF4-FFF2-40B4-BE49-F238E27FC236}">
                <a16:creationId xmlns:a16="http://schemas.microsoft.com/office/drawing/2014/main" id="{22CDB3A6-B85F-4794-ABDB-90DC00EEA21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506476"/>
                </a:solidFill>
                <a:latin typeface="Arial"/>
                <a:ea typeface="Arial"/>
                <a:cs typeface="Arial"/>
              </a:defRPr>
            </a:pPr>
            <a:r>
              <a:rPr sz="2100" b="0">
                <a:solidFill>
                  <a:srgbClr val="506476"/>
                </a:solidFill>
                <a:latin typeface="Arial"/>
                <a:ea typeface="Arial"/>
                <a:cs typeface="Arial"/>
              </a:rPr>
              <a:t>CandidateAnalysisPipeline</a:t>
            </a:r>
          </a:p>
        </p:txBody>
      </p:sp>
      <p:sp>
        <p:nvSpPr>
          <p:cNvPr id="3" name="text-2">
            <a:extLst xmlns:a="http://schemas.openxmlformats.org/drawingml/2006/main">
              <a:ext uri="{FF2B5EF4-FFF2-40B4-BE49-F238E27FC236}">
                <a16:creationId xmlns:a16="http://schemas.microsoft.com/office/drawing/2014/main" id="{E0D33874-62BE-4017-97A4-DCE598AAA9F8}"/>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5B6D6AF-A837-4608-99C9-B55DA744A18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Start a worker away from the UI thread</a:t>
            </a:r>
          </a:p>
        </p:txBody>
      </p:sp>
      <p:sp>
        <p:nvSpPr>
          <p:cNvPr id="5" name="text-4">
            <a:extLst xmlns:a="http://schemas.openxmlformats.org/drawingml/2006/main">
              <a:ext uri="{FF2B5EF4-FFF2-40B4-BE49-F238E27FC236}">
                <a16:creationId xmlns:a16="http://schemas.microsoft.com/office/drawing/2014/main" id="{BFE1FF4F-479E-4EF1-98C8-8442E9FA7DA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AB7AB25E-CEDD-4232-8870-6AA3E0E70CD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Compose stream, scorer, aggregator, and recorder</a:t>
            </a:r>
          </a:p>
        </p:txBody>
      </p:sp>
      <p:sp>
        <p:nvSpPr>
          <p:cNvPr id="7" name="text-6">
            <a:extLst xmlns:a="http://schemas.openxmlformats.org/drawingml/2006/main">
              <a:ext uri="{FF2B5EF4-FFF2-40B4-BE49-F238E27FC236}">
                <a16:creationId xmlns:a16="http://schemas.microsoft.com/office/drawing/2014/main" id="{5CBC3058-EECA-4A97-8941-CD857D8C7D5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6182EDCE-F928-481D-B1E8-C7AF4A64B1E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Finalize once after stop, cancellation, error, or EOF</a:t>
            </a:r>
          </a:p>
        </p:txBody>
      </p:sp>
      <p:sp>
        <p:nvSpPr>
          <p:cNvPr id="9" name="text-8">
            <a:extLst xmlns:a="http://schemas.openxmlformats.org/drawingml/2006/main">
              <a:ext uri="{FF2B5EF4-FFF2-40B4-BE49-F238E27FC236}">
                <a16:creationId xmlns:a16="http://schemas.microsoft.com/office/drawing/2014/main" id="{03F05FFD-D3AD-4330-B075-55EB4943FE61}"/>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9A9244C8-1E5C-4728-ACC0-16236222BCA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4E08B114-3EDF-43A5-95C6-5792D7D56F98}"/>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worker = Task.detached { try await self.execute(onUpdate: onUpdate) }</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return try await withTaskCancellationHandler { try await worker.value } onCancel: {</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self.stream.cancel()</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worker.cancel()</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A6B1B812-54AE-4B9C-B82B-1CFB00F3034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7667B"/>
                </a:solidFill>
                <a:latin typeface="Arial"/>
                <a:ea typeface="Arial"/>
                <a:cs typeface="Arial"/>
              </a:defRPr>
            </a:pPr>
            <a:r>
              <a:rPr sz="2175" b="1">
                <a:solidFill>
                  <a:srgbClr val="17667B"/>
                </a:solidFill>
                <a:latin typeface="Arial"/>
                <a:ea typeface="Arial"/>
                <a:cs typeface="Arial"/>
              </a:rPr>
              <a:t>CandidateAnalysisPipelineTests + PipelineIntegrationSuite</a:t>
            </a:r>
          </a:p>
        </p:txBody>
      </p:sp>
      <p:sp>
        <p:nvSpPr>
          <p:cNvPr id="13" name="text-11">
            <a:extLst xmlns:a="http://schemas.openxmlformats.org/drawingml/2006/main">
              <a:ext uri="{FF2B5EF4-FFF2-40B4-BE49-F238E27FC236}">
                <a16:creationId xmlns:a16="http://schemas.microsoft.com/office/drawing/2014/main" id="{D94863FB-CD8F-4D5E-9721-BF689EEB3B9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506476"/>
                </a:solidFill>
                <a:latin typeface="Arial"/>
                <a:ea typeface="Arial"/>
                <a:cs typeface="Arial"/>
              </a:defRPr>
            </a:pPr>
            <a:r>
              <a:rPr sz="2025" b="0">
                <a:solidFill>
                  <a:srgbClr val="506476"/>
                </a:solidFill>
                <a:latin typeface="Arial"/>
                <a:ea typeface="Arial"/>
                <a:cs typeface="Arial"/>
              </a:rPr>
              <a:t>Real frames arrive before EOF. Reports rebuild from logs. Cancellation finalizes once.</a:t>
            </a:r>
          </a:p>
        </p:txBody>
      </p:sp>
      <p:sp>
        <p:nvSpPr>
          <p:cNvPr id="14" name="text-12">
            <a:extLst xmlns:a="http://schemas.openxmlformats.org/drawingml/2006/main">
              <a:ext uri="{FF2B5EF4-FFF2-40B4-BE49-F238E27FC236}">
                <a16:creationId xmlns:a16="http://schemas.microsoft.com/office/drawing/2014/main" id="{32B4A530-29BB-4455-B725-F5C9CECCFC6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5662F47-632B-4B33-9C47-DAA5E45F5B4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2f8987912440bd"/>
              </a:rPr>
              <a:t>Pipeline source</a:t>
            </a:r>
          </a:p>
        </p:txBody>
      </p:sp>
      <p:sp>
        <p:nvSpPr>
          <p:cNvPr id="16" name="text-14">
            <a:extLst xmlns:a="http://schemas.openxmlformats.org/drawingml/2006/main">
              <a:ext uri="{FF2B5EF4-FFF2-40B4-BE49-F238E27FC236}">
                <a16:creationId xmlns:a16="http://schemas.microsoft.com/office/drawing/2014/main" id="{8693F791-A680-4E24-B6E6-DCE1EB7B4EF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fd6ac972c1e48e4"/>
              </a:rPr>
              <a:t>Pipeline tests</a:t>
            </a:r>
          </a:p>
        </p:txBody>
      </p:sp>
      <p:sp>
        <p:nvSpPr>
          <p:cNvPr id="17" name="text-15">
            <a:extLst xmlns:a="http://schemas.openxmlformats.org/drawingml/2006/main">
              <a:ext uri="{FF2B5EF4-FFF2-40B4-BE49-F238E27FC236}">
                <a16:creationId xmlns:a16="http://schemas.microsoft.com/office/drawing/2014/main" id="{380A7649-4738-4E7A-8BC7-EF3D6A40E70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3e5def86f9a468c"/>
              </a:rPr>
              <a:t>Integration suite</a:t>
            </a:r>
          </a:p>
        </p:txBody>
      </p:sp>
      <p:sp>
        <p:nvSpPr>
          <p:cNvPr id="18" name="text-16">
            <a:extLst xmlns:a="http://schemas.openxmlformats.org/drawingml/2006/main">
              <a:ext uri="{FF2B5EF4-FFF2-40B4-BE49-F238E27FC236}">
                <a16:creationId xmlns:a16="http://schemas.microsoft.com/office/drawing/2014/main" id="{742FADD4-C27D-49CD-91D8-3A94353E650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488957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2026-09-20T21:35:45.4330000Z</dcterms:created>
  <dcterms:modified xsi:type="dcterms:W3CDTF">2026-09-20T21:35:45.4330000Z</dcterms:modified>
</coreProperties>
</file>