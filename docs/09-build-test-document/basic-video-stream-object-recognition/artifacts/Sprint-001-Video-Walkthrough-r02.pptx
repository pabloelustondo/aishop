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deb59b5dbb4ade" /><Relationship Type="http://schemas.openxmlformats.org/officeDocument/2006/relationships/extended-properties" Target="/docProps/app.xml" Id="Rd8ca599668c74cba" /><Relationship Type="http://schemas.openxmlformats.org/officeDocument/2006/relationships/officeDocument" Target="/ppt/presentation.xml" Id="R5b4a4f477821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bb36338fa748d0"/>
  </p:sldMasterIdLst>
  <p:notesMasterIdLst>
    <p:notesMasterId xmlns:r="http://schemas.openxmlformats.org/officeDocument/2006/relationships" r:id="Re1258c73d8b84815"/>
  </p:notesMasterIdLst>
  <p:sldIdLst>
    <p:sldId xmlns:r="http://schemas.openxmlformats.org/officeDocument/2006/relationships" id="256" r:id="R3844006fd771415e"/>
    <p:sldId xmlns:r="http://schemas.openxmlformats.org/officeDocument/2006/relationships" id="257" r:id="R6689a654600e4aa0"/>
    <p:sldId xmlns:r="http://schemas.openxmlformats.org/officeDocument/2006/relationships" id="258" r:id="R44eaceada9c84fdf"/>
    <p:sldId xmlns:r="http://schemas.openxmlformats.org/officeDocument/2006/relationships" id="259" r:id="R820d651457b844c5"/>
    <p:sldId xmlns:r="http://schemas.openxmlformats.org/officeDocument/2006/relationships" id="260" r:id="R5eecc96be0cb4618"/>
    <p:sldId xmlns:r="http://schemas.openxmlformats.org/officeDocument/2006/relationships" id="261" r:id="R2893bcc7d35c4513"/>
    <p:sldId xmlns:r="http://schemas.openxmlformats.org/officeDocument/2006/relationships" id="262" r:id="R034fa7b6f2ac4c4c"/>
    <p:sldId xmlns:r="http://schemas.openxmlformats.org/officeDocument/2006/relationships" id="263" r:id="Rb4414dc4f5f64f2a"/>
    <p:sldId xmlns:r="http://schemas.openxmlformats.org/officeDocument/2006/relationships" id="264" r:id="R7724a141272540de"/>
    <p:sldId xmlns:r="http://schemas.openxmlformats.org/officeDocument/2006/relationships" id="265" r:id="R25a1594a5c1047b2"/>
    <p:sldId xmlns:r="http://schemas.openxmlformats.org/officeDocument/2006/relationships" id="266" r:id="R586bd6fd0c2141ed"/>
    <p:sldId xmlns:r="http://schemas.openxmlformats.org/officeDocument/2006/relationships" id="267" r:id="Ra9eb4da0833048f1"/>
    <p:sldId xmlns:r="http://schemas.openxmlformats.org/officeDocument/2006/relationships" id="268" r:id="R2244013931ba4de7"/>
    <p:sldId xmlns:r="http://schemas.openxmlformats.org/officeDocument/2006/relationships" id="269" r:id="Rd97780583e73441d"/>
    <p:sldId xmlns:r="http://schemas.openxmlformats.org/officeDocument/2006/relationships" id="270" r:id="R46658b43b6e746e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68dfe8a1d4626" /><Relationship Type="http://schemas.openxmlformats.org/officeDocument/2006/relationships/slideMaster" Target="/ppt/slideMasters/slideMaster1.xml" Id="Rf3bb36338fa748d0" /><Relationship Type="http://schemas.openxmlformats.org/officeDocument/2006/relationships/notesMaster" Target="/ppt/notesMasters/notesMaster1.xml" Id="Re1258c73d8b84815" /><Relationship Type="http://schemas.openxmlformats.org/officeDocument/2006/relationships/presProps" Target="/ppt/presProps.xml" Id="Rabdddb0613354003" /><Relationship Type="http://schemas.openxmlformats.org/officeDocument/2006/relationships/tableStyles" Target="/ppt/tableStyles.xml" Id="R00cc7e795c1f4b60" /><Relationship Type="http://schemas.openxmlformats.org/officeDocument/2006/relationships/slide" Target="/ppt/slides/slide1.xml" Id="R3844006fd771415e" /><Relationship Type="http://schemas.openxmlformats.org/officeDocument/2006/relationships/slide" Target="/ppt/slides/slide2.xml" Id="R6689a654600e4aa0" /><Relationship Type="http://schemas.openxmlformats.org/officeDocument/2006/relationships/slide" Target="/ppt/slides/slide3.xml" Id="R44eaceada9c84fdf" /><Relationship Type="http://schemas.openxmlformats.org/officeDocument/2006/relationships/slide" Target="/ppt/slides/slide4.xml" Id="R820d651457b844c5" /><Relationship Type="http://schemas.openxmlformats.org/officeDocument/2006/relationships/slide" Target="/ppt/slides/slide5.xml" Id="R5eecc96be0cb4618" /><Relationship Type="http://schemas.openxmlformats.org/officeDocument/2006/relationships/slide" Target="/ppt/slides/slide6.xml" Id="R2893bcc7d35c4513" /><Relationship Type="http://schemas.openxmlformats.org/officeDocument/2006/relationships/slide" Target="/ppt/slides/slide7.xml" Id="R034fa7b6f2ac4c4c" /><Relationship Type="http://schemas.openxmlformats.org/officeDocument/2006/relationships/slide" Target="/ppt/slides/slide8.xml" Id="Rb4414dc4f5f64f2a" /><Relationship Type="http://schemas.openxmlformats.org/officeDocument/2006/relationships/slide" Target="/ppt/slides/slide9.xml" Id="R7724a141272540de" /><Relationship Type="http://schemas.openxmlformats.org/officeDocument/2006/relationships/slide" Target="/ppt/slides/slide10.xml" Id="R25a1594a5c1047b2" /><Relationship Type="http://schemas.openxmlformats.org/officeDocument/2006/relationships/slide" Target="/ppt/slides/slide11.xml" Id="R586bd6fd0c2141ed" /><Relationship Type="http://schemas.openxmlformats.org/officeDocument/2006/relationships/slide" Target="/ppt/slides/slide12.xml" Id="Ra9eb4da0833048f1" /><Relationship Type="http://schemas.openxmlformats.org/officeDocument/2006/relationships/slide" Target="/ppt/slides/slide13.xml" Id="R2244013931ba4de7" /><Relationship Type="http://schemas.openxmlformats.org/officeDocument/2006/relationships/slide" Target="/ppt/slides/slide14.xml" Id="Rd97780583e73441d" /><Relationship Type="http://schemas.openxmlformats.org/officeDocument/2006/relationships/slide" Target="/ppt/slides/slide15.xml" Id="R46658b43b6e746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3c92c4ef8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19ada8889440c1" /><Relationship Type="http://schemas.openxmlformats.org/officeDocument/2006/relationships/notesMaster" Target="/ppt/notesMasters/notesMaster1.xml" Id="R7d47f1b6e8bb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aded109b5e4e02" /><Relationship Type="http://schemas.openxmlformats.org/officeDocument/2006/relationships/notesMaster" Target="/ppt/notesMasters/notesMaster1.xml" Id="Raf3ac282cfc743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2704ae22a34464" /><Relationship Type="http://schemas.openxmlformats.org/officeDocument/2006/relationships/notesMaster" Target="/ppt/notesMasters/notesMaster1.xml" Id="R6394cda74b5b49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db2a6be4b744b1" /><Relationship Type="http://schemas.openxmlformats.org/officeDocument/2006/relationships/notesMaster" Target="/ppt/notesMasters/notesMaster1.xml" Id="R8e59ca1eacc146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39bb2aa5de4bec" /><Relationship Type="http://schemas.openxmlformats.org/officeDocument/2006/relationships/notesMaster" Target="/ppt/notesMasters/notesMaster1.xml" Id="R49c917c89248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124dd8dfd04616" /><Relationship Type="http://schemas.openxmlformats.org/officeDocument/2006/relationships/notesMaster" Target="/ppt/notesMasters/notesMaster1.xml" Id="Re701f89136ce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08ffc12284d10" /><Relationship Type="http://schemas.openxmlformats.org/officeDocument/2006/relationships/notesMaster" Target="/ppt/notesMasters/notesMaster1.xml" Id="Rd6094f1bafc546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ae20f0c4d42ec" /><Relationship Type="http://schemas.openxmlformats.org/officeDocument/2006/relationships/notesMaster" Target="/ppt/notesMasters/notesMaster1.xml" Id="Rcc468613c12246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46a79c2c7143f3" /><Relationship Type="http://schemas.openxmlformats.org/officeDocument/2006/relationships/notesMaster" Target="/ppt/notesMasters/notesMaster1.xml" Id="Red43d1170e46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da95474b09475b" /><Relationship Type="http://schemas.openxmlformats.org/officeDocument/2006/relationships/notesMaster" Target="/ppt/notesMasters/notesMaster1.xml" Id="R589c0319384d4c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522ebda1364d8f" /><Relationship Type="http://schemas.openxmlformats.org/officeDocument/2006/relationships/notesMaster" Target="/ppt/notesMasters/notesMaster1.xml" Id="Rf1c91b8c1fa142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008f31e2704055" /><Relationship Type="http://schemas.openxmlformats.org/officeDocument/2006/relationships/notesMaster" Target="/ppt/notesMasters/notesMaster1.xml" Id="R3e9641a883804b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601d51ca434c2c" /><Relationship Type="http://schemas.openxmlformats.org/officeDocument/2006/relationships/notesMaster" Target="/ppt/notesMasters/notesMaster1.xml" Id="R4086eb06996f4d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a416dbc9404b17" /><Relationship Type="http://schemas.openxmlformats.org/officeDocument/2006/relationships/notesMaster" Target="/ppt/notesMasters/notesMaster1.xml" Id="Rb4fe66c6e7a64c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a3de41303b4c45" /><Relationship Type="http://schemas.openxmlformats.org/officeDocument/2006/relationships/notesMaster" Target="/ppt/notesMasters/notesMaster1.xml" Id="R4df340c422fe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Streaming video candidate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is AIShopVision, shared by native Mac tests and the iPhone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feature searches prerecorded streaming frames for one known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banana reference is a pipeline probe, not a general produce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will connect the intent to the code and the evidence for each component.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General object detection, bounding boxes, live camera capture, and SKU confirmation remain outside Sprint 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snapshot is the uncommitted implementation on codex/ios-vision-sprint-001-target-signal, based on approval commit 90a5f8b.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checks and app builds passed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signed Debug build exists, but we have not installed or demonstrated it on the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Pablo's phone review and acceptance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[Approved scope](../../../../../../ios/AIShop/01-docs/07-planning/sprints/sprint-001-candidate-target-signal/01-sprint-plan.md)</a:t>
            </a:r>
          </a:p>
          <a:p xmlns:a="http://schemas.openxmlformats.org/drawingml/2006/main">
            <a:r>
              <a:t>- [Package](../../../../../../ios/AIShop/AIShopVision/Package.swift)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shopper's goal is to know when to pause and inspect a likely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process the stream incrementally instead of waiting for the video to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user-facing phrase is exactly “possible match”.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signal is provisional evidence, not confirmation of an object or exact SKU.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session report retains a best whole frame for every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second pass over the source video when the session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target must occupy a substantial and recognizable part of the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Candidate-region detection for dense shelves belongs to later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narrow scope lets us test the streaming mechanics with real Vision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[Sprint plan](../../../../../../ios/AIShop/01-docs/07-planning/sprints/sprint-001-candidate-target-signal/01-sprint-plan.md)</a:t>
            </a:r>
          </a:p>
          <a:p xmlns:a="http://schemas.openxmlformats.org/drawingml/2006/main">
            <a:r>
              <a:t>- [Acceptance](../../../../../../ios/AIShop/01-docs/07-planning/sprints/sprint-001-candidate-target-signal/01-sprint-plan-acceptance.md)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use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harness is a Debug-only route for exercising the approved Sprint 001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selects one of two fixed, bundled, trimmed videos.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starts timestamp-paced analysis using the shared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Scores update during playback. Two eligible supporting samples can open a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closes an open episode and produces a report from retained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Natural end-of-stream follows the same finalization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report includes the best whole frame, times, score, frame counts, and measured inference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exports the JSONL session log locally.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evaluator compares both phone fixtures against their Mac counterparts.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diagnostic workflow, not the final shopping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[Harness](../../../../../../ios/AIShop/AIShop/Diagnostics/VisionDiagnosticHarness.swift)</a:t>
            </a:r>
          </a:p>
          <a:p xmlns:a="http://schemas.openxmlformats.org/drawingml/2006/main">
            <a:r>
              <a:t>- [Harness model](../../../../../../ios/AIShop/AIShop/Diagnostics/VisionHarnessModel.swift)</a:t>
            </a:r>
          </a:p>
          <a:p xmlns:a="http://schemas.openxmlformats.org/drawingml/2006/main">
            <a:r>
              <a:t>- [Phone verification](../../../../../../ios/AIShop/01-docs/04-benchmarks-test-strategy-and-success-criteria/sprint-001-iphone-verification.md)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How to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is ./e2e/ios/run.zsh, invoked from the repository root or by absolute path from any directory.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runs swift test without selecting a subset and checks the transcript for every required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missing, skipped, or failed required test makes the gate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products and logs live in a fresh temporary directory outside the Google Drive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avoids code-signing failures caused by metadata on synced build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most recent Mac gate verified 29 tests with no skips.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AIShop-VisionDiagnostics Xcode scheme ran 25 app tests in Simulator.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tests cover existing app behavior, the diagnostic startup path, and Debug fixture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does not exercise the app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Simulator checks do not prove real Vision compatibility on a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physical acceptance Pablo must see a live possible match before playback ends and the report afterward.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exported phone logs must pass the fixed-profile evaluation and calibration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iPhone demonstration has not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[Mac runner](../../../../../../e2e/ios/run.zsh)</a:t>
            </a:r>
          </a:p>
          <a:p xmlns:a="http://schemas.openxmlformats.org/drawingml/2006/main">
            <a:r>
              <a:t>- [Required checks](../../../../../../e2e/ios/required-tests.txt)</a:t>
            </a:r>
          </a:p>
          <a:p xmlns:a="http://schemas.openxmlformats.org/drawingml/2006/main">
            <a:r>
              <a:t>- [App scheme](../../../../../../ios/AIShop/AIShop.xcodeproj/xcshareddata/xcschemes/AIShop-VisionDiagnostics.xcscheme)</a:t>
            </a:r>
          </a:p>
          <a:p xmlns:a="http://schemas.openxmlformats.org/drawingml/2006/main">
            <a:r>
              <a:t>- [Acceptance](../../../../../../ios/AIShop/01-docs/07-planning/sprints/sprint-001-candidate-target-signal/01-sprint-plan-acceptance.md)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High-level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architecture from top to bottom.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 package tests and the iPhone harness are peer consumers of the same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CandidateAnalysisPipeline coordinates the work rather than implementing the individual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catalog lazily prepares the one target's reference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fixture stream decodes local video incrementally and preserves source presentation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uses Apple Vision through a small adapter.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turns supporting samples into bounded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recorder serializes stream and inference events into a consistent log and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Best-frame image files remain separate from JSONL.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FixtureEvaluator belongs to the development/test target, outside the application dependency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network, Firebase, or authentication dependency inside AIShopVision.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[Pipeline](../../../../../../ios/AIShop/AIShopVision/Sources/AIShopVision/CandidateAnalysisPipeline/CandidateAnalysisPipeline.swift)</a:t>
            </a:r>
          </a:p>
          <a:p xmlns:a="http://schemas.openxmlformats.org/drawingml/2006/main">
            <a:r>
              <a:t>- [Package boundaries](../../../../../../ios/AIShop/AIShopVision/Package.swift)</a:t>
            </a:r>
          </a:p>
          <a:p xmlns:a="http://schemas.openxmlformats.org/drawingml/2006/main">
            <a:r>
              <a:t>- [Recorder](../../../../../../ios/AIShop/AIShopVision/Sources/AIShopVision/CandidateAnalysisPipeline/PipelineRecorder.swift)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Pipeline orchestration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orchestrator injects a catalog and any source conforming to FrameStream.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run method starts a detached worker so Vision work does not execute on the UI thread.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the worker and cancellation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Inside execute, the pipeline loads the target, receives frames, measures scores, updates episodes, and records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second run on the same pipeline instance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pipeline retains the immediately previous frame so an opening episode can choose its first supporting sample as the best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stores selected whole frames separately from the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integration update sees only one received frame, proving output begins before EOF.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compare the live report with a report reconstructed from the JSONL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and task cancellation each produce exactly one session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Catalog or inference failure remains an error and cannot produce accepted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orchestrator](../../../../../../ios/AIShop/AIShopVision/Sources/AIShopVision/CandidateAnalysisPipeline/CandidateAnalysisPipeline.swift)</a:t>
            </a:r>
          </a:p>
          <a:p xmlns:a="http://schemas.openxmlformats.org/drawingml/2006/main">
            <a:r>
              <a:t>- [Orchestrator tests](../../../../../../ios/AIShop/AIShopVision/Tests/AIShopVisionTests/CandidateAnalysisPipelineTests.swift)</a:t>
            </a:r>
          </a:p>
          <a:p xmlns:a="http://schemas.openxmlformats.org/drawingml/2006/main">
            <a:r>
              <a:t>- [Integration suite](../../../../../../ios/AIShop/AIShopVision/Tests/AIShopVisionTests/PipelineIntegrationSuite.swift)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Incremental frame delivery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AVAssetReader supplies frames incrementally. We never load the entire decoded video into an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stream keeps source presentation timestamps rather than inventing wall-clock video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IDs combine the fixture identity with the original rational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delivered frame also has an eligible sampleIndex.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gap in those eligible indices tells the aggregator that a supporting streak was interrupted.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Ordinary raw frames that fall between the 2 fps slots are skipped without interrupting the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Deterministic mode awaits each consumer before reading more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Timestamp-paced mode uses a newest-one buffer, so old pending work gives way to a more recent eligible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one consumer performs analysis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Counters distinguish received, skipped, dropped, and delivered frames.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Tests check both videos, stable ordering, first output before EOF, slow-consumer drops, cancellation, and unreadable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excerpt combines selected lines from the stream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[Stream](../../../../../../ios/AIShop/AIShopVision/Sources/AIShopVision/VideoFixtureFrameStream/VideoFixtureFrameStream.swift)</a:t>
            </a:r>
          </a:p>
          <a:p xmlns:a="http://schemas.openxmlformats.org/drawingml/2006/main">
            <a:r>
              <a:t>- [Stream contract](../../../../../../ios/AIShop/AIShopVision/Sources/AIShopVision/VideoFixtureFrameStream/FrameStream.swift)</a:t>
            </a:r>
          </a:p>
          <a:p xmlns:a="http://schemas.openxmlformats.org/drawingml/2006/main">
            <a:r>
              <a:t>- [Stream tests](../../../../../../ios/AIShop/AIShopVision/Tests/AIShopVisionTests/VideoFixtureFrameStreamTests.swift)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Reference image and 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local catalog exposes product ID banana-probe and the reference image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reads the reference bytes, records their SHA-256, and preserves the encoded orientation.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lock protects lazy creation and reuse of the target feature 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wraps Apple's VNGenerateImageFeaturePrintRequest.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request uses revision 2 and scaleFill on every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feature print is a visual representation used to calculate a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does not interpret that distance as accuracy or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real inference tests show that the EXIF-aware image matches explicit orientation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Loading the target twice generates its representation only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Malformed images and missing files fail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Simulator real-Vision probe failed. Native macOS became the verified integration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[Catalog](../../../../../../ios/AIShop/AIShopVision/Sources/AIShopVision/LocalTargetCatalog/LocalTargetCatalog.swift)</a:t>
            </a:r>
          </a:p>
          <a:p xmlns:a="http://schemas.openxmlformats.org/drawingml/2006/main">
            <a:r>
              <a:t>- [Adapter](../../../../../../ios/AIShop/AIShopVision/Sources/AIShopVision/VisionFeatureAdapter.swift)</a:t>
            </a:r>
          </a:p>
          <a:p xmlns:a="http://schemas.openxmlformats.org/drawingml/2006/main">
            <a:r>
              <a:t>- [Catalog tests](../../../../../../ios/AIShop/AIShopVision/Tests/AIShopVisionTests/LocalTargetCatalogTests.swift)</a:t>
            </a:r>
          </a:p>
          <a:p xmlns:a="http://schemas.openxmlformats.org/drawingml/2006/main">
            <a:r>
              <a:t>- [Adapter tests](../../../../../../ios/AIShop/AIShopVision/Tests/AIShopVisionTests/VisionFeatureAdapterTests.swift)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scoring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compares two variants of each upright video frame against the same complete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central crop uses 60 percent of the frame width and 60 percent of its height.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fixed crop, not a detected object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raw distances remain in the score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Lower distance means greater feature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Similarity is 1 divided by 1 plus distance, for display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one-time calibration command evaluates threshold intervals against fixed fixture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selected maximum-distance threshold is 0.4293864220380783.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profile also freezes 2 fps, two opening samples, a 1.5-second gap, revision 2, and scaleFill.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Regression tests use the frozen constant. The gate never invokes the calibration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constant must apply on the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Passing these two fixtures establishes a controlled pipeline result, not general object-recognition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selected score-value lines, with the support function formatted across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[Scorer](../../../../../../ios/AIShop/AIShopVision/Sources/AIShopVision/CandidateScorer/CandidateScorer.swift)</a:t>
            </a:r>
          </a:p>
          <a:p xmlns:a="http://schemas.openxmlformats.org/drawingml/2006/main">
            <a:r>
              <a:t>- [Frozen profile](../../../../../../ios/AIShop/AIShopVision/Sources/AIShopVision/CandidateScorer/ScoringProfile.swift)</a:t>
            </a:r>
          </a:p>
          <a:p xmlns:a="http://schemas.openxmlformats.org/drawingml/2006/main">
            <a:r>
              <a:t>- [Scorer tests](../../../../../../ios/AIShop/AIShopVision/Tests/AIShopVisionTests/CandidateScorerTests.swift)</a:t>
            </a:r>
          </a:p>
          <a:p xmlns:a="http://schemas.openxmlformats.org/drawingml/2006/main">
            <a:r>
              <a:t>- [Calibration tool](../../../../../../e2e/ios/calibrate-scorer.rb)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eligible supporting frame alone does not open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Two consecutive eligible supporting samples open one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dropped eligible slot or an unsupported sampled frame resets the opening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Non-sampled raw video frames do not reset that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open episode can survive a short interruption in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close boundary is exactly 1.5 seconds after the last supporting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Stop, cancellation, error, and EOF also close an active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uses media time, which makes deterministic replays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lower distance replaces the best evidence. Equal distances keep the earlier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Adjacent supporting samples stay in one episode instead of producing duplicate report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later sighting after closure may create another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CandidateProductSignal exposes provisional evidence, including the consecutive support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missed-slot reset condition for readability.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[Aggregator and signal types](../../../../../../ios/AIShop/AIShopVision/Sources/AIShopVision/CandidateEpisodeAggregator/CandidateEpisodeAggregator.swift)</a:t>
            </a:r>
          </a:p>
          <a:p xmlns:a="http://schemas.openxmlformats.org/drawingml/2006/main">
            <a:r>
              <a:t>- [Aggregator tests](../../../../../../ios/AIShop/AIShopVision/Tests/AIShopVisionTests/CandidateEpisodeAggregatorTests.swift)</a:t>
            </a:r>
          </a:p>
          <a:p xmlns:a="http://schemas.openxmlformats.org/drawingml/2006/main">
            <a:r>
              <a:t>- [Real stop/EOF integration](../../../../../../ios/AIShop/AIShopVision/Tests/AIShopVisionTests/PipelineIntegrationSuite.swift)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Session evidence and report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production pipeline owns the structured log, so all hosts produce the same form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event has a session ID and ordered sequence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Frame-related events include a stable frame ID and media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events retain both distances, the selected variant, support decision, and processing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PipelineRecorder serializes concurrent stream and inference events before updating the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SessionReportBuilder consumes those events and constructs episode rows and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Replay checks the completed summary against the rebuilt report and validates counter conservation.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SessionLog rejects malformed or truncated JSONL, missing scores, failed sessions, and invalid sequence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serialized event line goes to the local file and Apple's system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log contains no image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RetainedImageStore holds best whole-frame JPEGs separately. Missing images stay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reconstruction claim covers report data; viewing images still requires the separate local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selects three report replay statements rather than showing the complete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[Log writer and reader](../../../../../../ios/AIShop/AIShopVision/Sources/AIShopVision/SessionLog/SessionLog.swift)</a:t>
            </a:r>
          </a:p>
          <a:p xmlns:a="http://schemas.openxmlformats.org/drawingml/2006/main">
            <a:r>
              <a:t>- [Recorder](../../../../../../ios/AIShop/AIShopVision/Sources/AIShopVision/CandidateAnalysisPipeline/PipelineRecorder.swift)</a:t>
            </a:r>
          </a:p>
          <a:p xmlns:a="http://schemas.openxmlformats.org/drawingml/2006/main">
            <a:r>
              <a:t>- [Report replay](../../../../../../ios/AIShop/AIShopVision/Sources/AIShopVision/SessionReportBuilder/SessionReportBuilder.swift)</a:t>
            </a:r>
          </a:p>
          <a:p xmlns:a="http://schemas.openxmlformats.org/drawingml/2006/main">
            <a:r>
              <a:t>- [Retained images](../../../../../../ios/AIShop/AIShopVision/Sources/AIShopVision/SessionReportBuilder/RetainedImageStore.swift)</a:t>
            </a:r>
          </a:p>
          <a:p xmlns:a="http://schemas.openxmlformats.org/drawingml/2006/main">
            <a:r>
              <a:t>- [Log tests](../../../../../../ios/AIShop/AIShopVision/Tests/AIShopVisionTests/SessionLogTests.swift)</a:t>
            </a:r>
          </a:p>
          <a:p xmlns:a="http://schemas.openxmlformats.org/drawingml/2006/main">
            <a:r>
              <a:t>- [Report tests](../../../../../../ios/AIShop/AIShopVision/Tests/AIShopVisionTests/SessionReportBuilderTests.swift)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Measured fixture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latest native Mac gate processed the production pipeline with real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positive fixture supplied 826 decoded frames and 56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negative fixture supplied 390 decoded frames and 26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Neither deterministic run dropped an eligible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expected positive interval begins at 18.3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candidate episode opens at 24.5 seconds, a delay of 6.2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best frame occurs at 25.0 seconds with distance 0.3489357531070709.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Its winning comparison variant is the central crop.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retained evidence is still the entire upright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continues through 26.0 seconds. The 1.5-second gap closes the episode at 27.5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episode opens in any annotated false-positive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 match frame IDs, raw distances, and episode data; timing measurements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results come from two fixed fixtures. The distractor case is still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integration test writes session logs, report JSON, evaluation JSON, and separate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fixture assertions](../../../../../../ios/AIShop/AIShopVision/Tests/AIShopVisionTests/PipelineIntegrationSuite.swift)</a:t>
            </a:r>
          </a:p>
          <a:p xmlns:a="http://schemas.openxmlformats.org/drawingml/2006/main">
            <a:r>
              <a:t>- [Fixed annotations](../../../../../../ios/AIShop/AIShopVision/Tests/AIShopVisionTests/Resources/annotations.json)</a:t>
            </a:r>
          </a:p>
          <a:p xmlns:a="http://schemas.openxmlformats.org/drawingml/2006/main">
            <a:r>
              <a:t>- [Evaluation implementation](../../../../../../ios/AIShop/AIShopVision/Sources/AIShopVisionEvaluation/FixtureEvaluator.swift)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Mac and iPhone 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evaluator is a separate development/test target, not part of the phone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annotation has expected, false-positive, and do-not-care zones.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gaps between declared zones remain unannotated.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 judges the time an episode opens, not every frame as if it were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Calibration compares exported logs for both fixtures on both hosts.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requires the frozen profile, fixture and reference identities, matching frame IDs, and matching timestamps.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records the largest raw-distance difference across both comparison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sampled frame must remain on the same side of the frozen threshold for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disagreement with unchanged episode outcomes is a Major finding that blocks Sprint 002 threshold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missed expected phone signal or an episode in a false-positive zone fails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comparison test relabels Mac logs as synthetic phone inputs solely to test the comparator.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synthetic inputs are never physical-device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actual phone calibration result exists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frame-alignment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[Evaluator](../../../../../../ios/AIShop/AIShopVision/Sources/AIShopVisionEvaluation/FixtureEvaluator.swift)</a:t>
            </a:r>
          </a:p>
          <a:p xmlns:a="http://schemas.openxmlformats.org/drawingml/2006/main">
            <a:r>
              <a:t>- [Offline comparison CLI](../../../../../../ios/AIShop/AIShopVision/Sources/AIShopVisionEvaluate/main.swift)</a:t>
            </a:r>
          </a:p>
          <a:p xmlns:a="http://schemas.openxmlformats.org/drawingml/2006/main">
            <a:r>
              <a:t>- [Evaluator tests](../../../../../../ios/AIShop/AIShopVision/Tests/AIShopVisionTests/FixtureEvaluatorTests.swift)</a:t>
            </a:r>
          </a:p>
          <a:p xmlns:a="http://schemas.openxmlformats.org/drawingml/2006/main">
            <a:r>
              <a:t>- [Calibration integration tests](../../../../../../ios/AIShop/AIShopVision/Tests/AIShopVisionTests/PipelineIntegrationSuite.swift)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Debug harness and application startup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ApplicationBootstrap decides whether the Debug diagnostic path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normalSession closure contains both Firebase configuration and AuthSession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diagnostic path returns nil before either normal service initializes.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 route retains the existing authentication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VisionHarnessModel verifies resource hashes, starts timestamp-paced replay, and receives progress on the main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view shows possible match, raw-score metrics, a final report, and retained whole-frame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exports the JSONL log through the local share 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copy script bundles only banana.JPG and the two trimmed videos for Debug.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Release compilation removes diagnostic route strings and harness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bundle audit checks that Release contains no fixture media or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25 app tests passed in Simulator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Debug, Release, and signed Debug builds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did not install or run this build on a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bootstrap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[Bootstrap](../../../../../../ios/AIShop/AIShop/App/ApplicationBootstrap.swift)</a:t>
            </a:r>
          </a:p>
          <a:p xmlns:a="http://schemas.openxmlformats.org/drawingml/2006/main">
            <a:r>
              <a:t>- [App entry](../../../../../../ios/AIShop/AIShop/App/AIShopApp.swift)</a:t>
            </a:r>
          </a:p>
          <a:p xmlns:a="http://schemas.openxmlformats.org/drawingml/2006/main">
            <a:r>
              <a:t>- [Harness model](../../../../../../ios/AIShop/AIShop/Diagnostics/VisionHarnessModel.swift)</a:t>
            </a:r>
          </a:p>
          <a:p xmlns:a="http://schemas.openxmlformats.org/drawingml/2006/main">
            <a:r>
              <a:t>- [Startup tests](../../../../../../ios/AIShop/AIShopTests/ApplicationBootstrapTests.swift)</a:t>
            </a:r>
          </a:p>
          <a:p xmlns:a="http://schemas.openxmlformats.org/drawingml/2006/main">
            <a:r>
              <a:t>- [Harness tests](../../../../../../ios/AIShop/AIShopTests/VisionHarnessModelTests.swift)</a:t>
            </a:r>
          </a:p>
          <a:p xmlns:a="http://schemas.openxmlformats.org/drawingml/2006/main">
            <a:r>
              <a:t>- [Bundle audit](../../../../../../e2e/ios/verify-app-bundle.rb)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What the implementation establishes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strongest result is a testable streaming pipeline with real Vision and a controlled source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package can run without the application shell, which made native integration testing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Bounded replay avoids accumulating stale inference work when the consumer slows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frozen scoring profile separates calibration from regression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Episode logic prevents every supporting frame from becoming a duplicate report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Structured evidence lets us reproduce report data and inspect failures without a second video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Debug startup path preserves an offline way to exercise the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also preserve boundaries: scores are not probabilities, and synthetic calibration inputs are not phone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have not established general recognition accuracy, dense-shelf performance, latency on iPhone, thermals, battery use, or camera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missing distractor fixture is a measurement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physical demonstration and real exported-log comparison remain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changes remain uncommitted proposals. The sprint is not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this review point, check the feature scope and the explanation before extending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[Integration checks](../../../../../../ios/AIShop/AIShopVision/Tests/AIShopVisionTests/PipelineIntegrationSuite.swift)</a:t>
            </a:r>
          </a:p>
          <a:p xmlns:a="http://schemas.openxmlformats.org/drawingml/2006/main">
            <a:r>
              <a:t>- [Required Mac checks](../../../../../../e2e/ios/required-tests.txt)</a:t>
            </a:r>
          </a:p>
          <a:p xmlns:a="http://schemas.openxmlformats.org/drawingml/2006/main">
            <a:r>
              <a:t>- [Acceptance gate](../../../../../../ios/AIShop/01-docs/07-planning/sprints/sprint-001-candidate-target-signal/01-sprint-plan-acceptance.md)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>- [Phone acceptance rules](../../../../../../ios/AIShop/01-docs/04-benchmarks-test-strategy-and-success-criteria/sprint-001-iphone-verification.md)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4c52707fa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8400a0b514339" /><Relationship Type="http://schemas.openxmlformats.org/officeDocument/2006/relationships/slideLayout" Target="/ppt/slideLayouts/slideLayout1.xml" Id="R2202a218fb45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2a218fb45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81a90230f4248" /><Relationship Type="http://schemas.openxmlformats.org/officeDocument/2006/relationships/notesSlide" Target="/ppt/notesSlides/notesSlide1.xml" Id="Rbc5e6ef001d5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78bf0d12e4797" /><Relationship Type="http://schemas.openxmlformats.org/officeDocument/2006/relationships/notesSlide" Target="/ppt/notesSlides/notesSlide2.xml" Id="Rd741a51db2f9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4fa5e2ac84631" /><Relationship Type="http://schemas.openxmlformats.org/officeDocument/2006/relationships/hyperlink" Target="file:///Users/paboelustodo/Library/CloudStorage/GoogleDrive-pablo.elustondo@gmail.com/My%20Drive%202/1-GIT-PROJECTS/aishop/ios/AIShop/AIShop/Diagnostics/VisionDiagnosticHarness.swift" TargetMode="External" Id="R3259f2c6198d4a6c" /><Relationship Type="http://schemas.openxmlformats.org/officeDocument/2006/relationships/hyperlink" Target="file:///Users/paboelustodo/Library/CloudStorage/GoogleDrive-pablo.elustondo@gmail.com/My%20Drive%202/1-GIT-PROJECTS/aishop/ios/AIShop/AIShop/Diagnostics/VisionHarnessModel.swift" TargetMode="External" Id="Rcd7d4a9471b047dd" /><Relationship Type="http://schemas.openxmlformats.org/officeDocument/2006/relationships/notesSlide" Target="/ppt/notesSlides/notesSlide3.xml" Id="R9f22ac8376fd49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95fa882484022" /><Relationship Type="http://schemas.openxmlformats.org/officeDocument/2006/relationships/hyperlink" Target="file:///Users/paboelustodo/Library/CloudStorage/GoogleDrive-pablo.elustondo@gmail.com/My%20Drive%202/1-GIT-PROJECTS/aishop/e2e/ios/run.zsh" TargetMode="External" Id="Rf360c49281554899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" TargetMode="External" Id="Rbd13842676314120" /><Relationship Type="http://schemas.openxmlformats.org/officeDocument/2006/relationships/hyperlink" Target="file:///Users/paboelustodo/Library/CloudStorage/GoogleDrive-pablo.elustondo@gmail.com/My%20Drive%202/1-GIT-PROJECTS/aishop/ios/AIShop/AIShopTests/" TargetMode="External" Id="Rb03759bef62c48eb" /><Relationship Type="http://schemas.openxmlformats.org/officeDocument/2006/relationships/notesSlide" Target="/ppt/notesSlides/notesSlide4.xml" Id="Rb89f7a619b1d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48128d07c442a" /><Relationship Type="http://schemas.openxmlformats.org/officeDocument/2006/relationships/hyperlink" Target="file:///Users/paboelustodo/Library/CloudStorage/GoogleDrive-pablo.elustondo@gmail.com/My%20Drive%202/1-GIT-PROJECTS/aishop/ios/AIShop/AIShopVision/Sources/AIShopVision/" TargetMode="External" Id="R90ed1aedb46a416d" /><Relationship Type="http://schemas.openxmlformats.org/officeDocument/2006/relationships/hyperlink" Target="file:///Users/paboelustodo/Library/CloudStorage/GoogleDrive-pablo.elustondo@gmail.com/My%20Drive%202/1-GIT-PROJECTS/aishop/ios/AIShop/AIShop/Diagnostics/" TargetMode="External" Id="R715e0600368a487c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" TargetMode="External" Id="Rf7308c5c2be84f63" /><Relationship Type="http://schemas.openxmlformats.org/officeDocument/2006/relationships/notesSlide" Target="/ppt/notesSlides/notesSlide5.xml" Id="R14e48b2559ab4f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d2fdc3d7c466c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AnalysisPipeline/CandidateAnalysisPipeline.swift" TargetMode="External" Id="R7af21f3428e44eb1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AnalysisPipelineTests.swift" TargetMode="External" Id="Rad98c5191dbf496e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2618c716a6314723" /><Relationship Type="http://schemas.openxmlformats.org/officeDocument/2006/relationships/notesSlide" Target="/ppt/notesSlides/notesSlide6.xml" Id="Rfa8c2133df4f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9c9c66aec460a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deoFixtureFrameStream/VideoFixtureFrameStream.swift" TargetMode="External" Id="Re42f659aa0d549ac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deoFixtureFrameStream/FrameStream.swift" TargetMode="External" Id="R8d0dc89cc4aa483b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VideoFixtureFrameStreamTests.swift" TargetMode="External" Id="Rf7bb8ae236044f3b" /><Relationship Type="http://schemas.openxmlformats.org/officeDocument/2006/relationships/notesSlide" Target="/ppt/notesSlides/notesSlide7.xml" Id="R719af4df967c43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32a7b8944dae" /><Relationship Type="http://schemas.openxmlformats.org/officeDocument/2006/relationships/hyperlink" Target="file:///Users/paboelustodo/Library/CloudStorage/GoogleDrive-pablo.elustondo@gmail.com/My%20Drive%202/1-GIT-PROJECTS/aishop/ios/AIShop/AIShopVision/Sources/AIShopVision/LocalTargetCatalog/LocalTargetCatalog.swift" TargetMode="External" Id="Rd1c1f4eac41e4247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sionFeatureAdapter.swift" TargetMode="External" Id="R0ac1c88189314dfa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" TargetMode="External" Id="R7a310879c6794bef" /><Relationship Type="http://schemas.openxmlformats.org/officeDocument/2006/relationships/notesSlide" Target="/ppt/notesSlides/notesSlide8.xml" Id="R900483def93748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ebc8274c5419d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Scorer/CandidateScorer.swift" TargetMode="External" Id="Ra0b8bbf3e70b474c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Scorer/ScoringProfile.swift" TargetMode="External" Id="Ree94bc89ffac4e00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ScorerTests.swift" TargetMode="External" Id="R0afea20d041b4ebb" /><Relationship Type="http://schemas.openxmlformats.org/officeDocument/2006/relationships/notesSlide" Target="/ppt/notesSlides/notesSlide9.xml" Id="R7849a0485ee44a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505a6134426a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EpisodeAggregator/CandidateEpisodeAggregator.swift" TargetMode="External" Id="Rc42f8b56908f493e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EpisodeAggregatorTests.swift" TargetMode="External" Id="R60d569c1df1b47ed" /><Relationship Type="http://schemas.openxmlformats.org/officeDocument/2006/relationships/notesSlide" Target="/ppt/notesSlides/notesSlide10.xml" Id="Rbc1ab6df501c49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c467f80354ec4" /><Relationship Type="http://schemas.openxmlformats.org/officeDocument/2006/relationships/hyperlink" Target="file:///Users/paboelustodo/Library/CloudStorage/GoogleDrive-pablo.elustondo@gmail.com/My%20Drive%202/1-GIT-PROJECTS/aishop/ios/AIShop/AIShopVision/Sources/AIShopVision/SessionLog/SessionLog.swift" TargetMode="External" Id="Raa12e196a5ea4ca6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AnalysisPipeline/PipelineRecorder.swift" TargetMode="External" Id="Rbb5c01731c3b46db" /><Relationship Type="http://schemas.openxmlformats.org/officeDocument/2006/relationships/hyperlink" Target="file:///Users/paboelustodo/Library/CloudStorage/GoogleDrive-pablo.elustondo@gmail.com/My%20Drive%202/1-GIT-PROJECTS/aishop/ios/AIShop/AIShopVision/Sources/AIShopVision/SessionReportBuilder/SessionReportBuilder.swift" TargetMode="External" Id="R7f285b9a6cf64779" /><Relationship Type="http://schemas.openxmlformats.org/officeDocument/2006/relationships/notesSlide" Target="/ppt/notesSlides/notesSlide11.xml" Id="Rdb52b87640864e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a4379203041dd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424f8d87c3b54ec0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FixtureEvaluator.swift" TargetMode="External" Id="R7049d6028c074a7a" /><Relationship Type="http://schemas.openxmlformats.org/officeDocument/2006/relationships/notesSlide" Target="/ppt/notesSlides/notesSlide12.xml" Id="Rc7b9514989054e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7b4c5da54611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FixtureEvaluator.swift" TargetMode="External" Id="R067a88f0bcb74455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e/main.swift" TargetMode="External" Id="Rbd4f2cf0f9f64378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FixtureEvaluatorTests.swift" TargetMode="External" Id="Rcc2dc9f379dc494a" /><Relationship Type="http://schemas.openxmlformats.org/officeDocument/2006/relationships/notesSlide" Target="/ppt/notesSlides/notesSlide13.xml" Id="R0d539803ddb747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760095e304333" /><Relationship Type="http://schemas.openxmlformats.org/officeDocument/2006/relationships/hyperlink" Target="file:///Users/paboelustodo/Library/CloudStorage/GoogleDrive-pablo.elustondo@gmail.com/My%20Drive%202/1-GIT-PROJECTS/aishop/ios/AIShop/AIShop/App/ApplicationBootstrap.swift" TargetMode="External" Id="R398d0a0ed2a2487a" /><Relationship Type="http://schemas.openxmlformats.org/officeDocument/2006/relationships/hyperlink" Target="file:///Users/paboelustodo/Library/CloudStorage/GoogleDrive-pablo.elustondo@gmail.com/My%20Drive%202/1-GIT-PROJECTS/aishop/ios/AIShop/AIShop/Diagnostics/VisionHarnessModel.swift" TargetMode="External" Id="R2856b089982c4b22" /><Relationship Type="http://schemas.openxmlformats.org/officeDocument/2006/relationships/hyperlink" Target="file:///Users/paboelustodo/Library/CloudStorage/GoogleDrive-pablo.elustondo@gmail.com/My%20Drive%202/1-GIT-PROJECTS/aishop/ios/AIShop/AIShopTests/" TargetMode="External" Id="R1a49bb893ada4bc8" /><Relationship Type="http://schemas.openxmlformats.org/officeDocument/2006/relationships/notesSlide" Target="/ppt/notesSlides/notesSlide14.xml" Id="R2a01972b142247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f67ad0ae24322" /><Relationship Type="http://schemas.openxmlformats.org/officeDocument/2006/relationships/hyperlink" Target="file:///Users/paboelustodo/Library/CloudStorage/GoogleDrive-pablo.elustondo@gmail.com/My%20Drive%202/1-GIT-PROJECTS/aishop/ios/AIShop/AIShopVision/Sources/AIShopVision/" TargetMode="External" Id="Rb2d0016e78d9479c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928cfc1e98c64621" /><Relationship Type="http://schemas.openxmlformats.org/officeDocument/2006/relationships/notesSlide" Target="/ppt/notesSlides/notesSlide15.xml" Id="Rcab3e38107b240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3E87F0A-F106-4C0F-AB10-95CFF90D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35636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D6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D6DD"/>
                </a:solidFill>
                <a:latin typeface="Arial"/>
                <a:ea typeface="Arial"/>
                <a:cs typeface="Arial"/>
              </a:rPr>
              <a:t>AIShopVision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684030-60F0-405F-B9A1-E0A28AB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3563600" cy="1789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Streaming video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recognition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0461E8-0A09-4140-A144-6553E15E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3487400" cy="103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AIShop Sprint 001</a:t>
            </a:r>
          </a:p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Code and test walkthrough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4F419E-6B8F-42B3-A4E0-706936BE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15250"/>
            <a:ext cx="134874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C1C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C1CF"/>
                </a:solidFill>
                <a:latin typeface="Arial"/>
                <a:ea typeface="Arial"/>
                <a:cs typeface="Arial"/>
              </a:rPr>
              <a:t>Implementation walkthrough /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99732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2D986F2-2540-4899-9D70-52AF05D7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intent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BF6F7B-082B-4D1D-9C31-F9E8FA5D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 useful signal while video is still arriving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F9D2BA-07C8-42D2-A3F4-9CE8E790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User need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7AE9B2-F4AE-4D20-B7F2-4D5AF61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 shopper wants to notice when one known product may be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AD152-C457-4D44-BA97-39FC71A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B546151-6455-4E46-B9B1-680A613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Sprint behavior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0D4CB41-9796-4364-84DE-F82FBFD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Analyze arriving frames and show “possible match” before playback 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0B696-9516-4ABD-A557-FAB327DB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8D6AFB79-DA66-4A07-BAA5-FAB7DB1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 outcome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07544136-3B18-49A5-B25A-85BCF412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Keep the strongest whole frame and report each candidate episode.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7E31C-C1C7-4A16-A637-403D62F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BF8C2CDF-6422-4829-A123-272CAB2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D4DD3819-30ED-444D-8137-CDC7C00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local target. Prerecorded input. No camera, server, or object boxes.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25CA57EF-B5D8-4511-B6E2-9701810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5160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8A203BED-9609-4CF1-A4B3-A293004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use cases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D49C7D-B65F-4A57-9E20-FBDBB40F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offline diagnostic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3F34C-62E0-446B-9B41-4E849601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50CC811-B2B8-47DC-8857-DC28AB55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050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1  Select a fixture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10E2FED-7CFA-44BF-93C0-12859F98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050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Banana present or no banana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0A373-AFEB-45C0-A263-4F18D3E2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75695-1EB1-438F-8B46-2E000327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EFC0CD3D-0E9F-42AF-AB39-7D78F27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  Run and observe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BF8323E0-563D-44F4-9FE1-6B0FEE3E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Timestamp-paced playback with live scores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423F7-05B9-405A-BA7E-63196DD5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578C0-5D2F-4042-B93C-29DD932F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38647E9E-8DB8-4CF1-8B71-8B854A1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44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3  Stop or reach the end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47CFD099-B610-4B6C-824C-408D0B3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244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Close the episode and inspect the retained best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58A35-04EB-4AD8-97F4-219E8C7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76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A5E60-2833-4111-A364-FDA7D6C1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484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F526F965-7C73-4495-B34D-BC114ACE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341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4  Export evidence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6E7F0A9D-6FBE-490B-BFA2-C3F6CD31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341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Compare the phone log with the Mac run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BD77E1B0-E157-4CAE-BB1F-E0CFA62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harness uses the same production pipeline as the Mac tests.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AE1C70F8-71CB-40CD-AB06-5708226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F2D5EB58-88EB-4757-BAA4-A2EB183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259f2c6198d4a6c"/>
              </a:rPr>
              <a:t>Diagnostic screen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D32B8411-F64C-4113-AD7A-7834174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cd7d4a9471b047dd"/>
              </a:rPr>
              <a:t>Harness model</a:t>
            </a:r>
          </a:p>
        </p:txBody>
      </p:sp>
      <p:sp>
        <p:nvSpPr>
          <p:cNvPr id="22" name="text-14">
            <a:extLst xmlns:a="http://schemas.openxmlformats.org/drawingml/2006/main">
              <a:ext uri="{FF2B5EF4-FFF2-40B4-BE49-F238E27FC236}">
                <a16:creationId xmlns:a16="http://schemas.microsoft.com/office/drawing/2014/main" id="{7FC2597F-959E-4BAD-90EA-C9DCF32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8069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3C4AD1F3-FE24-47A9-8C91-68E3A96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How to test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FF1C62-8BC3-41CC-BFC1-F5881FB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Each test host answers a different question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ED26E0-1592-4E2D-BC5E-2D8BDC9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Native Mac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B161A1-30BD-49D8-9772-5E835A2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./e2e/ios/run.zsh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FBD574C-71DA-45C9-992B-0C41A117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29 required tests passed with real Apple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12614-A910-4A97-80C0-A026790C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7FFB697-F914-46FD-BFD6-B5A47EED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Simulator app tests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945D30E-4060-4BC8-BFE3-39A9921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AIShop-VisionDiagnostics scheme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FFBAEDE-DA81-47B2-B8C6-134B982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25 app tests passed, including Firebase bypass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2AA35-F9CF-4D10-82D6-75E40D0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2237BD83-DDD5-4F62-8A92-D2A9A9F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Physical iPhone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73948CC0-AE2D-442A-9743-362924DF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Watch both fixtures, export both logs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BB25B27D-63C7-4686-8607-C061506B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627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Pending demonstration and Mac/phone calibration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A454A7A-42DF-432E-8A56-638B4C4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Debug and Release builds pass. A Mac or Simulator result cannot accept the sprint.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666E097C-CF24-4E83-B9CF-4CB943F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4B21691F-BD7B-4730-9198-933F816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f360c49281554899"/>
              </a:rPr>
              <a:t>Gate script</a:t>
            </a:r>
          </a:p>
        </p:txBody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F1A7F205-2E15-4378-BC53-D26EE4B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d13842676314120"/>
              </a:rPr>
              <a:t>Package tests</a:t>
            </a:r>
          </a:p>
        </p:txBody>
      </p:sp>
      <p:sp>
        <p:nvSpPr>
          <p:cNvPr id="18" name="text-15">
            <a:extLst xmlns:a="http://schemas.openxmlformats.org/drawingml/2006/main">
              <a:ext uri="{FF2B5EF4-FFF2-40B4-BE49-F238E27FC236}">
                <a16:creationId xmlns:a16="http://schemas.microsoft.com/office/drawing/2014/main" id="{E9820A66-2869-4F4A-948E-5B055D01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03759bef62c48eb"/>
              </a:rPr>
              <a:t>App tests</a:t>
            </a:r>
          </a:p>
        </p:txBody>
      </p:sp>
      <p:sp>
        <p:nvSpPr>
          <p:cNvPr id="19" name="text-16">
            <a:extLst xmlns:a="http://schemas.openxmlformats.org/drawingml/2006/main">
              <a:ext uri="{FF2B5EF4-FFF2-40B4-BE49-F238E27FC236}">
                <a16:creationId xmlns:a16="http://schemas.microsoft.com/office/drawing/2014/main" id="{2FC8AB86-5E7B-4F64-B402-1777D90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5872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6F3C6A22-0254-49E2-B321-9D07F2A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High-level architecture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00955F-AE81-4234-8507-D82543F6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pipeline, two execution hosts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D9FC3-980D-4CC0-ADF9-51AB05A7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02144AC-A56A-45F1-BFF3-CA3FD0B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package tests / iPhone Debug harness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57B4A44-3305-43C2-9BE4-3F8E6D0B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call CandidateAnalysisPipeline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0FCF7-F8FA-44D7-B945-20F143D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549C9-EB73-48F1-B404-28475259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A2F29642-03A0-4BBE-AA54-15C8129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Local inputs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EA548A67-575A-4D6E-84FE-0ADDB3D4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+ VideoFixtureFrameStream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99D00-17B0-4F27-9380-D68777B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338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EBC54-0DDE-41E4-A9E7-E2B5B60F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D6AB4A90-F0F6-4E3D-AB7E-76F49F40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76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CandidateScorer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8EF46A5C-609C-4EE8-9A09-0CEE0CA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VisionFeatureAdapter compares whole frame and central crop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57E95-0C4B-4723-A136-795EC38B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4561A-5C60-4E5E-BFE3-EED3A3CB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AFB3D766-110B-4ECC-8838-7C9FA2D9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387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987F5496-3A0B-4EAA-A726-C42EF31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388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Groups supporting samples and chooses the best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20F48-0E78-4666-88B4-4EE99B6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57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4A577-1CBF-4283-8BFC-CC9FAD9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151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F92281C1-92C0-4B99-828C-39782CA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008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Report and evidence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347A2D95-5CBD-42CE-95A2-D83AB3C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SessionReportBuilder + JSONL SessionLog + separate local images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6E6EE56C-FDCA-411A-9EAE-3086C79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is a separate test/development target. The app does not link annotations.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833F4150-C47C-4805-8A36-861CB69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FB7AA053-1691-402D-A39A-2630F7F1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90ed1aedb46a416d"/>
              </a:rPr>
              <a:t>Pipeline components</a:t>
            </a:r>
          </a:p>
        </p:txBody>
      </p:sp>
      <p:sp>
        <p:nvSpPr>
          <p:cNvPr id="25" name="text-15">
            <a:extLst xmlns:a="http://schemas.openxmlformats.org/drawingml/2006/main">
              <a:ext uri="{FF2B5EF4-FFF2-40B4-BE49-F238E27FC236}">
                <a16:creationId xmlns:a16="http://schemas.microsoft.com/office/drawing/2014/main" id="{1DFFB1CF-8CEF-42CA-A671-E94EA2F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15e0600368a487c"/>
              </a:rPr>
              <a:t>Debug harness</a:t>
            </a:r>
          </a:p>
        </p:txBody>
      </p:sp>
      <p:sp>
        <p:nvSpPr>
          <p:cNvPr id="26" name="text-16">
            <a:extLst xmlns:a="http://schemas.openxmlformats.org/drawingml/2006/main">
              <a:ext uri="{FF2B5EF4-FFF2-40B4-BE49-F238E27FC236}">
                <a16:creationId xmlns:a16="http://schemas.microsoft.com/office/drawing/2014/main" id="{55662BD8-DDF7-46A5-8614-BE5D27C7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f7308c5c2be84f63"/>
              </a:rPr>
              <a:t>Evaluator</a:t>
            </a:r>
          </a:p>
        </p:txBody>
      </p:sp>
      <p:sp>
        <p:nvSpPr>
          <p:cNvPr id="27" name="text-17">
            <a:extLst xmlns:a="http://schemas.openxmlformats.org/drawingml/2006/main">
              <a:ext uri="{FF2B5EF4-FFF2-40B4-BE49-F238E27FC236}">
                <a16:creationId xmlns:a16="http://schemas.microsoft.com/office/drawing/2014/main" id="{50010D1A-A856-4057-90B4-0FDCA82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7116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B504ECA7-73B2-482A-BCE8-F31028A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Pipeline orchestration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ACCC96-321C-4830-B277-98649893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CandidateAnalysisPipeline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5B6958-05A5-4985-BD33-79A8F3DF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156A26-59E9-49A1-A33F-AF1E35D7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Start a worker away from the UI thread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139553-C7FD-40DC-993F-139F619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E96A9A5-2D15-40CF-BA63-DA7C434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Compose stream, scorer, aggregator, and recorder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6D160C-5D73-4EDF-BC5F-24CAF10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EEFBB5A-4268-4861-B3AD-132FA28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Finalize once after stop, cancellation, error, or EOF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DFDC92C-A14C-4E67-BFBB-0EF7634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B4F8B-25BF-481E-9EAA-2B7888B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2C3A3D6-A372-4978-B4EF-AB1AD9E3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worker = Task.detached { try await self.execute(onUpdate: onUpdate)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try await withTaskCancellationHandler { try await worker.value } onCancel: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self.stream.cancel()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worker.cancel()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9559C9D5-C73B-4CFC-977F-4ED6BB0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CandidateAnalysisPipelineTests + PipelineIntegrationSuite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7C42D692-E1CF-40CA-B249-84A0BF5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Real frames arrive before EOF. Reports rebuild from logs. Cancellation finalizes once.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D550CB8A-785E-457D-A46D-0135646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A1765EFC-28B0-41E6-B63D-8C557F59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af21f3428e44eb1"/>
              </a:rPr>
              <a:t>Pipeline source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8DC1EC6E-0ECC-4E2C-8889-75EB8E3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d98c5191dbf496e"/>
              </a:rPr>
              <a:t>Pipeline tests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EFAA1FAB-CFAA-4614-A2B7-EF02120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2618c716a6314723"/>
              </a:rPr>
              <a:t>Integration suite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D796C540-ACF9-4F96-A040-B8BFD8A6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7439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5CAD9ADC-4061-448D-A755-BCE76B8C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Incremental frame delivery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9497E02-6B15-4602-AD41-F8C862E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VideoFixtureFrameStream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E15F41-49F5-4BF9-8887-30D23BE4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37D2EA-50E9-46FA-8176-AA626773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Decode one video sample and keep its presentation timestamp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9AE75A-139C-42AC-A02E-3D08E243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C474402-7DBC-4F8F-BB63-B5B73EA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eligible slots at 2 frames per second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6D380FF-54D0-4B2A-B163-F2DBCCDE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DCD36E0-4206-4DF6-A7A1-E0E70E78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Replay holds one active consumer and one replaceable pending frame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5177FBB-2A5B-4735-8752-0A658FAF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F35F8-09DE-4F44-9F1E-15BF1BE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0F235D7-47D1-482A-AAFF-AA15D754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(frames, continuation) = AsyncThrowingStream&lt;VideoFrame, Error&gt;.makeStream(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bufferingPolicy: .bufferingNewest(1))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case .dropped(let old) = continuation.yield(frame)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try self.drop(old, observer: observer)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0EF8A09A-D29F-4BEA-B69E-C4513BC7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VideoFixtureFrameStreamTests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096A8C45-E7E7-4028-A38C-97F12922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videos repeat with stable frame IDs. Slow replay drops stale work and stops cleanly.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05D4CE76-0188-4C38-BBF8-8AFD604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C96F6AC1-3981-48FD-B8CE-4D25CAB9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e42f659aa0d549ac"/>
              </a:rPr>
              <a:t>Frame stream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C7A854C-02FF-4A9A-A870-6A231605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8d0dc89cc4aa483b"/>
              </a:rPr>
              <a:t>Stream contract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40F2C690-2645-4E7A-BE2C-A48AA56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f7bb8ae236044f3b"/>
              </a:rPr>
              <a:t>Streaming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14AA5DE-0BE9-4BC8-A1D4-1C2F6A9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0827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E583DE61-C2D2-4E4E-86F9-9A2B00A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Reference image and 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75EF4B7-C4DF-4CCE-85AF-8A68183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and VisionFeatureAdapter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F8A08D-2D16-4B21-86E4-8842388A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E5EBC0-B87C-4A9D-820D-0D7A01C3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Load one banana reference and preserve its EXIF orientation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E1FAFA8-9BB3-4B83-8639-54ED545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73AE16-EBF6-4302-BBBC-25429DE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Generate and cache the reference feature print once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29D1E03-8F7D-495B-98B6-1C825D4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14B8FA-C112-4208-AAA8-3A7F5CFD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Vision revision 2 and the fixed scaleFill policy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7D1527B-3F59-49A6-8649-CDA9F5E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8B7F-6446-44C4-9807-A9825AD6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DCA0E929-EE81-48B7-8276-AFE0D8A8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863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request = VNGenerateImageFeaturePrintRequest()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request.revision = revision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request.imageCropAndScaleOption = .scaleFill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handler = VNImageRequestHandler(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cgImage: image.image, orientation: image.orientation, options: [:]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F468DD16-F156-4EDD-AAB6-19AD6F1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LocalTargetCatalogTests + VisionFeatureAdapterTests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C23CECD5-D9AF-4C1C-9462-973632F2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Tests run real inference, verify EXIF behavior, reject bad images, and check lazy caching.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15F5B677-07B6-474F-9A8B-E2C2E461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35B85FB-FD3E-4184-A088-CF381389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1c1f4eac41e4247"/>
              </a:rPr>
              <a:t>Target catalog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4021FEC6-B3C6-4B8C-84B7-9BF8448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0ac1c88189314dfa"/>
              </a:rPr>
              <a:t>Vision adapter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888B8F82-FCD0-4F22-8824-D06D95F3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a310879c6794bef"/>
              </a:rPr>
              <a:t>Package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AA2B8340-F041-4B73-9CB0-CFDF007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3426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7173466-8749-4C1D-AF5C-280D0ECA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scoring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8124BE-EE3F-4A4A-A458-EE7D6EB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CandidateScorer and the frozen ScoringProfile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D1E393-585F-4FEA-A930-6D79715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F37CFE-DA39-4A21-8502-D615E27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Compare the whole frame and a centered 60% × 60% crop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B4109F-1702-4992-AF1D-D91DF522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C0928E2-D551-4E3D-95DF-8AA4250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the smaller distance as the frame's evidence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1FFE603-A231-47B7-B740-4D8660B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A308319-E5A1-4C3D-85AE-E7C80593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Support the target when distance ≤ 0.4293864220380783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EC1E46E-E4D4-42C8-8DCA-B21B238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E8ADD-67D6-425B-8BCD-6BD3A30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A019C4BB-815E-4189-BA80-32C5003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distance: Double { min(wholeDistance, cropDistance)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similarity: Double { 1 / (1 + 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func supports(maximumDistance: Double) -&gt; Bool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distance &lt;= maximumDistance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F37EAA05-3438-41D2-AC57-9273D711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CandidateScorerTests + fixed-profile integration 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B30EA0C-49CE-4343-9794-885E3C62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82 sampled frames support the calibration. Tests and phone runs never choose a new threshold.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01F45F10-51BD-4F44-90F6-353B62C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D4951C6B-AABA-4EDD-BE70-B83C7F0A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0b8bbf3e70b474c"/>
              </a:rPr>
              <a:t>Candidate scorer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AEFC8EC1-3148-41EE-AC9D-2711414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ee94bc89ffac4e00"/>
              </a:rPr>
              <a:t>Scoring profile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C2B3A196-EE33-49D6-AD66-6E78B9B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0afea20d041b4ebb"/>
              </a:rPr>
              <a:t>Scorer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30789CA-E173-4081-9B89-BEA00F8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4603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5A95905C-AAF7-451D-BAC9-2E19A38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episodes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B2C145-50C3-4D24-AEB1-7A0E44BA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3EC13-EEEC-4E00-ABAC-DA0B34E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517B06D-81B8-4770-832A-0ADE66F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Waiting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4918993-94E8-4A49-A802-15ECFE9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supporting eligible sample starts a streak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0B4DC-2778-4DEA-93CB-D2CB6425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AB226-B0D9-461C-9A50-DA0DD5D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1C72AD1B-F406-4A0B-9EC3-20A072B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D1EE2A8A-000F-41FF-B624-955361F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The second consecutive supporting sample opens an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BA201-79A7-465F-BA05-04C9837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D3B07-7C3A-4299-A18B-C050B97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0F43EDA1-82F3-48CA-BDC8-56ACEDF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814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B6AB050C-10B4-4289-93F2-12CA31F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Stronger evidence replaces the best frame; earliest wins 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CCD2F-3A20-464A-A385-A9A913E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B989A-C39F-494E-BFDC-4FC11AC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7D487A22-2602-4D52-9199-7D53C34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621A0D7C-55D8-4596-9308-9E2B4E5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863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1.5 seconds without support, stop, cancellation, or EOF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97AB92AA-6336-4789-9D97-AB738AB9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7AAE-8337-416B-B9EA-DB028D0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700DA136-B0C8-40BE-A3FB-C7E224E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19875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let previous, score.sampleIndex != previous.sampleIndex + 1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pending = nil; supportingStreak = 0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E0F46DF0-5BA0-48D1-96FD-E20EAF9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43825"/>
            <a:ext cx="137922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CandidateEpisodeAggregatorTests / Boundary, interrupted-streak, tie, repeat-episode, gap, stop, and EOF checks</a:t>
            </a:r>
          </a:p>
        </p:txBody>
      </p:sp>
      <p:sp>
        <p:nvSpPr>
          <p:cNvPr id="22" name="text-13">
            <a:extLst xmlns:a="http://schemas.openxmlformats.org/drawingml/2006/main">
              <a:ext uri="{FF2B5EF4-FFF2-40B4-BE49-F238E27FC236}">
                <a16:creationId xmlns:a16="http://schemas.microsoft.com/office/drawing/2014/main" id="{E32A496F-7BE9-4C29-AB8C-25C692A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7920172D-A73D-4FCA-9F99-DB3AF0D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c42f8b56908f493e"/>
              </a:rPr>
              <a:t>Episode aggregator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0C10E500-A31E-4AE8-B69E-4705F4B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60d569c1df1b47ed"/>
              </a:rPr>
              <a:t>Episode tests</a:t>
            </a:r>
          </a:p>
        </p:txBody>
      </p:sp>
      <p:sp>
        <p:nvSpPr>
          <p:cNvPr id="25" name="text-16">
            <a:extLst xmlns:a="http://schemas.openxmlformats.org/drawingml/2006/main">
              <a:ext uri="{FF2B5EF4-FFF2-40B4-BE49-F238E27FC236}">
                <a16:creationId xmlns:a16="http://schemas.microsoft.com/office/drawing/2014/main" id="{74184E59-9B08-443C-B7BC-0B384F3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3459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2CD687F-AB2A-4D5A-B337-EDFFABA2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Session evidence and report replay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823E29-C7B5-4545-8D39-4829F0FE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SessionLog, PipelineRecorder, and SessionReportBuilder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30762D-3824-4CB3-B915-770BE26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FD352F-1501-44DC-AF80-5048897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Serialize stream and score events into one ordered JSONL log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4DF6EE1-8ECA-460D-B0E0-4EA390F3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5A5B552-49A2-403A-9F9D-DE3D2E5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Build the live report from the same ordered events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FF402D-AB2C-4BF5-B843-FD40D68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60DC2D8-222D-403D-ABE0-50CB5C45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Rebuild report data without rereading the video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CB8ACC7-2E99-43E0-93C9-7E21A06F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6F2C5-5BB2-4790-9EA7-FDBEE89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27A176B-4567-4876-BB0A-B0F7F02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events = try SessionLog.read(url: logURL)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for event in events { try builder.consume(event)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recorded = try summary.payload(as: SessionReport.self)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A542EE6-E49C-4EAC-BF05-632E455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SessionLogTests + SessionReportBuilderTests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2D8CD799-60D7-4053-BE1F-6AFF442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Truncated records, missing scores, write failures, and inconsistent reports remain failures.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FCEF9FB6-A0E4-40F3-80A7-FBED5D9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475AF024-E197-42D0-9B47-363ADBF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a12e196a5ea4ca6"/>
              </a:rPr>
              <a:t>Session log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9C217B0-5E38-4421-B6C4-92067F8E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b5c01731c3b46db"/>
              </a:rPr>
              <a:t>Pipeline recorder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0DFE4572-59DF-475C-BB27-09BDACD6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f285b9a6cf64779"/>
              </a:rPr>
              <a:t>Report builder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83F0E6AC-FA30-47DE-BAC0-A4EAB0C5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1816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2D6DA96F-FD1F-4BA7-B06E-F6ACE28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Measured fixture outcome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2BC22C-D95C-4548-95AC-94D727DD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frozen profile passes the current Mac acceptance rules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D8EE47-67E8-4409-B4E8-DBDF1EF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Positive fixture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A25CD6-5A13-42AF-847D-F51081E8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56 analyzed frames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EBEF9A2-03B6-4D48-BBED-12C04BBD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episode opens at 24.5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DF415-02EA-4770-9F34-6668DD3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8FE7ECE-D1B8-4D15-9D20-3BDF36BF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Negative fixture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A09DBD3-DD69-4863-94A5-1A089864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26 analyzed frames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059C900-88F3-4E94-BA30-39DC14D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candidate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B5B4D-0366-48E1-9FE0-08900676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1B5E9416-D92C-40D4-A1C1-E4EFA45F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Best evidence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3DA0E2CC-FF60-4DA6-9B2F-83AA6118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25.0 s, central-crop comparison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D88807E8-DDC0-4BFB-9432-8C2DC76F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retained image is the whole 1080 × 1920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C15D3-5E9A-4D04-9147-5381FD0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5E85648E-726A-4DB4-AF9A-8157C8D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Delay and closure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2C0DEB6-2BB9-4C44-8ECC-AA91E1E5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6.2 s after the expected interval begins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2C87A623-63F5-4713-B833-769B4F7D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342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episode closes at 27.5 s after a support gap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27B12E45-8148-4AED-8A5A-97D4F737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episode opens in either fixture's false-positive zones. General accuracy remains unmeasured.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6F538F53-82C8-45AF-A646-64E8E5A7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4221418A-1F10-4574-A54C-F7BBD91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424f8d87c3b54ec0"/>
              </a:rPr>
              <a:t>Integration suite</a:t>
            </a:r>
          </a:p>
        </p:txBody>
      </p:sp>
      <p:sp>
        <p:nvSpPr>
          <p:cNvPr id="21" name="text-17">
            <a:extLst xmlns:a="http://schemas.openxmlformats.org/drawingml/2006/main">
              <a:ext uri="{FF2B5EF4-FFF2-40B4-BE49-F238E27FC236}">
                <a16:creationId xmlns:a16="http://schemas.microsoft.com/office/drawing/2014/main" id="{4656667A-0E10-4B32-947F-E2D5F25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049d6028c074a7a"/>
              </a:rPr>
              <a:t>Fixture evaluator</a:t>
            </a:r>
          </a:p>
        </p:txBody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4AEAD7FA-6200-47F5-9271-E9FE832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4387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B903DFE-72C8-451C-B592-BEC7967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and iPhone calibration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65ABF7-E138-44EC-9585-907A9136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and AIShopVisionEvaluate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52CA4E-531E-4D43-9C19-2A5E990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465490-6188-40E6-8502-DA1E51E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Evaluate episode openings against the fixed annotation zones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0639DF7-33B2-4D45-A24C-765986C6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A79B00D-251E-4586-88DB-D04919A5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Match both hosts by fixture, profile, frame ID, and media timestamp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2C7A89D-8D1E-463D-9859-964023E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99810F1-7BD6-4C0C-A2DD-53482A11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Record raw-distance drift and every threshold-decision disagreement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22221A-F29A-4189-AEA6-C003ACB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2F61F-5156-4E6C-A582-4BFF88E3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E75FDF6-C5F0-4434-9269-BCADABD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a.frameID == b.frameID, a.timestamp == b.timestamp,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  a.sampleIndex == b.sampleIndex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throw EvaluationError.incompatibleHeader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5663D2A-55B3-4A7D-9D8E-66E86B6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FixtureEvaluatorTests + calibration integration checks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67BDC771-6512-413D-8FDD-43D2FD2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comparator rejects missing fixtures, incompatible hosts, and incomplete or corrupt evidence.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E00DDF57-46F6-49D9-90EF-697A92AB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76178724-F01E-49E6-8997-0168447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067a88f0bcb74455"/>
              </a:rPr>
              <a:t>Fixture evaluator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749F9B57-31F4-4F35-8D26-C5027717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d4f2cf0f9f64378"/>
              </a:rPr>
              <a:t>Evaluation CLI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3882AB45-BC82-4902-AE44-242BF06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cc2dc9f379dc494a"/>
              </a:rPr>
              <a:t>Evaluator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5CB6E649-292B-4002-831B-3F3471C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8412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CBBAD770-C938-4CEC-AFE3-1211B38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Debug harness and application startup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4C650B-857A-4B96-871C-BA520E4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ApplicationBootstrap and VisionHarnessModel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870A162-CA0A-48EA-82CA-AE68BF60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AF6593-0496-4AD1-B42D-EBC6FA3E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the diagnostic route before creating normal services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967967-DFC4-411D-B68F-51BB592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2E3CE38-9677-406A-9B1F-1F856707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Run the same package with local fixture playback and log export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4EE42A-6B66-45E4-8ABC-77519D17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C2618F-B184-4531-B9C2-E4845ED0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Exclude the route and fixture media from Release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F866AC4-61E0-4AF6-962F-3D49CDCC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94FB-BAFC-4599-9888-3ECA6C97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DC836147-2E26-4129-A32E-8D113344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!isVisionDiagnostic(arguments: arguments, environment: environment)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return nil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initialize()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32935B5-A16B-48D5-8A2E-72636FD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ApplicationBootstrapTests + VisionHarnessModelTests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73BC4051-F754-4C78-8FF9-B0E32A9A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Simulator test host has no Firebase instance. Bundle checks verify only approved Debug media.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711F76D-1ECE-4A0C-9E56-7016BC03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9BED6C8F-9774-4B61-9277-B5236B0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98d0a0ed2a2487a"/>
              </a:rPr>
              <a:t>Application bootstrap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B11A062C-B4B8-4A36-AAB2-6AE1842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2856b089982c4b22"/>
              </a:rPr>
              <a:t>Harness model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47B2AE0F-481A-4239-BF2B-1FA59139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1a49bb893ada4bc8"/>
              </a:rPr>
              <a:t>App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E0C091CB-916A-4442-8E54-100BAABB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76794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15357A61-1B1F-402F-8FE4-9B4092BF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What the implementation establishes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3EED20-7527-48A7-BEE9-76C8C14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Evidence for the design decisions, with acceptance still open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669595-A5AF-4131-9249-4A216292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Incremental behavior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3634533-FE0E-4310-AF14-E6AE2FE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Real video reaches the consumer before EOF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9154A-1E13-404E-95D5-F815CB8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8257F13-DE47-43A4-B1AA-923CAE3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Controlled workload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1820662-06C6-4FD5-A817-9392534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active consumer and one pending eligible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A43CA-82B9-4746-8BFF-55B30F2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8FAB28FA-6C5F-47A1-B1D3-D8FBFDB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5E7A352-4D7C-4B9C-98E4-48C83A75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Stable frame IDs, fixed thresholds, replayable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FFE13-F2CF-41B0-9406-BB6244EB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FA769826-D3A9-4948-B8C0-AE7E0BB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E51124C5-D82D-4583-A7CA-0F277B4B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Provisional signals and an independent annotation evaluator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26139BD2-E402-46BB-9018-ACE433B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Still open: physical-iPhone demonstration, exported-log calibration, human review, and acceptance.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D97965FF-F45C-4FE3-875C-629938E1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8A21C85E-CFB4-4057-B7CE-9C68364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2d0016e78d9479c"/>
              </a:rPr>
              <a:t>Pipeline components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5FDCD8C-6EFD-4C8C-814F-9D487BAB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928cfc1e98c64621"/>
              </a:rPr>
              <a:t>Integration suite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CA06FFB-2152-4E6B-B282-71B1CE38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9005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2026-09-20T20:53:56.9140000Z</dcterms:created>
  <dcterms:modified xsi:type="dcterms:W3CDTF">2026-09-20T20:53:56.9140000Z</dcterms:modified>
</coreProperties>
</file>