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e66cbffcc347a5" /><Relationship Type="http://schemas.openxmlformats.org/officeDocument/2006/relationships/extended-properties" Target="/docProps/app.xml" Id="R16842aee3712403f" /><Relationship Type="http://schemas.openxmlformats.org/officeDocument/2006/relationships/officeDocument" Target="/ppt/presentation.xml" Id="R86cc1c52ec9341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5634e9de8d4407"/>
  </p:sldMasterIdLst>
  <p:notesMasterIdLst>
    <p:notesMasterId xmlns:r="http://schemas.openxmlformats.org/officeDocument/2006/relationships" r:id="Ra33507b07d554e55"/>
  </p:notesMasterIdLst>
  <p:sldIdLst>
    <p:sldId xmlns:r="http://schemas.openxmlformats.org/officeDocument/2006/relationships" id="256" r:id="R187aeb3eaeda42d1"/>
    <p:sldId xmlns:r="http://schemas.openxmlformats.org/officeDocument/2006/relationships" id="257" r:id="R78a74f25e5c94d36"/>
    <p:sldId xmlns:r="http://schemas.openxmlformats.org/officeDocument/2006/relationships" id="258" r:id="R5e91293b59694f79"/>
    <p:sldId xmlns:r="http://schemas.openxmlformats.org/officeDocument/2006/relationships" id="259" r:id="Rab0630ad463443de"/>
    <p:sldId xmlns:r="http://schemas.openxmlformats.org/officeDocument/2006/relationships" id="260" r:id="R0b8d433872214cb8"/>
    <p:sldId xmlns:r="http://schemas.openxmlformats.org/officeDocument/2006/relationships" id="261" r:id="Rbb558dda02d34a55"/>
    <p:sldId xmlns:r="http://schemas.openxmlformats.org/officeDocument/2006/relationships" id="262" r:id="Rcb87445d53e44537"/>
    <p:sldId xmlns:r="http://schemas.openxmlformats.org/officeDocument/2006/relationships" id="263" r:id="R2a7ce5c8d60d458a"/>
    <p:sldId xmlns:r="http://schemas.openxmlformats.org/officeDocument/2006/relationships" id="264" r:id="R56267f49b1dc4bfb"/>
    <p:sldId xmlns:r="http://schemas.openxmlformats.org/officeDocument/2006/relationships" id="265" r:id="R1b653363b1e94bc4"/>
    <p:sldId xmlns:r="http://schemas.openxmlformats.org/officeDocument/2006/relationships" id="266" r:id="R046bfedeb8c34520"/>
    <p:sldId xmlns:r="http://schemas.openxmlformats.org/officeDocument/2006/relationships" id="267" r:id="R2c156658136e488e"/>
    <p:sldId xmlns:r="http://schemas.openxmlformats.org/officeDocument/2006/relationships" id="268" r:id="R905e355ddf00471d"/>
    <p:sldId xmlns:r="http://schemas.openxmlformats.org/officeDocument/2006/relationships" id="269" r:id="R39815f221fce4f41"/>
    <p:sldId xmlns:r="http://schemas.openxmlformats.org/officeDocument/2006/relationships" id="270" r:id="Raeb45f02511b46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5b4e754ff44fe5" /><Relationship Type="http://schemas.openxmlformats.org/officeDocument/2006/relationships/slideMaster" Target="/ppt/slideMasters/slideMaster1.xml" Id="Rc15634e9de8d4407" /><Relationship Type="http://schemas.openxmlformats.org/officeDocument/2006/relationships/notesMaster" Target="/ppt/notesMasters/notesMaster1.xml" Id="Ra33507b07d554e55" /><Relationship Type="http://schemas.openxmlformats.org/officeDocument/2006/relationships/presProps" Target="/ppt/presProps.xml" Id="R72ad27506c444bec" /><Relationship Type="http://schemas.openxmlformats.org/officeDocument/2006/relationships/tableStyles" Target="/ppt/tableStyles.xml" Id="R9bab9cdb65dc4126" /><Relationship Type="http://schemas.openxmlformats.org/officeDocument/2006/relationships/slide" Target="/ppt/slides/slide1.xml" Id="R187aeb3eaeda42d1" /><Relationship Type="http://schemas.openxmlformats.org/officeDocument/2006/relationships/slide" Target="/ppt/slides/slide2.xml" Id="R78a74f25e5c94d36" /><Relationship Type="http://schemas.openxmlformats.org/officeDocument/2006/relationships/slide" Target="/ppt/slides/slide3.xml" Id="R5e91293b59694f79" /><Relationship Type="http://schemas.openxmlformats.org/officeDocument/2006/relationships/slide" Target="/ppt/slides/slide4.xml" Id="Rab0630ad463443de" /><Relationship Type="http://schemas.openxmlformats.org/officeDocument/2006/relationships/slide" Target="/ppt/slides/slide5.xml" Id="R0b8d433872214cb8" /><Relationship Type="http://schemas.openxmlformats.org/officeDocument/2006/relationships/slide" Target="/ppt/slides/slide6.xml" Id="Rbb558dda02d34a55" /><Relationship Type="http://schemas.openxmlformats.org/officeDocument/2006/relationships/slide" Target="/ppt/slides/slide7.xml" Id="Rcb87445d53e44537" /><Relationship Type="http://schemas.openxmlformats.org/officeDocument/2006/relationships/slide" Target="/ppt/slides/slide8.xml" Id="R2a7ce5c8d60d458a" /><Relationship Type="http://schemas.openxmlformats.org/officeDocument/2006/relationships/slide" Target="/ppt/slides/slide9.xml" Id="R56267f49b1dc4bfb" /><Relationship Type="http://schemas.openxmlformats.org/officeDocument/2006/relationships/slide" Target="/ppt/slides/slide10.xml" Id="R1b653363b1e94bc4" /><Relationship Type="http://schemas.openxmlformats.org/officeDocument/2006/relationships/slide" Target="/ppt/slides/slide11.xml" Id="R046bfedeb8c34520" /><Relationship Type="http://schemas.openxmlformats.org/officeDocument/2006/relationships/slide" Target="/ppt/slides/slide12.xml" Id="R2c156658136e488e" /><Relationship Type="http://schemas.openxmlformats.org/officeDocument/2006/relationships/slide" Target="/ppt/slides/slide13.xml" Id="R905e355ddf00471d" /><Relationship Type="http://schemas.openxmlformats.org/officeDocument/2006/relationships/slide" Target="/ppt/slides/slide14.xml" Id="R39815f221fce4f41" /><Relationship Type="http://schemas.openxmlformats.org/officeDocument/2006/relationships/slide" Target="/ppt/slides/slide15.xml" Id="Raeb45f02511b46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80b359c25c4b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60575898504045" /><Relationship Type="http://schemas.openxmlformats.org/officeDocument/2006/relationships/notesMaster" Target="/ppt/notesMasters/notesMaster1.xml" Id="Rc82f77521bbd46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ab17b49b344ef4" /><Relationship Type="http://schemas.openxmlformats.org/officeDocument/2006/relationships/notesMaster" Target="/ppt/notesMasters/notesMaster1.xml" Id="R3f29e2213a1046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eff82f23b442f4" /><Relationship Type="http://schemas.openxmlformats.org/officeDocument/2006/relationships/notesMaster" Target="/ppt/notesMasters/notesMaster1.xml" Id="Rc265b67de08c46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d5d137260342c2" /><Relationship Type="http://schemas.openxmlformats.org/officeDocument/2006/relationships/notesMaster" Target="/ppt/notesMasters/notesMaster1.xml" Id="R64ff5358881b4b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82e0e7163a4091" /><Relationship Type="http://schemas.openxmlformats.org/officeDocument/2006/relationships/notesMaster" Target="/ppt/notesMasters/notesMaster1.xml" Id="R75aa669fe37147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6da886f02947ad" /><Relationship Type="http://schemas.openxmlformats.org/officeDocument/2006/relationships/notesMaster" Target="/ppt/notesMasters/notesMaster1.xml" Id="R0b3e987e551c40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a3022b97e446df" /><Relationship Type="http://schemas.openxmlformats.org/officeDocument/2006/relationships/notesMaster" Target="/ppt/notesMasters/notesMaster1.xml" Id="R361c11e7296e40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345d51886e4a5b" /><Relationship Type="http://schemas.openxmlformats.org/officeDocument/2006/relationships/notesMaster" Target="/ppt/notesMasters/notesMaster1.xml" Id="Rb784960d52b5466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1d6381f7e404a4e" /><Relationship Type="http://schemas.openxmlformats.org/officeDocument/2006/relationships/notesMaster" Target="/ppt/notesMasters/notesMaster1.xml" Id="R7c41581f7a0046a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a14a823fdf4a66" /><Relationship Type="http://schemas.openxmlformats.org/officeDocument/2006/relationships/notesMaster" Target="/ppt/notesMasters/notesMaster1.xml" Id="Rdb6a30a0ea29418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7ad4fde299e45a2" /><Relationship Type="http://schemas.openxmlformats.org/officeDocument/2006/relationships/notesMaster" Target="/ppt/notesMasters/notesMaster1.xml" Id="R6c1ca5132af445b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f78686e9ab44762" /><Relationship Type="http://schemas.openxmlformats.org/officeDocument/2006/relationships/notesMaster" Target="/ppt/notesMasters/notesMaster1.xml" Id="Rdb521d79961a4db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624d4b9335040de" /><Relationship Type="http://schemas.openxmlformats.org/officeDocument/2006/relationships/notesMaster" Target="/ppt/notesMasters/notesMaster1.xml" Id="R9452061a7435441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99ae475477640cc" /><Relationship Type="http://schemas.openxmlformats.org/officeDocument/2006/relationships/notesMaster" Target="/ppt/notesMasters/notesMaster1.xml" Id="R3941e685436e44d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e70152a0ba54ae6" /><Relationship Type="http://schemas.openxmlformats.org/officeDocument/2006/relationships/notesMaster" Target="/ppt/notesMasters/notesMaster1.xml" Id="R6bae2a5abb834e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/Users/paboelustodo/-PROJECTS/aishop/docs/00-sdlc2-governance/sdlc2-workflow.md</a:t>
            </a:r>
          </a:p>
          <a:p xmlns:a="http://schemas.openxmlformats.org/drawingml/2006/main">
            <a:r>
              <a:t>- /Users/paboelustodo/-PROJECTS/aishop/AGENTS.md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/Users/paboelustodo/-PROJECTS/aishop/docs/00-sdlc2-governance/README.md</a:t>
            </a:r>
          </a:p>
          <a:p xmlns:a="http://schemas.openxmlformats.org/drawingml/2006/main">
            <a:r>
              <a:t>- /Users/paboelustodo/-PROJECTS/aishop/docs/00-sdlc2-governance/sdlc2-workflow.md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/Users/paboelustodo/-PROJECTS/aishop/docs/00-sdlc2-governance/sdlc2-workflow.md</a:t>
            </a:r>
          </a:p>
          <a:p xmlns:a="http://schemas.openxmlformats.org/drawingml/2006/main">
            <a:r>
              <a:t>- /Users/paboelustodo/-PROJECTS/aishop/docs/00-sdlc2-governance/document-review.md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/Users/paboelustodo/-PROJECTS/aishop/docs/README.md</a:t>
            </a:r>
          </a:p>
          <a:p xmlns:a="http://schemas.openxmlformats.org/drawingml/2006/main">
            <a:r>
              <a:t>- /Users/paboelustodo/-PROJECTS/aishop/docs/01-context-and-domain-analysis/README.md</a:t>
            </a:r>
          </a:p>
          <a:p xmlns:a="http://schemas.openxmlformats.org/drawingml/2006/main">
            <a:r>
              <a:t>- /Users/paboelustodo/-PROJECTS/aishop/docs/12-observability-insights-and-learning/README.md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/Users/paboelustodo/-PROJECTS/aishop/docs/02-intent/README.md</a:t>
            </a:r>
          </a:p>
          <a:p xmlns:a="http://schemas.openxmlformats.org/drawingml/2006/main">
            <a:r>
              <a:t>- /Users/paboelustodo/-PROJECTS/aishop/docs/03-system-model-and-use-cases/README.md</a:t>
            </a:r>
          </a:p>
          <a:p xmlns:a="http://schemas.openxmlformats.org/drawingml/2006/main">
            <a:r>
              <a:t>- /Users/paboelustodo/-PROJECTS/aishop/docs/08-specifications-as-code/README.md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/Users/paboelustodo/-PROJECTS/aishop/docs/00-sdlc2-governance/document-review.md</a:t>
            </a:r>
          </a:p>
          <a:p xmlns:a="http://schemas.openxmlformats.org/drawingml/2006/main">
            <a:r>
              <a:t>- /Users/paboelustodo/-PROJECTS/aishop/AGENTS.md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/Users/paboelustodo/-PROJECTS/aishop/AGENTS.md</a:t>
            </a:r>
          </a:p>
          <a:p xmlns:a="http://schemas.openxmlformats.org/drawingml/2006/main">
            <a:r>
              <a:t>- /Users/paboelustodo/-PROJECTS/aishop/docs/00-sdlc2-governance/README.md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/Users/paboelustodo/-PROJECTS/aishop/docs/00-sdlc2-governance/sdlc2-workflow.md</a:t>
            </a:r>
          </a:p>
          <a:p xmlns:a="http://schemas.openxmlformats.org/drawingml/2006/main">
            <a:r>
              <a:t>- /Users/paboelustodo/-PROJECTS/aishop/docs/07-planning/sprints/sprint-003/03-sprint-plan-tasks.md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/Users/paboelustodo/-PROJECTS/aishop/docs/09-build-and-test/README.md</a:t>
            </a:r>
          </a:p>
          <a:p xmlns:a="http://schemas.openxmlformats.org/drawingml/2006/main">
            <a:r>
              <a:t>- /Users/paboelustodo/-PROJECTS/aishop/docs/10-review-and-release/README.md</a:t>
            </a:r>
          </a:p>
          <a:p xmlns:a="http://schemas.openxmlformats.org/drawingml/2006/main">
            <a:r>
              <a:t>- /Users/paboelustodo/-PROJECTS/aishop/docs/11-operational-reality/README.md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/Users/paboelustodo/-PROJECTS/aishop/docs/07-planning/sprints/sprint-001/01-sprint-plan.md</a:t>
            </a:r>
          </a:p>
          <a:p xmlns:a="http://schemas.openxmlformats.org/drawingml/2006/main">
            <a:r>
              <a:t>- /Users/paboelustodo/-PROJECTS/aishop/docs/07-planning/sprints/sprint-002/01-sprint-plan.md</a:t>
            </a:r>
          </a:p>
          <a:p xmlns:a="http://schemas.openxmlformats.org/drawingml/2006/main">
            <a:r>
              <a:t>- /Users/paboelustodo/-PROJECTS/aishop/docs/07-planning/sprints/sprint-003/01-sprint-plan.md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Current repository history maps these increments to commits 945d600, 2c73777 and 98df9f9.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/Users/paboelustodo/-PROJECTS/aishop/docs/06-solution-design-and-architecture/components/component-architecture.md</a:t>
            </a:r>
          </a:p>
          <a:p xmlns:a="http://schemas.openxmlformats.org/drawingml/2006/main">
            <a:r>
              <a:t>- /Users/paboelustodo/-PROJECTS/aishop/docs/06-solution-design-and-architecture/architecture-02-audit-storage-and-human-review.md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/Users/paboelustodo/-PROJECTS/aishop/docs/07-planning/sprints/sprint-003/03-sprint-plan-tasks.md</a:t>
            </a:r>
          </a:p>
          <a:p xmlns:a="http://schemas.openxmlformats.org/drawingml/2006/main">
            <a:r>
              <a:t>- /Users/paboelustodo/-PROJECTS/aishop/docs/06-solution-design-and-architecture/components/component-architecture.md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/Users/paboelustodo/-PROJECTS/aishop/docs/05-viable-proof-of-concept/proof-of-concept-02-auditable-shelf-review.md</a:t>
            </a:r>
          </a:p>
          <a:p xmlns:a="http://schemas.openxmlformats.org/drawingml/2006/main">
            <a:r>
              <a:t>- /Users/paboelustodo/-PROJECTS/aishop/docs/06-solution-design-and-architecture/architecture-02-audit-storage-and-human-review.md</a:t>
            </a:r>
          </a:p>
          <a:p xmlns:a="http://schemas.openxmlformats.org/drawingml/2006/main">
            <a:r>
              <a:t>- /private/tmp/aishop-dashboard-desktop.png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/Users/paboelustodo/-PROJECTS/aishop/docs/00-sdlc2-governance/document-review.md</a:t>
            </a:r>
          </a:p>
          <a:p xmlns:a="http://schemas.openxmlformats.org/drawingml/2006/main">
            <a:r>
              <a:t>- /Users/paboelustodo/-PROJECTS/aishop/docs/00-sdlc2-governance/sdlc2-workflow.md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SDLC2 is the methodology used and evolved in this repository; this deck does not present it as a universal industry standard.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https://github.com/pabloelustondo/aishop</a:t>
            </a:r>
          </a:p>
          <a:p xmlns:a="http://schemas.openxmlformats.org/drawingml/2006/main">
            <a:r>
              <a:t>- /Users/paboelustodo/-PROJECTS/aishop/README.md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6cd8c11bd54d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513183e58649a6" /><Relationship Type="http://schemas.openxmlformats.org/officeDocument/2006/relationships/slideLayout" Target="/ppt/slideLayouts/slideLayout1.xml" Id="Rf416c62f682442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16c62f682442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cb81c40e8f4377" /><Relationship Type="http://schemas.openxmlformats.org/officeDocument/2006/relationships/notesSlide" Target="/ppt/notesSlides/notesSlide1.xml" Id="Rb19b2edad18549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71b26aacc4fcb" /><Relationship Type="http://schemas.openxmlformats.org/officeDocument/2006/relationships/notesSlide" Target="/ppt/notesSlides/notesSlide2.xml" Id="Rdeeb1cf9ddb844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db801ed3c5402e" /><Relationship Type="http://schemas.openxmlformats.org/officeDocument/2006/relationships/notesSlide" Target="/ppt/notesSlides/notesSlide3.xml" Id="R4f76ea31ace040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d3b684bff8482d" /><Relationship Type="http://schemas.openxmlformats.org/officeDocument/2006/relationships/notesSlide" Target="/ppt/notesSlides/notesSlide4.xml" Id="R5a716364eb064a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9fb2c9cbda4bd1" /><Relationship Type="http://schemas.openxmlformats.org/officeDocument/2006/relationships/notesSlide" Target="/ppt/notesSlides/notesSlide5.xml" Id="Rfa9e9274c2bc47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c8a04c6cc44d05" /><Relationship Type="http://schemas.openxmlformats.org/officeDocument/2006/relationships/notesSlide" Target="/ppt/notesSlides/notesSlide6.xml" Id="Rfa9f62f9968741a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a452bcf4e24ec2" /><Relationship Type="http://schemas.openxmlformats.org/officeDocument/2006/relationships/notesSlide" Target="/ppt/notesSlides/notesSlide7.xml" Id="Rb74e0a97312647c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4b6ce2fb024241" /><Relationship Type="http://schemas.openxmlformats.org/officeDocument/2006/relationships/notesSlide" Target="/ppt/notesSlides/notesSlide8.xml" Id="R80d2f85a6df842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778a6ee0054005" /><Relationship Type="http://schemas.openxmlformats.org/officeDocument/2006/relationships/notesSlide" Target="/ppt/notesSlides/notesSlide9.xml" Id="R9dcc2fab6c7b46a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f57d5fee6e4ad9" /><Relationship Type="http://schemas.openxmlformats.org/officeDocument/2006/relationships/notesSlide" Target="/ppt/notesSlides/notesSlide10.xml" Id="Rc2fbedc84315490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79c26284b64995" /><Relationship Type="http://schemas.openxmlformats.org/officeDocument/2006/relationships/notesSlide" Target="/ppt/notesSlides/notesSlide11.xml" Id="Rac4b34ef4a544e4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50831821ee40c9" /><Relationship Type="http://schemas.openxmlformats.org/officeDocument/2006/relationships/notesSlide" Target="/ppt/notesSlides/notesSlide12.xml" Id="R4652da5ffeef4d9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8a84e759354882" /><Relationship Type="http://schemas.openxmlformats.org/officeDocument/2006/relationships/image" Target="/ppt/media/image.jpeg" Id="Rcff2b1f38e2d4e3d" /><Relationship Type="http://schemas.openxmlformats.org/officeDocument/2006/relationships/notesSlide" Target="/ppt/notesSlides/notesSlide13.xml" Id="Rb4951ce7b9ba4c4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283a99e5344a01" /><Relationship Type="http://schemas.openxmlformats.org/officeDocument/2006/relationships/notesSlide" Target="/ppt/notesSlides/notesSlide14.xml" Id="R2da9e5c0d6784a2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a1f4f020924597" /><Relationship Type="http://schemas.openxmlformats.org/officeDocument/2006/relationships/notesSlide" Target="/ppt/notesSlides/notesSlide15.xml" Id="Rf9a4fba2126547c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F508EC9B-24FC-4C81-9981-584CE623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SDLC2 for
AI-assisted delivery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74325023-5987-49E4-8C43-AE086526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Governance · traceability · human authority · operational learning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013364DA-CC38-4431-89CE-3E00A427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AI SHOP · TECHNICAL CASE STUDY</a:t>
            </a:r>
          </a:p>
        </p:txBody>
      </p:sp>
    </p:spTree>
    <p:extLst>
      <p:ext uri="{BB962C8B-B14F-4D97-AF65-F5344CB8AC3E}">
        <p14:creationId xmlns:p14="http://schemas.microsoft.com/office/powerpoint/2010/main" val="95142889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5211E587-9365-454C-9738-44101670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0F980A6-833D-43A0-A169-48F70768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compresses execution time.
It does not resolve ambiguity.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109775C8-5A73-4132-96B0-ADB10B2E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THE ACCELERATION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Agents can translate intent into plans, code, tests and diagnostics at a speed that changes the economics of iteration.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C531BF53-A8BE-4BEA-B866-A2FAF1CF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THE CONTROL PROBLEM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same speed magnifies unclear authority, scope drift, hidden assumptions, accidental cross-component changes and premature claims of ‘done’.</a:t>
            </a:r>
          </a:p>
        </p:txBody>
      </p:sp>
    </p:spTree>
    <p:extLst>
      <p:ext uri="{BB962C8B-B14F-4D97-AF65-F5344CB8AC3E}">
        <p14:creationId xmlns:p14="http://schemas.microsoft.com/office/powerpoint/2010/main" val="179417069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96AC0D86-B01D-4C92-93F4-659BCCA5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1EB9CC6B-38E0-4C63-B7BC-C693C9A8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SDLC2 is controlled transformation—not ceremony.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0ACFD65F-A36E-4B32-98C1-018A3AD8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AUTHORITY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Humans own intent, approval, accepted risk and release. Agents never self-approve.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2805E655-BE52-4BD8-BC07-1A183B94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Observable proof determines progress. Build, review, deployment and operation remain separate states.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84635761-6150-4BE4-936D-1D1C8189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SCOPE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 cases, architecture and component-scoped tasks bound the change.</a:t>
            </a:r>
          </a:p>
        </p:txBody>
      </p:sp>
    </p:spTree>
    <p:extLst>
      <p:ext uri="{BB962C8B-B14F-4D97-AF65-F5344CB8AC3E}">
        <p14:creationId xmlns:p14="http://schemas.microsoft.com/office/powerpoint/2010/main" val="100395054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976760B6-41F5-4DE5-85BC-C235129B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894A1A5A-6372-4BBE-B451-4C853EA6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Twelve lifecycle areas form one learning loop.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491E2AB0-EA09-445F-B583-53BFE265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UNDERSTAND · 01–03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Context &amp; Domain
Intent
System Model &amp; Use Cases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52FED928-B8A6-4CBB-A160-55534D36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PROVE &amp; DESIGN · 04–06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Benchmarks &amp; Success
Viable Proof of Concept
Architecture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BE50013-19E1-4ED4-BBC2-54DADBE3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CONTROL CHANGE · 07–09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Planning
Specifications as Code
Build &amp; Test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D2DA1A1-EC34-4E2D-B8FF-AB7DD2F1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REVIEW &amp; LEARN · 10–12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Review &amp; Release
Operational Reality
Insights &amp; Learning → 01</a:t>
            </a:r>
          </a:p>
        </p:txBody>
      </p:sp>
    </p:spTree>
    <p:extLst>
      <p:ext uri="{BB962C8B-B14F-4D97-AF65-F5344CB8AC3E}">
        <p14:creationId xmlns:p14="http://schemas.microsoft.com/office/powerpoint/2010/main" val="186636658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4A5BAC1F-733E-4097-9F84-9626FA9E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A46F947-3E61-4EA8-8E09-B159238C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Documents are decision interfaces
between humans and agents.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F0B41EE3-3D93-4570-BD53-B6945E6A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CONTROLLED INPUTS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Intent defines why. Use cases define behavior. Architecture defines ownership and trust boundaries. Sprint plans define scope, evidence and exclusions.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86FEAE39-C136-4819-B6D6-F8A062B5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EXECUTABLE CONSTRAINTS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Contracts, schemas, invariants, acceptance examples and tests make specifications agent-ready. Documents govern work; they do not silently authorize production or risk.</a:t>
            </a:r>
          </a:p>
        </p:txBody>
      </p:sp>
    </p:spTree>
    <p:extLst>
      <p:ext uri="{BB962C8B-B14F-4D97-AF65-F5344CB8AC3E}">
        <p14:creationId xmlns:p14="http://schemas.microsoft.com/office/powerpoint/2010/main" val="55864599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B9282A5B-C349-41B6-8985-C1F45E58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923CFF6F-6884-4A3D-BE77-2806A324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is bound to the exact revision—not the idea.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DC8490C5-03E9-4C6B-868A-10FBD084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56EC15BE-FA34-4181-A0C8-D0F2BCDA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DF344F7E-7D5A-48A2-AC19-36A4AE2B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878EEBBA-306C-443A-8B2C-095FFFEE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01 · AGENT DRAFT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D4870B7C-61BA-44C4-AF14-6442B3DF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02 · HUMAN REVIEW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D4359B90-D205-483F-8522-449FC8F9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03 · EXECUTION GATE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006A316B-5D52-42A4-A087-0C2E360A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Identity + exact bytes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registered human enters initials and stages the complete reviewed contents. Partial staging is not approval.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04E94074-530E-4990-AF7F-3AF4225E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Visible revision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file exists unstaged, reviewer initials are blank, and the provided link opens the exact proposal.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9B7436D6-42B0-479A-8D33-93DDB482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Proceed while valid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Coding proceeds only while governed documents remain approved. Any edit invalidates approval and resets the gate.</a:t>
            </a:r>
          </a:p>
        </p:txBody>
      </p:sp>
    </p:spTree>
    <p:extLst>
      <p:ext uri="{BB962C8B-B14F-4D97-AF65-F5344CB8AC3E}">
        <p14:creationId xmlns:p14="http://schemas.microsoft.com/office/powerpoint/2010/main" val="157834576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7A520DC3-98F7-4750-B891-A66AE5B1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FEE7B2F9-611B-4EBD-9274-F35121E7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AGENTS.md is the repository’s durable operating contract.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F8A4F895-01B3-4AAB-B364-BACE6B02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MANDATORY CONTEXT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Read governance before plans, docs, code, tests or releases.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56C4006F-79FF-4988-894E-3BD795A3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NON-NEGOTIABLES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Exact approval, ≤50-line authored files, human-staged deletions, no force-push.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743840AF-C544-41F0-A3EC-9675F682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AUTONOMOUS ZONE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Inside approved scope: implement, build, test, diagnose and perform reversible checks.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360FB71-BB54-407B-907C-C83628E2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EXPLICIT CONSENT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Ask before scope change, production risk, secrets, money, security or irreversible action.</a:t>
            </a:r>
          </a:p>
        </p:txBody>
      </p:sp>
    </p:spTree>
    <p:extLst>
      <p:ext uri="{BB962C8B-B14F-4D97-AF65-F5344CB8AC3E}">
        <p14:creationId xmlns:p14="http://schemas.microsoft.com/office/powerpoint/2010/main" val="104840640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0C3F63C4-2450-415C-B3C4-AF1E436B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BF8CF441-4601-42DE-A1D5-29780D66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Granular approval makes bounded agent autonomy possible.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69696E39-6227-42A2-88FC-B3CFB777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057AD8C0-5B27-4AB0-86EC-110718A4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C180B1E5-6F72-47A1-B178-4AF6DA66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4DAEDEB7-2A2E-4D78-B585-FEDACA25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01 · SPRINT PLAN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D5E353DF-CDFB-4F5C-B82A-CF36C215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02 · PLAN TASKS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E5D68905-ACF2-4FE7-A0DE-8486FDE3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03 · BUILD + VALIDATE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BBDA9641-63D8-49C1-BC0C-3E149D74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Constrain the edits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separate approved document orders the work. Every task names exactly one component and its tests.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E93E3605-6B6F-44DA-9DC3-6B821C1A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Authorize the increment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Goal, in-scope behavior, exclusions, success evidence and decision gates are reviewed first.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678ED429-28C7-4D05-9506-5F935B5D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Execute in approved scope. Cross-component checks are read-only; fixes require a new task and approval.</a:t>
            </a:r>
          </a:p>
        </p:txBody>
      </p:sp>
    </p:spTree>
    <p:extLst>
      <p:ext uri="{BB962C8B-B14F-4D97-AF65-F5344CB8AC3E}">
        <p14:creationId xmlns:p14="http://schemas.microsoft.com/office/powerpoint/2010/main" val="111098067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6C1CBF1B-5EF0-4B34-B1A0-B4BD3406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78E0FF31-4DB9-467B-AB60-9282C7AF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green build is not a release—and a release is not reality.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E0419191-7669-448C-A8D3-762CAA78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DEFINITION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Planned
Human-approved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6A6D46E5-0370-4277-8E9D-4A273B69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CONSTRUCTION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Implemented
Tested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90C40CD9-46D2-4EF9-9A95-BA9544D1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DELIVERY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Reviewed · committed · merged
Deployed · released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F0F02C7E-233E-4110-8FF3-D34BF580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REALITY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Observed with real users, data, cost and consequences
Learning returned to Step 01</a:t>
            </a:r>
          </a:p>
        </p:txBody>
      </p:sp>
    </p:spTree>
    <p:extLst>
      <p:ext uri="{BB962C8B-B14F-4D97-AF65-F5344CB8AC3E}">
        <p14:creationId xmlns:p14="http://schemas.microsoft.com/office/powerpoint/2010/main" val="26763287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54F8E881-80DE-4A12-98E5-66876C9D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811A556-AAAD-4B20-BF65-7DE07B33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Shop evolves by resolving one uncertainty at a time.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A614F9C4-62E4-4EA6-9FAB-6D77D346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4F2D5751-DE22-465E-82C0-9A30B46F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0D32E4B2-64A8-4743-8090-001F0D18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E561E625-C2F3-4E18-9F71-355BE950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SPRINT 001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0D6E358D-5E7D-4A38-A4AD-6B76AF8E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SPRINT 002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3BA979F8-09F8-4C63-A39E-31F8A053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SPRINT 003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5BDC59DA-C4DF-4695-B2E1-6CCBABC2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Depth and breadth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Target Product and Area Scan create mode-specific structured reports while communicating uncertainty.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D465FA89-1493-4824-A603-0359D763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Secure camera-to-AI proof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Native iPhone capture, server-side OpenAI credential and a physical-device camera-to-result loop.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D8BBE08B-51E7-46E0-913D-5C5EA77D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Auditable inspection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Exact JPEG, SHA-256, immutable AI findings, private storage and attributable review.</a:t>
            </a:r>
          </a:p>
        </p:txBody>
      </p:sp>
    </p:spTree>
    <p:extLst>
      <p:ext uri="{BB962C8B-B14F-4D97-AF65-F5344CB8AC3E}">
        <p14:creationId xmlns:p14="http://schemas.microsoft.com/office/powerpoint/2010/main" val="103280560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86CEC8-2024-4EEA-A3AC-319C0C82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095500" y="2495550"/>
            <a:ext cx="1285875" cy="1028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7777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80BA2B-77C1-436B-A839-42CBA6E0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095500" y="3810000"/>
            <a:ext cx="1285875" cy="638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7777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63B3AE-D9F7-4A5D-A895-5B0F56B6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476875" y="2305050"/>
            <a:ext cx="857250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7777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AB0CA5-BEEB-4CFA-BF3C-0A592DC0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476875" y="3524250"/>
            <a:ext cx="85725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7777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232AF6-D603-44DB-86D2-F4C986AB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476875" y="3524250"/>
            <a:ext cx="857250" cy="1257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7777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5DAA1C-A349-47F8-9B5E-999DE085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334375" y="2305050"/>
            <a:ext cx="133350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7777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49C566-1373-417F-9D95-8EA52D35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Governed component boundaries become architecture.</a:t>
            </a:r>
          </a:p>
        </p:txBody>
      </p:sp>
      <p:sp>
        <p:nvSpPr>
          <p:cNvPr id="8" name="mobile">
            <a:extLst xmlns:a="http://schemas.openxmlformats.org/drawingml/2006/main">
              <a:ext uri="{FF2B5EF4-FFF2-40B4-BE49-F238E27FC236}">
                <a16:creationId xmlns:a16="http://schemas.microsoft.com/office/drawing/2014/main" id="{C62F0B8A-92FD-4015-AE7E-C0095B7D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143125"/>
            <a:ext cx="1714500" cy="714375"/>
          </a:xfrm>
          <a:prstGeom xmlns:a="http://schemas.openxmlformats.org/drawingml/2006/main" prst="roundRect">
            <a:avLst>
              <a:gd name="adj" fmla="val 18667"/>
            </a:avLst>
          </a:prstGeom>
          <a:solidFill xmlns:a="http://schemas.openxmlformats.org/drawingml/2006/main">
            <a:srgbClr val="E9FFF3"/>
          </a:solidFill>
          <a:ln xmlns:a="http://schemas.openxmlformats.org/drawingml/2006/main" w="19050">
            <a:solidFill>
              <a:srgbClr val="24D97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Mobile Capture</a:t>
            </a:r>
          </a:p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Client</a:t>
            </a:r>
          </a:p>
        </p:txBody>
      </p:sp>
      <p:sp>
        <p:nvSpPr>
          <p:cNvPr id="9" name="dashboard">
            <a:extLst xmlns:a="http://schemas.openxmlformats.org/drawingml/2006/main">
              <a:ext uri="{FF2B5EF4-FFF2-40B4-BE49-F238E27FC236}">
                <a16:creationId xmlns:a16="http://schemas.microsoft.com/office/drawing/2014/main" id="{03FF9792-8C3A-471E-9FC4-8956DA2A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95750"/>
            <a:ext cx="1714500" cy="714375"/>
          </a:xfrm>
          <a:prstGeom xmlns:a="http://schemas.openxmlformats.org/drawingml/2006/main" prst="roundRect">
            <a:avLst>
              <a:gd name="adj" fmla="val 18667"/>
            </a:avLst>
          </a:prstGeom>
          <a:solidFill xmlns:a="http://schemas.openxmlformats.org/drawingml/2006/main">
            <a:srgbClr val="E9FFF3"/>
          </a:solidFill>
          <a:ln xmlns:a="http://schemas.openxmlformats.org/drawingml/2006/main" w="19050">
            <a:solidFill>
              <a:srgbClr val="24D97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Review</a:t>
            </a:r>
          </a:p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Dashboard</a:t>
            </a:r>
          </a:p>
        </p:txBody>
      </p:sp>
      <p:sp>
        <p:nvSpPr>
          <p:cNvPr id="10" name="api">
            <a:extLst xmlns:a="http://schemas.openxmlformats.org/drawingml/2006/main">
              <a:ext uri="{FF2B5EF4-FFF2-40B4-BE49-F238E27FC236}">
                <a16:creationId xmlns:a16="http://schemas.microsoft.com/office/drawing/2014/main" id="{4CF25578-8DE9-4C63-9868-8D753562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048000"/>
            <a:ext cx="20955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D97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Inspection API</a:t>
            </a:r>
          </a:p>
        </p:txBody>
      </p:sp>
      <p:sp>
        <p:nvSpPr>
          <p:cNvPr id="11" name="adapter">
            <a:extLst xmlns:a="http://schemas.openxmlformats.org/drawingml/2006/main">
              <a:ext uri="{FF2B5EF4-FFF2-40B4-BE49-F238E27FC236}">
                <a16:creationId xmlns:a16="http://schemas.microsoft.com/office/drawing/2014/main" id="{D95129C8-1BF8-4FEE-BF85-0D686689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52625"/>
            <a:ext cx="2000250" cy="714375"/>
          </a:xfrm>
          <a:prstGeom xmlns:a="http://schemas.openxmlformats.org/drawingml/2006/main" prst="roundRect">
            <a:avLst>
              <a:gd name="adj" fmla="val 18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D97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Analysis</a:t>
            </a:r>
          </a:p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Adapter</a:t>
            </a:r>
          </a:p>
        </p:txBody>
      </p:sp>
      <p:sp>
        <p:nvSpPr>
          <p:cNvPr id="12" name="evidence">
            <a:extLst xmlns:a="http://schemas.openxmlformats.org/drawingml/2006/main">
              <a:ext uri="{FF2B5EF4-FFF2-40B4-BE49-F238E27FC236}">
                <a16:creationId xmlns:a16="http://schemas.microsoft.com/office/drawing/2014/main" id="{7AD2E91F-5567-4E25-96C1-759066B6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90875"/>
            <a:ext cx="2000250" cy="714375"/>
          </a:xfrm>
          <a:prstGeom xmlns:a="http://schemas.openxmlformats.org/drawingml/2006/main" prst="roundRect">
            <a:avLst>
              <a:gd name="adj" fmla="val 18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D97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Store</a:t>
            </a:r>
          </a:p>
        </p:txBody>
      </p:sp>
      <p:sp>
        <p:nvSpPr>
          <p:cNvPr id="13" name="records">
            <a:extLst xmlns:a="http://schemas.openxmlformats.org/drawingml/2006/main">
              <a:ext uri="{FF2B5EF4-FFF2-40B4-BE49-F238E27FC236}">
                <a16:creationId xmlns:a16="http://schemas.microsoft.com/office/drawing/2014/main" id="{3540FB19-E7EE-4BC5-9947-285ECF86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29125"/>
            <a:ext cx="2000250" cy="714375"/>
          </a:xfrm>
          <a:prstGeom xmlns:a="http://schemas.openxmlformats.org/drawingml/2006/main" prst="roundRect">
            <a:avLst>
              <a:gd name="adj" fmla="val 18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D97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Inspection Record</a:t>
            </a:r>
          </a:p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Store</a:t>
            </a:r>
          </a:p>
        </p:txBody>
      </p:sp>
      <p:sp>
        <p:nvSpPr>
          <p:cNvPr id="14" name="openai">
            <a:extLst xmlns:a="http://schemas.openxmlformats.org/drawingml/2006/main">
              <a:ext uri="{FF2B5EF4-FFF2-40B4-BE49-F238E27FC236}">
                <a16:creationId xmlns:a16="http://schemas.microsoft.com/office/drawing/2014/main" id="{88A78A03-1321-472B-ADDE-1267BC34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952625"/>
            <a:ext cx="1666875" cy="714375"/>
          </a:xfrm>
          <a:prstGeom xmlns:a="http://schemas.openxmlformats.org/drawingml/2006/main" prst="roundRect">
            <a:avLst>
              <a:gd name="adj" fmla="val 18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77777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OpenAI API</a:t>
            </a:r>
          </a:p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external</a:t>
            </a:r>
          </a:p>
        </p:txBody>
      </p:sp>
      <p:sp>
        <p:nvSpPr>
          <p:cNvPr id="15" name="invariant">
            <a:extLst xmlns:a="http://schemas.openxmlformats.org/drawingml/2006/main">
              <a:ext uri="{FF2B5EF4-FFF2-40B4-BE49-F238E27FC236}">
                <a16:creationId xmlns:a16="http://schemas.microsoft.com/office/drawing/2014/main" id="{F1CBA596-8634-48EA-A1AB-D6AB2179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19750"/>
            <a:ext cx="92392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9FFF3"/>
          </a:solidFill>
          <a:ln xmlns:a="http://schemas.openxmlformats.org/drawingml/2006/main" w="19050">
            <a:solidFill>
              <a:srgbClr val="24D97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Invariant: original evidence and initial AI findings remain immutable; human review is separate and attributable.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8CC69C-9236-4E8E-80A9-CBABCB89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9078340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0585D608-AE71-4450-8215-A8F6F81A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12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2B0E7CF3-0CF3-411D-9BFB-3D3B8EDA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Fourteen tasks. Six owned components. One ordered system.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A1D0FBBD-747A-4EA3-A975-B081FE4B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CONTRACT &amp; MODEL · T1–2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Inspection API submission contract
AI Adapter target-position behavior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04000D69-361F-43D8-8EDB-897BA1F2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CAPTURE &amp; EVIDENCE · T3–4, 6, 13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Original iPhone JPEG bytes
Hash, private storage, retrieval and bucket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68326FFC-67CF-48C8-9AF5-D3EAD4B7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RECORDS &amp; API · T5, 7–9, 11–12, 14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Immutable records, reviewer operations, failure semantics, Firestore and JPEG compatibility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2B8E13F3-958E-4317-851C-4CB468BC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REVIEW &amp; VALIDATION · T10 + GATE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Private dashboard
Read-only cross-component validation
Any fix becomes a new task</a:t>
            </a:r>
          </a:p>
        </p:txBody>
      </p:sp>
    </p:spTree>
    <p:extLst>
      <p:ext uri="{BB962C8B-B14F-4D97-AF65-F5344CB8AC3E}">
        <p14:creationId xmlns:p14="http://schemas.microsoft.com/office/powerpoint/2010/main" val="131728235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AEEA97C-A477-49F1-A8D6-B0F17B20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52E181B5-51F2-449C-81FF-6A2F4138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audit record preserves
both evidence and disagreement.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E53CA21C-40EF-474E-BE09-9FB85C71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9" name="Picture-3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f2b1f38e2d4e3d"/>
          <a:stretch xmlns:a="http://schemas.openxmlformats.org/drawingml/2006/main"/>
        </p:blipFill>
        <p:spPr>
          <a:xfrm xmlns:a="http://schemas.openxmlformats.org/drawingml/2006/main">
            <a:off x="6269069" y="804192"/>
            <a:ext cx="5539740" cy="4786511"/>
          </a:xfrm>
          <a:prstGeom xmlns:a="http://schemas.openxmlformats.org/drawingml/2006/main" prst="roundRect">
            <a:avLst/>
          </a:prstGeom>
        </p:spPr>
      </p:pic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61D42C49-AF99-4FE2-B771-F9B25B47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AN EVIDENCE MODEL, NOT JUST A UI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Each scan connects the exact original JPEG and SHA-256 with immutable initial findings. An authorized reviewer records Verified, Corrected or Rejected separately—with identity, note and server time. Unauthorized access and distinct failure modes are tested.</a:t>
            </a:r>
          </a:p>
        </p:txBody>
      </p:sp>
    </p:spTree>
    <p:extLst>
      <p:ext uri="{BB962C8B-B14F-4D97-AF65-F5344CB8AC3E}">
        <p14:creationId xmlns:p14="http://schemas.microsoft.com/office/powerpoint/2010/main" val="182775156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FE4F4D43-F9E4-4581-833C-059FB8C2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40B97F1-2E92-46CE-8035-77AFC00C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method reduces risk
by making friction explicit.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14611902-7405-4C3F-8A3D-CF8B664E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WHAT IT PREVENTS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Scope drift, agent self-approval, stale approvals, partial staging, cross-component blast radius, invisible assumptions and status inflation.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98756D58-FCC7-4C68-BEDF-BF3C856A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WHAT IT COSTS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More small documents, disciplined staging, slower starts and a real human bottleneck. The rigor should be proportionate—but consequential agent-assisted change benefits from it.</a:t>
            </a:r>
          </a:p>
        </p:txBody>
      </p:sp>
    </p:spTree>
    <p:extLst>
      <p:ext uri="{BB962C8B-B14F-4D97-AF65-F5344CB8AC3E}">
        <p14:creationId xmlns:p14="http://schemas.microsoft.com/office/powerpoint/2010/main" val="35518833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622260C4-DF76-4019-B770-8982D452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Inspect the method
in the repository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08FDB201-73A2-4300-A45B-BC97171A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github.com/pabloelustondo/aishop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Intent · use cases · architecture · sprint controls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Native iOS · Firebase API · evidence store · review dashboard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FA6A8134-9E7C-4E98-88E7-890A38A5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4D979"/>
                </a:solidFill>
                <a:latin typeface="Helvetica Neue"/>
                <a:ea typeface="Helvetica Neue"/>
                <a:cs typeface="Helvetica Neue"/>
              </a:rPr>
              <a:t>PUBLIC CASE STUDY</a:t>
            </a:r>
          </a:p>
        </p:txBody>
      </p:sp>
    </p:spTree>
    <p:extLst>
      <p:ext uri="{BB962C8B-B14F-4D97-AF65-F5344CB8AC3E}">
        <p14:creationId xmlns:p14="http://schemas.microsoft.com/office/powerpoint/2010/main" val="2139929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2026-08-08T22:40:14.3700000Z</dcterms:created>
  <dcterms:modified xsi:type="dcterms:W3CDTF">2026-08-08T22:40:14.3700000Z</dcterms:modified>
</coreProperties>
</file>