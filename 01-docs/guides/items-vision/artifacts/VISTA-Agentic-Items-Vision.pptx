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cda65e4004d8e" /><Relationship Type="http://schemas.openxmlformats.org/officeDocument/2006/relationships/extended-properties" Target="/docProps/app.xml" Id="Rc2246ee9904d4555" /><Relationship Type="http://schemas.openxmlformats.org/officeDocument/2006/relationships/officeDocument" Target="/ppt/presentation.xml" Id="R088568271838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dc774bc7943c0"/>
  </p:sldMasterIdLst>
  <p:notesMasterIdLst>
    <p:notesMasterId xmlns:r="http://schemas.openxmlformats.org/officeDocument/2006/relationships" r:id="R225476e513b54d77"/>
  </p:notesMasterIdLst>
  <p:sldIdLst>
    <p:sldId xmlns:r="http://schemas.openxmlformats.org/officeDocument/2006/relationships" id="256" r:id="Rf1636e1ccbe84dbc"/>
    <p:sldId xmlns:r="http://schemas.openxmlformats.org/officeDocument/2006/relationships" id="257" r:id="Re85d05ea407b414f"/>
    <p:sldId xmlns:r="http://schemas.openxmlformats.org/officeDocument/2006/relationships" id="258" r:id="Rb49cc836296b4f8b"/>
    <p:sldId xmlns:r="http://schemas.openxmlformats.org/officeDocument/2006/relationships" id="259" r:id="R4d6199a395d1455b"/>
    <p:sldId xmlns:r="http://schemas.openxmlformats.org/officeDocument/2006/relationships" id="260" r:id="R05fc328f320d45d5"/>
    <p:sldId xmlns:r="http://schemas.openxmlformats.org/officeDocument/2006/relationships" id="261" r:id="Rf037a86a3beb4a93"/>
    <p:sldId xmlns:r="http://schemas.openxmlformats.org/officeDocument/2006/relationships" id="262" r:id="R1d1be580df7d4170"/>
    <p:sldId xmlns:r="http://schemas.openxmlformats.org/officeDocument/2006/relationships" id="263" r:id="R1b0b708658c54dce"/>
    <p:sldId xmlns:r="http://schemas.openxmlformats.org/officeDocument/2006/relationships" id="264" r:id="Rd6fe12dbe0d147b6"/>
    <p:sldId xmlns:r="http://schemas.openxmlformats.org/officeDocument/2006/relationships" id="265" r:id="R0d19fc9249224185"/>
    <p:sldId xmlns:r="http://schemas.openxmlformats.org/officeDocument/2006/relationships" id="266" r:id="Rc727fb4b5b574eff"/>
    <p:sldId xmlns:r="http://schemas.openxmlformats.org/officeDocument/2006/relationships" id="267" r:id="Rc6353275e3ff4799"/>
    <p:sldId xmlns:r="http://schemas.openxmlformats.org/officeDocument/2006/relationships" id="268" r:id="Rec9c98d1f671437b"/>
    <p:sldId xmlns:r="http://schemas.openxmlformats.org/officeDocument/2006/relationships" id="269" r:id="Rb9a99b02515341a5"/>
    <p:sldId xmlns:r="http://schemas.openxmlformats.org/officeDocument/2006/relationships" id="270" r:id="R0d27c4f3cbbf437f"/>
    <p:sldId xmlns:r="http://schemas.openxmlformats.org/officeDocument/2006/relationships" id="271" r:id="R48d5c0f94f424936"/>
    <p:sldId xmlns:r="http://schemas.openxmlformats.org/officeDocument/2006/relationships" id="272" r:id="Racb284bc5c5a49e5"/>
    <p:sldId xmlns:r="http://schemas.openxmlformats.org/officeDocument/2006/relationships" id="273" r:id="R0dbc5de4b4bd4a99"/>
    <p:sldId xmlns:r="http://schemas.openxmlformats.org/officeDocument/2006/relationships" id="274" r:id="R190376d64d0e4bb0"/>
    <p:sldId xmlns:r="http://schemas.openxmlformats.org/officeDocument/2006/relationships" id="275" r:id="R04da1ce11e4047d7"/>
    <p:sldId xmlns:r="http://schemas.openxmlformats.org/officeDocument/2006/relationships" id="276" r:id="R5a4d8918d1af42b9"/>
    <p:sldId xmlns:r="http://schemas.openxmlformats.org/officeDocument/2006/relationships" id="277" r:id="R8a79e9a0af084054"/>
    <p:sldId xmlns:r="http://schemas.openxmlformats.org/officeDocument/2006/relationships" id="278" r:id="R47c1a2c3fa66448f"/>
    <p:sldId xmlns:r="http://schemas.openxmlformats.org/officeDocument/2006/relationships" id="279" r:id="Rfe30d01a6b4f42a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aec9a46964825" /><Relationship Type="http://schemas.openxmlformats.org/officeDocument/2006/relationships/slideMaster" Target="/ppt/slideMasters/slideMaster1.xml" Id="Rb7cdc774bc7943c0" /><Relationship Type="http://schemas.openxmlformats.org/officeDocument/2006/relationships/notesMaster" Target="/ppt/notesMasters/notesMaster1.xml" Id="R225476e513b54d77" /><Relationship Type="http://schemas.openxmlformats.org/officeDocument/2006/relationships/presProps" Target="/ppt/presProps.xml" Id="R0f5b7b2dfd054044" /><Relationship Type="http://schemas.openxmlformats.org/officeDocument/2006/relationships/tableStyles" Target="/ppt/tableStyles.xml" Id="Ra046fc5eaa6b406f" /><Relationship Type="http://schemas.openxmlformats.org/officeDocument/2006/relationships/slide" Target="/ppt/slides/slide1.xml" Id="Rf1636e1ccbe84dbc" /><Relationship Type="http://schemas.openxmlformats.org/officeDocument/2006/relationships/slide" Target="/ppt/slides/slide2.xml" Id="Re85d05ea407b414f" /><Relationship Type="http://schemas.openxmlformats.org/officeDocument/2006/relationships/slide" Target="/ppt/slides/slide3.xml" Id="Rb49cc836296b4f8b" /><Relationship Type="http://schemas.openxmlformats.org/officeDocument/2006/relationships/slide" Target="/ppt/slides/slide4.xml" Id="R4d6199a395d1455b" /><Relationship Type="http://schemas.openxmlformats.org/officeDocument/2006/relationships/slide" Target="/ppt/slides/slide5.xml" Id="R05fc328f320d45d5" /><Relationship Type="http://schemas.openxmlformats.org/officeDocument/2006/relationships/slide" Target="/ppt/slides/slide6.xml" Id="Rf037a86a3beb4a93" /><Relationship Type="http://schemas.openxmlformats.org/officeDocument/2006/relationships/slide" Target="/ppt/slides/slide7.xml" Id="R1d1be580df7d4170" /><Relationship Type="http://schemas.openxmlformats.org/officeDocument/2006/relationships/slide" Target="/ppt/slides/slide8.xml" Id="R1b0b708658c54dce" /><Relationship Type="http://schemas.openxmlformats.org/officeDocument/2006/relationships/slide" Target="/ppt/slides/slide9.xml" Id="Rd6fe12dbe0d147b6" /><Relationship Type="http://schemas.openxmlformats.org/officeDocument/2006/relationships/slide" Target="/ppt/slides/slide10.xml" Id="R0d19fc9249224185" /><Relationship Type="http://schemas.openxmlformats.org/officeDocument/2006/relationships/slide" Target="/ppt/slides/slide11.xml" Id="Rc727fb4b5b574eff" /><Relationship Type="http://schemas.openxmlformats.org/officeDocument/2006/relationships/slide" Target="/ppt/slides/slide12.xml" Id="Rc6353275e3ff4799" /><Relationship Type="http://schemas.openxmlformats.org/officeDocument/2006/relationships/slide" Target="/ppt/slides/slide13.xml" Id="Rec9c98d1f671437b" /><Relationship Type="http://schemas.openxmlformats.org/officeDocument/2006/relationships/slide" Target="/ppt/slides/slide14.xml" Id="Rb9a99b02515341a5" /><Relationship Type="http://schemas.openxmlformats.org/officeDocument/2006/relationships/slide" Target="/ppt/slides/slide15.xml" Id="R0d27c4f3cbbf437f" /><Relationship Type="http://schemas.openxmlformats.org/officeDocument/2006/relationships/slide" Target="/ppt/slides/slide16.xml" Id="R48d5c0f94f424936" /><Relationship Type="http://schemas.openxmlformats.org/officeDocument/2006/relationships/slide" Target="/ppt/slides/slide17.xml" Id="Racb284bc5c5a49e5" /><Relationship Type="http://schemas.openxmlformats.org/officeDocument/2006/relationships/slide" Target="/ppt/slides/slide18.xml" Id="R0dbc5de4b4bd4a99" /><Relationship Type="http://schemas.openxmlformats.org/officeDocument/2006/relationships/slide" Target="/ppt/slides/slide19.xml" Id="R190376d64d0e4bb0" /><Relationship Type="http://schemas.openxmlformats.org/officeDocument/2006/relationships/slide" Target="/ppt/slides/slide20.xml" Id="R04da1ce11e4047d7" /><Relationship Type="http://schemas.openxmlformats.org/officeDocument/2006/relationships/slide" Target="/ppt/slides/slide21.xml" Id="R5a4d8918d1af42b9" /><Relationship Type="http://schemas.openxmlformats.org/officeDocument/2006/relationships/slide" Target="/ppt/slides/slide22.xml" Id="R8a79e9a0af084054" /><Relationship Type="http://schemas.openxmlformats.org/officeDocument/2006/relationships/slide" Target="/ppt/slides/slide23.xml" Id="R47c1a2c3fa66448f" /><Relationship Type="http://schemas.openxmlformats.org/officeDocument/2006/relationships/slide" Target="/ppt/slides/slide24.xml" Id="Rfe30d01a6b4f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9667b320243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c425ab4ae4ba3" /><Relationship Type="http://schemas.openxmlformats.org/officeDocument/2006/relationships/notesMaster" Target="/ppt/notesMasters/notesMaster1.xml" Id="Rde6532ec8956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de90b7f0843a9" /><Relationship Type="http://schemas.openxmlformats.org/officeDocument/2006/relationships/notesMaster" Target="/ppt/notesMasters/notesMaster1.xml" Id="Racfbfdd1a3be4d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361a5e66e64f4d" /><Relationship Type="http://schemas.openxmlformats.org/officeDocument/2006/relationships/notesMaster" Target="/ppt/notesMasters/notesMaster1.xml" Id="R5bf673bdc1cf4a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d6363b51340a0" /><Relationship Type="http://schemas.openxmlformats.org/officeDocument/2006/relationships/notesMaster" Target="/ppt/notesMasters/notesMaster1.xml" Id="Re21cf9ba644b41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4da2dab3844f3c" /><Relationship Type="http://schemas.openxmlformats.org/officeDocument/2006/relationships/notesMaster" Target="/ppt/notesMasters/notesMaster1.xml" Id="Rdb380b72080148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e2e78c09f4896" /><Relationship Type="http://schemas.openxmlformats.org/officeDocument/2006/relationships/notesMaster" Target="/ppt/notesMasters/notesMaster1.xml" Id="R22901e7a3d304f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3e9731f3c4c19" /><Relationship Type="http://schemas.openxmlformats.org/officeDocument/2006/relationships/notesMaster" Target="/ppt/notesMasters/notesMaster1.xml" Id="R83a976a88d344c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c086aa8f848e9" /><Relationship Type="http://schemas.openxmlformats.org/officeDocument/2006/relationships/notesMaster" Target="/ppt/notesMasters/notesMaster1.xml" Id="R67c5eda68724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e18c6fbf22468b" /><Relationship Type="http://schemas.openxmlformats.org/officeDocument/2006/relationships/notesMaster" Target="/ppt/notesMasters/notesMaster1.xml" Id="Reda832b357a549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8fd4be01d54877" /><Relationship Type="http://schemas.openxmlformats.org/officeDocument/2006/relationships/notesMaster" Target="/ppt/notesMasters/notesMaster1.xml" Id="R715c359f9b4b4e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572554a0184849" /><Relationship Type="http://schemas.openxmlformats.org/officeDocument/2006/relationships/notesMaster" Target="/ppt/notesMasters/notesMaster1.xml" Id="Ra941d79d65dd42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c93a65296e4201" /><Relationship Type="http://schemas.openxmlformats.org/officeDocument/2006/relationships/notesMaster" Target="/ppt/notesMasters/notesMaster1.xml" Id="R398b0d32599f4d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53aea7b09644c9" /><Relationship Type="http://schemas.openxmlformats.org/officeDocument/2006/relationships/notesMaster" Target="/ppt/notesMasters/notesMaster1.xml" Id="R3b6815b6452846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cf190ff6354ad4" /><Relationship Type="http://schemas.openxmlformats.org/officeDocument/2006/relationships/notesMaster" Target="/ppt/notesMasters/notesMaster1.xml" Id="R94b6c3c6990848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3051899a8a436e" /><Relationship Type="http://schemas.openxmlformats.org/officeDocument/2006/relationships/notesMaster" Target="/ppt/notesMasters/notesMaster1.xml" Id="Reb9062a8ed9b40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259c042f264aaf" /><Relationship Type="http://schemas.openxmlformats.org/officeDocument/2006/relationships/notesMaster" Target="/ppt/notesMasters/notesMaster1.xml" Id="R10fd4401677c40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474af859324a06" /><Relationship Type="http://schemas.openxmlformats.org/officeDocument/2006/relationships/notesMaster" Target="/ppt/notesMasters/notesMaster1.xml" Id="R8107d4e4c50445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e0f31dd6bd47a6" /><Relationship Type="http://schemas.openxmlformats.org/officeDocument/2006/relationships/notesMaster" Target="/ppt/notesMasters/notesMaster1.xml" Id="R47261321885a40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7cba68adfe42ee" /><Relationship Type="http://schemas.openxmlformats.org/officeDocument/2006/relationships/notesMaster" Target="/ppt/notesMasters/notesMaster1.xml" Id="R2dd4bc1e563b43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18c6eef32c4f71" /><Relationship Type="http://schemas.openxmlformats.org/officeDocument/2006/relationships/notesMaster" Target="/ppt/notesMasters/notesMaster1.xml" Id="R3dfcfac5b7334c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6ecdd8e0434453" /><Relationship Type="http://schemas.openxmlformats.org/officeDocument/2006/relationships/notesMaster" Target="/ppt/notesMasters/notesMaster1.xml" Id="Rff85dbf8f98a46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5ed8b73ffe4d01" /><Relationship Type="http://schemas.openxmlformats.org/officeDocument/2006/relationships/notesMaster" Target="/ppt/notesMasters/notesMaster1.xml" Id="Ra667f9b2a7d149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75bfed9fa5483e" /><Relationship Type="http://schemas.openxmlformats.org/officeDocument/2006/relationships/notesMaster" Target="/ppt/notesMasters/notesMaster1.xml" Id="Rff71bf479434403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9eec4a38f94ccd" /><Relationship Type="http://schemas.openxmlformats.org/officeDocument/2006/relationships/notesMaster" Target="/ppt/notesMasters/notesMaster1.xml" Id="R5c0db92d7a9d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000 — VISTA Agentic Visual Products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the technical introduction to VISTA's image uploader and analyser.</a:t>
            </a:r>
          </a:p>
          <a:p xmlns:a="http://schemas.openxmlformats.org/drawingml/2006/main">
            <a:r>
              <a:t>We will follow a shelf photo from the user's upload to a reviewable item report.</a:t>
            </a:r>
          </a:p>
          <a:p xmlns:a="http://schemas.openxmlformats.org/drawingml/2006/main">
            <a:r>
              <a:t>The story connects the user journey, the architecture, and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short business refresher on the next slide.</a:t>
            </a:r>
          </a:p>
          <a:p xmlns:a="http://schemas.openxmlformats.org/drawingml/2006/main">
            <a:r>
              <a:t>Then explain how the interface, server, storage, and AI work together.</a:t>
            </a:r>
          </a:p>
          <a:p xmlns:a="http://schemas.openxmlformats.org/drawingml/2006/main">
            <a:r>
              <a:t>Use the broader VISTA overview as background for the wider product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cover's three words—Capture, Analyse, Review—introduce the user journey.</a:t>
            </a:r>
          </a:p>
          <a:p xmlns:a="http://schemas.openxmlformats.org/drawingml/2006/main">
            <a:r>
              <a:t>They are a conceptual sequence; the component and API details follow later.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 — Business Context: Understand What Is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One-minute introduction</a:t>
            </a:r>
          </a:p>
          <a:p xmlns:a="http://schemas.openxmlformats.org/drawingml/2006/main">
            <a:r>
              <a:t>VISTA helps retail teams understand what is happening on store shelves.</a:t>
            </a:r>
          </a:p>
          <a:p xmlns:a="http://schemas.openxmlformats.org/drawingml/2006/main">
            <a:r>
              <a:t>They need to know which products are visible, how many facings each has,</a:t>
            </a:r>
          </a:p>
          <a:p xmlns:a="http://schemas.openxmlformats.org/drawingml/2006/main">
            <a:r>
              <a:t>and what changes between observations, to support inventory decisions,</a:t>
            </a:r>
          </a:p>
          <a:p xmlns:a="http://schemas.openxmlformats.org/drawingml/2006/main">
            <a:r>
              <a:t>brand presentation,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the two shelf photos: they make the business question concrete.</a:t>
            </a:r>
          </a:p>
          <a:p xmlns:a="http://schemas.openxmlformats.org/drawingml/2006/main">
            <a:r>
              <a:t>A person captures shelf evidence so it can be analysed and reviewed.</a:t>
            </a:r>
          </a:p>
          <a:p xmlns:a="http://schemas.openxmlformats.org/drawingml/2006/main">
            <a:r>
              <a:t>The aim is to reduce manual inspection effort while retaining the image</a:t>
            </a:r>
          </a:p>
          <a:p xmlns:a="http://schemas.openxmlformats.org/drawingml/2006/main">
            <a:r>
              <a:t>that lets someone check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we are about to explore handles one part of that bigger story.</a:t>
            </a:r>
          </a:p>
          <a:p xmlns:a="http://schemas.openxmlformats.org/drawingml/2006/main">
            <a:r>
              <a:t>A user uploads a shelf photo, the server coordinates AI analysis,</a:t>
            </a:r>
          </a:p>
          <a:p xmlns:a="http://schemas.openxmlformats.org/drawingml/2006/main">
            <a:r>
              <a:t>and the browser presents identified products and visible facing counts.</a:t>
            </a:r>
          </a:p>
          <a:p xmlns:a="http://schemas.openxmlformats.org/drawingml/2006/main">
            <a:r>
              <a:t>A facing is a visible product front, not the stock hidden behind it.</a:t>
            </a:r>
          </a:p>
          <a:p xmlns:a="http://schemas.openxmlformats.org/drawingml/2006/main">
            <a:r>
              <a:t>The observations can be uncertain and need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user journey in mind as we move into the architecture:</a:t>
            </a:r>
          </a:p>
          <a:p xmlns:a="http://schemas.openxmlformats.org/drawingml/2006/main">
            <a:r>
              <a:t>photo in, reviewable item report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context and scope</a:t>
            </a:r>
          </a:p>
          <a:p xmlns:a="http://schemas.openxmlformats.org/drawingml/2006/main">
            <a:r>
              <a:t>The broader introduction is the [VISTA LinkedIn overview](../../VISTA-Linkedin-Overview-Presentation.pdf).</a:t>
            </a:r>
          </a:p>
          <a:p xmlns:a="http://schemas.openxmlformats.org/drawingml/2006/main">
            <a:r>
              <a:t>This technical guide assumes that background; this slide is a brief refresher.</a:t>
            </a:r>
          </a:p>
          <a:p xmlns:a="http://schemas.openxmlformats.org/drawingml/2006/main">
            <a:r>
              <a:t>Selected visual: PDF page 2, “Teams need to understand what is happening across stores”.</a:t>
            </a:r>
          </a:p>
          <a:p xmlns:a="http://schemas.openxmlformats.org/drawingml/2006/main">
            <a:r>
              <a:t>It uses original field examples and connects the images to the business questions.</a:t>
            </a:r>
          </a:p>
          <a:p xmlns:a="http://schemas.openxmlformats.org/drawingml/2006/main">
            <a:r>
              <a:t>Comparisons across visits describe the wider business intent, not a claim that</a:t>
            </a:r>
          </a:p>
          <a:p xmlns:a="http://schemas.openxmlformats.org/drawingml/2006/main">
            <a:r>
              <a:t>this uploader module already performs automatic 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Point to the before-and-after photos, then the three questions on the right.</a:t>
            </a:r>
          </a:p>
          <a:p xmlns:a="http://schemas.openxmlformats.org/drawingml/2006/main">
            <a:r>
              <a:t>Close with the need for readable shelf images and move to slide 01's architecture.</a:t>
            </a:r>
          </a:p>
          <a:p xmlns:a="http://schemas.openxmlformats.org/drawingml/2006/main">
            <a:r>
              <a:t>The visual retains its original PDF footer number, 02; this guide numbers it 00.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005 - AI Shop Through the 12-Step SDLC2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has two connected purposes.</a:t>
            </a:r>
          </a:p>
          <a:p xmlns:a="http://schemas.openxmlformats.org/drawingml/2006/main">
            <a:r>
              <a:t>It is a real application for analysing shelf images and producing item reports.</a:t>
            </a:r>
          </a:p>
          <a:p xmlns:a="http://schemas.openxmlformats.org/drawingml/2006/main">
            <a:r>
              <a:t>It is also a case study showing how SDLC2 evaluates and develops an AI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introduces the twelve steps lightly.</a:t>
            </a:r>
          </a:p>
          <a:p xmlns:a="http://schemas.openxmlformats.org/drawingml/2006/main">
            <a:r>
              <a:t>The remainder of the presentation uses concrete AI Shop evidence to examine them.</a:t>
            </a:r>
          </a:p>
          <a:p xmlns:a="http://schemas.openxmlformats.org/drawingml/2006/main">
            <a:r>
              <a:t>The steps form a lifecycle, but learning can send the team back to an earlier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Understand</a:t>
            </a:r>
          </a:p>
          <a:p xmlns:a="http://schemas.openxmlformats.org/drawingml/2006/main">
            <a:r>
              <a:t>Business and Technical Context establishes the retail problem and technical environment.</a:t>
            </a:r>
          </a:p>
          <a:p xmlns:a="http://schemas.openxmlformats.org/drawingml/2006/main">
            <a:r>
              <a:t>Intent states the outcome the application should create for its users.</a:t>
            </a:r>
          </a:p>
          <a:p xmlns:a="http://schemas.openxmlformats.org/drawingml/2006/main">
            <a:r>
              <a:t>Use Cases and System Model identify the people, system boundaries, and important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Evaluate</a:t>
            </a:r>
          </a:p>
          <a:p xmlns:a="http://schemas.openxmlformats.org/drawingml/2006/main">
            <a:r>
              <a:t>Benchmarks and Test Strategy define how usefulness, accuracy, and reliability will be judged.</a:t>
            </a:r>
          </a:p>
          <a:p xmlns:a="http://schemas.openxmlformats.org/drawingml/2006/main">
            <a:r>
              <a:t>High-Level Architecture assigns responsibilities across the browser, server, storage, and AI.</a:t>
            </a:r>
          </a:p>
          <a:p xmlns:a="http://schemas.openxmlformats.org/drawingml/2006/main">
            <a:r>
              <a:t>The Working Proof of Concept tests whether that architecture can produce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Build</a:t>
            </a:r>
          </a:p>
          <a:p xmlns:a="http://schemas.openxmlformats.org/drawingml/2006/main">
            <a:r>
              <a:t>Planning turns the validated direction into small, reviewable increments.</a:t>
            </a:r>
          </a:p>
          <a:p xmlns:a="http://schemas.openxmlformats.org/drawingml/2006/main">
            <a:r>
              <a:t>Low-Level Design and Specifications define interfaces, records, states, and component behaviour.</a:t>
            </a:r>
          </a:p>
          <a:p xmlns:a="http://schemas.openxmlformats.org/drawingml/2006/main">
            <a:r>
              <a:t>Build, Code, and Test implements those decisions and checks each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Operate and Learn</a:t>
            </a:r>
          </a:p>
          <a:p xmlns:a="http://schemas.openxmlformats.org/drawingml/2006/main">
            <a:r>
              <a:t>Deployment, Infrastructure, and Operational Reality expose the system to real constraints.</a:t>
            </a:r>
          </a:p>
          <a:p xmlns:a="http://schemas.openxmlformats.org/drawingml/2006/main">
            <a:r>
              <a:t>Review, Human QA, and Release confirm that the result is useful and ready for its audience.</a:t>
            </a:r>
          </a:p>
          <a:p xmlns:a="http://schemas.openxmlformats.org/drawingml/2006/main">
            <a:r>
              <a:t>Observability and Learning turn runtime evidence, defects, and feedback into better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 to the technical story</a:t>
            </a:r>
          </a:p>
          <a:p xmlns:a="http://schemas.openxmlformats.org/drawingml/2006/main">
            <a:r>
              <a:t>The next slides move from the framework into the actual Items Vision implementation.</a:t>
            </a:r>
          </a:p>
          <a:p xmlns:a="http://schemas.openxmlformats.org/drawingml/2006/main">
            <a:r>
              <a:t>They follow a shelf photo from the browser to the server, storage, AI analysis, and report.</a:t>
            </a:r>
          </a:p>
          <a:p xmlns:a="http://schemas.openxmlformats.org/drawingml/2006/main">
            <a:r>
              <a:t>Later sections return to benchmarks, tests, deployment evidence, human review, and learning.</a:t>
            </a:r>
          </a:p>
          <a:p xmlns:a="http://schemas.openxmlformats.org/drawingml/2006/main">
            <a:r>
              <a:t>The purpose is not to claim that a diagram proves the architecture.</a:t>
            </a:r>
          </a:p>
          <a:p xmlns:a="http://schemas.openxmlformats.org/drawingml/2006/main">
            <a:r>
              <a:t>The purpose is to show how decisions and evidence accumulate across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one continuous horizontal lifecycle divided into four clearly labelled phases.</a:t>
            </a:r>
          </a:p>
          <a:p xmlns:a="http://schemas.openxmlformats.org/drawingml/2006/main">
            <a:r>
              <a:t>Place three numbered steps in each phase and retain the full step names.</a:t>
            </a:r>
          </a:p>
          <a:p xmlns:a="http://schemas.openxmlformats.org/drawingml/2006/main">
            <a:r>
              <a:t>Use a return path from step 12 toward the beginning to represent continued learning.</a:t>
            </a:r>
          </a:p>
          <a:p xmlns:a="http://schemas.openxmlformats.org/drawingml/2006/main">
            <a:r>
              <a:t>Keep the composition readable as an overview rather than a detailed process diagram.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01 — Intent: Items Vision — From Image to Item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VISTA Agentic Visual Products Recognition is the presentation title.</a:t>
            </a:r>
          </a:p>
          <a:p xmlns:a="http://schemas.openxmlformats.org/drawingml/2006/main">
            <a:r>
              <a:t>It explains AI Shop's image uploader and analyser implementation.</a:t>
            </a:r>
          </a:p>
          <a:p xmlns:a="http://schemas.openxmlformats.org/drawingml/2006/main">
            <a:r>
              <a:t>The intended outcome is simple: understand how a photo becomes an item report.</a:t>
            </a:r>
          </a:p>
          <a:p xmlns:a="http://schemas.openxmlformats.org/drawingml/2006/main">
            <a:r>
              <a:t>The audience should follow the story without needing to read source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endpoint: the server's front door</a:t>
            </a:r>
          </a:p>
          <a:p xmlns:a="http://schemas.openxmlformats.org/drawingml/2006/main">
            <a:r>
              <a:t>The API entry point is `/v1/agent/analyses`.</a:t>
            </a:r>
          </a:p>
          <a:p xmlns:a="http://schemas.openxmlformats.org/drawingml/2006/main">
            <a:r>
              <a:t>An endpoint is an address where the interface asks the server to do something.</a:t>
            </a:r>
          </a:p>
          <a:p xmlns:a="http://schemas.openxmlformats.org/drawingml/2006/main">
            <a:r>
              <a:t>`POST /v1/agent/analyses` uploads an image and creates its analysis record.</a:t>
            </a:r>
          </a:p>
          <a:p xmlns:a="http://schemas.openxmlformats.org/drawingml/2006/main">
            <a:r>
              <a:t>`POST /v1/agent/analyses/{id}/run` requests analysis of a saved image.</a:t>
            </a:r>
          </a:p>
          <a:p xmlns:a="http://schemas.openxmlformats.org/drawingml/2006/main">
            <a:r>
              <a:t>`GET /v1/agent/analyses/{id}` retrieves its recorded status and result.</a:t>
            </a:r>
          </a:p>
          <a:p xmlns:a="http://schemas.openxmlformats.org/drawingml/2006/main">
            <a:r>
              <a:t>Upload, analysis, and reading results have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user interface: what the person sees</a:t>
            </a:r>
          </a:p>
          <a:p xmlns:a="http://schemas.openxmlformats.org/drawingml/2006/main">
            <a:r>
              <a:t>The browser's Agent page lets an authorised user sign in and upload a JPEG photo.</a:t>
            </a:r>
          </a:p>
          <a:p xmlns:a="http://schemas.openxmlformats.org/drawingml/2006/main">
            <a:r>
              <a:t>It guides the user through uploading, waiting, and reading the result.</a:t>
            </a:r>
          </a:p>
          <a:p xmlns:a="http://schemas.openxmlformats.org/drawingml/2006/main">
            <a:r>
              <a:t>The report shows identified products and their visible facing counts.</a:t>
            </a:r>
          </a:p>
          <a:p xmlns:a="http://schemas.openxmlformats.org/drawingml/2006/main">
            <a:r>
              <a:t>A facing is a visible product front; it does not reveal stock hidden behind it.</a:t>
            </a:r>
          </a:p>
          <a:p xmlns:a="http://schemas.openxmlformats.org/drawingml/2006/main">
            <a:r>
              <a:t>The interface also offers retry or refinement where the record allows it.</a:t>
            </a:r>
          </a:p>
          <a:p xmlns:a="http://schemas.openxmlformats.org/drawingml/2006/main">
            <a:r>
              <a:t>The Agent uses visual evidence and learned product knowledge to identify and count visible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server side: where the work is coordinated</a:t>
            </a:r>
          </a:p>
          <a:p xmlns:a="http://schemas.openxmlformats.org/drawingml/2006/main">
            <a:r>
              <a:t>The server checks identity and permission before accepting a request.</a:t>
            </a:r>
          </a:p>
          <a:p xmlns:a="http://schemas.openxmlformats.org/drawingml/2006/main">
            <a:r>
              <a:t>Cloud Storage holds the source image; Firestore holds status and reports.</a:t>
            </a:r>
          </a:p>
          <a:p xmlns:a="http://schemas.openxmlformats.org/drawingml/2006/main">
            <a:r>
              <a:t>The server submits the image and analysis instructions to OpenAI.</a:t>
            </a:r>
          </a:p>
          <a:p xmlns:a="http://schemas.openxmlformats.org/drawingml/2006/main">
            <a:r>
              <a:t>The background implementation collects the result through server-side tasks.</a:t>
            </a:r>
          </a:p>
          <a:p xmlns:a="http://schemas.openxmlformats.org/drawingml/2006/main">
            <a:r>
              <a:t>The browser reads progress; it does not have to keep the AI request alive.</a:t>
            </a:r>
          </a:p>
          <a:p xmlns:a="http://schemas.openxmlformats.org/drawingml/2006/main">
            <a:r>
              <a:t>Success and failure are recorded so the user can see what happened.</a:t>
            </a:r>
          </a:p>
          <a:p xmlns:a="http://schemas.openxmlformats.org/drawingml/2006/main">
            <a:r>
              <a:t>Model observations remain subject to uncertainty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Presentation Agenda</a:t>
            </a:r>
          </a:p>
          <a:p xmlns:a="http://schemas.openxmlformats.org/drawingml/2006/main">
            <a:r>
              <a:t>The sections take inspiration from SDLC2 and follow the presentation's own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Context and Domain: the shelf-photo problem and why item recognition matters.</a:t>
            </a:r>
          </a:p>
          <a:p xmlns:a="http://schemas.openxmlformats.org/drawingml/2006/main">
            <a:r>
              <a:t>2. Intent: what the system should achieve and what the audience will understand.</a:t>
            </a:r>
          </a:p>
          <a:p xmlns:a="http://schemas.openxmlformats.org/drawingml/2006/main">
            <a:r>
              <a:t>3. System and Use Cases: follow one user's photo from upload to report.</a:t>
            </a:r>
          </a:p>
          <a:p xmlns:a="http://schemas.openxmlformats.org/drawingml/2006/main">
            <a:r>
              <a:t>4. Success Criteria: explain how we assess useful, accurate, and reliable results.</a:t>
            </a:r>
          </a:p>
          <a:p xmlns:a="http://schemas.openxmlformats.org/drawingml/2006/main">
            <a:r>
              <a:t>5. Visual Example: show the uploaded image, interface states, and resulting report.</a:t>
            </a:r>
          </a:p>
          <a:p xmlns:a="http://schemas.openxmlformats.org/drawingml/2006/main">
            <a:r>
              <a:t>6. Solution Architecture: map the interface, endpoints, storage, AI, and data flow.</a:t>
            </a:r>
          </a:p>
          <a:p xmlns:a="http://schemas.openxmlformats.org/drawingml/2006/main">
            <a:r>
              <a:t>7. Low-Level Design and Code: connect key requests and processing steps to code.</a:t>
            </a:r>
          </a:p>
          <a:p xmlns:a="http://schemas.openxmlformats.org/drawingml/2006/main">
            <a:r>
              <a:t>8. Operational Reality: show what is implemented, deployed, and verified in use.</a:t>
            </a:r>
          </a:p>
          <a:p xmlns:a="http://schemas.openxmlformats.org/drawingml/2006/main">
            <a:r>
              <a:t>9. Observability and Learning: explain diagnostics, failures, and lessons learned.</a:t>
            </a:r>
          </a:p>
          <a:p xmlns:a="http://schemas.openxmlformats.org/drawingml/2006/main">
            <a:r>
              <a:t>10. Future Steps: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Start with the user uploading a photo through the browser interface.</a:t>
            </a:r>
          </a:p>
          <a:p xmlns:a="http://schemas.openxmlformats.org/drawingml/2006/main">
            <a:r>
              <a:t>Follow the request to the server, which coordinates storage and AI analysis.</a:t>
            </a:r>
          </a:p>
          <a:p xmlns:a="http://schemas.openxmlformats.org/drawingml/2006/main">
            <a:r>
              <a:t>The server keeps the source image and analysis record, then saves the outcome.</a:t>
            </a:r>
          </a:p>
          <a:p xmlns:a="http://schemas.openxmlformats.org/drawingml/2006/main">
            <a:r>
              <a:t>Return to the browser, where the user reads status and the saved item report.</a:t>
            </a:r>
          </a:p>
          <a:p xmlns:a="http://schemas.openxmlformats.org/drawingml/2006/main">
            <a:r>
              <a:t>The diagram simplifies the flow; collection tasks and individual API calls come later.</a:t>
            </a:r>
          </a:p>
          <a:p xmlns:a="http://schemas.openxmlformats.org/drawingml/2006/main">
            <a:r>
              <a:t>The SVG is the editable visual source; the PNG is its presentation render.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02 - Main Use Cases and System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and VISTA are related iPhone-led product experiences.</a:t>
            </a:r>
          </a:p>
          <a:p xmlns:a="http://schemas.openxmlformats.org/drawingml/2006/main">
            <a:r>
              <a:t>They serve different people and decisions while sharing much of the server foundation.</a:t>
            </a:r>
          </a:p>
          <a:p xmlns:a="http://schemas.openxmlformats.org/drawingml/2006/main">
            <a:r>
              <a:t>This slide introduces those use cases before the presentation explains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1: AI Shop shopping experience</a:t>
            </a:r>
          </a:p>
          <a:p xmlns:a="http://schemas.openxmlformats.org/drawingml/2006/main">
            <a:r>
              <a:t>A shopper uses the AI Shop iPhone app while considering a product or shelf.</a:t>
            </a:r>
          </a:p>
          <a:p xmlns:a="http://schemas.openxmlformats.org/drawingml/2006/main">
            <a:r>
              <a:t>The phone captures visual evidence and can perform part of the image processing locally.</a:t>
            </a:r>
          </a:p>
          <a:p xmlns:a="http://schemas.openxmlformats.org/drawingml/2006/main">
            <a:r>
              <a:t>Server-side AI adds capabilities that are better protected, coordinated, or processed remotely.</a:t>
            </a:r>
          </a:p>
          <a:p xmlns:a="http://schemas.openxmlformats.org/drawingml/2006/main">
            <a:r>
              <a:t>The result helps the shopper make a better-informed purchasing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earlier AI Shop product path.</a:t>
            </a:r>
          </a:p>
          <a:p xmlns:a="http://schemas.openxmlformats.org/drawingml/2006/main">
            <a:r>
              <a:t>Its iPhone client and individual server endpoints remain relevant to the complete product intent.</a:t>
            </a:r>
          </a:p>
          <a:p xmlns:a="http://schemas.openxmlformats.org/drawingml/2006/main">
            <a:r>
              <a:t>Later slides should state which functions are implemented and which remain immature.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2: VISTA shelf inspection</a:t>
            </a:r>
          </a:p>
          <a:p xmlns:a="http://schemas.openxmlformats.org/drawingml/2006/main">
            <a:r>
              <a:t>A retail team uses VISTA to inspect products and presentation across store shelves.</a:t>
            </a:r>
          </a:p>
          <a:p xmlns:a="http://schemas.openxmlformats.org/drawingml/2006/main">
            <a:r>
              <a:t>The goal is to identify visible products, count facings, and retain evidence for review.</a:t>
            </a:r>
          </a:p>
          <a:p xmlns:a="http://schemas.openxmlformats.org/drawingml/2006/main">
            <a:r>
              <a:t>Today, a person can upload a shelf photograph or video manually through `agent.html`.</a:t>
            </a:r>
          </a:p>
          <a:p xmlns:a="http://schemas.openxmlformats.org/drawingml/2006/main">
            <a:r>
              <a:t>The web Agent provides the more robust current analysis and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intended destination is integration with the separate VISTA iPhone application.</a:t>
            </a:r>
          </a:p>
          <a:p xmlns:a="http://schemas.openxmlformats.org/drawingml/2006/main">
            <a:r>
              <a:t>That application would capture shelf evidence during an inspection and use the same server capabilities.</a:t>
            </a:r>
          </a:p>
          <a:p xmlns:a="http://schemas.openxmlformats.org/drawingml/2006/main">
            <a:r>
              <a:t>The presentation must label this integration as intended until end-to-end evidence confirms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system model</a:t>
            </a:r>
          </a:p>
          <a:p xmlns:a="http://schemas.openxmlformats.org/drawingml/2006/main">
            <a:r>
              <a:t>Both use cases need secure access, image intake, AI coordination, and result handling.</a:t>
            </a:r>
          </a:p>
          <a:p xmlns:a="http://schemas.openxmlformats.org/drawingml/2006/main">
            <a:r>
              <a:t>The server protects provider credentials and centralises reusable analysis behaviour.</a:t>
            </a:r>
          </a:p>
          <a:p xmlns:a="http://schemas.openxmlformats.org/drawingml/2006/main">
            <a:r>
              <a:t>Shared capabilities reduce duplicated implementation across AI Shop and VISTA.</a:t>
            </a:r>
          </a:p>
          <a:p xmlns:a="http://schemas.openxmlformats.org/drawingml/2006/main">
            <a:r>
              <a:t>The products can still use different prompts, records, interfaces, and decision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infrastructure does not make the two products identical.</a:t>
            </a:r>
          </a:p>
          <a:p xmlns:a="http://schemas.openxmlformats.org/drawingml/2006/main">
            <a:r>
              <a:t>AI Shop supports shopper decisions.</a:t>
            </a:r>
          </a:p>
          <a:p xmlns:a="http://schemas.openxmlformats.org/drawingml/2006/main">
            <a:r>
              <a:t>VISTA supports shelf and store inspection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</a:t>
            </a:r>
          </a:p>
          <a:p xmlns:a="http://schemas.openxmlformats.org/drawingml/2006/main">
            <a:r>
              <a:t>The next slides can follow each user path in more detail.</a:t>
            </a:r>
          </a:p>
          <a:p xmlns:a="http://schemas.openxmlformats.org/drawingml/2006/main">
            <a:r>
              <a:t>The Low-Level Design and Architecture section will focus on the web Vision Agent.</a:t>
            </a:r>
          </a:p>
          <a:p xmlns:a="http://schemas.openxmlformats.org/drawingml/2006/main">
            <a:r>
              <a:t>It will also show how the earlier endpoints and iPhone clients relate to the common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Place the shared vision service as one horizontal foundation.</a:t>
            </a:r>
          </a:p>
          <a:p xmlns:a="http://schemas.openxmlformats.org/drawingml/2006/main">
            <a:r>
              <a:t>Above it, show the AI Shop iPhone shopper path and the VISTA inspection path.</a:t>
            </a:r>
          </a:p>
          <a:p xmlns:a="http://schemas.openxmlformats.org/drawingml/2006/main">
            <a:r>
              <a:t>Within VISTA, distinguish the current manual web Agent from the intended iPhone integration.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03 - What AI Shop Must Improve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Benchmarks begin with the useful processes people already have.</a:t>
            </a:r>
          </a:p>
          <a:p xmlns:a="http://schemas.openxmlformats.org/drawingml/2006/main">
            <a:r>
              <a:t>An AI response alone does not establish that AI Shop improves those processes.</a:t>
            </a:r>
          </a:p>
          <a:p xmlns:a="http://schemas.openxmlformats.org/drawingml/2006/main">
            <a:r>
              <a:t>The repository documents three practical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shopping assistance</a:t>
            </a:r>
          </a:p>
          <a:p xmlns:a="http://schemas.openxmlformats.org/drawingml/2006/main">
            <a:r>
              <a:t>A shopper can already photograph a product and ask ChatGPT for advice.</a:t>
            </a:r>
          </a:p>
          <a:p xmlns:a="http://schemas.openxmlformats.org/drawingml/2006/main">
            <a:r>
              <a:t>That process can consider quality, price, preferences, and purchase context.</a:t>
            </a:r>
          </a:p>
          <a:p xmlns:a="http://schemas.openxmlformats.org/drawingml/2006/main">
            <a:r>
              <a:t>Its friction comes from moving between tools and repeatedly explaining the situation.</a:t>
            </a:r>
          </a:p>
          <a:p xmlns:a="http://schemas.openxmlformats.org/drawingml/2006/main">
            <a:r>
              <a:t>AI Shop should require fewer actions and reuse relevant shopping context.</a:t>
            </a:r>
          </a:p>
          <a:p xmlns:a="http://schemas.openxmlformats.org/drawingml/2006/main">
            <a:r>
              <a:t>The recommendation should become clear faster and with less reading or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Human product identification</a:t>
            </a:r>
          </a:p>
          <a:p xmlns:a="http://schemas.openxmlformats.org/drawingml/2006/main">
            <a:r>
              <a:t>A person can inspect labels, packaging, and surrounding context directly.</a:t>
            </a:r>
          </a:p>
          <a:p xmlns:a="http://schemas.openxmlformats.org/drawingml/2006/main">
            <a:r>
              <a:t>Human judgment needs no application, server, or network connection.</a:t>
            </a:r>
          </a:p>
          <a:p xmlns:a="http://schemas.openxmlformats.org/drawingml/2006/main">
            <a:r>
              <a:t>Dense scenes still take time and can hide small or obscured products.</a:t>
            </a:r>
          </a:p>
          <a:p xmlns:a="http://schemas.openxmlformats.org/drawingml/2006/main">
            <a:r>
              <a:t>AI Shop should organise visible products while declaring uncertain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shelf inspection and review</a:t>
            </a:r>
          </a:p>
          <a:p xmlns:a="http://schemas.openxmlformats.org/drawingml/2006/main">
            <a:r>
              <a:t>An inspector can photograph a shelf and record observations in notes or a spreadsheet.</a:t>
            </a:r>
          </a:p>
          <a:p xmlns:a="http://schemas.openxmlformats.org/drawingml/2006/main">
            <a:r>
              <a:t>A second person can compare those findings with the original photograph.</a:t>
            </a:r>
          </a:p>
          <a:p xmlns:a="http://schemas.openxmlformats.org/drawingml/2006/main">
            <a:r>
              <a:t>The manual process becomes difficult when evidence, findings, and corrections separate.</a:t>
            </a:r>
          </a:p>
          <a:p xmlns:a="http://schemas.openxmlformats.org/drawingml/2006/main">
            <a:r>
              <a:t>AI Shop should preserve one traceable relationship across those materials.</a:t>
            </a:r>
          </a:p>
          <a:p xmlns:a="http://schemas.openxmlformats.org/drawingml/2006/main">
            <a:r>
              <a:t>Reviewer identity, decisions, corrections, and timing should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Benchmark principle</a:t>
            </a:r>
          </a:p>
          <a:p xmlns:a="http://schemas.openxmlformats.org/drawingml/2006/main">
            <a:r>
              <a:t>The application should reduce manual effort without replacing human authority.</a:t>
            </a:r>
          </a:p>
          <a:p xmlns:a="http://schemas.openxmlformats.org/drawingml/2006/main">
            <a:r>
              <a:t>Each product use case needs its own comparison with the process it intends to improve.</a:t>
            </a:r>
          </a:p>
          <a:p xmlns:a="http://schemas.openxmlformats.org/drawingml/2006/main">
            <a:r>
              <a:t>AI Shop shopping support and VISTA inspection therefore share methods but not one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Evidence boundary</a:t>
            </a:r>
          </a:p>
          <a:p xmlns:a="http://schemas.openxmlformats.org/drawingml/2006/main">
            <a:r>
              <a:t>These documents define comparison standards rather than measured acceptance thresholds.</a:t>
            </a:r>
          </a:p>
          <a:p xmlns:a="http://schemas.openxmlformats.org/drawingml/2006/main">
            <a:r>
              <a:t>The presentation should not claim that AI Shop already beats every baseline.</a:t>
            </a:r>
          </a:p>
          <a:p xmlns:a="http://schemas.openxmlformats.org/drawingml/2006/main">
            <a:r>
              <a:t>Later slides will show current recognition evidence and the remaining verification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three existing human workflows feeding one evaluation question.</a:t>
            </a:r>
          </a:p>
          <a:p xmlns:a="http://schemas.openxmlformats.org/drawingml/2006/main">
            <a:r>
              <a:t>Make the outcome about reduced effort, preserved evidence, and human authority.</a:t>
            </a:r>
          </a:p>
          <a:p xmlns:a="http://schemas.openxmlformats.org/drawingml/2006/main">
            <a:r>
              <a:t>Avoid model names and implementation details on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031 - One Shelf, Three Different Readings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uses the actual dense pharmacy shelf and recorded analysis artifacts.</a:t>
            </a:r>
          </a:p>
          <a:p xmlns:a="http://schemas.openxmlformats.org/drawingml/2006/main">
            <a:r>
              <a:t>The concrete disagreement explains why benchmark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original evidence</a:t>
            </a:r>
          </a:p>
          <a:p xmlns:a="http://schemas.openxmlformats.org/drawingml/2006/main">
            <a:r>
              <a:t>All three readings use the same 1152 by 1536 shelf photograph.</a:t>
            </a:r>
          </a:p>
          <a:p xmlns:a="http://schemas.openxmlformats.org/drawingml/2006/main">
            <a:r>
              <a:t>It contains small labels, occlusion, stacked products, edge cropping, and a carton.</a:t>
            </a:r>
          </a:p>
          <a:p xmlns:a="http://schemas.openxmlformats.org/drawingml/2006/main">
            <a:r>
              <a:t>Those conditions make both identification and counting difficult.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1: provisional reference</a:t>
            </a:r>
          </a:p>
          <a:p xmlns:a="http://schemas.openxmlformats.org/drawingml/2006/main">
            <a:r>
              <a:t>The numbered overlay maps 42 product groups across four shelf regions.</a:t>
            </a:r>
          </a:p>
          <a:p xmlns:a="http://schemas.openxmlformats.org/drawingml/2006/main">
            <a:r>
              <a:t>Its associated GPT report counts 94 visible physical units.</a:t>
            </a:r>
          </a:p>
          <a:p xmlns:a="http://schemas.openxmlformats.org/drawingml/2006/main">
            <a:r>
              <a:t>This reference was obtained by hand from GPT and is not human-approved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2: Agent first run</a:t>
            </a:r>
          </a:p>
          <a:p xmlns:a="http://schemas.openxmlformats.org/drawingml/2006/main">
            <a:r>
              <a:t>The deployed Agent returned 23 product rows totalling 62 facings.</a:t>
            </a:r>
          </a:p>
          <a:p xmlns:a="http://schemas.openxmlformats.org/drawingml/2006/main">
            <a:r>
              <a:t>It also recorded three uncertain entries.</a:t>
            </a:r>
          </a:p>
          <a:p xmlns:a="http://schemas.openxmlformats.org/drawingml/2006/main">
            <a:r>
              <a:t>The run completed and produced a reviewable report, but benchmark parity was not demonstrated.</a:t>
            </a:r>
          </a:p>
          <a:p xmlns:a="http://schemas.openxmlformats.org/drawingml/2006/main">
            <a:r>
              <a:t>Some products were missed, grouped differently, or given an incorrect brand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3: independent visual review</a:t>
            </a:r>
          </a:p>
          <a:p xmlns:a="http://schemas.openxmlformats.org/drawingml/2006/main">
            <a:r>
              <a:t>A separate shelf-by-shelf reading estimated about 57 front facings.</a:t>
            </a:r>
          </a:p>
          <a:p xmlns:a="http://schemas.openxmlformats.org/drawingml/2006/main">
            <a:r>
              <a:t>It also identified 21 units stacked behind those fronts.</a:t>
            </a:r>
          </a:p>
          <a:p xmlns:a="http://schemas.openxmlformats.org/drawingml/2006/main">
            <a:r>
              <a:t>That reading remained a model-assisted opinion rather than verified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Why the totals disagree</a:t>
            </a:r>
          </a:p>
          <a:p xmlns:a="http://schemas.openxmlformats.org/drawingml/2006/main">
            <a:r>
              <a:t>The provisional reference counts visible physical units.</a:t>
            </a:r>
          </a:p>
          <a:p xmlns:a="http://schemas.openxmlformats.org/drawingml/2006/main">
            <a:r>
              <a:t>The Agent contract asks for front facings.</a:t>
            </a:r>
          </a:p>
          <a:p xmlns:a="http://schemas.openxmlformats.org/drawingml/2006/main">
            <a:r>
              <a:t>The independent reading reports both measures separately.</a:t>
            </a:r>
          </a:p>
          <a:p xmlns:a="http://schemas.openxmlformats.org/drawingml/2006/main">
            <a:r>
              <a:t>Product grouping and identity depth also differ across the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Dividing 62 by 94 would produce a misleading number, not an accuracy score.</a:t>
            </a:r>
          </a:p>
          <a:p xmlns:a="http://schemas.openxmlformats.org/drawingml/2006/main">
            <a:r>
              <a:t>The comparison must first fix the counting rule and required identification level.</a:t>
            </a:r>
          </a:p>
          <a:p xmlns:a="http://schemas.openxmlformats.org/drawingml/2006/main">
            <a:r>
              <a:t>A human reviewer must then validate the reference against the source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the actual photograph, numbered overlay, and Agent screenshot prominently.</a:t>
            </a:r>
          </a:p>
          <a:p xmlns:a="http://schemas.openxmlformats.org/drawingml/2006/main">
            <a:r>
              <a:t>Use the real totals as evidence, with a warning that they answer different questions.</a:t>
            </a:r>
          </a:p>
          <a:p xmlns:a="http://schemas.openxmlformats.org/drawingml/2006/main">
            <a:r>
              <a:t>Keep the conclusion simple: define and verify the reference before scoring the model.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032 - Vision Quality and System Reliability Need Different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can complete a request while producing a poor visual interpretation.</a:t>
            </a:r>
          </a:p>
          <a:p xmlns:a="http://schemas.openxmlformats.org/drawingml/2006/main">
            <a:r>
              <a:t>It can also identify products well while the surrounding application fails.</a:t>
            </a:r>
          </a:p>
          <a:p xmlns:a="http://schemas.openxmlformats.org/drawingml/2006/main">
            <a:r>
              <a:t>The test strategy therefore needs two connected but distinct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Vision-quality experiments</a:t>
            </a:r>
          </a:p>
          <a:p xmlns:a="http://schemas.openxmlformats.org/drawingml/2006/main">
            <a:r>
              <a:t>Start with the same original image and a human-verified reference inventory.</a:t>
            </a:r>
          </a:p>
          <a:p xmlns:a="http://schemas.openxmlformats.org/drawingml/2006/main">
            <a:r>
              <a:t>Freeze the counting contract, identity depth, prompt, output schema, and reference revision.</a:t>
            </a:r>
          </a:p>
          <a:p xmlns:a="http://schemas.openxmlformats.org/drawingml/2006/main">
            <a:r>
              <a:t>Change one factor at a time so the comparison can support a causal conclusion.</a:t>
            </a:r>
          </a:p>
          <a:p xmlns:a="http://schemas.openxmlformats.org/drawingml/2006/main">
            <a:r>
              <a:t>Possible factors include model, reasoning setting, context, image detail, and prompt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identification errors, missed products, incorrect counts, and invented products.</a:t>
            </a:r>
          </a:p>
          <a:p xmlns:a="http://schemas.openxmlformats.org/drawingml/2006/main">
            <a:r>
              <a:t>Score responsible uncertainty separately from confident incorrect identification.</a:t>
            </a:r>
          </a:p>
          <a:p xmlns:a="http://schemas.openxmlformats.org/drawingml/2006/main">
            <a:r>
              <a:t>Retain requested and returned model identifiers, usage, latency, cost, and retries.</a:t>
            </a:r>
          </a:p>
          <a:p xmlns:a="http://schemas.openxmlformats.org/drawingml/2006/main">
            <a:r>
              <a:t>Include human review time because cheap output can become expensive to correct.</a:t>
            </a:r>
          </a:p>
          <a:p xmlns:a="http://schemas.openxmlformats.org/drawingml/2006/main">
            <a:r>
              <a:t>Repeat promising settings and then test them on unseen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System-reliability tests</a:t>
            </a:r>
          </a:p>
          <a:p xmlns:a="http://schemas.openxmlformats.org/drawingml/2006/main">
            <a:r>
              <a:t>Verify authentication and the separation of each account's analyses.</a:t>
            </a:r>
          </a:p>
          <a:p xmlns:a="http://schemas.openxmlformats.org/drawingml/2006/main">
            <a:r>
              <a:t>Confirm that uploads preserve the original source evidence.</a:t>
            </a:r>
          </a:p>
          <a:p xmlns:a="http://schemas.openxmlformats.org/drawingml/2006/main">
            <a:r>
              <a:t>Exercise recorded progress, browser refresh, terminal states, and result retrieval.</a:t>
            </a:r>
          </a:p>
          <a:p xmlns:a="http://schemas.openxmlformats.org/drawingml/2006/main">
            <a:r>
              <a:t>Refinement and retry must create traceable runs without erasing earlier evidence.</a:t>
            </a:r>
          </a:p>
          <a:p xmlns:a="http://schemas.openxmlformats.org/drawingml/2006/main">
            <a:r>
              <a:t>Failures should retain safe diagnostic references without exposing private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Video adds its own requirements.</a:t>
            </a:r>
          </a:p>
          <a:p xmlns:a="http://schemas.openxmlformats.org/drawingml/2006/main">
            <a:r>
              <a:t>The system must handle upload interruption, frame extraction, analysis, and playback.</a:t>
            </a:r>
          </a:p>
          <a:p xmlns:a="http://schemas.openxmlformats.org/drawingml/2006/main">
            <a:r>
              <a:t>Sampled frames represent one continuous scan rather than independent photographs.</a:t>
            </a:r>
          </a:p>
          <a:p xmlns:a="http://schemas.openxmlformats.org/drawingml/2006/main">
            <a:r>
              <a:t>The result should retain frame provenance and avoid counting the same facing twice.</a:t>
            </a:r>
          </a:p>
          <a:p xmlns:a="http://schemas.openxmlformats.org/drawingml/2006/main">
            <a:r>
              <a:t>Refresh, task replay, and reconnection should not create duplicate analyses or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Release boundary</a:t>
            </a:r>
          </a:p>
          <a:p xmlns:a="http://schemas.openxmlformats.org/drawingml/2006/main">
            <a:r>
              <a:t>Automated tests, manual QA, and model-quality benchmarks answer different questions.</a:t>
            </a:r>
          </a:p>
          <a:p xmlns:a="http://schemas.openxmlformats.org/drawingml/2006/main">
            <a:r>
              <a:t>No single green check proves visual accuracy, deployment, or human acceptance.</a:t>
            </a:r>
          </a:p>
          <a:p xmlns:a="http://schemas.openxmlformats.org/drawingml/2006/main">
            <a:r>
              <a:t>A release decision needs evidence from both quality and reliability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two test rails running in parallel toward one evidence-based release decision.</a:t>
            </a:r>
          </a:p>
          <a:p xmlns:a="http://schemas.openxmlformats.org/drawingml/2006/main">
            <a:r>
              <a:t>Use distinct colours for visual interpretation and application reliability.</a:t>
            </a:r>
          </a:p>
          <a:p xmlns:a="http://schemas.openxmlformats.org/drawingml/2006/main">
            <a:r>
              <a:t>Join the rails only at the final decision gate.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04 - Shared Vision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first architecture map after the benchmark and test-strategy section.</a:t>
            </a:r>
          </a:p>
          <a:p xmlns:a="http://schemas.openxmlformats.org/drawingml/2006/main">
            <a:r>
              <a:t>Keep it at system level. Endpoint contracts and worker internals come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Three entry paths</a:t>
            </a:r>
          </a:p>
          <a:p xmlns:a="http://schemas.openxmlformats.org/drawingml/2006/main">
            <a:r>
              <a:t>AI Shop iPhone supports a shopper looking at a product or shelf.</a:t>
            </a:r>
          </a:p>
          <a:p xmlns:a="http://schemas.openxmlformats.org/drawingml/2006/main">
            <a:r>
              <a:t>Its earlier path can process an image on the phone and request server-side AI.</a:t>
            </a:r>
          </a:p>
          <a:p xmlns:a="http://schemas.openxmlformats.org/drawingml/2006/main">
            <a:r>
              <a:t>The phone does not hold the provider credential.</a:t>
            </a:r>
          </a:p>
          <a:p xmlns:a="http://schemas.openxmlformats.org/drawingml/2006/main">
            <a:r>
              <a:t>This path has its own interface and shopping-oriented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web Vision Agent is the more robust current manual shelf-analysis entry.</a:t>
            </a:r>
          </a:p>
          <a:p xmlns:a="http://schemas.openxmlformats.org/drawingml/2006/main">
            <a:r>
              <a:t>An authorised person uploads a photograph or video through `agent.html`.</a:t>
            </a:r>
          </a:p>
          <a:p xmlns:a="http://schemas.openxmlformats.org/drawingml/2006/main">
            <a:r>
              <a:t>The page shows progress and a saved report of products, visible facings, and uncertainty.</a:t>
            </a:r>
          </a:p>
          <a:p xmlns:a="http://schemas.openxmlformats.org/drawingml/2006/main">
            <a:r>
              <a:t>The screenshot on this slide is a recorded QA fixture, not a live acceptance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separate VISTA iPhone app is intended to capture inspection evidence in stores.</a:t>
            </a:r>
          </a:p>
          <a:p xmlns:a="http://schemas.openxmlformats.org/drawingml/2006/main">
            <a:r>
              <a:t>The shelf photograph illustrates the inspection input, not a completed iPhone integration.</a:t>
            </a:r>
          </a:p>
          <a:p xmlns:a="http://schemas.openxmlformats.org/drawingml/2006/main">
            <a:r>
              <a:t>Do not imply a proven end-to-end VISTA-to-Agent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foundation</a:t>
            </a:r>
          </a:p>
          <a:p xmlns:a="http://schemas.openxmlformats.org/drawingml/2006/main">
            <a:r>
              <a:t>The reusable server responsibilities are secure intake, evidence handling,</a:t>
            </a:r>
          </a:p>
          <a:p xmlns:a="http://schemas.openxmlformats.org/drawingml/2006/main">
            <a:r>
              <a:t>AI coordination, recorded status, and report retrieval.</a:t>
            </a:r>
          </a:p>
          <a:p xmlns:a="http://schemas.openxmlformats.org/drawingml/2006/main">
            <a:r>
              <a:t>The server verifies access and keeps provider credentials away from clients.</a:t>
            </a:r>
          </a:p>
          <a:p xmlns:a="http://schemas.openxmlformats.org/drawingml/2006/main">
            <a:r>
              <a:t>For the Agent, source media is private and Firestore stores analysis state and results.</a:t>
            </a:r>
          </a:p>
          <a:p xmlns:a="http://schemas.openxmlformats.org/drawingml/2006/main">
            <a:r>
              <a:t>Video analysis prepares representative frames and treats them as one shelf scan.</a:t>
            </a:r>
          </a:p>
          <a:p xmlns:a="http://schemas.openxmlformats.org/drawingml/2006/main">
            <a:r>
              <a:t>Background tasks and provider collection can continue after the page refreshes.</a:t>
            </a:r>
          </a:p>
          <a:p xmlns:a="http://schemas.openxmlformats.org/drawingml/2006/main">
            <a:r>
              <a:t>The web page reads that durable server state rather than owning the long-running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older iPhone route and the newer Agent route do not have to share one URL,</a:t>
            </a:r>
          </a:p>
          <a:p xmlns:a="http://schemas.openxmlformats.org/drawingml/2006/main">
            <a:r>
              <a:t>payload contract, prompt, or record type to share architectural capabilities.</a:t>
            </a:r>
          </a:p>
          <a:p xmlns:a="http://schemas.openxmlformats.org/drawingml/2006/main">
            <a:r>
              <a:t>AI Shop aims at a shopping decision. VISTA aims at inspectable shelf evidence.</a:t>
            </a:r>
          </a:p>
          <a:p xmlns:a="http://schemas.openxmlformats.org/drawingml/2006/main">
            <a:r>
              <a:t>Human review remains important because image recognition and counts can be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What the diagram means</a:t>
            </a:r>
          </a:p>
          <a:p xmlns:a="http://schemas.openxmlformats.org/drawingml/2006/main">
            <a:r>
              <a:t>Solid connectors mark paths described by current project evidence.</a:t>
            </a:r>
          </a:p>
          <a:p xmlns:a="http://schemas.openxmlformats.org/drawingml/2006/main">
            <a:r>
              <a:t>The dashed VISTA connector marks intended integration.</a:t>
            </a:r>
          </a:p>
          <a:p xmlns:a="http://schemas.openxmlformats.org/drawingml/2006/main">
            <a:r>
              <a:t>The lower rail is a responsibility map, not a literal request trace.</a:t>
            </a:r>
          </a:p>
          <a:p xmlns:a="http://schemas.openxmlformats.org/drawingml/2006/main">
            <a:r>
              <a:t>It does not claim that every path already uses every Agent-specific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 anchors</a:t>
            </a:r>
          </a:p>
          <a:p xmlns:a="http://schemas.openxmlformats.org/drawingml/2006/main">
            <a:r>
              <a:t>- `01-docs/06-solution-design-and-architecture/high-level-architecture.md`</a:t>
            </a:r>
          </a:p>
          <a:p xmlns:a="http://schemas.openxmlformats.org/drawingml/2006/main">
            <a:r>
              <a:t>- `01-docs/06-solution-design-and-architecture/components/component-architecture.md`</a:t>
            </a:r>
          </a:p>
          <a:p xmlns:a="http://schemas.openxmlformats.org/drawingml/2006/main">
            <a:r>
              <a:t>- `01-docs/guides/vision-agent-api/01-architecture.md`</a:t>
            </a:r>
          </a:p>
          <a:p xmlns:a="http://schemas.openxmlformats.org/drawingml/2006/main">
            <a:r>
              <a:t>- `01-docs/guides/vision-agent-api/12-architecture-implementation.md`</a:t>
            </a:r>
          </a:p>
          <a:p xmlns:a="http://schemas.openxmlformats.org/drawingml/2006/main">
            <a:r>
              <a:t>- `01-docs/guides/items-vision/02-user-journey/02-notes.md`</a:t>
            </a:r>
          </a:p>
          <a:p xmlns:a="http://schemas.openxmlformats.org/drawingml/2006/main">
            <a:r>
              <a:t>- `01-docs/09-build-and-test/sprint-009-browser-evidence/sprint009-agent-1440.png`</a:t>
            </a:r>
          </a:p>
          <a:p xmlns:a="http://schemas.openxmlformats.org/drawingml/2006/main">
            <a:r>
              <a:t>- `01-docs/TesstData/WhatsApp Image 2026-09-06 at 14.41.26.jpeg`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08 - Vision Agent API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opens the Low-Level Design and Architecture section.</a:t>
            </a:r>
          </a:p>
          <a:p xmlns:a="http://schemas.openxmlformats.org/drawingml/2006/main">
            <a:r>
              <a:t>It describes the newer web Vision Agent's public contract, not every AI Shop API.</a:t>
            </a:r>
          </a:p>
          <a:p xmlns:a="http://schemas.openxmlformats.org/drawingml/2006/main">
            <a:r>
              <a:t>The earlier AI Shop iPhone endpoint and VISTA package-ingest route are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Access and identity</a:t>
            </a:r>
          </a:p>
          <a:p xmlns:a="http://schemas.openxmlformats.org/drawingml/2006/main">
            <a:r>
              <a:t>The application supplies a Firebase ID token on Agent requests.</a:t>
            </a:r>
          </a:p>
          <a:p xmlns:a="http://schemas.openxmlformats.org/drawingml/2006/main">
            <a:r>
              <a:t>The server requires the literal `agent: true` custom claim.</a:t>
            </a:r>
          </a:p>
          <a:p xmlns:a="http://schemas.openxmlformats.org/drawingml/2006/main">
            <a:r>
              <a:t>It verifies the token and hashes the UID to derive an owner key.</a:t>
            </a:r>
          </a:p>
          <a:p xmlns:a="http://schemas.openxmlformats.org/drawingml/2006/main">
            <a:r>
              <a:t>The caller cannot supply another owner's key for Agent operations.</a:t>
            </a:r>
          </a:p>
          <a:p xmlns:a="http://schemas.openxmlformats.org/drawingml/2006/main">
            <a:r>
              <a:t>Admin cross-user reads require the independent `admin: true` claim.</a:t>
            </a:r>
          </a:p>
          <a:p xmlns:a="http://schemas.openxmlformats.org/drawingml/2006/main">
            <a:r>
              <a:t>Neither app client holds the OpenAI credential or Firebase Admin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Photograph contract</a:t>
            </a:r>
          </a:p>
          <a:p xmlns:a="http://schemas.openxmlformats.org/drawingml/2006/main">
            <a:r>
              <a:t>`POST /v1/agent/analyses` receives multipart form data containing one JPEG field `file`.</a:t>
            </a:r>
          </a:p>
          <a:p xmlns:a="http://schemas.openxmlformats.org/drawingml/2006/main">
            <a:r>
              <a:t>It creates an uploaded analysis record, returning its analysis ID.</a:t>
            </a:r>
          </a:p>
          <a:p xmlns:a="http://schemas.openxmlformats.org/drawingml/2006/main">
            <a:r>
              <a:t>An optional `run=true` form field can initiate the first analysis after upload.</a:t>
            </a:r>
          </a:p>
          <a:p xmlns:a="http://schemas.openxmlformats.org/drawingml/2006/main">
            <a:r>
              <a:t>Alternatively, the client calls `POST /v1/agent/analyses/{id}/run`.</a:t>
            </a:r>
          </a:p>
          <a:p xmlns:a="http://schemas.openxmlformats.org/drawingml/2006/main">
            <a:r>
              <a:t>Refining an analyzed photograph requires a meaningful context note.</a:t>
            </a:r>
          </a:p>
          <a:p xmlns:a="http://schemas.openxmlformats.org/drawingml/2006/main">
            <a:r>
              <a:t>The initial run and refinement return a current record, not necessarily a final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Video contract</a:t>
            </a:r>
          </a:p>
          <a:p xmlns:a="http://schemas.openxmlformats.org/drawingml/2006/main">
            <a:r>
              <a:t>`POST /v1/agent/video-uploads` reserves a record using filename, media type,</a:t>
            </a:r>
          </a:p>
          <a:p xmlns:a="http://schemas.openxmlformats.org/drawingml/2006/main">
            <a:r>
              <a:t>byte length, and the allowed browser Origin.</a:t>
            </a:r>
          </a:p>
          <a:p xmlns:a="http://schemas.openxmlformats.org/drawingml/2006/main">
            <a:r>
              <a:t>Its response includes a temporary Storage session URI.</a:t>
            </a:r>
          </a:p>
          <a:p xmlns:a="http://schemas.openxmlformats.org/drawingml/2006/main">
            <a:r>
              <a:t>The client uploads bytes directly to that URI without the Firebase bearer token.</a:t>
            </a:r>
          </a:p>
          <a:p xmlns:a="http://schemas.openxmlformats.org/drawingml/2006/main">
            <a:r>
              <a:t>The URI itself grants upload capability and must not be logged or shared.</a:t>
            </a:r>
          </a:p>
          <a:p xmlns:a="http://schemas.openxmlformats.org/drawingml/2006/main">
            <a:r>
              <a:t>A 308 Storage response means resumable progress, not a redirect.</a:t>
            </a:r>
          </a:p>
          <a:p xmlns:a="http://schemas.openxmlformats.org/drawingml/2006/main">
            <a:r>
              <a:t>After Storage confirms completion, `POST /{id}/complete` verifies the object</a:t>
            </a:r>
          </a:p>
          <a:p xmlns:a="http://schemas.openxmlformats.org/drawingml/2006/main">
            <a:r>
              <a:t>and begins server-side processing. A processing response is not an AI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and errors</a:t>
            </a:r>
          </a:p>
          <a:p xmlns:a="http://schemas.openxmlformats.org/drawingml/2006/main">
            <a:r>
              <a:t>`GET /v1/agent/analyses/{id}` returns the durable status and eventual report.</a:t>
            </a:r>
          </a:p>
          <a:p xmlns:a="http://schemas.openxmlformats.org/drawingml/2006/main">
            <a:r>
              <a:t>The same ID links source evidence, runs, diagnostics and saved findings.</a:t>
            </a:r>
          </a:p>
          <a:p xmlns:a="http://schemas.openxmlformats.org/drawingml/2006/main">
            <a:r>
              <a:t>GET calls observe work; they do not start model processing.</a:t>
            </a:r>
          </a:p>
          <a:p xmlns:a="http://schemas.openxmlformats.org/drawingml/2006/main">
            <a:r>
              <a:t>The Agent list is owner-scoped; the Admin list is cross-user and paginated.</a:t>
            </a:r>
          </a:p>
          <a:p xmlns:a="http://schemas.openxmlformats.org/drawingml/2006/main">
            <a:r>
              <a:t>The source route is intended to return original bytes, but the September 15</a:t>
            </a:r>
          </a:p>
          <a:p xmlns:a="http://schemas.openxmlformats.org/drawingml/2006/main">
            <a:r>
              <a:t>video test returned HTTP 500 with an empty body. Do not claim playback works.</a:t>
            </a:r>
          </a:p>
          <a:p xmlns:a="http://schemas.openxmlformats.org/drawingml/2006/main">
            <a:r>
              <a:t>API errors normally include code, message, retryable and requestId.</a:t>
            </a:r>
          </a:p>
          <a:p xmlns:a="http://schemas.openxmlformats.org/drawingml/2006/main">
            <a:r>
              <a:t>HTTP 200 on a mutable route still requires inspection of its outcome and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`01-docs/guides/vision-agent-api/02-endpoints.md`</a:t>
            </a:r>
          </a:p>
          <a:p xmlns:a="http://schemas.openxmlformats.org/drawingml/2006/main">
            <a:r>
              <a:t>- `01-docs/guides/vision-agent-api/03-authentication.md`</a:t>
            </a:r>
          </a:p>
          <a:p xmlns:a="http://schemas.openxmlformats.org/drawingml/2006/main">
            <a:r>
              <a:t>- `01-docs/guides/vision-agent-api/07-images-and-runs.md`</a:t>
            </a:r>
          </a:p>
          <a:p xmlns:a="http://schemas.openxmlformats.org/drawingml/2006/main">
            <a:r>
              <a:t>- `01-docs/guides/vision-agent-api/developer-guide.md` (draft, September 15 tests)</a:t>
            </a:r>
          </a:p>
          <a:p xmlns:a="http://schemas.openxmlformats.org/drawingml/2006/main">
            <a:r>
              <a:t>- `server/src/agent-api-handler.js`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081 - Vision Agent Video Processing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follows the public route map into the server's asynchronous implementation.</a:t>
            </a:r>
          </a:p>
          <a:p xmlns:a="http://schemas.openxmlformats.org/drawingml/2006/main">
            <a:r>
              <a:t>The focus is the newer Vision Agent video path, not the older iPhone request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Upload and handoff</a:t>
            </a:r>
          </a:p>
          <a:p xmlns:a="http://schemas.openxmlformats.org/drawingml/2006/main">
            <a:r>
              <a:t>The client reserves a new analysis ID through `POST /v1/agent/video-uploads`.</a:t>
            </a:r>
          </a:p>
          <a:p xmlns:a="http://schemas.openxmlformats.org/drawingml/2006/main">
            <a:r>
              <a:t>The server creates an uploading Firestore record and a resumable Storage session.</a:t>
            </a:r>
          </a:p>
          <a:p xmlns:a="http://schemas.openxmlformats.org/drawingml/2006/main">
            <a:r>
              <a:t>The video bytes travel directly to private Cloud Storage via the session URI.</a:t>
            </a:r>
          </a:p>
          <a:p xmlns:a="http://schemas.openxmlformats.org/drawingml/2006/main">
            <a:r>
              <a:t>Storage may answer 308 with the acknowledged byte range during an incomplete transfer.</a:t>
            </a:r>
          </a:p>
          <a:p xmlns:a="http://schemas.openxmlformats.org/drawingml/2006/main">
            <a:r>
              <a:t>The client must not call complete until Storage has accepted the final bytes.</a:t>
            </a:r>
          </a:p>
          <a:p xmlns:a="http://schemas.openxmlformats.org/drawingml/2006/main">
            <a:r>
              <a:t>`POST /v1/agent/video-uploads/{id}/complete` checks object media type and size,</a:t>
            </a:r>
          </a:p>
          <a:p xmlns:a="http://schemas.openxmlformats.org/drawingml/2006/main">
            <a:r>
              <a:t>transitions the record to processing, and queues background work.</a:t>
            </a:r>
          </a:p>
          <a:p xmlns:a="http://schemas.openxmlformats.org/drawingml/2006/main">
            <a:r>
              <a:t>A 200 processing response confirms neither worker delivery nor model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Video worker</a:t>
            </a:r>
          </a:p>
          <a:p xmlns:a="http://schemas.openxmlformats.org/drawingml/2006/main">
            <a:r>
              <a:t>Cloud Tasks dispatches `processAgentVideo` with ownerKey, analysisId and attemptId.</a:t>
            </a:r>
          </a:p>
          <a:p xmlns:a="http://schemas.openxmlformats.org/drawingml/2006/main">
            <a:r>
              <a:t>The worker reads the original video from Storage and validates its content.</a:t>
            </a:r>
          </a:p>
          <a:p xmlns:a="http://schemas.openxmlformats.org/drawingml/2006/main">
            <a:r>
              <a:t>FFmpeg selects representative JPEG frames; frame paths include the attempt ID.</a:t>
            </a:r>
          </a:p>
          <a:p xmlns:a="http://schemas.openxmlformats.org/drawingml/2006/main">
            <a:r>
              <a:t>The current source snapshot sets a budget of at most 12 representative frames.</a:t>
            </a:r>
          </a:p>
          <a:p xmlns:a="http://schemas.openxmlformats.org/drawingml/2006/main">
            <a:r>
              <a:t>The server retains frame provenance including timestamps for later inspection.</a:t>
            </a:r>
          </a:p>
          <a:p xmlns:a="http://schemas.openxmlformats.org/drawingml/2006/main">
            <a:r>
              <a:t>It sends a single multi-image request rather than independent per-frame counts.</a:t>
            </a:r>
          </a:p>
          <a:p xmlns:a="http://schemas.openxmlformats.org/drawingml/2006/main">
            <a:r>
              <a:t>The prompt asks for one shelf inventory across the clip and cross-frame deduplication.</a:t>
            </a:r>
          </a:p>
          <a:p xmlns:a="http://schemas.openxmlformats.org/drawingml/2006/main">
            <a:r>
              <a:t>That is an intended counting rule; its accuracy still needs human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Model response and settlement</a:t>
            </a:r>
          </a:p>
          <a:p xmlns:a="http://schemas.openxmlformats.org/drawingml/2006/main">
            <a:r>
              <a:t>The server starts an OpenAI background response and saves its response identifier.</a:t>
            </a:r>
          </a:p>
          <a:p xmlns:a="http://schemas.openxmlformats.org/drawingml/2006/main">
            <a:r>
              <a:t>`collectAgentAnalysis` retrieves provider status through a private task.</a:t>
            </a:r>
          </a:p>
          <a:p xmlns:a="http://schemas.openxmlformats.org/drawingml/2006/main">
            <a:r>
              <a:t>The collector writes the finished report or failure to Firestore.</a:t>
            </a:r>
          </a:p>
          <a:p xmlns:a="http://schemas.openxmlformats.org/drawingml/2006/main">
            <a:r>
              <a:t>`reconcileAgentAnalyses` schedules overdue collection attempts.</a:t>
            </a:r>
          </a:p>
          <a:p xmlns:a="http://schemas.openxmlformats.org/drawingml/2006/main">
            <a:r>
              <a:t>It does not sweep every stalled upload or video-processing state.</a:t>
            </a:r>
          </a:p>
          <a:p xmlns:a="http://schemas.openxmlformats.org/drawingml/2006/main">
            <a:r>
              <a:t>Only server components write Firestore; OpenAI never connects to it.</a:t>
            </a:r>
          </a:p>
          <a:p xmlns:a="http://schemas.openxmlformats.org/drawingml/2006/main">
            <a:r>
              <a:t>The client polls GET detail to display uploading, processing, analyzing,</a:t>
            </a:r>
          </a:p>
          <a:p xmlns:a="http://schemas.openxmlformats.org/drawingml/2006/main">
            <a:r>
              <a:t>analyzed, failed or cancelled states and the saved report when available.</a:t>
            </a:r>
          </a:p>
          <a:p xmlns:a="http://schemas.openxmlformats.org/drawingml/2006/main">
            <a:r>
              <a:t>Refresh does not cancel accepted background analysis.</a:t>
            </a:r>
          </a:p>
          <a:p xmlns:a="http://schemas.openxmlformats.org/drawingml/2006/main">
            <a:r>
              <a:t>Refresh during an unfinished byte transfer remains a separate recovery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Trust and deployment boundaries</a:t>
            </a:r>
          </a:p>
          <a:p xmlns:a="http://schemas.openxmlformats.org/drawingml/2006/main">
            <a:r>
              <a:t>The public API is in Toronto (`northamerica-northeast2`).</a:t>
            </a:r>
          </a:p>
          <a:p xmlns:a="http://schemas.openxmlformats.org/drawingml/2006/main">
            <a:r>
              <a:t>Video worker, collector and scheduler are in Montréal (`northamerica-northeast1`).</a:t>
            </a:r>
          </a:p>
          <a:p xmlns:a="http://schemas.openxmlformats.org/drawingml/2006/main">
            <a:r>
              <a:t>Private function invocation is IAM-controlled, not a browser API.</a:t>
            </a:r>
          </a:p>
          <a:p xmlns:a="http://schemas.openxmlformats.org/drawingml/2006/main">
            <a:r>
              <a:t>Task delivery and deployed revision need operator evidence before acceptance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`01-docs/guides/vision-agent-api/04-video-reservation.md`</a:t>
            </a:r>
          </a:p>
          <a:p xmlns:a="http://schemas.openxmlformats.org/drawingml/2006/main">
            <a:r>
              <a:t>- `01-docs/guides/vision-agent-api/05-storage-transfer.md`</a:t>
            </a:r>
          </a:p>
          <a:p xmlns:a="http://schemas.openxmlformats.org/drawingml/2006/main">
            <a:r>
              <a:t>- `01-docs/guides/vision-agent-api/06-completion-and-reads.md`</a:t>
            </a:r>
          </a:p>
          <a:p xmlns:a="http://schemas.openxmlformats.org/drawingml/2006/main">
            <a:r>
              <a:t>- `01-docs/guides/vision-agent-api/12-architecture-implementation.md`</a:t>
            </a:r>
          </a:p>
          <a:p xmlns:a="http://schemas.openxmlformats.org/drawingml/2006/main">
            <a:r>
              <a:t>- `server/src/firebase.js`, `server/src/agent-video-media.js`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082 - Vision Agent Durable State and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explains how the Agent prevents stale asynchronous work from</a:t>
            </a:r>
          </a:p>
          <a:p xmlns:a="http://schemas.openxmlformats.org/drawingml/2006/main">
            <a:r>
              <a:t>overwriting a cancelled or restarted analysis.</a:t>
            </a:r>
          </a:p>
          <a:p xmlns:a="http://schemas.openxmlformats.org/drawingml/2006/main">
            <a:r>
              <a:t>It also separates recovery of unfinished byte transfer from processing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Durable states</a:t>
            </a:r>
          </a:p>
          <a:p xmlns:a="http://schemas.openxmlformats.org/drawingml/2006/main">
            <a:r>
              <a:t>Video reservation creates an uploading analysis record.</a:t>
            </a:r>
          </a:p>
          <a:p xmlns:a="http://schemas.openxmlformats.org/drawingml/2006/main">
            <a:r>
              <a:t>After source verification, complete moves it to processing.</a:t>
            </a:r>
          </a:p>
          <a:p xmlns:a="http://schemas.openxmlformats.org/drawingml/2006/main">
            <a:r>
              <a:t>The worker may briefly mark uploaded after frame preparation.</a:t>
            </a:r>
          </a:p>
          <a:p xmlns:a="http://schemas.openxmlformats.org/drawingml/2006/main">
            <a:r>
              <a:t>Background model work marks analyzing, then analyzed with a report.</a:t>
            </a:r>
          </a:p>
          <a:p xmlns:a="http://schemas.openxmlformats.org/drawingml/2006/main">
            <a:r>
              <a:t>Failed and cancelled are recorded terminal outcomes.</a:t>
            </a:r>
          </a:p>
          <a:p xmlns:a="http://schemas.openxmlformats.org/drawingml/2006/main">
            <a:r>
              <a:t>GET detail exposes the current state and safe diagnostics.</a:t>
            </a:r>
          </a:p>
          <a:p xmlns:a="http://schemas.openxmlformats.org/drawingml/2006/main">
            <a:r>
              <a:t>The browser can restore that state after refresh without re-creating the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Version and attempt fences</a:t>
            </a:r>
          </a:p>
          <a:p xmlns:a="http://schemas.openxmlformats.org/drawingml/2006/main">
            <a:r>
              <a:t>Each persisted transition increments a record version.</a:t>
            </a:r>
          </a:p>
          <a:p xmlns:a="http://schemas.openxmlformats.org/drawingml/2006/main">
            <a:r>
              <a:t>The client should GET the latest version before versioned cancel or restart.</a:t>
            </a:r>
          </a:p>
          <a:p xmlns:a="http://schemas.openxmlformats.org/drawingml/2006/main">
            <a:r>
              <a:t>A stale version can return an outcome of changed even with HTTP 200.</a:t>
            </a:r>
          </a:p>
          <a:p xmlns:a="http://schemas.openxmlformats.org/drawingml/2006/main">
            <a:r>
              <a:t>Each video attempt has an attempt ID carried to the worker and task payload.</a:t>
            </a:r>
          </a:p>
          <a:p xmlns:a="http://schemas.openxmlformats.org/drawingml/2006/main">
            <a:r>
              <a:t>Frame paths include that ID. Provider runs have their own run identifiers.</a:t>
            </a:r>
          </a:p>
          <a:p xmlns:a="http://schemas.openxmlformats.org/drawingml/2006/main">
            <a:r>
              <a:t>Store transitions check attempt and run identity before accepting late results.</a:t>
            </a:r>
          </a:p>
          <a:p xmlns:a="http://schemas.openxmlformats.org/drawingml/2006/main">
            <a:r>
              <a:t>Cancellation clears the active attempt; restart creates a new attempt.</a:t>
            </a:r>
          </a:p>
          <a:p xmlns:a="http://schemas.openxmlformats.org/drawingml/2006/main">
            <a:r>
              <a:t>Late work from the cancelled attempt must not settle the restarted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Recovery operations</a:t>
            </a:r>
          </a:p>
          <a:p xmlns:a="http://schemas.openxmlformats.org/drawingml/2006/main">
            <a:r>
              <a:t>`POST /v1/agent/video-uploads/{id}/session` renews an uploading Storage session.</a:t>
            </a:r>
          </a:p>
          <a:p xmlns:a="http://schemas.openxmlformats.org/drawingml/2006/main">
            <a:r>
              <a:t>It does not promise to retain bytes from the previous session.</a:t>
            </a:r>
          </a:p>
          <a:p xmlns:a="http://schemas.openxmlformats.org/drawingml/2006/main">
            <a:r>
              <a:t>If the first transfer never finished, the client may need to select the file again.</a:t>
            </a:r>
          </a:p>
          <a:p xmlns:a="http://schemas.openxmlformats.org/drawingml/2006/main">
            <a:r>
              <a:t>`POST /v1/agent/analyses/{id}/cancel` retains evidence and history.</a:t>
            </a:r>
          </a:p>
          <a:p xmlns:a="http://schemas.openxmlformats.org/drawingml/2006/main">
            <a:r>
              <a:t>Cancellation requests best-effort task/provider cleanup after state settlement.</a:t>
            </a:r>
          </a:p>
          <a:p xmlns:a="http://schemas.openxmlformats.org/drawingml/2006/main">
            <a:r>
              <a:t>Running external work might still cost money.</a:t>
            </a:r>
          </a:p>
          <a:p xmlns:a="http://schemas.openxmlformats.org/drawingml/2006/main">
            <a:r>
              <a:t>For a cancelled video whose source is complete, `POST /{id}/restart`</a:t>
            </a:r>
          </a:p>
          <a:p xmlns:a="http://schemas.openxmlformats.org/drawingml/2006/main">
            <a:r>
              <a:t>re-enters processing with a new attempt and re-extracts frames.</a:t>
            </a:r>
          </a:p>
          <a:p xmlns:a="http://schemas.openxmlformats.org/drawingml/2006/main">
            <a:r>
              <a:t>It is not a generic image restart or repair for missing upload bytes.</a:t>
            </a:r>
          </a:p>
          <a:p xmlns:a="http://schemas.openxmlformats.org/drawingml/2006/main">
            <a:r>
              <a:t>A fresh start after an incomplete upload is client orchestration with a new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Current gaps</a:t>
            </a:r>
          </a:p>
          <a:p xmlns:a="http://schemas.openxmlformats.org/drawingml/2006/main">
            <a:r>
              <a:t>The reconciler only reschedules overdue provider collection.</a:t>
            </a:r>
          </a:p>
          <a:p xmlns:a="http://schemas.openxmlformats.org/drawingml/2006/main">
            <a:r>
              <a:t>It is not a stalled-upload or processing sweeper.</a:t>
            </a:r>
          </a:p>
          <a:p xmlns:a="http://schemas.openxmlformats.org/drawingml/2006/main">
            <a:r>
              <a:t>Video retry/refinement through the public `/run` route is an open attempt-ID gap.</a:t>
            </a:r>
          </a:p>
          <a:p xmlns:a="http://schemas.openxmlformats.org/drawingml/2006/main">
            <a:r>
              <a:t>The recorded live video source GET returned 500; do not promise playback.</a:t>
            </a:r>
          </a:p>
          <a:p xmlns:a="http://schemas.openxmlformats.org/drawingml/2006/main">
            <a:r>
              <a:t>The current browser recovery action needs its own hosted acceptance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`01-docs/guides/vision-agent-api/08-recovery.md`</a:t>
            </a:r>
          </a:p>
          <a:p xmlns:a="http://schemas.openxmlformats.org/drawingml/2006/main">
            <a:r>
              <a:t>- `01-docs/guides/vision-agent-api/11-limits-and-gaps.md`</a:t>
            </a:r>
          </a:p>
          <a:p xmlns:a="http://schemas.openxmlformats.org/drawingml/2006/main">
            <a:r>
              <a:t>- `01-docs/guides/vision-agent-api/12-architecture-implementation.md`</a:t>
            </a:r>
          </a:p>
          <a:p xmlns:a="http://schemas.openxmlformats.org/drawingml/2006/main">
            <a:r>
              <a:t>- `01-docs/guides/vision-agent-api/developer-guide.md` (draft)</a:t>
            </a:r>
          </a:p>
          <a:p xmlns:a="http://schemas.openxmlformats.org/drawingml/2006/main">
            <a:r>
              <a:t>- `server/src/agent-analysis-store.js`, `server/src/agent-api-handler.js`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d58c285d7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3fed8f6d14b77" /><Relationship Type="http://schemas.openxmlformats.org/officeDocument/2006/relationships/slideLayout" Target="/ppt/slideLayouts/slideLayout1.xml" Id="Rd2d2c6fef9d2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2c6fef9d2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42785e30d4269" /><Relationship Type="http://schemas.openxmlformats.org/officeDocument/2006/relationships/notesSlide" Target="/ppt/notesSlides/notesSlide1.xml" Id="R4824966fb563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e872cdaf450c" /><Relationship Type="http://schemas.openxmlformats.org/officeDocument/2006/relationships/image" Target="/ppt/media/image.png" Id="R63e65ae567ed4baf" /><Relationship Type="http://schemas.openxmlformats.org/officeDocument/2006/relationships/notesSlide" Target="/ppt/notesSlides/notesSlide2.xml" Id="Rec15662dbf6a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390323ea44bc7" /><Relationship Type="http://schemas.openxmlformats.org/officeDocument/2006/relationships/notesSlide" Target="/ppt/notesSlides/notesSlide3.xml" Id="R2577adc8beb3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dd5e8e5447ca" /><Relationship Type="http://schemas.openxmlformats.org/officeDocument/2006/relationships/image" Target="/ppt/media/image2.png" Id="Rb424134cfeae47da" /><Relationship Type="http://schemas.openxmlformats.org/officeDocument/2006/relationships/notesSlide" Target="/ppt/notesSlides/notesSlide4.xml" Id="R6bb4c2816ede4d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10f947834e47" /><Relationship Type="http://schemas.openxmlformats.org/officeDocument/2006/relationships/notesSlide" Target="/ppt/notesSlides/notesSlide5.xml" Id="R982328ec43dd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edf6163094d21" /><Relationship Type="http://schemas.openxmlformats.org/officeDocument/2006/relationships/image" Target="/ppt/media/image3.png" Id="Re80b84d05ad64fef" /><Relationship Type="http://schemas.openxmlformats.org/officeDocument/2006/relationships/notesSlide" Target="/ppt/notesSlides/notesSlide6.xml" Id="R9df11a834b2b4b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7a0a0a80492c" /><Relationship Type="http://schemas.openxmlformats.org/officeDocument/2006/relationships/notesSlide" Target="/ppt/notesSlides/notesSlide7.xml" Id="R2f67ba0b1df743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469e253a54b53" /><Relationship Type="http://schemas.openxmlformats.org/officeDocument/2006/relationships/image" Target="/ppt/media/image4.png" Id="R1c14ee73638148e3" /><Relationship Type="http://schemas.openxmlformats.org/officeDocument/2006/relationships/notesSlide" Target="/ppt/notesSlides/notesSlide8.xml" Id="R9ccc3a455aa8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23498d8254f4f" /><Relationship Type="http://schemas.openxmlformats.org/officeDocument/2006/relationships/notesSlide" Target="/ppt/notesSlides/notesSlide9.xml" Id="R987dc734423f4d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a7270fe54c3c" /><Relationship Type="http://schemas.openxmlformats.org/officeDocument/2006/relationships/image" Target="/ppt/media/image5.png" Id="R0fb8f547fc124203" /><Relationship Type="http://schemas.openxmlformats.org/officeDocument/2006/relationships/notesSlide" Target="/ppt/notesSlides/notesSlide10.xml" Id="R5975afa4d68e4d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2ab7ee27846b7" /><Relationship Type="http://schemas.openxmlformats.org/officeDocument/2006/relationships/notesSlide" Target="/ppt/notesSlides/notesSlide11.xml" Id="R23a1dd69244941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a83a584bd4d0e" /><Relationship Type="http://schemas.openxmlformats.org/officeDocument/2006/relationships/image" Target="/ppt/media/image6.png" Id="R8d93e88977c14741" /><Relationship Type="http://schemas.openxmlformats.org/officeDocument/2006/relationships/notesSlide" Target="/ppt/notesSlides/notesSlide12.xml" Id="Rabca8a02119549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6aad121154491" /><Relationship Type="http://schemas.openxmlformats.org/officeDocument/2006/relationships/notesSlide" Target="/ppt/notesSlides/notesSlide13.xml" Id="R7cb0c99a51914d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4948ac39642eb" /><Relationship Type="http://schemas.openxmlformats.org/officeDocument/2006/relationships/image" Target="/ppt/media/image7.png" Id="Rfacdadc7708a438a" /><Relationship Type="http://schemas.openxmlformats.org/officeDocument/2006/relationships/notesSlide" Target="/ppt/notesSlides/notesSlide14.xml" Id="Rbfeba63fa29645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a991272f24b8c" /><Relationship Type="http://schemas.openxmlformats.org/officeDocument/2006/relationships/notesSlide" Target="/ppt/notesSlides/notesSlide15.xml" Id="R78d697a4dcf946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f996262af4af2" /><Relationship Type="http://schemas.openxmlformats.org/officeDocument/2006/relationships/image" Target="/ppt/media/image8.png" Id="R50c9001791c94c99" /><Relationship Type="http://schemas.openxmlformats.org/officeDocument/2006/relationships/notesSlide" Target="/ppt/notesSlides/notesSlide16.xml" Id="R28cff5ae26da42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714df49de4037" /><Relationship Type="http://schemas.openxmlformats.org/officeDocument/2006/relationships/notesSlide" Target="/ppt/notesSlides/notesSlide17.xml" Id="Rd4822ab8dbe14c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310bb7a15408b" /><Relationship Type="http://schemas.openxmlformats.org/officeDocument/2006/relationships/image" Target="/ppt/media/image9.png" Id="Rd201ef17f6e44294" /><Relationship Type="http://schemas.openxmlformats.org/officeDocument/2006/relationships/notesSlide" Target="/ppt/notesSlides/notesSlide18.xml" Id="Rcc41fed925bb4b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ae5831d6d4363" /><Relationship Type="http://schemas.openxmlformats.org/officeDocument/2006/relationships/notesSlide" Target="/ppt/notesSlides/notesSlide19.xml" Id="Rfd36771da76a47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f2c1484b41cb" /><Relationship Type="http://schemas.openxmlformats.org/officeDocument/2006/relationships/image" Target="/ppt/media/image10.png" Id="R4eac64887bed4926" /><Relationship Type="http://schemas.openxmlformats.org/officeDocument/2006/relationships/notesSlide" Target="/ppt/notesSlides/notesSlide20.xml" Id="R920af81327ec4c5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a9bc751343a5" /><Relationship Type="http://schemas.openxmlformats.org/officeDocument/2006/relationships/notesSlide" Target="/ppt/notesSlides/notesSlide21.xml" Id="R190b58ee177945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f68e6f7b4015" /><Relationship Type="http://schemas.openxmlformats.org/officeDocument/2006/relationships/image" Target="/ppt/media/image11.png" Id="Rbfd8ea64fb2743bc" /><Relationship Type="http://schemas.openxmlformats.org/officeDocument/2006/relationships/notesSlide" Target="/ppt/notesSlides/notesSlide22.xml" Id="Rc56ae99290cd4c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a50a4dd5f41ee" /><Relationship Type="http://schemas.openxmlformats.org/officeDocument/2006/relationships/notesSlide" Target="/ppt/notesSlides/notesSlide23.xml" Id="R6f79c0334cef42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3aacb48d548fc" /><Relationship Type="http://schemas.openxmlformats.org/officeDocument/2006/relationships/image" Target="/ppt/media/image12.png" Id="R51ee690e41834799" /><Relationship Type="http://schemas.openxmlformats.org/officeDocument/2006/relationships/notesSlide" Target="/ppt/notesSlides/notesSlide24.xml" Id="R7e73c70b1cda48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04CC6-8067-4467-81A9-41299724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3296-E829-4A27-A219-0B3E695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B66A9-D1C2-46C9-8F16-F695ED1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AI SHOP · VISTA · SDLC2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FA6F3-61DC-4033-B93D-DF383642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238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56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 Agentic Visual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EFB80-AAB7-4F28-AC87-E9C96E40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From Shelf Photo to Item Report</a:t>
            </a:r>
          </a:p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User Journey, Architecture, and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4C396-2795-4865-BADD-E0664F57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6FB5B-62E7-4858-B930-99F842F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D1D4"/>
                </a:solidFill>
                <a:latin typeface="Arial"/>
                <a:ea typeface="Arial"/>
                <a:cs typeface="Arial"/>
              </a:rPr>
              <a:t>A real application evaluated through a complete software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A6B7C-EBD7-4120-BDBC-BA85D7A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524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735779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65ae567ed4ba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07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53F6C-7C50-4FFE-B6C5-85F5151F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BE2C4-8B5D-4555-B390-57C5610A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B8A98-1603-4F8C-A25C-6797BF86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8CBC4-FC11-49F8-AC93-23E73398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Understand What Is on the Shelf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262DB-4AF1-4308-8E29-03622CA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568E-FA8D-4D81-8DEA-B2918C9D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3DDA-06DF-4E47-9BFA-1A9CCB4A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78E74-5A50-4B4B-A177-17FEE8B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shelf photos as evidence for inspection.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12D52-F0BF-44DF-A8D6-1C5F16D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568E9-B7AD-485C-AA18-9EACC9A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Identify visible products and count their facings.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0F549-90C1-4517-9A0B-22CA29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FFA14-BC6B-4387-877E-14151144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Help teams understand shelf presence and changes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BA885-0C67-441A-86C6-6DCE9F8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6836-F9A6-4A22-932D-1C4F667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Support inventory decisions, brand presentation, and sales.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348F9-B46C-4EB4-8D7D-71B31D60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E6FD4-505D-4D38-BF5C-A14484B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This module turns an uploaded photo into a reviewable item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08592-6FC3-4A27-8818-BCD9B89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45559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4134cfeae47d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336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D782A-A365-4C72-A627-A21E89D0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20E6-EE5F-4BE7-A1E2-5C5874F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E4941-9F54-4448-95FB-E3412654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96538-BE98-46F9-9CCC-B601222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Through the 12-Step SDLC2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D844-3B42-4DCA-82D5-5684942A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72939-0285-4DD3-A71A-B556AF3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AB8AD-463E-4430-B05D-B2713010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is both a working application and an SDLC2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D99DD-045A-42B2-9A0C-0B9F1BBC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F6022-9DF9-4B3A-A7F5-1DA3390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C65C3-7E16-4A9E-8943-1125490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F15AA-617E-4640-BF9A-E71CD29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Business and Technical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58DB9-6BEB-4880-9620-D753B47C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DDCF4-DBEF-4D53-A48F-ACE62AC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2.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4A504-C03A-4F23-AA71-E6D88D7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58AE8-0B67-42A1-8021-7795956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Use Cases and System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9960A-99C3-48BE-A414-A618ECE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7ED64-F14E-469A-8913-9ED8959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AC86E-9D25-471E-8832-06A4D58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E6022-418C-4DB7-877E-75B4B88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4. Benchmarks and Test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EC485-CFEB-4F90-B96E-733F9A1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CB45C-7D4A-43EF-AEA7-9E19C91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5. High-Level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781AF-29DF-4C4D-B6AB-FFEF2D16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906BD-2AC9-4DF9-8B91-D2EC82C3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6. Working Proof of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D29171-093D-414E-84B1-DF4407F3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FBEDF-0AD4-4DD0-BAB7-C101228E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2EF2F-0765-4CE7-B182-4C41406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4CF6D-3CEE-43B3-9798-9EE3976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7. Planning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F91F1-F593-446D-83B4-FCAC3EB9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2F9C3-8CC8-4C93-9670-7B238D0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Low-Level Design and Specifications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537F34-C979-496C-89AE-C35A681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1246B-3665-4A08-8F6E-EE312E0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9. Build, Code, and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1A1EC-D12F-4714-ACD7-4FBF579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B36A1F-1001-4119-81E5-F35B0E7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482628-8108-4B06-B6B7-14629B5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DD818-208A-424F-9FF8-4D7B7CE4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3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10. Deployment, Infrastructure, and Operational Reality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B2EF4-8041-469C-BA56-51DD90FA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B5372-4E3C-44E6-9267-41BCD4B7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11. Review, Human QA, and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D6061D-9910-4504-B638-5A3967D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2C796B-0E5E-4320-AD14-1DDB062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12. Observability and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A546A8-65BA-4B49-B126-A49DE8A2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909480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b84d05ad64fe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985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8E914-0130-4ED3-AA8C-FDD52BC9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AA5F2-427B-4A07-810E-B7D29FCA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15257-0283-45F6-9A9E-20017B0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0DF0B-CBDE-4DB9-9ACA-5B4726EE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VISTA Agentic Visual 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90951-60D3-47E9-B171-63DFB0C4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FE7DC-72BD-4A9D-ACA5-4D055E6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03241-33AE-4018-AA73-11EE13F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From image to item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CE75A-210D-494A-9C77-16B87A0E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89999-A1AB-4383-B798-3B647452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a shelf photo through the browser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1AA40-660F-4266-A20C-046C96D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079DF-E875-43D9-ABA1-9CF4591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server checks access, saves the image, and coordinates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9E0F7-88B5-4641-8CE3-FB21570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1E0DF-2FC4-47BE-8098-BF245A7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identifies products and counts visible facings.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3BA62-21F0-4806-98D8-0D7B7CC4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E0DF7-D042-464F-922B-A7FBE49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 progress and the saved report in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E3C87-2525-4393-A12C-8D13B8D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A382B-7A74-46F8-A001-E981D5E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the observations: recognition can be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01CC1-1695-460F-8884-C4394AB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2009700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4ee73638148e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989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F8FD2-E50B-4FA6-8293-7F9D946C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EC7DB-AF4E-4967-9B0D-BC0D0A7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C23FA-ABC6-4B2D-8A8E-162518E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A639D-E9C9-4A53-8A02-BFEF4B63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 Product Use Cases Share One Vision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4704C-3B68-4545-8A85-8EBCA55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A3B52-D94D-406E-985B-AB52CB1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AE6CD-75E8-4842-A0E9-A5E90FD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AI Shop shopping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7B9D7-79A4-4BEA-B5A9-8D05E2E4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CA0C0-C102-49EF-B848-1D0CDC4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AI Shop iPhone app scans products for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44662-F1AB-4548-9317-53D8242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BC1C3-942A-49F7-88C5-B9D7BD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Image processing can occur on the iPhone and through server-side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E0606-0F1C-4599-B717-8C420E5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CB60A-124B-4EBE-80BA-768E6BB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help shoppers make better-informed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35B02-61DA-4D48-8429-03F69A00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3114D-B3ED-4D09-9F22-FBDFAA32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VISTA shelf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FCBE3-54AA-4D36-9183-4306F1E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A5D71-CAEF-4ECD-B0F7-E067936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web Agent manually analyses shelf photographs and videos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541F-9113-4A56-97F8-BECC09C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BA57A-14A8-48EE-9306-B06FA1E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intended VISTA iPhone app will capture evidence during store inspections.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265AB-1CCB-4AE2-AAC8-FEE9D26B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00C6D-115D-47A3-94A0-862A8BFE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identify shelf products and count visible facings.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AB213-E10B-4075-A9EF-801C368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0F175-3E4C-4287-82AD-600E733F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Both experiences reuse common server capabilities while serving different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0DC6-378D-4AAF-BCD3-52F5D98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366100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8f547fc12420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70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E684B-56CA-4F7C-A851-AE23FA18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8C55D-7D00-4B7D-B6CD-7610223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9E126-F256-47F9-AF0A-211F52EE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47FB5-700C-43F8-A1A7-96118B3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What AI Shop Must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086DE-4667-4470-B31B-32AC28E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27377-00B8-44A4-8CC4-60D48AF6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D0DC3-4140-421D-98CB-FD18C517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must outperform useful human workflows, not merely return an AI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9010-78BE-4096-BD38-DC26368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2F448-5C01-40E5-8432-65DBC82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Shopping assistance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15579-166F-4E24-BAC4-A1D184A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D808F-C551-473D-9451-65CEF65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Reach a decision with less image handling, repeated context, and conversation.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0AAF6-1033-4E19-9556-CCCC27A9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F5ACD-F3DB-4B13-B898-658AB8A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Product identification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B2717-6D45-4DDB-8367-C817BE8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679D7-3FC6-4013-8440-05E3430C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Make a complex scene faster to understand while showing uncertainty honestly.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2781D-984B-400B-B2EE-86E3622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68C38-88E3-407C-9596-EEB8161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Shelf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0A81E-700F-421A-BF1F-6B6270B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9ED1A-4441-46C9-B443-37E380F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Keep the source image, AI findings, corrections, reviewer, and timing connected.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BE0B0-476D-40D9-B4FD-A744F947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4B26EC-6BF9-475D-BEF8-9D9AD97C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application should reduce effort without weakening human judgment.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1F514-CE76-4490-9873-0ABFF65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51865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3e88977c14741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098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81C05-A8CD-4724-AD8C-BBA06A1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E4374-3BEA-4F24-BA1B-E361579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46969-53F6-4EE5-9D39-F642D69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C7DC4-D20D-4A58-B667-CF1476D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One Shelf, Three Different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094AF-C123-4BDF-AEB0-D57D4A1B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14A21-DE5A-4F3D-BC70-94B6FEFD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A497B-3F43-4E90-8146-E226525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C62A-C1EC-44D9-AD47-E60F8E08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same dense shelf produced three incompatible descriptions.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054BB-FB4D-499A-A5EF-D10E55F5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ED1CD-A1C8-4994-A7A5-BFE62ACF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Provisional GPT reference: 42 product groups and 94 visible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599D5-CF86-44C7-AA4A-3BD6CC58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DE879-62C3-4556-9DB4-355B13B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first run: 23 rows, 62 facings, and 3 uncertain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03067-0DB8-45F5-8ED3-6DC166F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DC9F8-3627-4DAF-96F4-7096F272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Independent visual read: about 57 facings plus 21 stacked units.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B8BE1-E220-4F86-919E-EF94F82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8AD47-9DDC-4673-995E-7F11B57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These totals answer different counting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5C4F4-0397-4842-8602-092981A9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6669A-8C38-481D-91AE-B579909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They cannot be converted into an accuracy percentage.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45F90-5DB2-4EC0-933F-8FB8E2E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23306-E2B2-4289-99DD-083C2AAF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human-verified reference and an agreed counting contract must come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2D7A6-40CE-4B42-815A-E352BD5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426890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dadc7708a438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066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3A64C-BC0F-4256-BA54-D2D251C5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ECF57-653C-4D24-A97A-63DBF94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6D2A-47FE-421B-8752-CC40BA6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E4683-D0CC-4BE2-891C-C5AA95B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Quality and System Reliability Need Different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6ECFE-6CC8-4364-8130-271B423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642F5-DD0F-4A48-9E01-4FF766A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85C6F-C24D-4EBB-9F1F-197663AC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Vision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F8DF8-CACE-4E47-9B23-D03F9001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2134F-83AF-4CDE-8DAF-C1E6F0B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Freeze the source image, prompt, schema, and human-verified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5CFE9-0A4D-4393-923F-83364B0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3F174-CCD5-47C0-A607-92FAF98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Change one model, reasoning, context, or image setting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FAA9F-FC60-49F0-B611-0B1CBF0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585DA-5827-4A48-AFD3-90BBFFB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2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Score identification, omissions, counts, inventions, and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C77B0-8743-4A88-98DB-297E8EDF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A77E6-F3FE-4387-B285-C14E0D2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latency, usage, cost, retries, and review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E488C-D63C-4F8E-A7ED-D8FC7A33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152F5-4289-49E5-B551-F6A802C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System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07C2-F4D0-4217-BF71-B9DD916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409C0-4807-4E13-AB39-6E668D8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access control, upload, durable progress, and saved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71DAB-4BCC-41FA-9719-27725CA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10EAA-99F0-4323-8F10-2D6F507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Test refresh, refinement, retry, and failure diagnostics.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F8F1C-6924-4231-B35C-07B58367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866AA-A935-4A50-A95C-88409F40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 video, preserve frame provenance and prevent duplicate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2C61F-FBC5-44D7-97EB-1E1B10F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1E3B9-1998-4BE5-A4E1-EAF1D22D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Release decisions require evidence from both test paths.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5B1FD-0E7C-493C-910F-CE812A17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660386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9001791c94c99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503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7EF3F-9A90-4123-9372-976EDAB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2A48B-1538-4E2C-A217-4A64946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61A2-CC3A-4D89-A997-6ECB9FF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FDE1D-3D5E-4D97-92E2-5BE4079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Shared Vision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2557C-E525-4532-9669-9D1F070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62D10-7951-40EC-A97A-C37D082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461FF-5753-4B25-9284-E7E6B01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Three entry paths use related server capabilities for different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68180-31EA-4A1E-B73D-6D5AF71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838F1-89BC-4E31-97D6-C5D18547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Current product paths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434F5-1425-4F33-8227-EF9944E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B6749-69E0-4AC8-B500-218549CB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Shop iPhone scans products to support shopping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B4386-594D-4B19-BCF5-08427323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146DB-42D8-476E-BC53-2377CA6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5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Web Vision Agent manually accepts shelf photographs and videos for inspection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FA28D-9E90-421D-B4C1-A2C97E0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F11C9-4485-4793-8D7A-1F71AE3F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Intended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C9DB1-7E25-4170-91BA-408FAE8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41056-D99A-4EF1-918E-207DCA7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VISTA iPhone would capture shelf evidence during store inspections.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B561D-216E-435B-8DC6-0E673146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1C46B-D3ED-4FAA-B004-45FCD9BA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Shared server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CFA09-1E15-4409-A7B8-769B01B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93F21-FEBB-48F6-86D7-B8314FD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Secure intake protects access and provider credentials.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A96F0-1A5A-4C22-868C-FD3BE90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7B639-B61E-4645-BF6A-6EDA4D0C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Server processing preserves evidence, tracks work, and obtains AI findings.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82571-C72D-4EA5-A185-5CB2D5D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4CC69-FC91-43C9-9106-D413AF27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8672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Clients retrieve reports and show uncertainty for human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338144-459C-45B9-99C4-7952DBB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5638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06626-B71C-4CE1-BE07-773ACAFC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55149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clients need not use one identical endpoint or return one identical report.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80B4E-7BE2-4541-BC9F-BE4E9F39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2455605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1ef17f6e44294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592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9BD31-8601-4602-B868-71FDA85E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FE78D-8A40-4326-A802-9BB63E69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7F96E-1395-41F0-808D-B7B4A11E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B5AE2-D48E-49F9-B6FD-81EE700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API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414F4-0DAE-451A-8410-540F493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B788E-1894-45A8-96DC-4BB6E8E3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187EB-CD6A-4E0B-B9B3-400AE48D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The Agent owns shelf-analysis records behind Firebase access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43034-65D0-480F-AC46-75BC857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FD6A-8FE5-4E78-A191-28EAC1E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Photograph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649DD-5681-4031-BCB4-984DAADA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7D610-A236-408E-B7AE-25D42A0A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`POST /v1/agent/analyses` accepts one JPEG and creates a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C6746-EBD6-402E-AA17-736B5198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CA7E2-50FC-41E3-B01F-99C07D1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`run=true` or `POST /v1/agent/analyses/{id}/run` starts an eligible analysis.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3E48F-C389-499A-9024-75F4E26D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4BEC0-6AF1-4D5E-B464-834205C6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551B1-C399-4E8E-8D5B-50ADFED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11AE9-4270-413D-B598-EF0DD723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1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`POST /v1/agent/video-uploads` reserves an upload and returns a Storage session URI.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AABD6-0AB4-472E-A160-ADF1E49B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9523B-6550-4072-A436-DA959DD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 sends bytes to Storage, then calls `POST /v1/agent/video-uploads/{id}/complete`.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AE8AB-F817-4314-B205-A3519EE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F1D59-0427-4E9B-BCE6-BFE9525B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27423-066F-4CCC-9FC2-78DC12E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3F7AA-2533-4CCA-B1F3-659EC66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`GET /v1/agent/analyses/{id}` restores server-owned progress and the report.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8435E-46B0-4DC6-B048-3AC8EEC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D4B9F-5A8A-46C3-B63D-98F4715F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Original evidence has a source route, but video download has a known live failure.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4DCF6-FE1F-4BAB-BA1C-2EAA2C8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F2FA3-B2BA-44D4-BE43-1582CF8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8672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ownership and Admin cross-user reads use different authorization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0686E-E838-4E0D-AF83-0F56511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893119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c64887bed492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302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C64DD-6B14-4551-8C76-017814C7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6C0C9-03B3-4BFD-8CD7-8418577E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89E4D-FEA4-4774-B441-154F0E5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48460-44B9-4A2E-894F-03898D8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Video Processing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F7F16-E855-4C1F-8C8A-401DAE89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12B12-DB9C-47FA-9088-6819D5F9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1A1CF-BCDB-4D29-AC4A-68ECB11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7C52A-6289-4F8C-B839-CE9BAF0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completed upload becomes a server-owned background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715FC-1156-47DE-9C9F-C61D9FF4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59519-41C9-48FC-B858-451B1DD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 reserves a record, sends video bytes to Storage, and confirms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CACBE-9EE3-4955-80E1-A211C02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2844C-9E5E-4695-9806-B0880CD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Cloud Tasks invokes a video worker with owner, analysis, and attempt identifiers.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231C4-E295-4404-9E78-9EEF399B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D739F-AE63-4E4D-AF24-6BCD6BAC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FFmpeg extracts representative JPEG frames from the original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DFD15-1131-41F4-881E-CC3F7BAF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701C6-055F-4501-899E-C449C9C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One background model request treats the frames as a single shelf scan.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3B20D-E2C1-46F7-8954-5FA1089C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CC696-E293-485B-B819-E116F879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collector settles the report in Firestore; the client reads it through 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760B2-6B6E-47E8-A139-80F9BEC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937BE-5E20-44C6-932F-E3BCECBA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Frame timestamps remain evidence for review and cross-frame counting.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8CA7C-F7D5-4C4B-9A99-04B9234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9032796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8ea64fb2743b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7552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63364-9657-4157-9CCA-62E8DE0B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D178E-D5CA-445F-897E-B60EE40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052A4-6448-4A2A-B8F8-3ADC1FF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41163-EF2E-4595-AC14-BEBA805B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Durable State and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B723B-89C0-4650-91B0-C5610C8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8EAA5-F8D6-4392-AB32-DB635D8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9BE92-3B76-41A6-B699-4CFCAE1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497B-CCA4-4CBB-ABB8-D68258D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Versioned records and attempt IDs protect long-running video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507B6-F832-4FB7-B22F-9577536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85B1F-94B4-4F3C-8C51-1E688D6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Normal video progress moves through uploading, processing, analyzing, and analyzed.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C6353-A740-4065-9024-6F31589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8F44-222C-4943-A651-41B59CC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Failed and cancelled are recorded outcomes that remain visible on 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EE740-78FA-449A-8699-81DE7550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2D2B0-D9DB-422C-A75B-F741849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Session renewal applies only while the upload record is uploading.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9068-9F92-4D07-9F52-BC3A559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01365-3B4F-4B58-AA45-4F33068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Cancellation uses the latest record version; restart starts a new video attempt.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A54B3-39FA-41C2-9892-4CA65D5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0240F-AFA8-49B1-A70D-52F910E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Restart requires complete source evidence and re-extracts frames.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0BD7B-8637-4D8A-BD76-CE35B084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67224-450C-4375-A226-EAED541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Old workers and model runs must not settle a newer attempt.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33F1B-EDA2-451A-B019-B457FFA3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8524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e690e41834799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70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2026-09-17T00:19:45.9600000Z</dcterms:created>
  <dcterms:modified xsi:type="dcterms:W3CDTF">2026-09-17T00:19:45.9600000Z</dcterms:modified>
</coreProperties>
</file>