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b5713954ca4234" /><Relationship Type="http://schemas.openxmlformats.org/officeDocument/2006/relationships/extended-properties" Target="/docProps/app.xml" Id="Rc9c4f322d19d4390" /><Relationship Type="http://schemas.openxmlformats.org/officeDocument/2006/relationships/officeDocument" Target="/ppt/presentation.xml" Id="R82b4f5d8a54c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e38f763f3a437b"/>
  </p:sldMasterIdLst>
  <p:notesMasterIdLst>
    <p:notesMasterId xmlns:r="http://schemas.openxmlformats.org/officeDocument/2006/relationships" r:id="R796b5813d74143aa"/>
  </p:notesMasterIdLst>
  <p:sldIdLst>
    <p:sldId xmlns:r="http://schemas.openxmlformats.org/officeDocument/2006/relationships" id="256" r:id="R7de0aa8dac3e4bfa"/>
    <p:sldId xmlns:r="http://schemas.openxmlformats.org/officeDocument/2006/relationships" id="257" r:id="R607f1dca3e9946d7"/>
    <p:sldId xmlns:r="http://schemas.openxmlformats.org/officeDocument/2006/relationships" id="258" r:id="Rf8a8cbb261124b7a"/>
    <p:sldId xmlns:r="http://schemas.openxmlformats.org/officeDocument/2006/relationships" id="259" r:id="R1639bde39ecc448d"/>
    <p:sldId xmlns:r="http://schemas.openxmlformats.org/officeDocument/2006/relationships" id="260" r:id="Rbf42a593bdb24f8b"/>
    <p:sldId xmlns:r="http://schemas.openxmlformats.org/officeDocument/2006/relationships" id="261" r:id="R31063c7937b64f69"/>
    <p:sldId xmlns:r="http://schemas.openxmlformats.org/officeDocument/2006/relationships" id="262" r:id="R8c6974cdebb34377"/>
    <p:sldId xmlns:r="http://schemas.openxmlformats.org/officeDocument/2006/relationships" id="263" r:id="Rb50d713ec8634adb"/>
    <p:sldId xmlns:r="http://schemas.openxmlformats.org/officeDocument/2006/relationships" id="264" r:id="R1336ef7e1af74fe2"/>
    <p:sldId xmlns:r="http://schemas.openxmlformats.org/officeDocument/2006/relationships" id="265" r:id="R308909de4d4040c5"/>
    <p:sldId xmlns:r="http://schemas.openxmlformats.org/officeDocument/2006/relationships" id="266" r:id="R27ebcad27a9d473f"/>
    <p:sldId xmlns:r="http://schemas.openxmlformats.org/officeDocument/2006/relationships" id="267" r:id="R41eecc09d79f40a6"/>
    <p:sldId xmlns:r="http://schemas.openxmlformats.org/officeDocument/2006/relationships" id="268" r:id="Rd309de697ad74cae"/>
    <p:sldId xmlns:r="http://schemas.openxmlformats.org/officeDocument/2006/relationships" id="269" r:id="Rc792c70be28c4691"/>
    <p:sldId xmlns:r="http://schemas.openxmlformats.org/officeDocument/2006/relationships" id="270" r:id="R96685d56aff54ecd"/>
    <p:sldId xmlns:r="http://schemas.openxmlformats.org/officeDocument/2006/relationships" id="271" r:id="R4a975269a3d04dc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b5362855924c99" /><Relationship Type="http://schemas.openxmlformats.org/officeDocument/2006/relationships/slideMaster" Target="/ppt/slideMasters/slideMaster1.xml" Id="Rebe38f763f3a437b" /><Relationship Type="http://schemas.openxmlformats.org/officeDocument/2006/relationships/notesMaster" Target="/ppt/notesMasters/notesMaster1.xml" Id="R796b5813d74143aa" /><Relationship Type="http://schemas.openxmlformats.org/officeDocument/2006/relationships/presProps" Target="/ppt/presProps.xml" Id="R0e6c1772c563497d" /><Relationship Type="http://schemas.openxmlformats.org/officeDocument/2006/relationships/tableStyles" Target="/ppt/tableStyles.xml" Id="Rb94535f2712a40a3" /><Relationship Type="http://schemas.openxmlformats.org/officeDocument/2006/relationships/slide" Target="/ppt/slides/slide1.xml" Id="R7de0aa8dac3e4bfa" /><Relationship Type="http://schemas.openxmlformats.org/officeDocument/2006/relationships/slide" Target="/ppt/slides/slide2.xml" Id="R607f1dca3e9946d7" /><Relationship Type="http://schemas.openxmlformats.org/officeDocument/2006/relationships/slide" Target="/ppt/slides/slide3.xml" Id="Rf8a8cbb261124b7a" /><Relationship Type="http://schemas.openxmlformats.org/officeDocument/2006/relationships/slide" Target="/ppt/slides/slide4.xml" Id="R1639bde39ecc448d" /><Relationship Type="http://schemas.openxmlformats.org/officeDocument/2006/relationships/slide" Target="/ppt/slides/slide5.xml" Id="Rbf42a593bdb24f8b" /><Relationship Type="http://schemas.openxmlformats.org/officeDocument/2006/relationships/slide" Target="/ppt/slides/slide6.xml" Id="R31063c7937b64f69" /><Relationship Type="http://schemas.openxmlformats.org/officeDocument/2006/relationships/slide" Target="/ppt/slides/slide7.xml" Id="R8c6974cdebb34377" /><Relationship Type="http://schemas.openxmlformats.org/officeDocument/2006/relationships/slide" Target="/ppt/slides/slide8.xml" Id="Rb50d713ec8634adb" /><Relationship Type="http://schemas.openxmlformats.org/officeDocument/2006/relationships/slide" Target="/ppt/slides/slide9.xml" Id="R1336ef7e1af74fe2" /><Relationship Type="http://schemas.openxmlformats.org/officeDocument/2006/relationships/slide" Target="/ppt/slides/slide10.xml" Id="R308909de4d4040c5" /><Relationship Type="http://schemas.openxmlformats.org/officeDocument/2006/relationships/slide" Target="/ppt/slides/slide11.xml" Id="R27ebcad27a9d473f" /><Relationship Type="http://schemas.openxmlformats.org/officeDocument/2006/relationships/slide" Target="/ppt/slides/slide12.xml" Id="R41eecc09d79f40a6" /><Relationship Type="http://schemas.openxmlformats.org/officeDocument/2006/relationships/slide" Target="/ppt/slides/slide13.xml" Id="Rd309de697ad74cae" /><Relationship Type="http://schemas.openxmlformats.org/officeDocument/2006/relationships/slide" Target="/ppt/slides/slide14.xml" Id="Rc792c70be28c4691" /><Relationship Type="http://schemas.openxmlformats.org/officeDocument/2006/relationships/slide" Target="/ppt/slides/slide15.xml" Id="R96685d56aff54ecd" /><Relationship Type="http://schemas.openxmlformats.org/officeDocument/2006/relationships/slide" Target="/ppt/slides/slide16.xml" Id="R4a975269a3d0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5205f97b20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761be39ec4f75" /><Relationship Type="http://schemas.openxmlformats.org/officeDocument/2006/relationships/notesMaster" Target="/ppt/notesMasters/notesMaster1.xml" Id="R51b6fa9fb229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0f39b22a647cc" /><Relationship Type="http://schemas.openxmlformats.org/officeDocument/2006/relationships/notesMaster" Target="/ppt/notesMasters/notesMaster1.xml" Id="R64461c9571fc4d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681aa321f40e2" /><Relationship Type="http://schemas.openxmlformats.org/officeDocument/2006/relationships/notesMaster" Target="/ppt/notesMasters/notesMaster1.xml" Id="R7a6b890cd3b4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bc1b24c9844a19" /><Relationship Type="http://schemas.openxmlformats.org/officeDocument/2006/relationships/notesMaster" Target="/ppt/notesMasters/notesMaster1.xml" Id="R81400c61df2e4e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53d4316094f71" /><Relationship Type="http://schemas.openxmlformats.org/officeDocument/2006/relationships/notesMaster" Target="/ppt/notesMasters/notesMaster1.xml" Id="R0b7bf708c23440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9fa9341219463d" /><Relationship Type="http://schemas.openxmlformats.org/officeDocument/2006/relationships/notesMaster" Target="/ppt/notesMasters/notesMaster1.xml" Id="Rca7d77c60c5f44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b0cb20cc7f42e7" /><Relationship Type="http://schemas.openxmlformats.org/officeDocument/2006/relationships/notesMaster" Target="/ppt/notesMasters/notesMaster1.xml" Id="Rea790a9df25e43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89096585594755" /><Relationship Type="http://schemas.openxmlformats.org/officeDocument/2006/relationships/notesMaster" Target="/ppt/notesMasters/notesMaster1.xml" Id="R3fd9d17b301744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d0985f2ea449f" /><Relationship Type="http://schemas.openxmlformats.org/officeDocument/2006/relationships/notesMaster" Target="/ppt/notesMasters/notesMaster1.xml" Id="R9ed9c33eea854b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a49238214c4ba3" /><Relationship Type="http://schemas.openxmlformats.org/officeDocument/2006/relationships/notesMaster" Target="/ppt/notesMasters/notesMaster1.xml" Id="Rffcee4e7ca4041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f9e40cb4294a82" /><Relationship Type="http://schemas.openxmlformats.org/officeDocument/2006/relationships/notesMaster" Target="/ppt/notesMasters/notesMaster1.xml" Id="R437a8346aa6146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73a4da6aba4ef4" /><Relationship Type="http://schemas.openxmlformats.org/officeDocument/2006/relationships/notesMaster" Target="/ppt/notesMasters/notesMaster1.xml" Id="R69d24ee811394a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11df5ab6bc4d19" /><Relationship Type="http://schemas.openxmlformats.org/officeDocument/2006/relationships/notesMaster" Target="/ppt/notesMasters/notesMaster1.xml" Id="R6c41ceab5b1342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13e1ec81f849f1" /><Relationship Type="http://schemas.openxmlformats.org/officeDocument/2006/relationships/notesMaster" Target="/ppt/notesMasters/notesMaster1.xml" Id="Rbf239c8e0b5046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d496aeb7e44180" /><Relationship Type="http://schemas.openxmlformats.org/officeDocument/2006/relationships/notesMaster" Target="/ppt/notesMasters/notesMaster1.xml" Id="Re0edd2d02ef047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be50f82495481d" /><Relationship Type="http://schemas.openxmlformats.org/officeDocument/2006/relationships/notesMaster" Target="/ppt/notesMasters/notesMaster1.xml" Id="R9e76676b0d5d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000 — VISTA Agentic Items 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the technical introduction to VISTA's image uploader and analyser.</a:t>
            </a:r>
          </a:p>
          <a:p xmlns:a="http://schemas.openxmlformats.org/drawingml/2006/main">
            <a:r>
              <a:t>We will follow a shelf photo from the user's upload to a reviewable item report.</a:t>
            </a:r>
          </a:p>
          <a:p xmlns:a="http://schemas.openxmlformats.org/drawingml/2006/main">
            <a:r>
              <a:t>The story connects the user journey, the architecture, and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short business refresher on the next slide.</a:t>
            </a:r>
          </a:p>
          <a:p xmlns:a="http://schemas.openxmlformats.org/drawingml/2006/main">
            <a:r>
              <a:t>Then explain how the interface, server, storage, and AI work together.</a:t>
            </a:r>
          </a:p>
          <a:p xmlns:a="http://schemas.openxmlformats.org/drawingml/2006/main">
            <a:r>
              <a:t>Use the broader VISTA overview as background for the wider product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cover's three words—Capture, Analyse, Review—introduce the user journey.</a:t>
            </a:r>
          </a:p>
          <a:p xmlns:a="http://schemas.openxmlformats.org/drawingml/2006/main">
            <a:r>
              <a:t>They are a conceptual sequence; the component and API details follow later.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VISTA Agentic Items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000-title/000-visual.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 — Business Context: Understand What Is on the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One-minute introduction</a:t>
            </a:r>
          </a:p>
          <a:p xmlns:a="http://schemas.openxmlformats.org/drawingml/2006/main">
            <a:r>
              <a:t>VISTA helps retail teams understand what is happening on store shelves.</a:t>
            </a:r>
          </a:p>
          <a:p xmlns:a="http://schemas.openxmlformats.org/drawingml/2006/main">
            <a:r>
              <a:t>They need to know which products are visible, how many facings each has,</a:t>
            </a:r>
          </a:p>
          <a:p xmlns:a="http://schemas.openxmlformats.org/drawingml/2006/main">
            <a:r>
              <a:t>and what changes between observations, to support inventory decisions,</a:t>
            </a:r>
          </a:p>
          <a:p xmlns:a="http://schemas.openxmlformats.org/drawingml/2006/main">
            <a:r>
              <a:t>brand presentation, and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at the two shelf photos: they make the business question concrete.</a:t>
            </a:r>
          </a:p>
          <a:p xmlns:a="http://schemas.openxmlformats.org/drawingml/2006/main">
            <a:r>
              <a:t>A person captures shelf evidence so it can be analysed and reviewed.</a:t>
            </a:r>
          </a:p>
          <a:p xmlns:a="http://schemas.openxmlformats.org/drawingml/2006/main">
            <a:r>
              <a:t>The aim is to reduce manual inspection effort while retaining the image</a:t>
            </a:r>
          </a:p>
          <a:p xmlns:a="http://schemas.openxmlformats.org/drawingml/2006/main">
            <a:r>
              <a:t>that lets someone check the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we are about to explore handles one part of that bigger story.</a:t>
            </a:r>
          </a:p>
          <a:p xmlns:a="http://schemas.openxmlformats.org/drawingml/2006/main">
            <a:r>
              <a:t>A user uploads a shelf photo, the server coordinates AI analysis,</a:t>
            </a:r>
          </a:p>
          <a:p xmlns:a="http://schemas.openxmlformats.org/drawingml/2006/main">
            <a:r>
              <a:t>and the browser presents identified products and visible facing counts.</a:t>
            </a:r>
          </a:p>
          <a:p xmlns:a="http://schemas.openxmlformats.org/drawingml/2006/main">
            <a:r>
              <a:t>A facing is a visible product front, not the stock hidden behind it.</a:t>
            </a:r>
          </a:p>
          <a:p xmlns:a="http://schemas.openxmlformats.org/drawingml/2006/main">
            <a:r>
              <a:t>The observations can be uncertain and need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that user journey in mind as we move into the architecture:</a:t>
            </a:r>
          </a:p>
          <a:p xmlns:a="http://schemas.openxmlformats.org/drawingml/2006/main">
            <a:r>
              <a:t>photo in, reviewable item report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context and scope</a:t>
            </a:r>
          </a:p>
          <a:p xmlns:a="http://schemas.openxmlformats.org/drawingml/2006/main">
            <a:r>
              <a:t>The broader introduction is the [VISTA LinkedIn overview](../../VISTA-Linkedin-Overview-Presentation.pdf).</a:t>
            </a:r>
          </a:p>
          <a:p xmlns:a="http://schemas.openxmlformats.org/drawingml/2006/main">
            <a:r>
              <a:t>This technical guide assumes that background; this slide is a brief refresher.</a:t>
            </a:r>
          </a:p>
          <a:p xmlns:a="http://schemas.openxmlformats.org/drawingml/2006/main">
            <a:r>
              <a:t>Selected visual: PDF page 2, “Teams need to understand what is happening across stores”.</a:t>
            </a:r>
          </a:p>
          <a:p xmlns:a="http://schemas.openxmlformats.org/drawingml/2006/main">
            <a:r>
              <a:t>It uses original field examples and connects the images to the business questions.</a:t>
            </a:r>
          </a:p>
          <a:p xmlns:a="http://schemas.openxmlformats.org/drawingml/2006/main">
            <a:r>
              <a:t>Comparisons across visits describe the wider business intent, not a claim that</a:t>
            </a:r>
          </a:p>
          <a:p xmlns:a="http://schemas.openxmlformats.org/drawingml/2006/main">
            <a:r>
              <a:t>this uploader module already performs automatic change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Point to the before-and-after photos, then the three questions on the right.</a:t>
            </a:r>
          </a:p>
          <a:p xmlns:a="http://schemas.openxmlformats.org/drawingml/2006/main">
            <a:r>
              <a:t>Close with the need for readable shelf images and move to slide 01's architecture.</a:t>
            </a:r>
          </a:p>
          <a:p xmlns:a="http://schemas.openxmlformats.org/drawingml/2006/main">
            <a:r>
              <a:t>The visual retains its original PDF footer number, 02; this guide numbers it 00.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Understand What Is on the Shelf.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00-business-context/00-visual.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005 - AI Shop Through the 12-Step SDLC2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has two connected purposes.</a:t>
            </a:r>
          </a:p>
          <a:p xmlns:a="http://schemas.openxmlformats.org/drawingml/2006/main">
            <a:r>
              <a:t>It is a real application for analysing shelf images and producing item reports.</a:t>
            </a:r>
          </a:p>
          <a:p xmlns:a="http://schemas.openxmlformats.org/drawingml/2006/main">
            <a:r>
              <a:t>It is also a case study showing how SDLC2 evaluates and develops an AI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introduces the twelve steps lightly.</a:t>
            </a:r>
          </a:p>
          <a:p xmlns:a="http://schemas.openxmlformats.org/drawingml/2006/main">
            <a:r>
              <a:t>The remainder of the presentation uses concrete AI Shop evidence to examine them.</a:t>
            </a:r>
          </a:p>
          <a:p xmlns:a="http://schemas.openxmlformats.org/drawingml/2006/main">
            <a:r>
              <a:t>The steps form a lifecycle, but learning can send the team back to an earlier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Understand</a:t>
            </a:r>
          </a:p>
          <a:p xmlns:a="http://schemas.openxmlformats.org/drawingml/2006/main">
            <a:r>
              <a:t>Business and Technical Context establishes the retail problem and technical environment.</a:t>
            </a:r>
          </a:p>
          <a:p xmlns:a="http://schemas.openxmlformats.org/drawingml/2006/main">
            <a:r>
              <a:t>Intent states the outcome the application should create for its users.</a:t>
            </a:r>
          </a:p>
          <a:p xmlns:a="http://schemas.openxmlformats.org/drawingml/2006/main">
            <a:r>
              <a:t>Use Cases and System Model identify the people, system boundaries, and important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Evaluate</a:t>
            </a:r>
          </a:p>
          <a:p xmlns:a="http://schemas.openxmlformats.org/drawingml/2006/main">
            <a:r>
              <a:t>Benchmarks and Test Strategy define how usefulness, accuracy, and reliability will be judged.</a:t>
            </a:r>
          </a:p>
          <a:p xmlns:a="http://schemas.openxmlformats.org/drawingml/2006/main">
            <a:r>
              <a:t>High-Level Architecture assigns responsibilities across the browser, server, storage, and AI.</a:t>
            </a:r>
          </a:p>
          <a:p xmlns:a="http://schemas.openxmlformats.org/drawingml/2006/main">
            <a:r>
              <a:t>The Working Proof of Concept tests whether that architecture can produce useful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Build</a:t>
            </a:r>
          </a:p>
          <a:p xmlns:a="http://schemas.openxmlformats.org/drawingml/2006/main">
            <a:r>
              <a:t>Planning turns the validated direction into small, reviewable increments.</a:t>
            </a:r>
          </a:p>
          <a:p xmlns:a="http://schemas.openxmlformats.org/drawingml/2006/main">
            <a:r>
              <a:t>Low-Level Design and Specifications define interfaces, records, states, and component behaviour.</a:t>
            </a:r>
          </a:p>
          <a:p xmlns:a="http://schemas.openxmlformats.org/drawingml/2006/main">
            <a:r>
              <a:t>Build, Code, and Test implements those decisions and checks each increment.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Operate and Learn</a:t>
            </a:r>
          </a:p>
          <a:p xmlns:a="http://schemas.openxmlformats.org/drawingml/2006/main">
            <a:r>
              <a:t>Deployment, Infrastructure, and Operational Reality expose the system to real constraints.</a:t>
            </a:r>
          </a:p>
          <a:p xmlns:a="http://schemas.openxmlformats.org/drawingml/2006/main">
            <a:r>
              <a:t>Review, Human QA, and Release confirm that the result is useful and ready for its audience.</a:t>
            </a:r>
          </a:p>
          <a:p xmlns:a="http://schemas.openxmlformats.org/drawingml/2006/main">
            <a:r>
              <a:t>Observability and Learning turn runtime evidence, defects, and feedback into better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 to the technical story</a:t>
            </a:r>
          </a:p>
          <a:p xmlns:a="http://schemas.openxmlformats.org/drawingml/2006/main">
            <a:r>
              <a:t>The next slides move from the framework into the actual Items Vision implementation.</a:t>
            </a:r>
          </a:p>
          <a:p xmlns:a="http://schemas.openxmlformats.org/drawingml/2006/main">
            <a:r>
              <a:t>They follow a shelf photo from the browser to the server, storage, AI analysis, and report.</a:t>
            </a:r>
          </a:p>
          <a:p xmlns:a="http://schemas.openxmlformats.org/drawingml/2006/main">
            <a:r>
              <a:t>Later sections return to benchmarks, tests, deployment evidence, human review, and learning.</a:t>
            </a:r>
          </a:p>
          <a:p xmlns:a="http://schemas.openxmlformats.org/drawingml/2006/main">
            <a:r>
              <a:t>The purpose is not to claim that a diagram proves the architecture.</a:t>
            </a:r>
          </a:p>
          <a:p xmlns:a="http://schemas.openxmlformats.org/drawingml/2006/main">
            <a:r>
              <a:t>The purpose is to show how decisions and evidence accumulate across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one continuous horizontal lifecycle divided into four clearly labelled phases.</a:t>
            </a:r>
          </a:p>
          <a:p xmlns:a="http://schemas.openxmlformats.org/drawingml/2006/main">
            <a:r>
              <a:t>Place three numbered steps in each phase and retain the full step names.</a:t>
            </a:r>
          </a:p>
          <a:p xmlns:a="http://schemas.openxmlformats.org/drawingml/2006/main">
            <a:r>
              <a:t>Use a return path from step 12 toward the beginning to represent continued learning.</a:t>
            </a:r>
          </a:p>
          <a:p xmlns:a="http://schemas.openxmlformats.org/drawingml/2006/main">
            <a:r>
              <a:t>Keep the composition readable as an overview rather than a detailed process diagram.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AI Shop Through the 12-Step SDLC2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005-sdlc2-framework/005-visual.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01 — Intent: Items Vision — From Image to Item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VISTA Agentic Items Vision is the proposed name of this presentation.</a:t>
            </a:r>
          </a:p>
          <a:p xmlns:a="http://schemas.openxmlformats.org/drawingml/2006/main">
            <a:r>
              <a:t>It explains AI Shop's image uploader and analyser implementation.</a:t>
            </a:r>
          </a:p>
          <a:p xmlns:a="http://schemas.openxmlformats.org/drawingml/2006/main">
            <a:r>
              <a:t>The intended outcome is simple: understand how a photo becomes an item report.</a:t>
            </a:r>
          </a:p>
          <a:p xmlns:a="http://schemas.openxmlformats.org/drawingml/2006/main">
            <a:r>
              <a:t>The audience should follow the story without needing to read source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endpoint: the server's front door</a:t>
            </a:r>
          </a:p>
          <a:p xmlns:a="http://schemas.openxmlformats.org/drawingml/2006/main">
            <a:r>
              <a:t>The API entry point is `/v1/agent/analyses`.</a:t>
            </a:r>
          </a:p>
          <a:p xmlns:a="http://schemas.openxmlformats.org/drawingml/2006/main">
            <a:r>
              <a:t>An endpoint is an address where the interface asks the server to do something.</a:t>
            </a:r>
          </a:p>
          <a:p xmlns:a="http://schemas.openxmlformats.org/drawingml/2006/main">
            <a:r>
              <a:t>`POST /v1/agent/analyses` uploads an image and creates its analysis record.</a:t>
            </a:r>
          </a:p>
          <a:p xmlns:a="http://schemas.openxmlformats.org/drawingml/2006/main">
            <a:r>
              <a:t>`POST /v1/agent/analyses/{id}/run` requests analysis of a saved image.</a:t>
            </a:r>
          </a:p>
          <a:p xmlns:a="http://schemas.openxmlformats.org/drawingml/2006/main">
            <a:r>
              <a:t>`GET /v1/agent/analyses/{id}` retrieves its recorded status and result.</a:t>
            </a:r>
          </a:p>
          <a:p xmlns:a="http://schemas.openxmlformats.org/drawingml/2006/main">
            <a:r>
              <a:t>Upload, analysis, and reading results have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user interface: what the person sees</a:t>
            </a:r>
          </a:p>
          <a:p xmlns:a="http://schemas.openxmlformats.org/drawingml/2006/main">
            <a:r>
              <a:t>The browser's Agent page lets an authorised user sign in and upload a JPEG photo.</a:t>
            </a:r>
          </a:p>
          <a:p xmlns:a="http://schemas.openxmlformats.org/drawingml/2006/main">
            <a:r>
              <a:t>It guides the user through uploading, waiting, and reading the result.</a:t>
            </a:r>
          </a:p>
          <a:p xmlns:a="http://schemas.openxmlformats.org/drawingml/2006/main">
            <a:r>
              <a:t>The report shows identified products and their visible facing counts.</a:t>
            </a:r>
          </a:p>
          <a:p xmlns:a="http://schemas.openxmlformats.org/drawingml/2006/main">
            <a:r>
              <a:t>A facing is a visible product front; it does not reveal stock hidden behind it.</a:t>
            </a:r>
          </a:p>
          <a:p xmlns:a="http://schemas.openxmlformats.org/drawingml/2006/main">
            <a:r>
              <a:t>The interface also offers retry or refinement where the record allows it.</a:t>
            </a:r>
          </a:p>
          <a:p xmlns:a="http://schemas.openxmlformats.org/drawingml/2006/main">
            <a:r>
              <a:t>The Agent uses visual evidence and learned product knowledge to identify and count visible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server side: where the work is coordinated</a:t>
            </a:r>
          </a:p>
          <a:p xmlns:a="http://schemas.openxmlformats.org/drawingml/2006/main">
            <a:r>
              <a:t>The server checks identity and permission before accepting a request.</a:t>
            </a:r>
          </a:p>
          <a:p xmlns:a="http://schemas.openxmlformats.org/drawingml/2006/main">
            <a:r>
              <a:t>Cloud Storage holds the source image; Firestore holds status and reports.</a:t>
            </a:r>
          </a:p>
          <a:p xmlns:a="http://schemas.openxmlformats.org/drawingml/2006/main">
            <a:r>
              <a:t>The server submits the image and analysis instructions to OpenAI.</a:t>
            </a:r>
          </a:p>
          <a:p xmlns:a="http://schemas.openxmlformats.org/drawingml/2006/main">
            <a:r>
              <a:t>The background implementation collects the result through server-side tasks.</a:t>
            </a:r>
          </a:p>
          <a:p xmlns:a="http://schemas.openxmlformats.org/drawingml/2006/main">
            <a:r>
              <a:t>The browser reads progress; it does not have to keep the AI request alive.</a:t>
            </a:r>
          </a:p>
          <a:p xmlns:a="http://schemas.openxmlformats.org/drawingml/2006/main">
            <a:r>
              <a:t>Success and failure are recorded so the user can see what happened.</a:t>
            </a:r>
          </a:p>
          <a:p xmlns:a="http://schemas.openxmlformats.org/drawingml/2006/main">
            <a:r>
              <a:t>Model observations remain subject to uncertainty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Presentation Agenda</a:t>
            </a:r>
          </a:p>
          <a:p xmlns:a="http://schemas.openxmlformats.org/drawingml/2006/main">
            <a:r>
              <a:t>The sections take inspiration from SDLC2 and follow the presentation's own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Context and Domain: the shelf-photo problem and why item recognition matters.</a:t>
            </a:r>
          </a:p>
          <a:p xmlns:a="http://schemas.openxmlformats.org/drawingml/2006/main">
            <a:r>
              <a:t>2. Intent: what the system should achieve and what the audience will understand.</a:t>
            </a:r>
          </a:p>
          <a:p xmlns:a="http://schemas.openxmlformats.org/drawingml/2006/main">
            <a:r>
              <a:t>3. System and Use Cases: follow one user's photo from upload to report.</a:t>
            </a:r>
          </a:p>
          <a:p xmlns:a="http://schemas.openxmlformats.org/drawingml/2006/main">
            <a:r>
              <a:t>4. Success Criteria: explain how we assess useful, accurate, and reliable results.</a:t>
            </a:r>
          </a:p>
          <a:p xmlns:a="http://schemas.openxmlformats.org/drawingml/2006/main">
            <a:r>
              <a:t>5. Visual Example: show the uploaded image, interface states, and resulting report.</a:t>
            </a:r>
          </a:p>
          <a:p xmlns:a="http://schemas.openxmlformats.org/drawingml/2006/main">
            <a:r>
              <a:t>6. Solution Architecture: map the interface, endpoints, storage, AI, and data flow.</a:t>
            </a:r>
          </a:p>
          <a:p xmlns:a="http://schemas.openxmlformats.org/drawingml/2006/main">
            <a:r>
              <a:t>7. Low-Level Design and Code: connect key requests and processing steps to code.</a:t>
            </a:r>
          </a:p>
          <a:p xmlns:a="http://schemas.openxmlformats.org/drawingml/2006/main">
            <a:r>
              <a:t>8. Operational Reality: show what is implemented, deployed, and verified in use.</a:t>
            </a:r>
          </a:p>
          <a:p xmlns:a="http://schemas.openxmlformats.org/drawingml/2006/main">
            <a:r>
              <a:t>9. Observability and Learning: explain diagnostics, failures, and lessons learned.</a:t>
            </a:r>
          </a:p>
          <a:p xmlns:a="http://schemas.openxmlformats.org/drawingml/2006/main">
            <a:r>
              <a:t>10. Future Steps: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Start with the user uploading a photo through the browser interface.</a:t>
            </a:r>
          </a:p>
          <a:p xmlns:a="http://schemas.openxmlformats.org/drawingml/2006/main">
            <a:r>
              <a:t>Follow the request to the server, which coordinates storage and AI analysis.</a:t>
            </a:r>
          </a:p>
          <a:p xmlns:a="http://schemas.openxmlformats.org/drawingml/2006/main">
            <a:r>
              <a:t>The server keeps the source image and analysis record, then saves the outcome.</a:t>
            </a:r>
          </a:p>
          <a:p xmlns:a="http://schemas.openxmlformats.org/drawingml/2006/main">
            <a:r>
              <a:t>Return to the browser, where the user reads status and the saved item report.</a:t>
            </a:r>
          </a:p>
          <a:p xmlns:a="http://schemas.openxmlformats.org/drawingml/2006/main">
            <a:r>
              <a:t>The diagram simplifies the flow; collection tasks and individual API calls come later.</a:t>
            </a:r>
          </a:p>
          <a:p xmlns:a="http://schemas.openxmlformats.org/drawingml/2006/main">
            <a:r>
              <a:t>The SVG is the editable visual source; the PNG is its presentation render.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VISTA Agentic Items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01-intent/01-visual.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02 - Main Use Cases and System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and VISTA are related iPhone-led product experiences.</a:t>
            </a:r>
          </a:p>
          <a:p xmlns:a="http://schemas.openxmlformats.org/drawingml/2006/main">
            <a:r>
              <a:t>They serve different people and decisions while sharing much of the server foundation.</a:t>
            </a:r>
          </a:p>
          <a:p xmlns:a="http://schemas.openxmlformats.org/drawingml/2006/main">
            <a:r>
              <a:t>This slide introduces those use cases before the presentation explains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1: AI Shop shopping experience</a:t>
            </a:r>
          </a:p>
          <a:p xmlns:a="http://schemas.openxmlformats.org/drawingml/2006/main">
            <a:r>
              <a:t>A shopper uses the AI Shop iPhone app while considering a product or shelf.</a:t>
            </a:r>
          </a:p>
          <a:p xmlns:a="http://schemas.openxmlformats.org/drawingml/2006/main">
            <a:r>
              <a:t>The phone captures visual evidence and can perform part of the image processing locally.</a:t>
            </a:r>
          </a:p>
          <a:p xmlns:a="http://schemas.openxmlformats.org/drawingml/2006/main">
            <a:r>
              <a:t>Server-side AI adds capabilities that are better protected, coordinated, or processed remotely.</a:t>
            </a:r>
          </a:p>
          <a:p xmlns:a="http://schemas.openxmlformats.org/drawingml/2006/main">
            <a:r>
              <a:t>The result helps the shopper make a better-informed purchasing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earlier AI Shop product path.</a:t>
            </a:r>
          </a:p>
          <a:p xmlns:a="http://schemas.openxmlformats.org/drawingml/2006/main">
            <a:r>
              <a:t>Its iPhone client and individual server endpoints remain relevant to the complete product intent.</a:t>
            </a:r>
          </a:p>
          <a:p xmlns:a="http://schemas.openxmlformats.org/drawingml/2006/main">
            <a:r>
              <a:t>Later slides should state which functions are implemented and which remain immature.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2: VISTA shelf inspection</a:t>
            </a:r>
          </a:p>
          <a:p xmlns:a="http://schemas.openxmlformats.org/drawingml/2006/main">
            <a:r>
              <a:t>A retail team uses VISTA to inspect products and presentation across store shelves.</a:t>
            </a:r>
          </a:p>
          <a:p xmlns:a="http://schemas.openxmlformats.org/drawingml/2006/main">
            <a:r>
              <a:t>The goal is to identify visible products, count facings, and retain evidence for review.</a:t>
            </a:r>
          </a:p>
          <a:p xmlns:a="http://schemas.openxmlformats.org/drawingml/2006/main">
            <a:r>
              <a:t>Today, a person can upload a shelf photograph or video manually through `agent.html`.</a:t>
            </a:r>
          </a:p>
          <a:p xmlns:a="http://schemas.openxmlformats.org/drawingml/2006/main">
            <a:r>
              <a:t>The web Agent provides the more robust current analysis and 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intended destination is integration with the separate VISTA iPhone application.</a:t>
            </a:r>
          </a:p>
          <a:p xmlns:a="http://schemas.openxmlformats.org/drawingml/2006/main">
            <a:r>
              <a:t>That application would capture shelf evidence during an inspection and use the same server capabilities.</a:t>
            </a:r>
          </a:p>
          <a:p xmlns:a="http://schemas.openxmlformats.org/drawingml/2006/main">
            <a:r>
              <a:t>The presentation must label this integration as intended until end-to-end evidence confirms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system model</a:t>
            </a:r>
          </a:p>
          <a:p xmlns:a="http://schemas.openxmlformats.org/drawingml/2006/main">
            <a:r>
              <a:t>Both use cases need secure access, image intake, AI coordination, and result handling.</a:t>
            </a:r>
          </a:p>
          <a:p xmlns:a="http://schemas.openxmlformats.org/drawingml/2006/main">
            <a:r>
              <a:t>The server protects provider credentials and centralises reusable analysis behaviour.</a:t>
            </a:r>
          </a:p>
          <a:p xmlns:a="http://schemas.openxmlformats.org/drawingml/2006/main">
            <a:r>
              <a:t>Shared capabilities reduce duplicated implementation across AI Shop and VISTA.</a:t>
            </a:r>
          </a:p>
          <a:p xmlns:a="http://schemas.openxmlformats.org/drawingml/2006/main">
            <a:r>
              <a:t>The products can still use different prompts, records, interfaces, and decision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infrastructure does not make the two products identical.</a:t>
            </a:r>
          </a:p>
          <a:p xmlns:a="http://schemas.openxmlformats.org/drawingml/2006/main">
            <a:r>
              <a:t>AI Shop supports shopper decisions.</a:t>
            </a:r>
          </a:p>
          <a:p xmlns:a="http://schemas.openxmlformats.org/drawingml/2006/main">
            <a:r>
              <a:t>VISTA supports shelf and store inspection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</a:t>
            </a:r>
          </a:p>
          <a:p xmlns:a="http://schemas.openxmlformats.org/drawingml/2006/main">
            <a:r>
              <a:t>The next slides can follow each user path in more detail.</a:t>
            </a:r>
          </a:p>
          <a:p xmlns:a="http://schemas.openxmlformats.org/drawingml/2006/main">
            <a:r>
              <a:t>The Low-Level Design and Architecture section will focus on the web Vision Agent.</a:t>
            </a:r>
          </a:p>
          <a:p xmlns:a="http://schemas.openxmlformats.org/drawingml/2006/main">
            <a:r>
              <a:t>It will also show how the earlier endpoints and iPhone clients relate to the common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Place the shared vision service as one horizontal foundation.</a:t>
            </a:r>
          </a:p>
          <a:p xmlns:a="http://schemas.openxmlformats.org/drawingml/2006/main">
            <a:r>
              <a:t>Above it, show the AI Shop iPhone shopper path and the VISTA inspection path.</a:t>
            </a:r>
          </a:p>
          <a:p xmlns:a="http://schemas.openxmlformats.org/drawingml/2006/main">
            <a:r>
              <a:t>Within VISTA, distinguish the current manual web Agent from the intended iPhone integration.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Two Product Use Cases Share One Vision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02-user-journey/02-visual.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03 - What AI Shop Must Improve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Benchmarks begin with the useful processes people already have.</a:t>
            </a:r>
          </a:p>
          <a:p xmlns:a="http://schemas.openxmlformats.org/drawingml/2006/main">
            <a:r>
              <a:t>An AI response alone does not establish that AI Shop improves those processes.</a:t>
            </a:r>
          </a:p>
          <a:p xmlns:a="http://schemas.openxmlformats.org/drawingml/2006/main">
            <a:r>
              <a:t>The repository documents three practical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shopping assistance</a:t>
            </a:r>
          </a:p>
          <a:p xmlns:a="http://schemas.openxmlformats.org/drawingml/2006/main">
            <a:r>
              <a:t>A shopper can already photograph a product and ask ChatGPT for advice.</a:t>
            </a:r>
          </a:p>
          <a:p xmlns:a="http://schemas.openxmlformats.org/drawingml/2006/main">
            <a:r>
              <a:t>That process can consider quality, price, preferences, and purchase context.</a:t>
            </a:r>
          </a:p>
          <a:p xmlns:a="http://schemas.openxmlformats.org/drawingml/2006/main">
            <a:r>
              <a:t>Its friction comes from moving between tools and repeatedly explaining the situation.</a:t>
            </a:r>
          </a:p>
          <a:p xmlns:a="http://schemas.openxmlformats.org/drawingml/2006/main">
            <a:r>
              <a:t>AI Shop should require fewer actions and reuse relevant shopping context.</a:t>
            </a:r>
          </a:p>
          <a:p xmlns:a="http://schemas.openxmlformats.org/drawingml/2006/main">
            <a:r>
              <a:t>The recommendation should become clear faster and with less reading or 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Human product identification</a:t>
            </a:r>
          </a:p>
          <a:p xmlns:a="http://schemas.openxmlformats.org/drawingml/2006/main">
            <a:r>
              <a:t>A person can inspect labels, packaging, and surrounding context directly.</a:t>
            </a:r>
          </a:p>
          <a:p xmlns:a="http://schemas.openxmlformats.org/drawingml/2006/main">
            <a:r>
              <a:t>Human judgment needs no application, server, or network connection.</a:t>
            </a:r>
          </a:p>
          <a:p xmlns:a="http://schemas.openxmlformats.org/drawingml/2006/main">
            <a:r>
              <a:t>Dense scenes still take time and can hide small or obscured products.</a:t>
            </a:r>
          </a:p>
          <a:p xmlns:a="http://schemas.openxmlformats.org/drawingml/2006/main">
            <a:r>
              <a:t>AI Shop should organise visible products while declaring uncertain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shelf inspection and review</a:t>
            </a:r>
          </a:p>
          <a:p xmlns:a="http://schemas.openxmlformats.org/drawingml/2006/main">
            <a:r>
              <a:t>An inspector can photograph a shelf and record observations in notes or a spreadsheet.</a:t>
            </a:r>
          </a:p>
          <a:p xmlns:a="http://schemas.openxmlformats.org/drawingml/2006/main">
            <a:r>
              <a:t>A second person can compare those findings with the original photograph.</a:t>
            </a:r>
          </a:p>
          <a:p xmlns:a="http://schemas.openxmlformats.org/drawingml/2006/main">
            <a:r>
              <a:t>The manual process becomes difficult when evidence, findings, and corrections separate.</a:t>
            </a:r>
          </a:p>
          <a:p xmlns:a="http://schemas.openxmlformats.org/drawingml/2006/main">
            <a:r>
              <a:t>AI Shop should preserve one traceable relationship across those materials.</a:t>
            </a:r>
          </a:p>
          <a:p xmlns:a="http://schemas.openxmlformats.org/drawingml/2006/main">
            <a:r>
              <a:t>Reviewer identity, decisions, corrections, and timing should remain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Benchmark principle</a:t>
            </a:r>
          </a:p>
          <a:p xmlns:a="http://schemas.openxmlformats.org/drawingml/2006/main">
            <a:r>
              <a:t>The application should reduce manual effort without replacing human authority.</a:t>
            </a:r>
          </a:p>
          <a:p xmlns:a="http://schemas.openxmlformats.org/drawingml/2006/main">
            <a:r>
              <a:t>Each product use case needs its own comparison with the process it intends to improve.</a:t>
            </a:r>
          </a:p>
          <a:p xmlns:a="http://schemas.openxmlformats.org/drawingml/2006/main">
            <a:r>
              <a:t>AI Shop shopping support and VISTA inspection therefore share methods but not one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Evidence boundary</a:t>
            </a:r>
          </a:p>
          <a:p xmlns:a="http://schemas.openxmlformats.org/drawingml/2006/main">
            <a:r>
              <a:t>These documents define comparison standards rather than measured acceptance thresholds.</a:t>
            </a:r>
          </a:p>
          <a:p xmlns:a="http://schemas.openxmlformats.org/drawingml/2006/main">
            <a:r>
              <a:t>The presentation should not claim that AI Shop already beats every baseline.</a:t>
            </a:r>
          </a:p>
          <a:p xmlns:a="http://schemas.openxmlformats.org/drawingml/2006/main">
            <a:r>
              <a:t>Later slides will show current recognition evidence and the remaining verification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three existing human workflows feeding one evaluation question.</a:t>
            </a:r>
          </a:p>
          <a:p xmlns:a="http://schemas.openxmlformats.org/drawingml/2006/main">
            <a:r>
              <a:t>Make the outcome about reduced effort, preserved evidence, and human authority.</a:t>
            </a:r>
          </a:p>
          <a:p xmlns:a="http://schemas.openxmlformats.org/drawingml/2006/main">
            <a:r>
              <a:t>Avoid model names and implementation details on this slide.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What AI Shop Must Improve.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03-benchmark-purpose/03-visual.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031 - One Shelf, Three Different Readings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uses the actual dense pharmacy shelf and recorded analysis artifacts.</a:t>
            </a:r>
          </a:p>
          <a:p xmlns:a="http://schemas.openxmlformats.org/drawingml/2006/main">
            <a:r>
              <a:t>The concrete disagreement explains why benchmark design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original evidence</a:t>
            </a:r>
          </a:p>
          <a:p xmlns:a="http://schemas.openxmlformats.org/drawingml/2006/main">
            <a:r>
              <a:t>All three readings use the same 1152 by 1536 shelf photograph.</a:t>
            </a:r>
          </a:p>
          <a:p xmlns:a="http://schemas.openxmlformats.org/drawingml/2006/main">
            <a:r>
              <a:t>It contains small labels, occlusion, stacked products, edge cropping, and a carton.</a:t>
            </a:r>
          </a:p>
          <a:p xmlns:a="http://schemas.openxmlformats.org/drawingml/2006/main">
            <a:r>
              <a:t>Those conditions make both identification and counting difficult.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1: provisional reference</a:t>
            </a:r>
          </a:p>
          <a:p xmlns:a="http://schemas.openxmlformats.org/drawingml/2006/main">
            <a:r>
              <a:t>The numbered overlay maps 42 product groups across four shelf regions.</a:t>
            </a:r>
          </a:p>
          <a:p xmlns:a="http://schemas.openxmlformats.org/drawingml/2006/main">
            <a:r>
              <a:t>Its associated GPT report counts 94 visible physical units.</a:t>
            </a:r>
          </a:p>
          <a:p xmlns:a="http://schemas.openxmlformats.org/drawingml/2006/main">
            <a:r>
              <a:t>This reference was obtained by hand from GPT and is not human-approved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2: Agent first run</a:t>
            </a:r>
          </a:p>
          <a:p xmlns:a="http://schemas.openxmlformats.org/drawingml/2006/main">
            <a:r>
              <a:t>The deployed Agent returned 23 product rows totalling 62 facings.</a:t>
            </a:r>
          </a:p>
          <a:p xmlns:a="http://schemas.openxmlformats.org/drawingml/2006/main">
            <a:r>
              <a:t>It also recorded three uncertain entries.</a:t>
            </a:r>
          </a:p>
          <a:p xmlns:a="http://schemas.openxmlformats.org/drawingml/2006/main">
            <a:r>
              <a:t>The run completed and produced a reviewable report, but benchmark parity was not demonstrated.</a:t>
            </a:r>
          </a:p>
          <a:p xmlns:a="http://schemas.openxmlformats.org/drawingml/2006/main">
            <a:r>
              <a:t>Some products were missed, grouped differently, or given an incorrect brand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3: independent visual review</a:t>
            </a:r>
          </a:p>
          <a:p xmlns:a="http://schemas.openxmlformats.org/drawingml/2006/main">
            <a:r>
              <a:t>A separate shelf-by-shelf reading estimated about 57 front facings.</a:t>
            </a:r>
          </a:p>
          <a:p xmlns:a="http://schemas.openxmlformats.org/drawingml/2006/main">
            <a:r>
              <a:t>It also identified 21 units stacked behind those fronts.</a:t>
            </a:r>
          </a:p>
          <a:p xmlns:a="http://schemas.openxmlformats.org/drawingml/2006/main">
            <a:r>
              <a:t>That reading remained a model-assisted opinion rather than verified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Why the totals disagree</a:t>
            </a:r>
          </a:p>
          <a:p xmlns:a="http://schemas.openxmlformats.org/drawingml/2006/main">
            <a:r>
              <a:t>The provisional reference counts visible physical units.</a:t>
            </a:r>
          </a:p>
          <a:p xmlns:a="http://schemas.openxmlformats.org/drawingml/2006/main">
            <a:r>
              <a:t>The Agent contract asks for front facings.</a:t>
            </a:r>
          </a:p>
          <a:p xmlns:a="http://schemas.openxmlformats.org/drawingml/2006/main">
            <a:r>
              <a:t>The independent reading reports both measures separately.</a:t>
            </a:r>
          </a:p>
          <a:p xmlns:a="http://schemas.openxmlformats.org/drawingml/2006/main">
            <a:r>
              <a:t>Product grouping and identity depth also differ across the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Dividing 62 by 94 would produce a misleading number, not an accuracy score.</a:t>
            </a:r>
          </a:p>
          <a:p xmlns:a="http://schemas.openxmlformats.org/drawingml/2006/main">
            <a:r>
              <a:t>The comparison must first fix the counting rule and required identification level.</a:t>
            </a:r>
          </a:p>
          <a:p xmlns:a="http://schemas.openxmlformats.org/drawingml/2006/main">
            <a:r>
              <a:t>A human reviewer must then validate the reference against the source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the actual photograph, numbered overlay, and Agent screenshot prominently.</a:t>
            </a:r>
          </a:p>
          <a:p xmlns:a="http://schemas.openxmlformats.org/drawingml/2006/main">
            <a:r>
              <a:t>Use the real totals as evidence, with a warning that they answer different questions.</a:t>
            </a:r>
          </a:p>
          <a:p xmlns:a="http://schemas.openxmlformats.org/drawingml/2006/main">
            <a:r>
              <a:t>Keep the conclusion simple: define and verify the reference before scoring the model.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One Shelf, Three Different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031-vision-quality-benchmark/031-visual.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032 - Vision Quality and System Reliability Need Different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can complete a request while producing a poor visual interpretation.</a:t>
            </a:r>
          </a:p>
          <a:p xmlns:a="http://schemas.openxmlformats.org/drawingml/2006/main">
            <a:r>
              <a:t>It can also identify products well while the surrounding application fails.</a:t>
            </a:r>
          </a:p>
          <a:p xmlns:a="http://schemas.openxmlformats.org/drawingml/2006/main">
            <a:r>
              <a:t>The test strategy therefore needs two connected but distinct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Vision-quality experiments</a:t>
            </a:r>
          </a:p>
          <a:p xmlns:a="http://schemas.openxmlformats.org/drawingml/2006/main">
            <a:r>
              <a:t>Start with the same original image and a human-verified reference inventory.</a:t>
            </a:r>
          </a:p>
          <a:p xmlns:a="http://schemas.openxmlformats.org/drawingml/2006/main">
            <a:r>
              <a:t>Freeze the counting contract, identity depth, prompt, output schema, and reference revision.</a:t>
            </a:r>
          </a:p>
          <a:p xmlns:a="http://schemas.openxmlformats.org/drawingml/2006/main">
            <a:r>
              <a:t>Change one factor at a time so the comparison can support a causal conclusion.</a:t>
            </a:r>
          </a:p>
          <a:p xmlns:a="http://schemas.openxmlformats.org/drawingml/2006/main">
            <a:r>
              <a:t>Possible factors include model, reasoning setting, context, image detail, and prompt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identification errors, missed products, incorrect counts, and invented products.</a:t>
            </a:r>
          </a:p>
          <a:p xmlns:a="http://schemas.openxmlformats.org/drawingml/2006/main">
            <a:r>
              <a:t>Score responsible uncertainty separately from confident incorrect identification.</a:t>
            </a:r>
          </a:p>
          <a:p xmlns:a="http://schemas.openxmlformats.org/drawingml/2006/main">
            <a:r>
              <a:t>Retain requested and returned model identifiers, usage, latency, cost, and retries.</a:t>
            </a:r>
          </a:p>
          <a:p xmlns:a="http://schemas.openxmlformats.org/drawingml/2006/main">
            <a:r>
              <a:t>Include human review time because cheap output can become expensive to correct.</a:t>
            </a:r>
          </a:p>
          <a:p xmlns:a="http://schemas.openxmlformats.org/drawingml/2006/main">
            <a:r>
              <a:t>Repeat promising settings and then test them on unseen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System-reliability tests</a:t>
            </a:r>
          </a:p>
          <a:p xmlns:a="http://schemas.openxmlformats.org/drawingml/2006/main">
            <a:r>
              <a:t>Verify authentication and the separation of each account's analyses.</a:t>
            </a:r>
          </a:p>
          <a:p xmlns:a="http://schemas.openxmlformats.org/drawingml/2006/main">
            <a:r>
              <a:t>Confirm that uploads preserve the original source evidence.</a:t>
            </a:r>
          </a:p>
          <a:p xmlns:a="http://schemas.openxmlformats.org/drawingml/2006/main">
            <a:r>
              <a:t>Exercise recorded progress, browser refresh, terminal states, and result retrieval.</a:t>
            </a:r>
          </a:p>
          <a:p xmlns:a="http://schemas.openxmlformats.org/drawingml/2006/main">
            <a:r>
              <a:t>Refinement and retry must create traceable runs without erasing earlier evidence.</a:t>
            </a:r>
          </a:p>
          <a:p xmlns:a="http://schemas.openxmlformats.org/drawingml/2006/main">
            <a:r>
              <a:t>Failures should retain safe diagnostic references without exposing private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Video adds its own requirements.</a:t>
            </a:r>
          </a:p>
          <a:p xmlns:a="http://schemas.openxmlformats.org/drawingml/2006/main">
            <a:r>
              <a:t>The system must handle upload interruption, frame extraction, analysis, and playback.</a:t>
            </a:r>
          </a:p>
          <a:p xmlns:a="http://schemas.openxmlformats.org/drawingml/2006/main">
            <a:r>
              <a:t>Sampled frames represent one continuous scan rather than independent photographs.</a:t>
            </a:r>
          </a:p>
          <a:p xmlns:a="http://schemas.openxmlformats.org/drawingml/2006/main">
            <a:r>
              <a:t>The result should retain frame provenance and avoid counting the same facing twice.</a:t>
            </a:r>
          </a:p>
          <a:p xmlns:a="http://schemas.openxmlformats.org/drawingml/2006/main">
            <a:r>
              <a:t>Refresh, task replay, and reconnection should not create duplicate analyses or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Release boundary</a:t>
            </a:r>
          </a:p>
          <a:p xmlns:a="http://schemas.openxmlformats.org/drawingml/2006/main">
            <a:r>
              <a:t>Automated tests, manual QA, and model-quality benchmarks answer different questions.</a:t>
            </a:r>
          </a:p>
          <a:p xmlns:a="http://schemas.openxmlformats.org/drawingml/2006/main">
            <a:r>
              <a:t>No single green check proves visual accuracy, deployment, or human acceptance.</a:t>
            </a:r>
          </a:p>
          <a:p xmlns:a="http://schemas.openxmlformats.org/drawingml/2006/main">
            <a:r>
              <a:t>A release decision needs evidence from both quality and reliability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two test rails running in parallel toward one evidence-based release decision.</a:t>
            </a:r>
          </a:p>
          <a:p xmlns:a="http://schemas.openxmlformats.org/drawingml/2006/main">
            <a:r>
              <a:t>Use distinct colours for visual interpretation and application reliability.</a:t>
            </a:r>
          </a:p>
          <a:p xmlns:a="http://schemas.openxmlformats.org/drawingml/2006/main">
            <a:r>
              <a:t>Join the rails only at the final decision gate.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Vision Quality and System Reliability Need Different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032-test-strategy/032-visual.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773bf4711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c723189fc43c2" /><Relationship Type="http://schemas.openxmlformats.org/officeDocument/2006/relationships/slideLayout" Target="/ppt/slideLayouts/slideLayout1.xml" Id="Rb02ac4d5d686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ac4d5d686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68a998b5a4c0e" /><Relationship Type="http://schemas.openxmlformats.org/officeDocument/2006/relationships/notesSlide" Target="/ppt/notesSlides/notesSlide1.xml" Id="R6a33111f421442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3f93cf91042b5" /><Relationship Type="http://schemas.openxmlformats.org/officeDocument/2006/relationships/image" Target="/ppt/media/image.png" Id="R85a512f926dd41d6" /><Relationship Type="http://schemas.openxmlformats.org/officeDocument/2006/relationships/notesSlide" Target="/ppt/notesSlides/notesSlide2.xml" Id="R5a955ecd649e4d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54ec4f7c4470a" /><Relationship Type="http://schemas.openxmlformats.org/officeDocument/2006/relationships/notesSlide" Target="/ppt/notesSlides/notesSlide3.xml" Id="R2371ea8a37b747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c5308871d4e15" /><Relationship Type="http://schemas.openxmlformats.org/officeDocument/2006/relationships/image" Target="/ppt/media/image2.png" Id="Ra13c6c8fd318448a" /><Relationship Type="http://schemas.openxmlformats.org/officeDocument/2006/relationships/notesSlide" Target="/ppt/notesSlides/notesSlide4.xml" Id="R5f17e6ca560a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10dffa1154f9a" /><Relationship Type="http://schemas.openxmlformats.org/officeDocument/2006/relationships/notesSlide" Target="/ppt/notesSlides/notesSlide5.xml" Id="R2f7f18cf4bdb43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2dd234f3d4413" /><Relationship Type="http://schemas.openxmlformats.org/officeDocument/2006/relationships/image" Target="/ppt/media/image3.png" Id="Re32498b908604d20" /><Relationship Type="http://schemas.openxmlformats.org/officeDocument/2006/relationships/notesSlide" Target="/ppt/notesSlides/notesSlide6.xml" Id="Rde1529bb572c4c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309ed91f2400f" /><Relationship Type="http://schemas.openxmlformats.org/officeDocument/2006/relationships/notesSlide" Target="/ppt/notesSlides/notesSlide7.xml" Id="R641abefda452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7519093164ccf" /><Relationship Type="http://schemas.openxmlformats.org/officeDocument/2006/relationships/image" Target="/ppt/media/image4.png" Id="R0f533bec0e6449bc" /><Relationship Type="http://schemas.openxmlformats.org/officeDocument/2006/relationships/notesSlide" Target="/ppt/notesSlides/notesSlide8.xml" Id="R9432c49bcf0240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417aeb16a44c1" /><Relationship Type="http://schemas.openxmlformats.org/officeDocument/2006/relationships/notesSlide" Target="/ppt/notesSlides/notesSlide9.xml" Id="R73bad0792f354c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ae53310dc4d52" /><Relationship Type="http://schemas.openxmlformats.org/officeDocument/2006/relationships/image" Target="/ppt/media/image5.png" Id="R8bd0325be0aa4e5c" /><Relationship Type="http://schemas.openxmlformats.org/officeDocument/2006/relationships/notesSlide" Target="/ppt/notesSlides/notesSlide10.xml" Id="Rac2540b9f49042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43439b4974791" /><Relationship Type="http://schemas.openxmlformats.org/officeDocument/2006/relationships/notesSlide" Target="/ppt/notesSlides/notesSlide11.xml" Id="Ra4686e9ea77043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b82b1149e4321" /><Relationship Type="http://schemas.openxmlformats.org/officeDocument/2006/relationships/image" Target="/ppt/media/image6.png" Id="R75caf4f59bd54e00" /><Relationship Type="http://schemas.openxmlformats.org/officeDocument/2006/relationships/notesSlide" Target="/ppt/notesSlides/notesSlide12.xml" Id="R4a7697ce332b49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241cf885c4588" /><Relationship Type="http://schemas.openxmlformats.org/officeDocument/2006/relationships/notesSlide" Target="/ppt/notesSlides/notesSlide13.xml" Id="R1696b53f3e404e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2c0a02135422c" /><Relationship Type="http://schemas.openxmlformats.org/officeDocument/2006/relationships/image" Target="/ppt/media/image7.png" Id="R1a5d8c2271e24e12" /><Relationship Type="http://schemas.openxmlformats.org/officeDocument/2006/relationships/notesSlide" Target="/ppt/notesSlides/notesSlide14.xml" Id="R77ba7689b7d64f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8dc07cbbf48c4" /><Relationship Type="http://schemas.openxmlformats.org/officeDocument/2006/relationships/notesSlide" Target="/ppt/notesSlides/notesSlide15.xml" Id="R30ec384aefe142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b7c6f17146f6" /><Relationship Type="http://schemas.openxmlformats.org/officeDocument/2006/relationships/image" Target="/ppt/media/image8.png" Id="Re25a9b1d82e142c1" /><Relationship Type="http://schemas.openxmlformats.org/officeDocument/2006/relationships/notesSlide" Target="/ppt/notesSlides/notesSlide16.xml" Id="R1bf18cc2ea4b43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75889-8C4F-49F3-B835-C5A815EC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8F158-8F9A-4B50-9667-011982F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62687-97AB-49EF-8750-0F0CDD9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AI SHOP · VISTA · SDLC2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866CD-8E86-4559-92D8-9C53823A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238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 Agentic Items 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861E-AAFF-4E8C-B3ED-AB3CCBAD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From Shelf Photo to Item Report</a:t>
            </a:r>
          </a:p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User Journey, Architecture, and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D0833-1039-458B-ABC9-AB4F405B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0F04A-6BF8-42D2-87DF-C1C6545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D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D1D4"/>
                </a:solidFill>
                <a:latin typeface="Arial"/>
                <a:ea typeface="Arial"/>
                <a:cs typeface="Arial"/>
              </a:rPr>
              <a:t>A real application evaluated through a complete software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9CD82-537D-4B73-A456-22218CC7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524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1665705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512f926dd41d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21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7F4AF-72D5-4CD5-99CD-CC6776D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E92D-B869-4BB3-ADE9-A0D2F9DC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9F57A-47D8-4063-8CD9-6B8B66D7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B55AE-CEC1-440D-A9D0-CEB9DA3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Understand What Is on the Shelf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9A67F-48E6-4343-9FC9-49B5985C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9175A-430B-4604-AFCF-59DCE261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BA8D7-2A1F-41FE-A6DA-7EA41E0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7BF0B-D6FE-4126-806B-A913C26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Capture shelf photos as evidence for inspection.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C3726-7D89-426E-969B-415E37F5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D50AF-0033-49BD-A49D-ED4BF28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Identify visible products and count their facings.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EDB90-CFF9-43E5-90B8-4706B88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BB277-93D1-47CE-A204-0589AFCF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Help teams understand shelf presence and changes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090E8-628D-43E6-85C2-D4CC98B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59D54-70C2-4570-BEAC-24B88A6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Support inventory decisions, brand presentation, and sales.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F14B8-2C21-4CE0-8017-790D676B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B75A0-43CD-4134-8358-D9269D6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This module turns an uploaded photo into a reviewable item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7D22E-628D-4B1A-B057-EA17C3FA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874925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c6c8fd318448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768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0148D4-69C3-4ACF-AEFB-FED3653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697AA-2E32-4F09-BBA0-2B53C41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E4651-71B1-4CE8-AFB1-22075E45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CE493-1968-4D96-B9FD-CAC84512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Through the 12-Step SDLC2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9EBF1-BCBA-42E9-BD2D-0AB386E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68BB5-288F-4389-A2FF-BE404061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92565-70D0-4075-AFE8-540C015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is both a working application and an SDLC2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E628-355F-4D77-8611-1A57CBD9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51B79-CFB2-4299-B383-10BD6A85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43465-C80C-4AB3-A92A-86207C84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BF41C-1E59-486E-BADC-F48C54A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Business and Technical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A1EBB-31FF-44E2-BA5E-0CE3EF0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77D80-75A0-4774-A63D-4606589C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2.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840A4-76B9-4536-B619-C5BAB98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94700-598C-4775-ACB0-63034611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3. Use Cases and System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0C5F3-31E3-4F83-9969-B9493185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17451-8285-4D9E-AB6D-ADEB1FD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AE515-C21B-4D5F-B7BA-CCF53076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3D9A3-62A0-46DB-91C1-9937DE15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4. Benchmarks and Test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623F9-4103-4306-8298-FDB51A7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AEF2D-93AF-4115-A710-73B80A5A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5. High-Level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CE9E5-3753-4515-BE48-64478CC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67B8C-5E31-4656-A1E0-22928BA1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6. Working Proof of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3B63D-0B6A-4810-8706-1BEC238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AAC24-F48E-4F6E-9CAE-2D6BFCF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FCE1F-6D2C-4E60-B395-E513DD3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9B593-9CB8-4A6F-A7CB-B411E74A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7. Planning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3E9C1-373D-4204-884B-362C2D7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E5EE5-AAFC-4255-9FBF-32EB7B7B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8. Low-Level Design and Specifications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3C03E-DE78-412E-8A3B-F35A9A2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E13C8-8552-4322-A9C5-5087F159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9. Build, Code, and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954457-395E-418F-99FC-5C1F7378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63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BF2E93-A47C-4CED-8513-45067AFC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63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Operate and Learn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23848E-88F2-4DAE-964B-FACE2D03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B8AEB-D726-4FA0-88BB-3CAEA317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3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10. Deployment, Infrastructure, and Operational Reality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5A3067-8D85-4858-8CB3-FBD49C8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9E58F7-E30B-41C3-8492-CB882C1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11. Review, Human QA, and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B46B3E-0815-4AF3-B215-A8276F0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6FC98B-32C7-4177-8BDE-4E1D6B4D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12. Observability and 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D8360A-9C3E-4C8F-87C1-25B7AB5A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353275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498b908604d2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917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78C43-2A6E-4BB5-AD71-AD568B5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179DE-5268-4B47-A3AE-6A676DA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71A31-CBC7-437E-BBA5-FA36F58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20585-1A20-4112-8769-8E8E670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VISTA Agentic Items 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C73F3-B2DE-4A2E-A689-9BF9279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D78C5-9E6B-4E52-9381-7E91F16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85D0B-1FD0-4C5D-884D-4BA0A171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From image to item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06D44-437A-49DC-AC26-6753F36E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7316F-90B0-457C-92E7-AC09EAB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a shelf photo through the browser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05D99-DF3E-445D-96CA-4487D356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343EE-7A24-4426-A650-8125C49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server checks access, saves the image, and coordinates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AB81E-1186-4808-BB2B-1A1E2EC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B8E9F-027C-4575-BB61-8E40A2BE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identifies products and counts visible facings.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2FA76-0B6F-4EEF-98DA-A61F7BC1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E5F78-8BA8-4D1F-B02B-DBAAEEBF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 progress and the saved report in the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D49A3-0B25-4B7E-8ED6-CCD7D57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68AAC-3534-4672-8592-EA3BCDC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 the observations: recognition can be uncertain.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BB014-5CA7-45D0-8780-0543804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440110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33bec0e6449b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725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D6BAA-4C3A-474D-B049-04E44EE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872FE-938E-4E59-8C48-8E6677C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6976B-03FD-4677-89CD-ABF3EA2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74F9C-C390-42CC-A68E-FFCC3EC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Two Product Use Cases Share One Vision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BA793-DB45-4FE8-902B-DE5D64F0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B3F17-C244-4A30-8360-3FFCBD74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4E4F6-9EC6-47B7-A50B-1DC54AC6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AI Shop shopping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A4428-52F4-4EC1-824E-81453DD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B28EC-9E80-4123-A811-A5ABC9D7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AI Shop iPhone app scans products for shoppers.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E1BA0-F961-45A9-8CDC-83F0B9FB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B6501-3B90-497D-B62A-350ED040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Image processing can occur on the iPhone and through server-side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0AE8C-9F09-4B15-AF44-E9612752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6000A-EEB0-4665-96A5-B1C979A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help shoppers make better-informed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36051-4941-47B4-AB2F-51DF576D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C7024-D008-4A84-BB35-2AF2E7E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VISTA shelf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1F971-9EBB-4F4A-A678-98AC7BA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DC2E0-1B7E-42F8-BF51-4AFC7652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web Agent manually analyses shelf photographs and videos today.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2E7B9-3B0F-433A-86E6-B6A59CE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BA60C-9D05-41DF-AC8E-3D94339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intended VISTA iPhone app will capture evidence during store inspections.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AEB80-B224-4FC1-A0A4-E0F48C66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C59B5-7CF9-48F1-A482-1F4B2D5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identify shelf products and count visible facings.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95A12-8CE6-47F6-96EE-DB547505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8592B-1197-4048-A69F-5996E54F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Both experiences reuse common server capabilities while serving different users.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E511A-77C9-42E9-A0E4-EABA3F6C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015210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0325be0aa4e5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718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C356F-0B7F-460C-9F26-05B4098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F685F-F33D-42D6-8C22-688EB7A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2F0E8-A208-479A-9D17-90BABBB8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58FBF-9E73-40F2-B1D8-5AD9EB31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What AI Shop Must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ADAD0-A47E-4E7B-A471-EAAD1EB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780C9-968F-4080-86B8-D236F92D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C6ADB-FD81-4D68-BD93-C3A9D7F7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must outperform useful human workflows, not merely return an AI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61B47-AD8C-4A89-8FCB-E9971E2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A8D71-DF14-45BE-B795-88D2702A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Shopping assistance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CD3D8-A6B0-48A7-B705-AE5A078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53D7B-596E-4951-AD2F-A9AB667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Reach a decision with less image handling, repeated context, and conversation.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81A33-6EFA-4A78-AF4F-A7738DC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2BE1C-9C6B-4295-9FA8-F4833F5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Product identification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9B949-E9ED-4393-9079-69E93AA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64186-E8A6-4D46-B40E-4A27AC37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Make a complex scene faster to understand while showing uncertainty honestly.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95A0C-F258-48CB-BF25-2B30C878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92A83-0395-4744-AE9A-32B6A28D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Shelf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31AA7-DFDB-4625-8BE4-BD18877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35272-825B-4CB4-A6B9-D2BEE54B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Keep the source image, AI findings, corrections, reviewer, and timing connected.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14EE0-0605-4CC4-86B2-C67AECF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6C82-5508-4458-B517-4A835958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application should reduce effort without weakening human judgment.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B9D1D-954C-4E85-A912-961308B1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205609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af4f59bd54e0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472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37314-0718-4917-9423-F94EF93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2C0E6-3A02-4CD2-AAAE-A616878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74842-A5F0-4510-8CBF-744D45F3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61100-235A-4665-AC5B-7122B1C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One Shelf, Three Different Readings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FCD3E-85F9-4985-8345-82F46329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5C56-A4E2-43D4-AD24-B23CC73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A346F-D24E-4C3A-A2E5-F593004E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0E3FF-7BB1-4CCA-A2B1-F2C1C188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same dense shelf produced three incompatible descriptions.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03013-35F9-4548-8C59-2AF7095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773C1-21FF-4ED8-8851-C39B89E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Provisional GPT reference: 42 product groups and 94 visible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60D4C-E9A7-4A1A-B7BB-BDEC010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77435-BF56-49D7-9CDE-1E57581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first run: 23 rows, 62 facings, and 3 uncertain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873B5-DA50-4083-9092-0D3F8175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07E13-EE5A-43C7-9D40-70C6AE2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Independent visual read: about 57 facings plus 21 stacked units.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13AFA-5961-4C4C-BF51-CD7D6B1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4287E-1B1D-418A-928D-74C0694C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These totals answer different counting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24085-E055-4C47-ADC4-63FE467E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9A444-5790-48C2-B015-FE19F9F2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They cannot be converted into an accuracy percentage.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64F79-9BFB-4D4E-8D74-FC4CC40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FA5B3-4A3E-4ECD-8D4C-43BBC008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human-verified reference and an agreed counting contract must come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A97FA-4384-4598-9425-C3EE95C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2855680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d8c2271e24e1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971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4BCF9-B9A6-4D1C-A5AC-21EFC68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34567-98B6-4A8B-B4C5-14BCA3FC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749A8-1935-4425-941F-2AFB00EA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54F27-C812-47CE-8BDF-ABBA4740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Quality and System Reliability Need Different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EE4CD-D520-4446-97DF-CAF85FB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57C71-B8A1-4A6E-954D-D9FF715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7770-1868-4E2E-AC04-42C48CF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Vision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2C5CC-489F-454A-A388-8ADAB8C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6C909-04E5-41F6-A7DB-84AF90B4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Freeze the source image, prompt, schema, and human-verified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69DA6-F215-4588-A04D-97ECF9BE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ED958-7A60-4C00-A326-C079A01A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Change one model, reasoning, context, or image setting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F7955-A395-4102-B6AB-DB98ED0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5F824-C9FB-402A-9DFE-832D28D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2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Score identification, omissions, counts, inventions, and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9C352-3889-40F5-A4AC-10F53153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E1F32-7DFC-49A7-8731-34BC0D6C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 latency, usage, cost, retries, and review effort.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2D992-112E-4C86-9536-E0CE330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DE0F5-D67A-4F20-8859-F6F6BFAE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System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23483-A4B5-4C87-919E-868CAD0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6074C-F66C-4284-AE9A-9EF1E9B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access control, upload, durable progress, and saved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21A1A-665A-4EBB-A15C-4325FD1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EDB80-54C7-49B2-BC25-19B23FBA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Test refresh, refinement, retry, and failure diagnostics.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30977-34FF-44B2-869A-4548D461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CEF12-9D79-4EDE-83AB-26FDD6C0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 video, preserve frame provenance and prevent duplicate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4BBCA-D8B0-4963-BF2F-3268439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73F89-992D-47F8-B7FD-020B44D2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Release decisions require evidence from both test paths.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29771-F417-4CFB-94F3-0AD4844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20067921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a9b1d82e142c1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2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2026-09-15T03:37:02.6520000Z</dcterms:created>
  <dcterms:modified xsi:type="dcterms:W3CDTF">2026-09-15T03:37:02.6520000Z</dcterms:modified>
</coreProperties>
</file>