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50bab178cb94fdb" /><Relationship Type="http://schemas.openxmlformats.org/officeDocument/2006/relationships/extended-properties" Target="/docProps/app.xml" Id="R5a2221f8ef944332" /><Relationship Type="http://schemas.openxmlformats.org/officeDocument/2006/relationships/officeDocument" Target="/ppt/presentation.xml" Id="Re414ad6fe40e4f8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4fba67105304f74"/>
  </p:sldMasterIdLst>
  <p:notesMasterIdLst>
    <p:notesMasterId xmlns:r="http://schemas.openxmlformats.org/officeDocument/2006/relationships" r:id="R814bbfe9cc924d6d"/>
  </p:notesMasterIdLst>
  <p:sldIdLst>
    <p:sldId xmlns:r="http://schemas.openxmlformats.org/officeDocument/2006/relationships" id="256" r:id="R4da0cd09fda64f63"/>
    <p:sldId xmlns:r="http://schemas.openxmlformats.org/officeDocument/2006/relationships" id="257" r:id="Rc962c75e5af44652"/>
    <p:sldId xmlns:r="http://schemas.openxmlformats.org/officeDocument/2006/relationships" id="258" r:id="R7c33c5a3c46d4a82"/>
    <p:sldId xmlns:r="http://schemas.openxmlformats.org/officeDocument/2006/relationships" id="259" r:id="R0e0623b84677427d"/>
    <p:sldId xmlns:r="http://schemas.openxmlformats.org/officeDocument/2006/relationships" id="260" r:id="Rbe233271f2874b89"/>
    <p:sldId xmlns:r="http://schemas.openxmlformats.org/officeDocument/2006/relationships" id="261" r:id="Rfda353c21c86467f"/>
    <p:sldId xmlns:r="http://schemas.openxmlformats.org/officeDocument/2006/relationships" id="262" r:id="Ra747fe7f4bb74ae4"/>
    <p:sldId xmlns:r="http://schemas.openxmlformats.org/officeDocument/2006/relationships" id="263" r:id="Ra59bf80ac198455f"/>
    <p:sldId xmlns:r="http://schemas.openxmlformats.org/officeDocument/2006/relationships" id="264" r:id="Rb325ebee716e46ac"/>
    <p:sldId xmlns:r="http://schemas.openxmlformats.org/officeDocument/2006/relationships" id="265" r:id="R013843fafaa74357"/>
    <p:sldId xmlns:r="http://schemas.openxmlformats.org/officeDocument/2006/relationships" id="266" r:id="Rf728dccd04bc4a64"/>
    <p:sldId xmlns:r="http://schemas.openxmlformats.org/officeDocument/2006/relationships" id="267" r:id="R6480bc6ab38b4d9e"/>
    <p:sldId xmlns:r="http://schemas.openxmlformats.org/officeDocument/2006/relationships" id="268" r:id="R2c802a06a9e24652"/>
    <p:sldId xmlns:r="http://schemas.openxmlformats.org/officeDocument/2006/relationships" id="269" r:id="Rc4b3c9735f3c48a3"/>
    <p:sldId xmlns:r="http://schemas.openxmlformats.org/officeDocument/2006/relationships" id="270" r:id="Rd5b08d458cab4363"/>
    <p:sldId xmlns:r="http://schemas.openxmlformats.org/officeDocument/2006/relationships" id="271" r:id="R7b03849c67e04650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dab486449f24144" /><Relationship Type="http://schemas.openxmlformats.org/officeDocument/2006/relationships/slideMaster" Target="/ppt/slideMasters/slideMaster1.xml" Id="Rc4fba67105304f74" /><Relationship Type="http://schemas.openxmlformats.org/officeDocument/2006/relationships/notesMaster" Target="/ppt/notesMasters/notesMaster1.xml" Id="R814bbfe9cc924d6d" /><Relationship Type="http://schemas.openxmlformats.org/officeDocument/2006/relationships/presProps" Target="/ppt/presProps.xml" Id="R89c18e1dec124127" /><Relationship Type="http://schemas.openxmlformats.org/officeDocument/2006/relationships/tableStyles" Target="/ppt/tableStyles.xml" Id="R5e6e8f111b4a4bf5" /><Relationship Type="http://schemas.openxmlformats.org/officeDocument/2006/relationships/slide" Target="/ppt/slides/slide1.xml" Id="R4da0cd09fda64f63" /><Relationship Type="http://schemas.openxmlformats.org/officeDocument/2006/relationships/slide" Target="/ppt/slides/slide2.xml" Id="Rc962c75e5af44652" /><Relationship Type="http://schemas.openxmlformats.org/officeDocument/2006/relationships/slide" Target="/ppt/slides/slide3.xml" Id="R7c33c5a3c46d4a82" /><Relationship Type="http://schemas.openxmlformats.org/officeDocument/2006/relationships/slide" Target="/ppt/slides/slide4.xml" Id="R0e0623b84677427d" /><Relationship Type="http://schemas.openxmlformats.org/officeDocument/2006/relationships/slide" Target="/ppt/slides/slide5.xml" Id="Rbe233271f2874b89" /><Relationship Type="http://schemas.openxmlformats.org/officeDocument/2006/relationships/slide" Target="/ppt/slides/slide6.xml" Id="Rfda353c21c86467f" /><Relationship Type="http://schemas.openxmlformats.org/officeDocument/2006/relationships/slide" Target="/ppt/slides/slide7.xml" Id="Ra747fe7f4bb74ae4" /><Relationship Type="http://schemas.openxmlformats.org/officeDocument/2006/relationships/slide" Target="/ppt/slides/slide8.xml" Id="Ra59bf80ac198455f" /><Relationship Type="http://schemas.openxmlformats.org/officeDocument/2006/relationships/slide" Target="/ppt/slides/slide9.xml" Id="Rb325ebee716e46ac" /><Relationship Type="http://schemas.openxmlformats.org/officeDocument/2006/relationships/slide" Target="/ppt/slides/slide10.xml" Id="R013843fafaa74357" /><Relationship Type="http://schemas.openxmlformats.org/officeDocument/2006/relationships/slide" Target="/ppt/slides/slide11.xml" Id="Rf728dccd04bc4a64" /><Relationship Type="http://schemas.openxmlformats.org/officeDocument/2006/relationships/slide" Target="/ppt/slides/slide12.xml" Id="R6480bc6ab38b4d9e" /><Relationship Type="http://schemas.openxmlformats.org/officeDocument/2006/relationships/slide" Target="/ppt/slides/slide13.xml" Id="R2c802a06a9e24652" /><Relationship Type="http://schemas.openxmlformats.org/officeDocument/2006/relationships/slide" Target="/ppt/slides/slide14.xml" Id="Rc4b3c9735f3c48a3" /><Relationship Type="http://schemas.openxmlformats.org/officeDocument/2006/relationships/slide" Target="/ppt/slides/slide15.xml" Id="Rd5b08d458cab4363" /><Relationship Type="http://schemas.openxmlformats.org/officeDocument/2006/relationships/slide" Target="/ppt/slides/slide16.xml" Id="R7b03849c67e0465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1309321c6304c2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82c28361fe54ae9" /><Relationship Type="http://schemas.openxmlformats.org/officeDocument/2006/relationships/notesMaster" Target="/ppt/notesMasters/notesMaster1.xml" Id="Rb8e0b48a4a90405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f185969289340bc" /><Relationship Type="http://schemas.openxmlformats.org/officeDocument/2006/relationships/notesMaster" Target="/ppt/notesMasters/notesMaster1.xml" Id="R728f1f4bbde842d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5fa3585631c4a5c" /><Relationship Type="http://schemas.openxmlformats.org/officeDocument/2006/relationships/notesMaster" Target="/ppt/notesMasters/notesMaster1.xml" Id="Ree43e8bc1b0f4ab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765706b7cac4c42" /><Relationship Type="http://schemas.openxmlformats.org/officeDocument/2006/relationships/notesMaster" Target="/ppt/notesMasters/notesMaster1.xml" Id="Rb13c9ebc96ea41a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8c1293da9bd46a9" /><Relationship Type="http://schemas.openxmlformats.org/officeDocument/2006/relationships/notesMaster" Target="/ppt/notesMasters/notesMaster1.xml" Id="R1219fc90bd784b9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73b22fa02a34d90" /><Relationship Type="http://schemas.openxmlformats.org/officeDocument/2006/relationships/notesMaster" Target="/ppt/notesMasters/notesMaster1.xml" Id="Rbc86e9879b1640f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400cb87e63a4eac" /><Relationship Type="http://schemas.openxmlformats.org/officeDocument/2006/relationships/notesMaster" Target="/ppt/notesMasters/notesMaster1.xml" Id="R69e40d1c6858462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0ed302cf8c641de" /><Relationship Type="http://schemas.openxmlformats.org/officeDocument/2006/relationships/notesMaster" Target="/ppt/notesMasters/notesMaster1.xml" Id="Re8a6826a2dee462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5944e49fd7847a8" /><Relationship Type="http://schemas.openxmlformats.org/officeDocument/2006/relationships/notesMaster" Target="/ppt/notesMasters/notesMaster1.xml" Id="Rdf6f13392d344b9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87af018169448a8" /><Relationship Type="http://schemas.openxmlformats.org/officeDocument/2006/relationships/notesMaster" Target="/ppt/notesMasters/notesMaster1.xml" Id="Rf31ac4d6abf6453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16d71c0ecbc467c" /><Relationship Type="http://schemas.openxmlformats.org/officeDocument/2006/relationships/notesMaster" Target="/ppt/notesMasters/notesMaster1.xml" Id="R0a1057025e4d486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0d395744d804796" /><Relationship Type="http://schemas.openxmlformats.org/officeDocument/2006/relationships/notesMaster" Target="/ppt/notesMasters/notesMaster1.xml" Id="Rb00629d7411d451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b1fb3cd0e2747bc" /><Relationship Type="http://schemas.openxmlformats.org/officeDocument/2006/relationships/notesMaster" Target="/ppt/notesMasters/notesMaster1.xml" Id="R9387fa7d2fe7435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9826b50ba58469f" /><Relationship Type="http://schemas.openxmlformats.org/officeDocument/2006/relationships/notesMaster" Target="/ppt/notesMasters/notesMaster1.xml" Id="Racd921135309419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5da394a25104fb8" /><Relationship Type="http://schemas.openxmlformats.org/officeDocument/2006/relationships/notesMaster" Target="/ppt/notesMasters/notesMaster1.xml" Id="R59135bf29f054bd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0c689f0ac9048fc" /><Relationship Type="http://schemas.openxmlformats.org/officeDocument/2006/relationships/notesMaster" Target="/ppt/notesMasters/notesMaster1.xml" Id="Rf6940778b649477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 000 — VISTA Agentic Items Vision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Welcome to the technical introduction to VISTA's image uploader and analyser.</a:t>
            </a:r>
          </a:p>
          <a:p xmlns:a="http://schemas.openxmlformats.org/drawingml/2006/main">
            <a:r>
              <a:t>We will follow a shelf photo from the user's upload to a reviewable item report.</a:t>
            </a:r>
          </a:p>
          <a:p xmlns:a="http://schemas.openxmlformats.org/drawingml/2006/main">
            <a:r>
              <a:t>The story connects the user journey, the architecture, and the implementation.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Start with the short business refresher on the next slide.</a:t>
            </a:r>
          </a:p>
          <a:p xmlns:a="http://schemas.openxmlformats.org/drawingml/2006/main">
            <a:r>
              <a:t>Then explain how the interface, server, storage, and AI work together.</a:t>
            </a:r>
          </a:p>
          <a:p xmlns:a="http://schemas.openxmlformats.org/drawingml/2006/main">
            <a:r>
              <a:t>Use the broader VISTA overview as background for the wider product vision.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cover's three words—Capture, Analyse, Review—introduce the user journey.</a:t>
            </a:r>
          </a:p>
          <a:p xmlns:a="http://schemas.openxmlformats.org/drawingml/2006/main">
            <a:r>
              <a:t>They are a conceptual sequence; the component and API details follow later.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Visual companion for VISTA Agentic Items Vision.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Continue the explanation from the preceding editable text slide. This slide is the rendered visual artifact from 000-title/000-visual. The source narrative and detailed presenter guidance remain in the preceding slide notes.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 00 — Business Context: Understand What Is on the Shelf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One-minute introduction</a:t>
            </a:r>
          </a:p>
          <a:p xmlns:a="http://schemas.openxmlformats.org/drawingml/2006/main">
            <a:r>
              <a:t>VISTA helps retail teams understand what is happening on store shelves.</a:t>
            </a:r>
          </a:p>
          <a:p xmlns:a="http://schemas.openxmlformats.org/drawingml/2006/main">
            <a:r>
              <a:t>They need to know which products are visible, how many facings each has,</a:t>
            </a:r>
          </a:p>
          <a:p xmlns:a="http://schemas.openxmlformats.org/drawingml/2006/main">
            <a:r>
              <a:t>and what changes between observations, to support inventory decisions,</a:t>
            </a:r>
          </a:p>
          <a:p xmlns:a="http://schemas.openxmlformats.org/drawingml/2006/main">
            <a:r>
              <a:t>brand presentation, and sales.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Look at the two shelf photos: they make the business question concrete.</a:t>
            </a:r>
          </a:p>
          <a:p xmlns:a="http://schemas.openxmlformats.org/drawingml/2006/main">
            <a:r>
              <a:t>A person captures shelf evidence so it can be analysed and reviewed.</a:t>
            </a:r>
          </a:p>
          <a:p xmlns:a="http://schemas.openxmlformats.org/drawingml/2006/main">
            <a:r>
              <a:t>The aim is to reduce manual inspection effort while retaining the image</a:t>
            </a:r>
          </a:p>
          <a:p xmlns:a="http://schemas.openxmlformats.org/drawingml/2006/main">
            <a:r>
              <a:t>that lets someone check the findings.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module we are about to explore handles one part of that bigger story.</a:t>
            </a:r>
          </a:p>
          <a:p xmlns:a="http://schemas.openxmlformats.org/drawingml/2006/main">
            <a:r>
              <a:t>A user uploads a shelf photo, the server coordinates AI analysis,</a:t>
            </a:r>
          </a:p>
          <a:p xmlns:a="http://schemas.openxmlformats.org/drawingml/2006/main">
            <a:r>
              <a:t>and the browser presents identified products and visible facing counts.</a:t>
            </a:r>
          </a:p>
          <a:p xmlns:a="http://schemas.openxmlformats.org/drawingml/2006/main">
            <a:r>
              <a:t>A facing is a visible product front, not the stock hidden behind it.</a:t>
            </a:r>
          </a:p>
          <a:p xmlns:a="http://schemas.openxmlformats.org/drawingml/2006/main">
            <a:r>
              <a:t>The observations can be uncertain and need review.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Keep that user journey in mind as we move into the architecture:</a:t>
            </a:r>
          </a:p>
          <a:p xmlns:a="http://schemas.openxmlformats.org/drawingml/2006/main">
            <a:r>
              <a:t>photo in, reviewable item report out.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Reading context and scope</a:t>
            </a:r>
          </a:p>
          <a:p xmlns:a="http://schemas.openxmlformats.org/drawingml/2006/main">
            <a:r>
              <a:t>The broader introduction is the [VISTA LinkedIn overview](../../VISTA-Linkedin-Overview-Presentation.pdf).</a:t>
            </a:r>
          </a:p>
          <a:p xmlns:a="http://schemas.openxmlformats.org/drawingml/2006/main">
            <a:r>
              <a:t>This technical guide assumes that background; this slide is a brief refresher.</a:t>
            </a:r>
          </a:p>
          <a:p xmlns:a="http://schemas.openxmlformats.org/drawingml/2006/main">
            <a:r>
              <a:t>Selected visual: PDF page 2, “Teams need to understand what is happening across stores”.</a:t>
            </a:r>
          </a:p>
          <a:p xmlns:a="http://schemas.openxmlformats.org/drawingml/2006/main">
            <a:r>
              <a:t>It uses original field examples and connects the images to the business questions.</a:t>
            </a:r>
          </a:p>
          <a:p xmlns:a="http://schemas.openxmlformats.org/drawingml/2006/main">
            <a:r>
              <a:t>Comparisons across visits describe the wider business intent, not a claim that</a:t>
            </a:r>
          </a:p>
          <a:p xmlns:a="http://schemas.openxmlformats.org/drawingml/2006/main">
            <a:r>
              <a:t>this uploader module already performs automatic change detection.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Visual walkthrough</a:t>
            </a:r>
          </a:p>
          <a:p xmlns:a="http://schemas.openxmlformats.org/drawingml/2006/main">
            <a:r>
              <a:t>Point to the before-and-after photos, then the three questions on the right.</a:t>
            </a:r>
          </a:p>
          <a:p xmlns:a="http://schemas.openxmlformats.org/drawingml/2006/main">
            <a:r>
              <a:t>Close with the need for readable shelf images and move to slide 01's architecture.</a:t>
            </a:r>
          </a:p>
          <a:p xmlns:a="http://schemas.openxmlformats.org/drawingml/2006/main">
            <a:r>
              <a:t>The visual retains its original PDF footer number, 02; this guide numbers it 00.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Visual companion for Understand What Is on the Shelf.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Continue the explanation from the preceding editable text slide. This slide is the rendered visual artifact from 00-business-context/00-visual. The source narrative and detailed presenter guidance remain in the preceding slide notes.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 005 - AI Shop Through the 12-Step SDLC2 Lifecycle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 Shop has two connected purposes.</a:t>
            </a:r>
          </a:p>
          <a:p xmlns:a="http://schemas.openxmlformats.org/drawingml/2006/main">
            <a:r>
              <a:t>It is a real application for analysing shelf images and producing item reports.</a:t>
            </a:r>
          </a:p>
          <a:p xmlns:a="http://schemas.openxmlformats.org/drawingml/2006/main">
            <a:r>
              <a:t>It is also a case study showing how SDLC2 evaluates and develops an AI architecture.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This slide introduces the twelve steps lightly.</a:t>
            </a:r>
          </a:p>
          <a:p xmlns:a="http://schemas.openxmlformats.org/drawingml/2006/main">
            <a:r>
              <a:t>The remainder of the presentation uses concrete AI Shop evidence to examine them.</a:t>
            </a:r>
          </a:p>
          <a:p xmlns:a="http://schemas.openxmlformats.org/drawingml/2006/main">
            <a:r>
              <a:t>The steps form a lifecycle, but learning can send the team back to an earlier decision.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Understand</a:t>
            </a:r>
          </a:p>
          <a:p xmlns:a="http://schemas.openxmlformats.org/drawingml/2006/main">
            <a:r>
              <a:t>Business and Technical Context establishes the retail problem and technical environment.</a:t>
            </a:r>
          </a:p>
          <a:p xmlns:a="http://schemas.openxmlformats.org/drawingml/2006/main">
            <a:r>
              <a:t>Intent states the outcome the application should create for its users.</a:t>
            </a:r>
          </a:p>
          <a:p xmlns:a="http://schemas.openxmlformats.org/drawingml/2006/main">
            <a:r>
              <a:t>Use Cases and System Model identify the people, system boundaries, and important interactions.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Evaluate</a:t>
            </a:r>
          </a:p>
          <a:p xmlns:a="http://schemas.openxmlformats.org/drawingml/2006/main">
            <a:r>
              <a:t>Benchmarks and Test Strategy define how usefulness, accuracy, and reliability will be judged.</a:t>
            </a:r>
          </a:p>
          <a:p xmlns:a="http://schemas.openxmlformats.org/drawingml/2006/main">
            <a:r>
              <a:t>High-Level Architecture assigns responsibilities across the browser, server, storage, and AI.</a:t>
            </a:r>
          </a:p>
          <a:p xmlns:a="http://schemas.openxmlformats.org/drawingml/2006/main">
            <a:r>
              <a:t>The Working Proof of Concept tests whether that architecture can produce useful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Build</a:t>
            </a:r>
          </a:p>
          <a:p xmlns:a="http://schemas.openxmlformats.org/drawingml/2006/main">
            <a:r>
              <a:t>Planning turns the validated direction into small, reviewable increments.</a:t>
            </a:r>
          </a:p>
          <a:p xmlns:a="http://schemas.openxmlformats.org/drawingml/2006/main">
            <a:r>
              <a:t>Low-Level Design and Specifications define interfaces, records, states, and component behaviour.</a:t>
            </a:r>
          </a:p>
          <a:p xmlns:a="http://schemas.openxmlformats.org/drawingml/2006/main">
            <a:r>
              <a:t>Build, Code, and Test implements those decisions and checks each increment.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Operate and Learn</a:t>
            </a:r>
          </a:p>
          <a:p xmlns:a="http://schemas.openxmlformats.org/drawingml/2006/main">
            <a:r>
              <a:t>Deployment, Infrastructure, and Operational Reality expose the system to real constraints.</a:t>
            </a:r>
          </a:p>
          <a:p xmlns:a="http://schemas.openxmlformats.org/drawingml/2006/main">
            <a:r>
              <a:t>Review, Human QA, and Release confirm that the result is useful and ready for its audience.</a:t>
            </a:r>
          </a:p>
          <a:p xmlns:a="http://schemas.openxmlformats.org/drawingml/2006/main">
            <a:r>
              <a:t>Observability and Learning turn runtime evidence, defects, and feedback into better decisions.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Transition to the technical story</a:t>
            </a:r>
          </a:p>
          <a:p xmlns:a="http://schemas.openxmlformats.org/drawingml/2006/main">
            <a:r>
              <a:t>The next slides move from the framework into the actual Items Vision implementation.</a:t>
            </a:r>
          </a:p>
          <a:p xmlns:a="http://schemas.openxmlformats.org/drawingml/2006/main">
            <a:r>
              <a:t>They follow a shelf photo from the browser to the server, storage, AI analysis, and report.</a:t>
            </a:r>
          </a:p>
          <a:p xmlns:a="http://schemas.openxmlformats.org/drawingml/2006/main">
            <a:r>
              <a:t>Later sections return to benchmarks, tests, deployment evidence, human review, and learning.</a:t>
            </a:r>
          </a:p>
          <a:p xmlns:a="http://schemas.openxmlformats.org/drawingml/2006/main">
            <a:r>
              <a:t>The purpose is not to claim that a diagram proves the architecture.</a:t>
            </a:r>
          </a:p>
          <a:p xmlns:a="http://schemas.openxmlformats.org/drawingml/2006/main">
            <a:r>
              <a:t>The purpose is to show how decisions and evidence accumulate across the lifecycle.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Visual direction</a:t>
            </a:r>
          </a:p>
          <a:p xmlns:a="http://schemas.openxmlformats.org/drawingml/2006/main">
            <a:r>
              <a:t>Show one continuous horizontal lifecycle divided into four clearly labelled phases.</a:t>
            </a:r>
          </a:p>
          <a:p xmlns:a="http://schemas.openxmlformats.org/drawingml/2006/main">
            <a:r>
              <a:t>Place three numbered steps in each phase and retain the full step names.</a:t>
            </a:r>
          </a:p>
          <a:p xmlns:a="http://schemas.openxmlformats.org/drawingml/2006/main">
            <a:r>
              <a:t>Use a return path from step 12 toward the beginning to represent continued learning.</a:t>
            </a:r>
          </a:p>
          <a:p xmlns:a="http://schemas.openxmlformats.org/drawingml/2006/main">
            <a:r>
              <a:t>Keep the composition readable as an overview rather than a detailed process diagram.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Visual companion for AI Shop Through the 12-Step SDLC2 Lifecycle.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Continue the explanation from the preceding editable text slide. This slide is the rendered visual artifact from 005-sdlc2-framework/005-visual. The source narrative and detailed presenter guidance remain in the preceding slide notes.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 01 — Intent: Items Vision — From Image to Item Report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VISTA Agentic Items Vision is the proposed name of this presentation.</a:t>
            </a:r>
          </a:p>
          <a:p xmlns:a="http://schemas.openxmlformats.org/drawingml/2006/main">
            <a:r>
              <a:t>It explains AI Shop's image uploader and analyser implementation.</a:t>
            </a:r>
          </a:p>
          <a:p xmlns:a="http://schemas.openxmlformats.org/drawingml/2006/main">
            <a:r>
              <a:t>The intended outcome is simple: understand how a photo becomes an item report.</a:t>
            </a:r>
          </a:p>
          <a:p xmlns:a="http://schemas.openxmlformats.org/drawingml/2006/main">
            <a:r>
              <a:t>The audience should follow the story without needing to read source code.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The endpoint: the server's front door</a:t>
            </a:r>
          </a:p>
          <a:p xmlns:a="http://schemas.openxmlformats.org/drawingml/2006/main">
            <a:r>
              <a:t>The API entry point is `/v1/agent/analyses`.</a:t>
            </a:r>
          </a:p>
          <a:p xmlns:a="http://schemas.openxmlformats.org/drawingml/2006/main">
            <a:r>
              <a:t>An endpoint is an address where the interface asks the server to do something.</a:t>
            </a:r>
          </a:p>
          <a:p xmlns:a="http://schemas.openxmlformats.org/drawingml/2006/main">
            <a:r>
              <a:t>`POST /v1/agent/analyses` uploads an image and creates its analysis record.</a:t>
            </a:r>
          </a:p>
          <a:p xmlns:a="http://schemas.openxmlformats.org/drawingml/2006/main">
            <a:r>
              <a:t>`POST /v1/agent/analyses/{id}/run` requests analysis of a saved image.</a:t>
            </a:r>
          </a:p>
          <a:p xmlns:a="http://schemas.openxmlformats.org/drawingml/2006/main">
            <a:r>
              <a:t>`GET /v1/agent/analyses/{id}` retrieves its recorded status and result.</a:t>
            </a:r>
          </a:p>
          <a:p xmlns:a="http://schemas.openxmlformats.org/drawingml/2006/main">
            <a:r>
              <a:t>Upload, analysis, and reading results have distinct responsibilities.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The user interface: what the person sees</a:t>
            </a:r>
          </a:p>
          <a:p xmlns:a="http://schemas.openxmlformats.org/drawingml/2006/main">
            <a:r>
              <a:t>The browser's Agent page lets an authorised user sign in and upload a JPEG photo.</a:t>
            </a:r>
          </a:p>
          <a:p xmlns:a="http://schemas.openxmlformats.org/drawingml/2006/main">
            <a:r>
              <a:t>It guides the user through uploading, waiting, and reading the result.</a:t>
            </a:r>
          </a:p>
          <a:p xmlns:a="http://schemas.openxmlformats.org/drawingml/2006/main">
            <a:r>
              <a:t>The report shows identified products and their visible facing counts.</a:t>
            </a:r>
          </a:p>
          <a:p xmlns:a="http://schemas.openxmlformats.org/drawingml/2006/main">
            <a:r>
              <a:t>A facing is a visible product front; it does not reveal stock hidden behind it.</a:t>
            </a:r>
          </a:p>
          <a:p xmlns:a="http://schemas.openxmlformats.org/drawingml/2006/main">
            <a:r>
              <a:t>The interface also offers retry or refinement where the record allows it.</a:t>
            </a:r>
          </a:p>
          <a:p xmlns:a="http://schemas.openxmlformats.org/drawingml/2006/main">
            <a:r>
              <a:t>The Agent uses visual evidence and learned product knowledge to identify and count visible items.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The server side: where the work is coordinated</a:t>
            </a:r>
          </a:p>
          <a:p xmlns:a="http://schemas.openxmlformats.org/drawingml/2006/main">
            <a:r>
              <a:t>The server checks identity and permission before accepting a request.</a:t>
            </a:r>
          </a:p>
          <a:p xmlns:a="http://schemas.openxmlformats.org/drawingml/2006/main">
            <a:r>
              <a:t>Cloud Storage holds the source image; Firestore holds status and reports.</a:t>
            </a:r>
          </a:p>
          <a:p xmlns:a="http://schemas.openxmlformats.org/drawingml/2006/main">
            <a:r>
              <a:t>The server submits the image and analysis instructions to OpenAI.</a:t>
            </a:r>
          </a:p>
          <a:p xmlns:a="http://schemas.openxmlformats.org/drawingml/2006/main">
            <a:r>
              <a:t>The background implementation collects the result through server-side tasks.</a:t>
            </a:r>
          </a:p>
          <a:p xmlns:a="http://schemas.openxmlformats.org/drawingml/2006/main">
            <a:r>
              <a:t>The browser reads progress; it does not have to keep the AI request alive.</a:t>
            </a:r>
          </a:p>
          <a:p xmlns:a="http://schemas.openxmlformats.org/drawingml/2006/main">
            <a:r>
              <a:t>Success and failure are recorded so the user can see what happened.</a:t>
            </a:r>
          </a:p>
          <a:p xmlns:a="http://schemas.openxmlformats.org/drawingml/2006/main">
            <a:r>
              <a:t>Model observations remain subject to uncertainty and human review.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Presentation Agenda</a:t>
            </a:r>
          </a:p>
          <a:p xmlns:a="http://schemas.openxmlformats.org/drawingml/2006/main">
            <a:r>
              <a:t>The sections take inspiration from SDLC2 and follow the presentation's own flow.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Context and Domain: the shelf-photo problem and why item recognition matters.</a:t>
            </a:r>
          </a:p>
          <a:p xmlns:a="http://schemas.openxmlformats.org/drawingml/2006/main">
            <a:r>
              <a:t>2. Intent: what the system should achieve and what the audience will understand.</a:t>
            </a:r>
          </a:p>
          <a:p xmlns:a="http://schemas.openxmlformats.org/drawingml/2006/main">
            <a:r>
              <a:t>3. System and Use Cases: follow one user's photo from upload to report.</a:t>
            </a:r>
          </a:p>
          <a:p xmlns:a="http://schemas.openxmlformats.org/drawingml/2006/main">
            <a:r>
              <a:t>4. Success Criteria: explain how we assess useful, accurate, and reliable results.</a:t>
            </a:r>
          </a:p>
          <a:p xmlns:a="http://schemas.openxmlformats.org/drawingml/2006/main">
            <a:r>
              <a:t>5. Visual Example: show the uploaded image, interface states, and resulting report.</a:t>
            </a:r>
          </a:p>
          <a:p xmlns:a="http://schemas.openxmlformats.org/drawingml/2006/main">
            <a:r>
              <a:t>6. Solution Architecture: map the interface, endpoints, storage, AI, and data flow.</a:t>
            </a:r>
          </a:p>
          <a:p xmlns:a="http://schemas.openxmlformats.org/drawingml/2006/main">
            <a:r>
              <a:t>7. Low-Level Design and Code: connect key requests and processing steps to code.</a:t>
            </a:r>
          </a:p>
          <a:p xmlns:a="http://schemas.openxmlformats.org/drawingml/2006/main">
            <a:r>
              <a:t>8. Operational Reality: show what is implemented, deployed, and verified in use.</a:t>
            </a:r>
          </a:p>
          <a:p xmlns:a="http://schemas.openxmlformats.org/drawingml/2006/main">
            <a:r>
              <a:t>9. Observability and Learning: explain diagnostics, failures, and lessons learned.</a:t>
            </a:r>
          </a:p>
          <a:p xmlns:a="http://schemas.openxmlformats.org/drawingml/2006/main">
            <a:r>
              <a:t>10. Future Steps: roadmap.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Visual walkthrough</a:t>
            </a:r>
          </a:p>
          <a:p xmlns:a="http://schemas.openxmlformats.org/drawingml/2006/main">
            <a:r>
              <a:t>Start with the user uploading a photo through the browser interface.</a:t>
            </a:r>
          </a:p>
          <a:p xmlns:a="http://schemas.openxmlformats.org/drawingml/2006/main">
            <a:r>
              <a:t>Follow the request to the server, which coordinates storage and AI analysis.</a:t>
            </a:r>
          </a:p>
          <a:p xmlns:a="http://schemas.openxmlformats.org/drawingml/2006/main">
            <a:r>
              <a:t>The server keeps the source image and analysis record, then saves the outcome.</a:t>
            </a:r>
          </a:p>
          <a:p xmlns:a="http://schemas.openxmlformats.org/drawingml/2006/main">
            <a:r>
              <a:t>Return to the browser, where the user reads status and the saved item report.</a:t>
            </a:r>
          </a:p>
          <a:p xmlns:a="http://schemas.openxmlformats.org/drawingml/2006/main">
            <a:r>
              <a:t>The diagram simplifies the flow; collection tasks and individual API calls come later.</a:t>
            </a:r>
          </a:p>
          <a:p xmlns:a="http://schemas.openxmlformats.org/drawingml/2006/main">
            <a:r>
              <a:t>The SVG is the editable visual source; the PNG is its presentation render.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Visual companion for VISTA Agentic Items Vision.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Continue the explanation from the preceding editable text slide. This slide is the rendered visual artifact from 01-intent/01-visual. The source narrative and detailed presenter guidance remain in the preceding slide notes.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 02 - Main Use Cases and System Model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 Shop and VISTA are related iPhone-led product experiences.</a:t>
            </a:r>
          </a:p>
          <a:p xmlns:a="http://schemas.openxmlformats.org/drawingml/2006/main">
            <a:r>
              <a:t>They serve different people and decisions while sharing much of the server foundation.</a:t>
            </a:r>
          </a:p>
          <a:p xmlns:a="http://schemas.openxmlformats.org/drawingml/2006/main">
            <a:r>
              <a:t>This slide introduces those use cases before the presentation explains implementation details.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Use case 1: AI Shop shopping experience</a:t>
            </a:r>
          </a:p>
          <a:p xmlns:a="http://schemas.openxmlformats.org/drawingml/2006/main">
            <a:r>
              <a:t>A shopper uses the AI Shop iPhone app while considering a product or shelf.</a:t>
            </a:r>
          </a:p>
          <a:p xmlns:a="http://schemas.openxmlformats.org/drawingml/2006/main">
            <a:r>
              <a:t>The phone captures visual evidence and can perform part of the image processing locally.</a:t>
            </a:r>
          </a:p>
          <a:p xmlns:a="http://schemas.openxmlformats.org/drawingml/2006/main">
            <a:r>
              <a:t>Server-side AI adds capabilities that are better protected, coordinated, or processed remotely.</a:t>
            </a:r>
          </a:p>
          <a:p xmlns:a="http://schemas.openxmlformats.org/drawingml/2006/main">
            <a:r>
              <a:t>The result helps the shopper make a better-informed purchasing decision.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This is the earlier AI Shop product path.</a:t>
            </a:r>
          </a:p>
          <a:p xmlns:a="http://schemas.openxmlformats.org/drawingml/2006/main">
            <a:r>
              <a:t>Its iPhone client and individual server endpoints remain relevant to the complete product intent.</a:t>
            </a:r>
          </a:p>
          <a:p xmlns:a="http://schemas.openxmlformats.org/drawingml/2006/main">
            <a:r>
              <a:t>Later slides should state which functions are implemented and which remain immature.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Use case 2: VISTA shelf inspection</a:t>
            </a:r>
          </a:p>
          <a:p xmlns:a="http://schemas.openxmlformats.org/drawingml/2006/main">
            <a:r>
              <a:t>A retail team uses VISTA to inspect products and presentation across store shelves.</a:t>
            </a:r>
          </a:p>
          <a:p xmlns:a="http://schemas.openxmlformats.org/drawingml/2006/main">
            <a:r>
              <a:t>The goal is to identify visible products, count facings, and retain evidence for review.</a:t>
            </a:r>
          </a:p>
          <a:p xmlns:a="http://schemas.openxmlformats.org/drawingml/2006/main">
            <a:r>
              <a:t>Today, a person can upload a shelf photograph or video manually through `agent.html`.</a:t>
            </a:r>
          </a:p>
          <a:p xmlns:a="http://schemas.openxmlformats.org/drawingml/2006/main">
            <a:r>
              <a:t>The web Agent provides the more robust current analysis and review workflow.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intended destination is integration with the separate VISTA iPhone application.</a:t>
            </a:r>
          </a:p>
          <a:p xmlns:a="http://schemas.openxmlformats.org/drawingml/2006/main">
            <a:r>
              <a:t>That application would capture shelf evidence during an inspection and use the same server capabilities.</a:t>
            </a:r>
          </a:p>
          <a:p xmlns:a="http://schemas.openxmlformats.org/drawingml/2006/main">
            <a:r>
              <a:t>The presentation must label this integration as intended until end-to-end evidence confirms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Shared system model</a:t>
            </a:r>
          </a:p>
          <a:p xmlns:a="http://schemas.openxmlformats.org/drawingml/2006/main">
            <a:r>
              <a:t>Both use cases need secure access, image intake, AI coordination, and result handling.</a:t>
            </a:r>
          </a:p>
          <a:p xmlns:a="http://schemas.openxmlformats.org/drawingml/2006/main">
            <a:r>
              <a:t>The server protects provider credentials and centralises reusable analysis behaviour.</a:t>
            </a:r>
          </a:p>
          <a:p xmlns:a="http://schemas.openxmlformats.org/drawingml/2006/main">
            <a:r>
              <a:t>Shared capabilities reduce duplicated implementation across AI Shop and VISTA.</a:t>
            </a:r>
          </a:p>
          <a:p xmlns:a="http://schemas.openxmlformats.org/drawingml/2006/main">
            <a:r>
              <a:t>The products can still use different prompts, records, interfaces, and decision outputs.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Common infrastructure does not make the two products identical.</a:t>
            </a:r>
          </a:p>
          <a:p xmlns:a="http://schemas.openxmlformats.org/drawingml/2006/main">
            <a:r>
              <a:t>AI Shop supports shopper decisions.</a:t>
            </a:r>
          </a:p>
          <a:p xmlns:a="http://schemas.openxmlformats.org/drawingml/2006/main">
            <a:r>
              <a:t>VISTA supports shelf and store inspection work.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Transition</a:t>
            </a:r>
          </a:p>
          <a:p xmlns:a="http://schemas.openxmlformats.org/drawingml/2006/main">
            <a:r>
              <a:t>The next slides can follow each user path in more detail.</a:t>
            </a:r>
          </a:p>
          <a:p xmlns:a="http://schemas.openxmlformats.org/drawingml/2006/main">
            <a:r>
              <a:t>The Low-Level Design and Architecture section will focus on the web Vision Agent.</a:t>
            </a:r>
          </a:p>
          <a:p xmlns:a="http://schemas.openxmlformats.org/drawingml/2006/main">
            <a:r>
              <a:t>It will also show how the earlier endpoints and iPhone clients relate to the common server.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Visual direction</a:t>
            </a:r>
          </a:p>
          <a:p xmlns:a="http://schemas.openxmlformats.org/drawingml/2006/main">
            <a:r>
              <a:t>Place the shared vision service as one horizontal foundation.</a:t>
            </a:r>
          </a:p>
          <a:p xmlns:a="http://schemas.openxmlformats.org/drawingml/2006/main">
            <a:r>
              <a:t>Above it, show the AI Shop iPhone shopper path and the VISTA inspection path.</a:t>
            </a:r>
          </a:p>
          <a:p xmlns:a="http://schemas.openxmlformats.org/drawingml/2006/main">
            <a:r>
              <a:t>Within VISTA, distinguish the current manual web Agent from the intended iPhone integration.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Visual companion for Two Product Use Cases Share One Vision Foundation.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Continue the explanation from the preceding editable text slide. This slide is the rendered visual artifact from 02-user-journey/02-visual. The source narrative and detailed presenter guidance remain in the preceding slide notes.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 03 - What AI Shop Must Improve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Benchmarks begin with the useful processes people already have.</a:t>
            </a:r>
          </a:p>
          <a:p xmlns:a="http://schemas.openxmlformats.org/drawingml/2006/main">
            <a:r>
              <a:t>An AI response alone does not establish that AI Shop improves those processes.</a:t>
            </a:r>
          </a:p>
          <a:p xmlns:a="http://schemas.openxmlformats.org/drawingml/2006/main">
            <a:r>
              <a:t>The repository documents three practical baselines.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Manual shopping assistance</a:t>
            </a:r>
          </a:p>
          <a:p xmlns:a="http://schemas.openxmlformats.org/drawingml/2006/main">
            <a:r>
              <a:t>A shopper can already photograph a product and ask ChatGPT for advice.</a:t>
            </a:r>
          </a:p>
          <a:p xmlns:a="http://schemas.openxmlformats.org/drawingml/2006/main">
            <a:r>
              <a:t>That process can consider quality, price, preferences, and purchase context.</a:t>
            </a:r>
          </a:p>
          <a:p xmlns:a="http://schemas.openxmlformats.org/drawingml/2006/main">
            <a:r>
              <a:t>Its friction comes from moving between tools and repeatedly explaining the situation.</a:t>
            </a:r>
          </a:p>
          <a:p xmlns:a="http://schemas.openxmlformats.org/drawingml/2006/main">
            <a:r>
              <a:t>AI Shop should require fewer actions and reuse relevant shopping context.</a:t>
            </a:r>
          </a:p>
          <a:p xmlns:a="http://schemas.openxmlformats.org/drawingml/2006/main">
            <a:r>
              <a:t>The recommendation should become clear faster and with less reading or typing.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Human product identification</a:t>
            </a:r>
          </a:p>
          <a:p xmlns:a="http://schemas.openxmlformats.org/drawingml/2006/main">
            <a:r>
              <a:t>A person can inspect labels, packaging, and surrounding context directly.</a:t>
            </a:r>
          </a:p>
          <a:p xmlns:a="http://schemas.openxmlformats.org/drawingml/2006/main">
            <a:r>
              <a:t>Human judgment needs no application, server, or network connection.</a:t>
            </a:r>
          </a:p>
          <a:p xmlns:a="http://schemas.openxmlformats.org/drawingml/2006/main">
            <a:r>
              <a:t>Dense scenes still take time and can hide small or obscured products.</a:t>
            </a:r>
          </a:p>
          <a:p xmlns:a="http://schemas.openxmlformats.org/drawingml/2006/main">
            <a:r>
              <a:t>AI Shop should organise visible products while declaring uncertain identification.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Manual shelf inspection and review</a:t>
            </a:r>
          </a:p>
          <a:p xmlns:a="http://schemas.openxmlformats.org/drawingml/2006/main">
            <a:r>
              <a:t>An inspector can photograph a shelf and record observations in notes or a spreadsheet.</a:t>
            </a:r>
          </a:p>
          <a:p xmlns:a="http://schemas.openxmlformats.org/drawingml/2006/main">
            <a:r>
              <a:t>A second person can compare those findings with the original photograph.</a:t>
            </a:r>
          </a:p>
          <a:p xmlns:a="http://schemas.openxmlformats.org/drawingml/2006/main">
            <a:r>
              <a:t>The manual process becomes difficult when evidence, findings, and corrections separate.</a:t>
            </a:r>
          </a:p>
          <a:p xmlns:a="http://schemas.openxmlformats.org/drawingml/2006/main">
            <a:r>
              <a:t>AI Shop should preserve one traceable relationship across those materials.</a:t>
            </a:r>
          </a:p>
          <a:p xmlns:a="http://schemas.openxmlformats.org/drawingml/2006/main">
            <a:r>
              <a:t>Reviewer identity, decisions, corrections, and timing should remain attributable.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Benchmark principle</a:t>
            </a:r>
          </a:p>
          <a:p xmlns:a="http://schemas.openxmlformats.org/drawingml/2006/main">
            <a:r>
              <a:t>The application should reduce manual effort without replacing human authority.</a:t>
            </a:r>
          </a:p>
          <a:p xmlns:a="http://schemas.openxmlformats.org/drawingml/2006/main">
            <a:r>
              <a:t>Each product use case needs its own comparison with the process it intends to improve.</a:t>
            </a:r>
          </a:p>
          <a:p xmlns:a="http://schemas.openxmlformats.org/drawingml/2006/main">
            <a:r>
              <a:t>AI Shop shopping support and VISTA inspection therefore share methods but not one score.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Evidence boundary</a:t>
            </a:r>
          </a:p>
          <a:p xmlns:a="http://schemas.openxmlformats.org/drawingml/2006/main">
            <a:r>
              <a:t>These documents define comparison standards rather than measured acceptance thresholds.</a:t>
            </a:r>
          </a:p>
          <a:p xmlns:a="http://schemas.openxmlformats.org/drawingml/2006/main">
            <a:r>
              <a:t>The presentation should not claim that AI Shop already beats every baseline.</a:t>
            </a:r>
          </a:p>
          <a:p xmlns:a="http://schemas.openxmlformats.org/drawingml/2006/main">
            <a:r>
              <a:t>Later slides will show current recognition evidence and the remaining verification work.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Visual direction</a:t>
            </a:r>
          </a:p>
          <a:p xmlns:a="http://schemas.openxmlformats.org/drawingml/2006/main">
            <a:r>
              <a:t>Show three existing human workflows feeding one evaluation question.</a:t>
            </a:r>
          </a:p>
          <a:p xmlns:a="http://schemas.openxmlformats.org/drawingml/2006/main">
            <a:r>
              <a:t>Make the outcome about reduced effort, preserved evidence, and human authority.</a:t>
            </a:r>
          </a:p>
          <a:p xmlns:a="http://schemas.openxmlformats.org/drawingml/2006/main">
            <a:r>
              <a:t>Avoid model names and implementation details on this slide.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Visual companion for What AI Shop Must Improve.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Continue the explanation from the preceding editable text slide. This slide is the rendered visual artifact from 03-benchmark-purpose/03-visual. The source narrative and detailed presenter guidance remain in the preceding slide notes.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 031 - One Shelf, Three Different Readings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This slide uses the actual dense pharmacy shelf and recorded analysis artifacts.</a:t>
            </a:r>
          </a:p>
          <a:p xmlns:a="http://schemas.openxmlformats.org/drawingml/2006/main">
            <a:r>
              <a:t>The concrete disagreement explains why benchmark design matters.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The original evidence</a:t>
            </a:r>
          </a:p>
          <a:p xmlns:a="http://schemas.openxmlformats.org/drawingml/2006/main">
            <a:r>
              <a:t>All three readings use the same 1152 by 1536 shelf photograph.</a:t>
            </a:r>
          </a:p>
          <a:p xmlns:a="http://schemas.openxmlformats.org/drawingml/2006/main">
            <a:r>
              <a:t>It contains small labels, occlusion, stacked products, edge cropping, and a carton.</a:t>
            </a:r>
          </a:p>
          <a:p xmlns:a="http://schemas.openxmlformats.org/drawingml/2006/main">
            <a:r>
              <a:t>Those conditions make both identification and counting difficult.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Reading 1: provisional reference</a:t>
            </a:r>
          </a:p>
          <a:p xmlns:a="http://schemas.openxmlformats.org/drawingml/2006/main">
            <a:r>
              <a:t>The numbered overlay maps 42 product groups across four shelf regions.</a:t>
            </a:r>
          </a:p>
          <a:p xmlns:a="http://schemas.openxmlformats.org/drawingml/2006/main">
            <a:r>
              <a:t>Its associated GPT report counts 94 visible physical units.</a:t>
            </a:r>
          </a:p>
          <a:p xmlns:a="http://schemas.openxmlformats.org/drawingml/2006/main">
            <a:r>
              <a:t>This reference was obtained by hand from GPT and is not human-approved ground truth.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Reading 2: Agent first run</a:t>
            </a:r>
          </a:p>
          <a:p xmlns:a="http://schemas.openxmlformats.org/drawingml/2006/main">
            <a:r>
              <a:t>The deployed Agent returned 23 product rows totalling 62 facings.</a:t>
            </a:r>
          </a:p>
          <a:p xmlns:a="http://schemas.openxmlformats.org/drawingml/2006/main">
            <a:r>
              <a:t>It also recorded three uncertain entries.</a:t>
            </a:r>
          </a:p>
          <a:p xmlns:a="http://schemas.openxmlformats.org/drawingml/2006/main">
            <a:r>
              <a:t>The run completed and produced a reviewable report, but benchmark parity was not demonstrated.</a:t>
            </a:r>
          </a:p>
          <a:p xmlns:a="http://schemas.openxmlformats.org/drawingml/2006/main">
            <a:r>
              <a:t>Some products were missed, grouped differently, or given an incorrect brand name.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Reading 3: independent visual review</a:t>
            </a:r>
          </a:p>
          <a:p xmlns:a="http://schemas.openxmlformats.org/drawingml/2006/main">
            <a:r>
              <a:t>A separate shelf-by-shelf reading estimated about 57 front facings.</a:t>
            </a:r>
          </a:p>
          <a:p xmlns:a="http://schemas.openxmlformats.org/drawingml/2006/main">
            <a:r>
              <a:t>It also identified 21 units stacked behind those fronts.</a:t>
            </a:r>
          </a:p>
          <a:p xmlns:a="http://schemas.openxmlformats.org/drawingml/2006/main">
            <a:r>
              <a:t>That reading remained a model-assisted opinion rather than verified ground truth.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Why the totals disagree</a:t>
            </a:r>
          </a:p>
          <a:p xmlns:a="http://schemas.openxmlformats.org/drawingml/2006/main">
            <a:r>
              <a:t>The provisional reference counts visible physical units.</a:t>
            </a:r>
          </a:p>
          <a:p xmlns:a="http://schemas.openxmlformats.org/drawingml/2006/main">
            <a:r>
              <a:t>The Agent contract asks for front facings.</a:t>
            </a:r>
          </a:p>
          <a:p xmlns:a="http://schemas.openxmlformats.org/drawingml/2006/main">
            <a:r>
              <a:t>The independent reading reports both measures separately.</a:t>
            </a:r>
          </a:p>
          <a:p xmlns:a="http://schemas.openxmlformats.org/drawingml/2006/main">
            <a:r>
              <a:t>Product grouping and identity depth also differ across the readings.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Dividing 62 by 94 would produce a misleading number, not an accuracy score.</a:t>
            </a:r>
          </a:p>
          <a:p xmlns:a="http://schemas.openxmlformats.org/drawingml/2006/main">
            <a:r>
              <a:t>The comparison must first fix the counting rule and required identification level.</a:t>
            </a:r>
          </a:p>
          <a:p xmlns:a="http://schemas.openxmlformats.org/drawingml/2006/main">
            <a:r>
              <a:t>A human reviewer must then validate the reference against the source photograph.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Visual direction</a:t>
            </a:r>
          </a:p>
          <a:p xmlns:a="http://schemas.openxmlformats.org/drawingml/2006/main">
            <a:r>
              <a:t>Show the actual photograph, numbered overlay, and Agent screenshot prominently.</a:t>
            </a:r>
          </a:p>
          <a:p xmlns:a="http://schemas.openxmlformats.org/drawingml/2006/main">
            <a:r>
              <a:t>Use the real totals as evidence, with a warning that they answer different questions.</a:t>
            </a:r>
          </a:p>
          <a:p xmlns:a="http://schemas.openxmlformats.org/drawingml/2006/main">
            <a:r>
              <a:t>Keep the conclusion simple: define and verify the reference before scoring the model.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Visual companion for One Shelf, Three Different Readings.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Continue the explanation from the preceding editable text slide. This slide is the rendered visual artifact from 031-vision-quality-benchmark/031-visual. The source narrative and detailed presenter guidance remain in the preceding slide notes.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 032 - Vision Quality and System Reliability Need Different Tests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 Shop can complete a request while producing a poor visual interpretation.</a:t>
            </a:r>
          </a:p>
          <a:p xmlns:a="http://schemas.openxmlformats.org/drawingml/2006/main">
            <a:r>
              <a:t>It can also identify products well while the surrounding application fails.</a:t>
            </a:r>
          </a:p>
          <a:p xmlns:a="http://schemas.openxmlformats.org/drawingml/2006/main">
            <a:r>
              <a:t>The test strategy therefore needs two connected but distinct paths.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Vision-quality experiments</a:t>
            </a:r>
          </a:p>
          <a:p xmlns:a="http://schemas.openxmlformats.org/drawingml/2006/main">
            <a:r>
              <a:t>Start with the same original image and a human-verified reference inventory.</a:t>
            </a:r>
          </a:p>
          <a:p xmlns:a="http://schemas.openxmlformats.org/drawingml/2006/main">
            <a:r>
              <a:t>Freeze the counting contract, identity depth, prompt, output schema, and reference revision.</a:t>
            </a:r>
          </a:p>
          <a:p xmlns:a="http://schemas.openxmlformats.org/drawingml/2006/main">
            <a:r>
              <a:t>Change one factor at a time so the comparison can support a causal conclusion.</a:t>
            </a:r>
          </a:p>
          <a:p xmlns:a="http://schemas.openxmlformats.org/drawingml/2006/main">
            <a:r>
              <a:t>Possible factors include model, reasoning setting, context, image detail, and prompt wording.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Record identification errors, missed products, incorrect counts, and invented products.</a:t>
            </a:r>
          </a:p>
          <a:p xmlns:a="http://schemas.openxmlformats.org/drawingml/2006/main">
            <a:r>
              <a:t>Score responsible uncertainty separately from confident incorrect identification.</a:t>
            </a:r>
          </a:p>
          <a:p xmlns:a="http://schemas.openxmlformats.org/drawingml/2006/main">
            <a:r>
              <a:t>Retain requested and returned model identifiers, usage, latency, cost, and retries.</a:t>
            </a:r>
          </a:p>
          <a:p xmlns:a="http://schemas.openxmlformats.org/drawingml/2006/main">
            <a:r>
              <a:t>Include human review time because cheap output can become expensive to correct.</a:t>
            </a:r>
          </a:p>
          <a:p xmlns:a="http://schemas.openxmlformats.org/drawingml/2006/main">
            <a:r>
              <a:t>Repeat promising settings and then test them on unseen images.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System-reliability tests</a:t>
            </a:r>
          </a:p>
          <a:p xmlns:a="http://schemas.openxmlformats.org/drawingml/2006/main">
            <a:r>
              <a:t>Verify authentication and the separation of each account's analyses.</a:t>
            </a:r>
          </a:p>
          <a:p xmlns:a="http://schemas.openxmlformats.org/drawingml/2006/main">
            <a:r>
              <a:t>Confirm that uploads preserve the original source evidence.</a:t>
            </a:r>
          </a:p>
          <a:p xmlns:a="http://schemas.openxmlformats.org/drawingml/2006/main">
            <a:r>
              <a:t>Exercise recorded progress, browser refresh, terminal states, and result retrieval.</a:t>
            </a:r>
          </a:p>
          <a:p xmlns:a="http://schemas.openxmlformats.org/drawingml/2006/main">
            <a:r>
              <a:t>Refinement and retry must create traceable runs without erasing earlier evidence.</a:t>
            </a:r>
          </a:p>
          <a:p xmlns:a="http://schemas.openxmlformats.org/drawingml/2006/main">
            <a:r>
              <a:t>Failures should retain safe diagnostic references without exposing private input.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Video adds its own requirements.</a:t>
            </a:r>
          </a:p>
          <a:p xmlns:a="http://schemas.openxmlformats.org/drawingml/2006/main">
            <a:r>
              <a:t>The system must handle upload interruption, frame extraction, analysis, and playback.</a:t>
            </a:r>
          </a:p>
          <a:p xmlns:a="http://schemas.openxmlformats.org/drawingml/2006/main">
            <a:r>
              <a:t>Sampled frames represent one continuous scan rather than independent photographs.</a:t>
            </a:r>
          </a:p>
          <a:p xmlns:a="http://schemas.openxmlformats.org/drawingml/2006/main">
            <a:r>
              <a:t>The result should retain frame provenance and avoid counting the same facing twice.</a:t>
            </a:r>
          </a:p>
          <a:p xmlns:a="http://schemas.openxmlformats.org/drawingml/2006/main">
            <a:r>
              <a:t>Refresh, task replay, and reconnection should not create duplicate analyses or runs.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Release boundary</a:t>
            </a:r>
          </a:p>
          <a:p xmlns:a="http://schemas.openxmlformats.org/drawingml/2006/main">
            <a:r>
              <a:t>Automated tests, manual QA, and model-quality benchmarks answer different questions.</a:t>
            </a:r>
          </a:p>
          <a:p xmlns:a="http://schemas.openxmlformats.org/drawingml/2006/main">
            <a:r>
              <a:t>No single green check proves visual accuracy, deployment, or human acceptance.</a:t>
            </a:r>
          </a:p>
          <a:p xmlns:a="http://schemas.openxmlformats.org/drawingml/2006/main">
            <a:r>
              <a:t>A release decision needs evidence from both quality and reliability paths.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Visual direction</a:t>
            </a:r>
          </a:p>
          <a:p xmlns:a="http://schemas.openxmlformats.org/drawingml/2006/main">
            <a:r>
              <a:t>Show two test rails running in parallel toward one evidence-based release decision.</a:t>
            </a:r>
          </a:p>
          <a:p xmlns:a="http://schemas.openxmlformats.org/drawingml/2006/main">
            <a:r>
              <a:t>Use distinct colours for visual interpretation and application reliability.</a:t>
            </a:r>
          </a:p>
          <a:p xmlns:a="http://schemas.openxmlformats.org/drawingml/2006/main">
            <a:r>
              <a:t>Join the rails only at the final decision gate.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Visual companion for Vision Quality and System Reliability Need Different Tests.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Continue the explanation from the preceding editable text slide. This slide is the rendered visual artifact from 032-test-strategy/032-visual. The source narrative and detailed presenter guidance remain in the preceding slide notes.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d7afaf314c469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facdd6916404cfe" /><Relationship Type="http://schemas.openxmlformats.org/officeDocument/2006/relationships/slideLayout" Target="/ppt/slideLayouts/slideLayout1.xml" Id="Rd803a839649341b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803a839649341b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b0eb471d574c3b" /><Relationship Type="http://schemas.openxmlformats.org/officeDocument/2006/relationships/notesSlide" Target="/ppt/notesSlides/notesSlide1.xml" Id="R256aad68052e46f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b0de4a84d4426b" /><Relationship Type="http://schemas.openxmlformats.org/officeDocument/2006/relationships/image" Target="/ppt/media/image.png" Id="Read5c5264fca4355" /><Relationship Type="http://schemas.openxmlformats.org/officeDocument/2006/relationships/notesSlide" Target="/ppt/notesSlides/notesSlide2.xml" Id="R4188e65760c5453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e02c034d274c4f" /><Relationship Type="http://schemas.openxmlformats.org/officeDocument/2006/relationships/notesSlide" Target="/ppt/notesSlides/notesSlide3.xml" Id="R17946905e1574dd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dcff9e6ed44d0e" /><Relationship Type="http://schemas.openxmlformats.org/officeDocument/2006/relationships/image" Target="/ppt/media/image2.png" Id="R94cfed667d154ec2" /><Relationship Type="http://schemas.openxmlformats.org/officeDocument/2006/relationships/notesSlide" Target="/ppt/notesSlides/notesSlide4.xml" Id="R2d95dfe3e6604d6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999db78ad24bfe" /><Relationship Type="http://schemas.openxmlformats.org/officeDocument/2006/relationships/notesSlide" Target="/ppt/notesSlides/notesSlide5.xml" Id="Re6ffa24ee75e4df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b541262e36454a" /><Relationship Type="http://schemas.openxmlformats.org/officeDocument/2006/relationships/image" Target="/ppt/media/image3.png" Id="Ra2b643d58f894803" /><Relationship Type="http://schemas.openxmlformats.org/officeDocument/2006/relationships/notesSlide" Target="/ppt/notesSlides/notesSlide6.xml" Id="R5becdf7a8d82418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32b76a808f42b1" /><Relationship Type="http://schemas.openxmlformats.org/officeDocument/2006/relationships/notesSlide" Target="/ppt/notesSlides/notesSlide7.xml" Id="Rfaead58275c64d5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9065d4769f4ea6" /><Relationship Type="http://schemas.openxmlformats.org/officeDocument/2006/relationships/image" Target="/ppt/media/image4.png" Id="R430c9275e5ba4dc0" /><Relationship Type="http://schemas.openxmlformats.org/officeDocument/2006/relationships/notesSlide" Target="/ppt/notesSlides/notesSlide8.xml" Id="R9906da4e9af8486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2cbab3695846e0" /><Relationship Type="http://schemas.openxmlformats.org/officeDocument/2006/relationships/notesSlide" Target="/ppt/notesSlides/notesSlide9.xml" Id="Rf5eada0ce8c2416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19f382906e4860" /><Relationship Type="http://schemas.openxmlformats.org/officeDocument/2006/relationships/image" Target="/ppt/media/image5.png" Id="Ra155eadd56664375" /><Relationship Type="http://schemas.openxmlformats.org/officeDocument/2006/relationships/notesSlide" Target="/ppt/notesSlides/notesSlide10.xml" Id="Radd744394d2a45a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ee9c5c45e64478" /><Relationship Type="http://schemas.openxmlformats.org/officeDocument/2006/relationships/notesSlide" Target="/ppt/notesSlides/notesSlide11.xml" Id="R7dc2121558d546c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92f750324448df" /><Relationship Type="http://schemas.openxmlformats.org/officeDocument/2006/relationships/image" Target="/ppt/media/image6.png" Id="Rd3d2aa9c1f8e4428" /><Relationship Type="http://schemas.openxmlformats.org/officeDocument/2006/relationships/notesSlide" Target="/ppt/notesSlides/notesSlide12.xml" Id="R18656947b0e7410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39d96aea6a4580" /><Relationship Type="http://schemas.openxmlformats.org/officeDocument/2006/relationships/notesSlide" Target="/ppt/notesSlides/notesSlide13.xml" Id="Rb8ec2dc11d114f0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f957ddcab845a6" /><Relationship Type="http://schemas.openxmlformats.org/officeDocument/2006/relationships/image" Target="/ppt/media/image7.png" Id="Rfb8ef68c81144133" /><Relationship Type="http://schemas.openxmlformats.org/officeDocument/2006/relationships/notesSlide" Target="/ppt/notesSlides/notesSlide14.xml" Id="R8c3252635a394e5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740a40de1344b3" /><Relationship Type="http://schemas.openxmlformats.org/officeDocument/2006/relationships/notesSlide" Target="/ppt/notesSlides/notesSlide15.xml" Id="R6e6a78777f7243c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e8d0a144eb4c8b" /><Relationship Type="http://schemas.openxmlformats.org/officeDocument/2006/relationships/image" Target="/ppt/media/image8.png" Id="R93e67fc7b2084bbc" /><Relationship Type="http://schemas.openxmlformats.org/officeDocument/2006/relationships/notesSlide" Target="/ppt/notesSlides/notesSlide16.xml" Id="R00603811e7944cc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36CD80-6E2F-4864-B4D8-9A0574A9C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D4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86D796-38A3-4733-B3E0-124BB1690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8575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098E30-E000-4BBF-A4CF-D7123E59E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95250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8FD0C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8FD0C8"/>
                </a:solidFill>
                <a:latin typeface="Arial"/>
                <a:ea typeface="Arial"/>
                <a:cs typeface="Arial"/>
              </a:rPr>
              <a:t>AI SHOP · VISTA · SDLC2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56C7D3-C110-4FF8-BA8C-19630337A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38375"/>
            <a:ext cx="12382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VISTA Agentic Items Vision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E2C778-6D8C-4925-A2F4-92343B285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905250"/>
            <a:ext cx="10001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D9E5E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D9E5E8"/>
                </a:solidFill>
                <a:latin typeface="Arial"/>
                <a:ea typeface="Arial"/>
                <a:cs typeface="Arial"/>
              </a:rPr>
              <a:t>From Shelf Photo to Item Report</a:t>
            </a:r>
          </a:p>
          <a:p xmlns:a="http://schemas.openxmlformats.org/drawingml/2006/main">
            <a:pPr>
              <a:defRPr sz="2250" b="0">
                <a:solidFill>
                  <a:srgbClr val="D9E5E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D9E5E8"/>
                </a:solidFill>
                <a:latin typeface="Arial"/>
                <a:ea typeface="Arial"/>
                <a:cs typeface="Arial"/>
              </a:rPr>
              <a:t>User Journey, Architecture, and Implementation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E8568B-C582-4401-803C-F864A5F98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381750"/>
            <a:ext cx="8572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11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849742-C9FF-4394-A4C6-D9F715E39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762750"/>
            <a:ext cx="11430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BD1D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BBD1D4"/>
                </a:solidFill>
                <a:latin typeface="Arial"/>
                <a:ea typeface="Arial"/>
                <a:cs typeface="Arial"/>
              </a:rPr>
              <a:t>A real application evaluated through a complete software lifecycle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EC1C37-17F8-4B23-AE9E-DF7798446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7524750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FD0C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FD0C8"/>
                </a:solidFill>
                <a:latin typeface="Arial"/>
                <a:ea typeface="Arial"/>
                <a:cs typeface="Arial"/>
              </a:rPr>
              <a:t>000</a:t>
            </a:r>
          </a:p>
        </p:txBody>
      </p:sp>
    </p:spTree>
    <p:extLst>
      <p:ext uri="{BB962C8B-B14F-4D97-AF65-F5344CB8AC3E}">
        <p14:creationId xmlns:p14="http://schemas.microsoft.com/office/powerpoint/2010/main" val="35817817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d5c5264fca4355"/>
          <a:stretch xmlns:a="http://schemas.openxmlformats.org/drawingml/2006/main"/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49695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65B43B-5498-4EC6-9B0F-6D185FE73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E20FD5-DC1A-4B7A-BA75-CDC611EEC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667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18BACB-6BD8-4349-84F7-6DD8E92CE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38150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00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5F7B51-E9EF-4FAA-8EEB-5B5F09CB9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838200"/>
            <a:ext cx="13430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3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2D43"/>
                </a:solidFill>
                <a:latin typeface="Arial"/>
                <a:ea typeface="Arial"/>
                <a:cs typeface="Arial"/>
              </a:rPr>
              <a:t>Understand What Is on the Shelf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DFCD10-B530-4BF7-B8CC-13AE5AB03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09750"/>
            <a:ext cx="13811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11E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22C9C5-34FA-4EC3-A77A-623B5B2F0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90750"/>
            <a:ext cx="13811250" cy="3200400"/>
          </a:xfrm>
          <a:prstGeom xmlns:a="http://schemas.openxmlformats.org/drawingml/2006/main" prst="roundRect">
            <a:avLst>
              <a:gd name="adj" fmla="val 23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2D5763-23FA-4118-A279-EF46B9DA7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543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2D9BA1-C8D4-40D0-9850-1D7F143DF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19350"/>
            <a:ext cx="13001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Capture shelf photos as evidence for inspection.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A4BAF6-393B-40F7-A89D-931FCF419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152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5C9D24-58E7-4A5D-BE0E-7F4FAA0D2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28950"/>
            <a:ext cx="13001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Identify visible products and count their facings.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FCE0B2-4464-4869-8C3A-3AC7AE548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62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373BE9-63B3-4CF2-85C0-7A639C40D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38550"/>
            <a:ext cx="13001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Help teams understand shelf presence and changes over time.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3CB1F9-CDE8-4838-AAAB-9D694F93F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3719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7CEBDF-EB04-451C-8568-7EEB2D1A9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248150"/>
            <a:ext cx="13001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Support inventory decisions, brand presentation, and sales.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A1D544-6C36-4A02-B05A-9065B879D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981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266C97-2A28-4456-B6EC-32C7B06BD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57750"/>
            <a:ext cx="13001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This module turns an uploaded photo into a reviewable item report.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1D3D41-30EC-4B53-B7DF-A457398C4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79057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1717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1717E"/>
                </a:solidFill>
                <a:latin typeface="Arial"/>
                <a:ea typeface="Arial"/>
                <a:cs typeface="Arial"/>
              </a:rPr>
              <a:t>EDITABLE TEXT</a:t>
            </a:r>
          </a:p>
        </p:txBody>
      </p:sp>
    </p:spTree>
    <p:extLst>
      <p:ext uri="{BB962C8B-B14F-4D97-AF65-F5344CB8AC3E}">
        <p14:creationId xmlns:p14="http://schemas.microsoft.com/office/powerpoint/2010/main" val="175140861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cfed667d154ec2"/>
          <a:stretch xmlns:a="http://schemas.openxmlformats.org/drawingml/2006/main"/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30965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78DAA22-47F7-4B8E-B0E1-3BF02FA6F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683216-4E78-442D-943C-84848AA61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667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D144B7-6CCD-4B2D-AA76-135B6B2FE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38150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005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086B16-0356-48CA-83F0-9D2B12470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838200"/>
            <a:ext cx="13430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3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2D43"/>
                </a:solidFill>
                <a:latin typeface="Arial"/>
                <a:ea typeface="Arial"/>
                <a:cs typeface="Arial"/>
              </a:rPr>
              <a:t>AI Shop Through the 12-Step SDLC2 Lifecycle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0765C1-2EEA-42E8-A0E9-BE156C6E7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09750"/>
            <a:ext cx="13811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11E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4699FC-81A5-4F3A-8082-577DFF7E5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90750"/>
            <a:ext cx="3281363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E9EDEC-C7B6-4C8E-AFCF-E7D3B9142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543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36F538-3710-4A34-A80A-8DF8042FA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19350"/>
            <a:ext cx="2471738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087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AI Shop is both a working application and an SDLC2 case study.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EF2047-54EF-43AD-B4A4-60ABEE52D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448050"/>
            <a:ext cx="3281363" cy="194310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1D6BD4-7984-478D-BC3A-8F22A013D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638550"/>
            <a:ext cx="27479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Operate and Learn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DE0BA4-0EBE-4929-96CE-66CC602A4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14337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11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88BB1E-DFD7-4B8E-8660-AC731BCF0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019550"/>
            <a:ext cx="2471738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662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63746"/>
                </a:solidFill>
                <a:latin typeface="Arial"/>
                <a:ea typeface="Arial"/>
                <a:cs typeface="Arial"/>
              </a:rPr>
              <a:t>10. Deployment, Infrastructure, and Operational Reality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78A91E-8E0C-4459-A4AB-BDAE864E4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67677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11E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F5920B-349E-484C-AA51-BC1BEBD6F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552950"/>
            <a:ext cx="2471738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5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63746"/>
                </a:solidFill>
                <a:latin typeface="Arial"/>
                <a:ea typeface="Arial"/>
                <a:cs typeface="Arial"/>
              </a:rPr>
              <a:t>11. Review, Human QA, and Release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3E10F8-AB98-409F-9E74-7A9529B64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21017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11E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EA835F-23C7-4C3E-B3A0-535E8FFB3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086350"/>
            <a:ext cx="2471738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5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63746"/>
                </a:solidFill>
                <a:latin typeface="Arial"/>
                <a:ea typeface="Arial"/>
                <a:cs typeface="Arial"/>
              </a:rPr>
              <a:t>12. Observability and Learning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D5A5CE-74F6-432A-ADA8-A0C2CF559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4338" y="2190750"/>
            <a:ext cx="3281363" cy="194310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84B729-5448-4C05-805E-A6C26B487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1038" y="2381250"/>
            <a:ext cx="27479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Understand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18F084-2479-4615-A77F-A6315398D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0088" y="288607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11E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0A2BC4-EB7F-4586-855F-4E3F6DB5B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8213" y="2762250"/>
            <a:ext cx="2471738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5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63746"/>
                </a:solidFill>
                <a:latin typeface="Arial"/>
                <a:ea typeface="Arial"/>
                <a:cs typeface="Arial"/>
              </a:rPr>
              <a:t>1. Business and Technical Context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A63305-B7FE-406A-AEF9-0F4EC8232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0088" y="341947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11E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9870B4-7E86-4F3E-B3D7-F22951FD3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8213" y="3295650"/>
            <a:ext cx="2471738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63746"/>
                </a:solidFill>
                <a:latin typeface="Arial"/>
                <a:ea typeface="Arial"/>
                <a:cs typeface="Arial"/>
              </a:rPr>
              <a:t>2. Intent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625CD8-36F5-4484-8FDB-8C14AD444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0088" y="395287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11E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B6478B8-DB89-428F-BA6A-62460D6A5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8213" y="3829050"/>
            <a:ext cx="2471738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5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63746"/>
                </a:solidFill>
                <a:latin typeface="Arial"/>
                <a:ea typeface="Arial"/>
                <a:cs typeface="Arial"/>
              </a:rPr>
              <a:t>3. Use Cases and System Model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B86A220-E9B5-4240-A974-7FF191334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190750"/>
            <a:ext cx="3281363" cy="194310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5E60862-2A2A-4F0E-9AB3-B04C5A70E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81250"/>
            <a:ext cx="27479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Evaluate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1823E2D-5EFE-40E7-8B3B-536B7E009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88607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11E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8547CB6-4263-4247-A77D-E0C016334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2762250"/>
            <a:ext cx="2471738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5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63746"/>
                </a:solidFill>
                <a:latin typeface="Arial"/>
                <a:ea typeface="Arial"/>
                <a:cs typeface="Arial"/>
              </a:rPr>
              <a:t>4. Benchmarks and Test Strategy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D21BDAE-B848-4868-BCDA-719DED155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41947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11E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4D23F4C-133C-4037-AE5C-43AA79A57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3295650"/>
            <a:ext cx="2471738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622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63746"/>
                </a:solidFill>
                <a:latin typeface="Arial"/>
                <a:ea typeface="Arial"/>
                <a:cs typeface="Arial"/>
              </a:rPr>
              <a:t>5. High-Level Architecture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20E5323-E9C0-4774-AF11-8DFFE6F78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95287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11E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FFE688B-83D0-4300-AA55-6C193EDEC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3829050"/>
            <a:ext cx="2471738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5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63746"/>
                </a:solidFill>
                <a:latin typeface="Arial"/>
                <a:ea typeface="Arial"/>
                <a:cs typeface="Arial"/>
              </a:rPr>
              <a:t>6. Working Proof of Concept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B7792E2-8AAC-4AD0-B171-F9C5E5191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4263" y="2190750"/>
            <a:ext cx="3281363" cy="194310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BD114DE-75D6-4C0C-96DA-9D18F5316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0963" y="2381250"/>
            <a:ext cx="27479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Build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FE9C2B4-640A-4707-8290-59E298CB7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0013" y="288607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11E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A22D2A6-AB35-4027-9C96-316AD9897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8138" y="2762250"/>
            <a:ext cx="2471738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63746"/>
                </a:solidFill>
                <a:latin typeface="Arial"/>
                <a:ea typeface="Arial"/>
                <a:cs typeface="Arial"/>
              </a:rPr>
              <a:t>7. Planning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2199A74-D914-494D-A583-02029BCB2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0013" y="341947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11E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5BBAEC3-E29B-412F-83F8-743CBB9AD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8138" y="3295650"/>
            <a:ext cx="2471738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5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63746"/>
                </a:solidFill>
                <a:latin typeface="Arial"/>
                <a:ea typeface="Arial"/>
                <a:cs typeface="Arial"/>
              </a:rPr>
              <a:t>8. Low-Level Design and Specifications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BB6A27C-C99D-4D85-BB74-83E7890B8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0013" y="395287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11E"/>
          </a:solidFill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980A4DB-BFD7-4AA2-85FF-EBECA6951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8138" y="3829050"/>
            <a:ext cx="2471738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63746"/>
                </a:solidFill>
                <a:latin typeface="Arial"/>
                <a:ea typeface="Arial"/>
                <a:cs typeface="Arial"/>
              </a:rPr>
              <a:t>9. Build, Code, and Test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EE00354-7C64-47BE-B768-F30A88D80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79057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1717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1717E"/>
                </a:solidFill>
                <a:latin typeface="Arial"/>
                <a:ea typeface="Arial"/>
                <a:cs typeface="Arial"/>
              </a:rPr>
              <a:t>EDITABLE TEXT</a:t>
            </a:r>
          </a:p>
        </p:txBody>
      </p:sp>
    </p:spTree>
    <p:extLst>
      <p:ext uri="{BB962C8B-B14F-4D97-AF65-F5344CB8AC3E}">
        <p14:creationId xmlns:p14="http://schemas.microsoft.com/office/powerpoint/2010/main" val="184457550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b643d58f894803"/>
          <a:stretch xmlns:a="http://schemas.openxmlformats.org/drawingml/2006/main"/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327900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3264F9-CE2B-4BBB-930B-153BFC80E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D6AE68-7057-4C87-AAB0-9D0E33366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667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5A3C5B-4082-4040-80F0-F56DAF290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38150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73773F-4E41-485D-A9D5-40DE36657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838200"/>
            <a:ext cx="13430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3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2D43"/>
                </a:solidFill>
                <a:latin typeface="Arial"/>
                <a:ea typeface="Arial"/>
                <a:cs typeface="Arial"/>
              </a:rPr>
              <a:t>VISTA Agentic Items Vision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9EB71E-90EE-4333-885C-4D2B318CE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09750"/>
            <a:ext cx="13811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11E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8DB48C-9E1D-4899-A82D-EDF09D937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90750"/>
            <a:ext cx="13811250" cy="3200400"/>
          </a:xfrm>
          <a:prstGeom xmlns:a="http://schemas.openxmlformats.org/drawingml/2006/main" prst="roundRect">
            <a:avLst>
              <a:gd name="adj" fmla="val 23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45B8F6-63C9-463C-B5EE-7025E8AE9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381250"/>
            <a:ext cx="13277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From image to item report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B2529B-BB3A-4935-A47E-517B4F374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8860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E46BA0-030A-430E-8CBF-A0227CF8E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62250"/>
            <a:ext cx="13001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Upload a shelf photo through the browser interface.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6EB647-9C9B-47DC-AA2F-09104000A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4956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13F8E4-139F-4195-89A7-477C7C8CB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371850"/>
            <a:ext cx="13001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The server checks access, saves the image, and coordinates analysis.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CAA06D-2FC0-4F9B-A694-204350615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105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155992-8DF7-4091-884F-617594D07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81450"/>
            <a:ext cx="13001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AI identifies products and counts visible facings.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24C873-FE80-42CC-A8B8-A5C3A1BA9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714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B36063-44F3-400F-9EB0-4D6E6D343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591050"/>
            <a:ext cx="13001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Read progress and the saved report in the browser.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911E2D-F363-41CE-8583-6ACB0FA00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3244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B5BEDD-7656-4F72-BD67-7D7433E4D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00650"/>
            <a:ext cx="13001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Review the observations: recognition can be uncertain.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E5C4A2-730A-47D9-881F-0A573B57C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79057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1717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1717E"/>
                </a:solidFill>
                <a:latin typeface="Arial"/>
                <a:ea typeface="Arial"/>
                <a:cs typeface="Arial"/>
              </a:rPr>
              <a:t>EDITABLE TEXT</a:t>
            </a:r>
          </a:p>
        </p:txBody>
      </p:sp>
    </p:spTree>
    <p:extLst>
      <p:ext uri="{BB962C8B-B14F-4D97-AF65-F5344CB8AC3E}">
        <p14:creationId xmlns:p14="http://schemas.microsoft.com/office/powerpoint/2010/main" val="82703190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0c9275e5ba4dc0"/>
          <a:stretch xmlns:a="http://schemas.openxmlformats.org/drawingml/2006/main"/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998123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4883152-0335-4E18-A110-51E93B52E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2C0F66-EF3F-403C-90A1-8B803DAD8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667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22F1F1-A8F9-454A-A2F3-F2708FECF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38150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042DFB-B47C-4064-B7FC-7D07E1DC5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838200"/>
            <a:ext cx="13430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3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2D43"/>
                </a:solidFill>
                <a:latin typeface="Arial"/>
                <a:ea typeface="Arial"/>
                <a:cs typeface="Arial"/>
              </a:rPr>
              <a:t>Two Product Use Cases Share One Vision Foundation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FB763A-C5D7-4A20-A762-B8D0D3FC9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09750"/>
            <a:ext cx="13811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11E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4492F5-EAE3-4326-89C8-387569595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90750"/>
            <a:ext cx="6791325" cy="217170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CED8E0-A58A-4D17-80B1-EBF4B520C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381250"/>
            <a:ext cx="62579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AI Shop shopping experience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3A120A-BB8E-4711-862C-B7F449B09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8860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D56171-C05D-47EC-A60E-2807C6615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62250"/>
            <a:ext cx="5981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466"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The AI Shop iPhone app scans products for shoppers.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202967-1F12-49D1-B697-18CA8637A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4956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032ED9-2E79-45DD-AB36-F936AA4DF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371850"/>
            <a:ext cx="5981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976"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Image processing can occur on the iPhone and through server-side AI.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F9702D-8EAB-4AD1-BC99-E4541D2AB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105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B15332-764C-4523-9982-C9F81A789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81450"/>
            <a:ext cx="5981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341"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Results help shoppers make better-informed decisions.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2EF83A-484A-4397-BA53-2B0E0E6D4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190750"/>
            <a:ext cx="6791325" cy="2686050"/>
          </a:xfrm>
          <a:prstGeom xmlns:a="http://schemas.openxmlformats.org/drawingml/2006/main" prst="roundRect">
            <a:avLst>
              <a:gd name="adj" fmla="val 28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FA8A2E-6AC0-4D61-9681-282EF7806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81250"/>
            <a:ext cx="62579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VISTA shelf inspection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044A70-BB97-48A6-B6F4-61CC932AB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8860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9946FD-026E-4BEA-9950-AF7CD7745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2762250"/>
            <a:ext cx="5981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976"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The web Agent manually analyses shelf photographs and videos today.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833010-02B1-4ED0-B8FC-6C242673A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4956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C07333-DFBF-440A-815F-28322BAE7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3371850"/>
            <a:ext cx="5981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976"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The intended VISTA iPhone app will capture evidence during store inspections.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37E1FE-C274-447B-82F8-A79179DED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105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1F0523-A3A9-440C-8899-D975AD3D8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3981450"/>
            <a:ext cx="5981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770"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Results identify shelf products and count visible facings.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C6FAA7-DB38-4D5B-887A-07EA00826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714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29F83A-63EF-4E51-8BD2-43AA83731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4591050"/>
            <a:ext cx="5981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976"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Both experiences reuse common server capabilities while serving different users.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66251E5-89C5-4A80-AD17-AC23D1AAC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79057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1717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1717E"/>
                </a:solidFill>
                <a:latin typeface="Arial"/>
                <a:ea typeface="Arial"/>
                <a:cs typeface="Arial"/>
              </a:rPr>
              <a:t>EDITABLE TEXT</a:t>
            </a:r>
          </a:p>
        </p:txBody>
      </p:sp>
    </p:spTree>
    <p:extLst>
      <p:ext uri="{BB962C8B-B14F-4D97-AF65-F5344CB8AC3E}">
        <p14:creationId xmlns:p14="http://schemas.microsoft.com/office/powerpoint/2010/main" val="181813483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55eadd56664375"/>
          <a:stretch xmlns:a="http://schemas.openxmlformats.org/drawingml/2006/main"/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3086096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6B0202-6096-4EDE-BC21-6F0CDDDD8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F6A08D-C020-4D6A-B0B2-FBF8A9785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667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0ED3CA-2D72-459D-A2FB-311B16BE1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38150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4F351D-1D3D-4990-B832-7E49190EE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838200"/>
            <a:ext cx="13430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3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2D43"/>
                </a:solidFill>
                <a:latin typeface="Arial"/>
                <a:ea typeface="Arial"/>
                <a:cs typeface="Arial"/>
              </a:rPr>
              <a:t>What AI Shop Must Improve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50F84B-828B-45D1-945A-05EE1DD1A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09750"/>
            <a:ext cx="13811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11E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E55C8A-BC25-4595-BE9E-591071323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90750"/>
            <a:ext cx="3281363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CDAE2B-463E-420B-8321-41EF721A6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543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A7DC8D-4700-4671-B8EE-11D2B9C49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19350"/>
            <a:ext cx="2471738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1984"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AI Shop must outperform useful human workflows, not merely return an AI response.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FAB64B-8269-4D4C-8986-7E1F77858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4338" y="2190750"/>
            <a:ext cx="3281363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9C35D7-C51E-4766-AF8F-23EF423BC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1038" y="2381250"/>
            <a:ext cx="27479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Shopping assistance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519915-9353-4FD5-9FF0-3791DD48C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0088" y="28860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FDFED9-E56D-4222-A133-10774CD1E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8213" y="2762250"/>
            <a:ext cx="2471738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1984"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Reach a decision with less image handling, repeated context, and conversation.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060D13-E2C7-4463-8221-909F78E1D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190750"/>
            <a:ext cx="3281363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C5EBA8-139E-4CB4-A880-629659BCE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81250"/>
            <a:ext cx="27479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Product identification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8CF018-EE70-494D-94D0-86CE40C22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8860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ED3AD5-A441-485C-9D08-99BD23CED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2762250"/>
            <a:ext cx="2471738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1984"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Make a complex scene faster to understand while showing uncertainty honestly.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025D6C-5879-4E3E-A655-F087C944C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4263" y="2190750"/>
            <a:ext cx="3281363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D20908-8B98-4DCE-B166-A0A53346A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0963" y="2381250"/>
            <a:ext cx="27479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Shelf inspection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D5AD68-75CB-408B-8EDC-6299EC9AF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0013" y="28860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4F9F92-2E14-466B-9C75-E1BEF88E4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8138" y="2762250"/>
            <a:ext cx="2471738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1984"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Keep the source image, AI findings, corrections, reviewer, and timing connected.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90B499-765A-4788-A6DC-18A65EE97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0013" y="34956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E5535F-8566-48EF-8F05-3A533B185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8138" y="3371850"/>
            <a:ext cx="2471738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2930"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The application should reduce effort without weakening human judgment.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C2292B-BA60-4079-B124-727A0D885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79057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1717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1717E"/>
                </a:solidFill>
                <a:latin typeface="Arial"/>
                <a:ea typeface="Arial"/>
                <a:cs typeface="Arial"/>
              </a:rPr>
              <a:t>EDITABLE TEXT</a:t>
            </a:r>
          </a:p>
        </p:txBody>
      </p:sp>
    </p:spTree>
    <p:extLst>
      <p:ext uri="{BB962C8B-B14F-4D97-AF65-F5344CB8AC3E}">
        <p14:creationId xmlns:p14="http://schemas.microsoft.com/office/powerpoint/2010/main" val="14653492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d2aa9c1f8e4428"/>
          <a:stretch xmlns:a="http://schemas.openxmlformats.org/drawingml/2006/main"/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383948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AE9F40-EA7C-4A0E-A1EA-80AB50814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BE6E08-CCE7-493A-B51E-2DFE560FA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667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A23D32-B9E7-427A-9600-3C8005DC9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38150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031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4C7E97-D719-4CBC-AFF1-E9AAD69E6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838200"/>
            <a:ext cx="13430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3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2D43"/>
                </a:solidFill>
                <a:latin typeface="Arial"/>
                <a:ea typeface="Arial"/>
                <a:cs typeface="Arial"/>
              </a:rPr>
              <a:t>One Shelf, Three Different Readings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884DD6-A0C7-4617-924B-8F3E6B7EF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09750"/>
            <a:ext cx="13811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11E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3E3FDC-F7EA-4C95-8F15-683795018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90750"/>
            <a:ext cx="13811250" cy="4229100"/>
          </a:xfrm>
          <a:prstGeom xmlns:a="http://schemas.openxmlformats.org/drawingml/2006/main" prst="roundRect">
            <a:avLst>
              <a:gd name="adj" fmla="val 18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62C58E-288C-4178-AD34-50C3EA167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543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9A4E4D-C900-48EB-A7A6-846452C36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19350"/>
            <a:ext cx="13001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The same dense shelf produced three incompatible descriptions.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178A67-13B0-43CA-9551-26A3D19EB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152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8D6DF2-3324-4BDD-BA28-40CC7482F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28950"/>
            <a:ext cx="13001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Provisional GPT reference: 42 product groups and 94 visible units.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016073-EF68-45E2-AC19-5568BB0BB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62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569A07-189A-444B-8C5C-257E717C0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38550"/>
            <a:ext cx="13001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Agent first run: 23 rows, 62 facings, and 3 uncertain entries.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27F871-2B20-425A-8841-C984446B4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3719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3644A0-FD6C-4648-AB63-4F4145E77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248150"/>
            <a:ext cx="13001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Independent visual read: about 57 facings plus 21 stacked units.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9D9336-1C13-49D5-9C24-9FB717A83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981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7DD8EA-42B3-4943-95D8-865B9995A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57750"/>
            <a:ext cx="13001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These totals answer different counting questions.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8DA89A-AD0B-4421-AED0-5B8DF360F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591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5F51F8-62B8-4232-9AF6-D969AB778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467350"/>
            <a:ext cx="13001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They cannot be converted into an accuracy percentage.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EF6B05-261E-4F8C-8243-C7DD7E03A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200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8DA134-B8D2-418C-9B6E-7AA23BCD7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076950"/>
            <a:ext cx="13001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A human-verified reference and an agreed counting contract must come first.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EE565A-D14F-4E56-8787-064CB68C8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79057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1717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1717E"/>
                </a:solidFill>
                <a:latin typeface="Arial"/>
                <a:ea typeface="Arial"/>
                <a:cs typeface="Arial"/>
              </a:rPr>
              <a:t>EDITABLE TEXT</a:t>
            </a:r>
          </a:p>
        </p:txBody>
      </p:sp>
    </p:spTree>
    <p:extLst>
      <p:ext uri="{BB962C8B-B14F-4D97-AF65-F5344CB8AC3E}">
        <p14:creationId xmlns:p14="http://schemas.microsoft.com/office/powerpoint/2010/main" val="123844751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8ef68c81144133"/>
          <a:stretch xmlns:a="http://schemas.openxmlformats.org/drawingml/2006/main"/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337828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0675DD0-0FDF-4DD3-A3DB-9E8AC3425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8E20F0-D258-43D3-8A25-24C5BF736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667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4D041F-810A-4FFD-A55C-D63693C51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38150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032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97B00E-FAB6-4C02-ADDF-AA4D33DD8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838200"/>
            <a:ext cx="13430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3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2D43"/>
                </a:solidFill>
                <a:latin typeface="Arial"/>
                <a:ea typeface="Arial"/>
                <a:cs typeface="Arial"/>
              </a:rPr>
              <a:t>Vision Quality and System Reliability Need Different Tests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AB2D9A-2872-4820-800A-B388EE582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09750"/>
            <a:ext cx="13811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11E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377C59-D364-4B03-B919-4FDD75B92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90750"/>
            <a:ext cx="6791325" cy="2686050"/>
          </a:xfrm>
          <a:prstGeom xmlns:a="http://schemas.openxmlformats.org/drawingml/2006/main" prst="roundRect">
            <a:avLst>
              <a:gd name="adj" fmla="val 28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3E3203-CD16-44A8-A0C5-FF7F3FD49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381250"/>
            <a:ext cx="62579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Vision quality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8DB5F3-12DE-4EE0-AF89-990AB3E45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8860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00735E-0419-47DD-943D-5F52B489D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62250"/>
            <a:ext cx="5981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976"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Freeze the source image, prompt, schema, and human-verified reference.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78B8A3-2F74-49EE-AD34-BA960BA0B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4956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38B20E-DF73-4F2D-A938-FA276AAE7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371850"/>
            <a:ext cx="5981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976"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Change one model, reasoning, context, or image setting at a time.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D81D8B-6AC9-469C-AB11-7326CF1F3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105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421762-EC05-4F7D-BD65-80B8AF8CA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81450"/>
            <a:ext cx="5981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976"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Score identification, omissions, counts, inventions, and uncertainty.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270B8E-C285-4D54-A14B-BFF16EC75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714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FC72BD-F5A2-40F4-AE4D-0D7FF176E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591050"/>
            <a:ext cx="5981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09"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Record latency, usage, cost, retries, and review effort.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9C1BA0-748B-4714-80F4-85F4CFBD6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190750"/>
            <a:ext cx="6791325" cy="2686050"/>
          </a:xfrm>
          <a:prstGeom xmlns:a="http://schemas.openxmlformats.org/drawingml/2006/main" prst="roundRect">
            <a:avLst>
              <a:gd name="adj" fmla="val 28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D1415D-4D7F-4795-AF50-C5888F139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81250"/>
            <a:ext cx="62579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System reliability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EB1E38-1A1F-4370-8697-8165EEDBC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8860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5B0A4B-3614-424A-B9FB-32EC25203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2762250"/>
            <a:ext cx="5981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976"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Prove access control, upload, durable progress, and saved evidence.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F13BC5-325B-464D-BB37-B871D1166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4956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796499-8284-44EB-BD2D-B24E66F02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3371850"/>
            <a:ext cx="5981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459"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Test refresh, refinement, retry, and failure diagnostics.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77D983-C58D-41B5-B30C-3118AA32B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105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7648C5-0DD1-4A74-AC37-0A093BA55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3981450"/>
            <a:ext cx="5981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976"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For video, preserve frame provenance and prevent duplicate counts.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C780401-6E4E-49A3-9A2D-230B1D1F8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714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DD651A3-6385-4AAD-B9AE-729D602D1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4591050"/>
            <a:ext cx="5981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316"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Release decisions require evidence from both test paths.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15AC2E4-760D-44B1-81EC-F0D31C395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79057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1717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1717E"/>
                </a:solidFill>
                <a:latin typeface="Arial"/>
                <a:ea typeface="Arial"/>
                <a:cs typeface="Arial"/>
              </a:rPr>
              <a:t>EDITABLE TEXT</a:t>
            </a:r>
          </a:p>
        </p:txBody>
      </p:sp>
    </p:spTree>
    <p:extLst>
      <p:ext uri="{BB962C8B-B14F-4D97-AF65-F5344CB8AC3E}">
        <p14:creationId xmlns:p14="http://schemas.microsoft.com/office/powerpoint/2010/main" val="145314562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e67fc7b2084bbc"/>
          <a:stretch xmlns:a="http://schemas.openxmlformats.org/drawingml/2006/main"/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07355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2026-09-15T03:36:04.6840000Z</dcterms:created>
  <dcterms:modified xsi:type="dcterms:W3CDTF">2026-09-15T03:36:04.6840000Z</dcterms:modified>
</coreProperties>
</file>