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24add97bd34873" /><Relationship Type="http://schemas.openxmlformats.org/officeDocument/2006/relationships/extended-properties" Target="/docProps/app.xml" Id="Rb9375f0d8b7f4e39" /><Relationship Type="http://schemas.openxmlformats.org/officeDocument/2006/relationships/officeDocument" Target="/ppt/presentation.xml" Id="Rb842563242b14f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37f9147a69486a"/>
  </p:sldMasterIdLst>
  <p:notesMasterIdLst>
    <p:notesMasterId xmlns:r="http://schemas.openxmlformats.org/officeDocument/2006/relationships" r:id="R6d48975a347741c2"/>
  </p:notesMasterIdLst>
  <p:sldIdLst>
    <p:sldId xmlns:r="http://schemas.openxmlformats.org/officeDocument/2006/relationships" id="256" r:id="R2b6ae2611ae242f6"/>
    <p:sldId xmlns:r="http://schemas.openxmlformats.org/officeDocument/2006/relationships" id="257" r:id="R464c2610915a4aea"/>
    <p:sldId xmlns:r="http://schemas.openxmlformats.org/officeDocument/2006/relationships" id="258" r:id="Rd007f39b55f64a6c"/>
    <p:sldId xmlns:r="http://schemas.openxmlformats.org/officeDocument/2006/relationships" id="259" r:id="R8d91d8979cde446f"/>
    <p:sldId xmlns:r="http://schemas.openxmlformats.org/officeDocument/2006/relationships" id="260" r:id="R6210bd2a92cc4759"/>
    <p:sldId xmlns:r="http://schemas.openxmlformats.org/officeDocument/2006/relationships" id="261" r:id="R3eefe7373b4540d1"/>
    <p:sldId xmlns:r="http://schemas.openxmlformats.org/officeDocument/2006/relationships" id="262" r:id="R3b55a50eeb414e43"/>
    <p:sldId xmlns:r="http://schemas.openxmlformats.org/officeDocument/2006/relationships" id="263" r:id="Rd34be1177b394cdc"/>
    <p:sldId xmlns:r="http://schemas.openxmlformats.org/officeDocument/2006/relationships" id="264" r:id="R0112b7c578ea4b98"/>
    <p:sldId xmlns:r="http://schemas.openxmlformats.org/officeDocument/2006/relationships" id="265" r:id="Ra961d1150a874aa3"/>
    <p:sldId xmlns:r="http://schemas.openxmlformats.org/officeDocument/2006/relationships" id="266" r:id="R6d4dfe29441046f0"/>
    <p:sldId xmlns:r="http://schemas.openxmlformats.org/officeDocument/2006/relationships" id="267" r:id="R77f4a21e31474360"/>
    <p:sldId xmlns:r="http://schemas.openxmlformats.org/officeDocument/2006/relationships" id="268" r:id="R3625d30c2c8e41b3"/>
    <p:sldId xmlns:r="http://schemas.openxmlformats.org/officeDocument/2006/relationships" id="269" r:id="R9c4e555cbac14f78"/>
    <p:sldId xmlns:r="http://schemas.openxmlformats.org/officeDocument/2006/relationships" id="270" r:id="R0d05e3a17ec3487f"/>
    <p:sldId xmlns:r="http://schemas.openxmlformats.org/officeDocument/2006/relationships" id="271" r:id="R5e6e339cc5114ab9"/>
    <p:sldId xmlns:r="http://schemas.openxmlformats.org/officeDocument/2006/relationships" id="272" r:id="R7b7308a8fd90445d"/>
    <p:sldId xmlns:r="http://schemas.openxmlformats.org/officeDocument/2006/relationships" id="273" r:id="R7a2ef261a0b0472d"/>
    <p:sldId xmlns:r="http://schemas.openxmlformats.org/officeDocument/2006/relationships" id="274" r:id="Ree3542ae53644100"/>
    <p:sldId xmlns:r="http://schemas.openxmlformats.org/officeDocument/2006/relationships" id="275" r:id="R1ded1692431745ec"/>
    <p:sldId xmlns:r="http://schemas.openxmlformats.org/officeDocument/2006/relationships" id="276" r:id="R5674ae72c7554b3d"/>
    <p:sldId xmlns:r="http://schemas.openxmlformats.org/officeDocument/2006/relationships" id="277" r:id="Rd11f21b426514746"/>
    <p:sldId xmlns:r="http://schemas.openxmlformats.org/officeDocument/2006/relationships" id="278" r:id="R53a05ced3237474f"/>
    <p:sldId xmlns:r="http://schemas.openxmlformats.org/officeDocument/2006/relationships" id="279" r:id="R0451fed986d8450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dc8d79179d40bb" /><Relationship Type="http://schemas.openxmlformats.org/officeDocument/2006/relationships/slideMaster" Target="/ppt/slideMasters/slideMaster1.xml" Id="R6737f9147a69486a" /><Relationship Type="http://schemas.openxmlformats.org/officeDocument/2006/relationships/notesMaster" Target="/ppt/notesMasters/notesMaster1.xml" Id="R6d48975a347741c2" /><Relationship Type="http://schemas.openxmlformats.org/officeDocument/2006/relationships/presProps" Target="/ppt/presProps.xml" Id="R9f3840b6bf57450b" /><Relationship Type="http://schemas.openxmlformats.org/officeDocument/2006/relationships/tableStyles" Target="/ppt/tableStyles.xml" Id="R12713e2a28da45a3" /><Relationship Type="http://schemas.openxmlformats.org/officeDocument/2006/relationships/slide" Target="/ppt/slides/slide1.xml" Id="R2b6ae2611ae242f6" /><Relationship Type="http://schemas.openxmlformats.org/officeDocument/2006/relationships/slide" Target="/ppt/slides/slide2.xml" Id="R464c2610915a4aea" /><Relationship Type="http://schemas.openxmlformats.org/officeDocument/2006/relationships/slide" Target="/ppt/slides/slide3.xml" Id="Rd007f39b55f64a6c" /><Relationship Type="http://schemas.openxmlformats.org/officeDocument/2006/relationships/slide" Target="/ppt/slides/slide4.xml" Id="R8d91d8979cde446f" /><Relationship Type="http://schemas.openxmlformats.org/officeDocument/2006/relationships/slide" Target="/ppt/slides/slide5.xml" Id="R6210bd2a92cc4759" /><Relationship Type="http://schemas.openxmlformats.org/officeDocument/2006/relationships/slide" Target="/ppt/slides/slide6.xml" Id="R3eefe7373b4540d1" /><Relationship Type="http://schemas.openxmlformats.org/officeDocument/2006/relationships/slide" Target="/ppt/slides/slide7.xml" Id="R3b55a50eeb414e43" /><Relationship Type="http://schemas.openxmlformats.org/officeDocument/2006/relationships/slide" Target="/ppt/slides/slide8.xml" Id="Rd34be1177b394cdc" /><Relationship Type="http://schemas.openxmlformats.org/officeDocument/2006/relationships/slide" Target="/ppt/slides/slide9.xml" Id="R0112b7c578ea4b98" /><Relationship Type="http://schemas.openxmlformats.org/officeDocument/2006/relationships/slide" Target="/ppt/slides/slide10.xml" Id="Ra961d1150a874aa3" /><Relationship Type="http://schemas.openxmlformats.org/officeDocument/2006/relationships/slide" Target="/ppt/slides/slide11.xml" Id="R6d4dfe29441046f0" /><Relationship Type="http://schemas.openxmlformats.org/officeDocument/2006/relationships/slide" Target="/ppt/slides/slide12.xml" Id="R77f4a21e31474360" /><Relationship Type="http://schemas.openxmlformats.org/officeDocument/2006/relationships/slide" Target="/ppt/slides/slide13.xml" Id="R3625d30c2c8e41b3" /><Relationship Type="http://schemas.openxmlformats.org/officeDocument/2006/relationships/slide" Target="/ppt/slides/slide14.xml" Id="R9c4e555cbac14f78" /><Relationship Type="http://schemas.openxmlformats.org/officeDocument/2006/relationships/slide" Target="/ppt/slides/slide15.xml" Id="R0d05e3a17ec3487f" /><Relationship Type="http://schemas.openxmlformats.org/officeDocument/2006/relationships/slide" Target="/ppt/slides/slide16.xml" Id="R5e6e339cc5114ab9" /><Relationship Type="http://schemas.openxmlformats.org/officeDocument/2006/relationships/slide" Target="/ppt/slides/slide17.xml" Id="R7b7308a8fd90445d" /><Relationship Type="http://schemas.openxmlformats.org/officeDocument/2006/relationships/slide" Target="/ppt/slides/slide18.xml" Id="R7a2ef261a0b0472d" /><Relationship Type="http://schemas.openxmlformats.org/officeDocument/2006/relationships/slide" Target="/ppt/slides/slide19.xml" Id="Ree3542ae53644100" /><Relationship Type="http://schemas.openxmlformats.org/officeDocument/2006/relationships/slide" Target="/ppt/slides/slide20.xml" Id="R1ded1692431745ec" /><Relationship Type="http://schemas.openxmlformats.org/officeDocument/2006/relationships/slide" Target="/ppt/slides/slide21.xml" Id="R5674ae72c7554b3d" /><Relationship Type="http://schemas.openxmlformats.org/officeDocument/2006/relationships/slide" Target="/ppt/slides/slide22.xml" Id="Rd11f21b426514746" /><Relationship Type="http://schemas.openxmlformats.org/officeDocument/2006/relationships/slide" Target="/ppt/slides/slide23.xml" Id="R53a05ced3237474f" /><Relationship Type="http://schemas.openxmlformats.org/officeDocument/2006/relationships/slide" Target="/ppt/slides/slide24.xml" Id="R0451fed986d845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fa8250b79a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74a5906386408f" /><Relationship Type="http://schemas.openxmlformats.org/officeDocument/2006/relationships/notesMaster" Target="/ppt/notesMasters/notesMaster1.xml" Id="R753c0459bd3b4f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327af2a6d9451d" /><Relationship Type="http://schemas.openxmlformats.org/officeDocument/2006/relationships/notesMaster" Target="/ppt/notesMasters/notesMaster1.xml" Id="Rb48eff1210bb46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0c2ba148b4402a" /><Relationship Type="http://schemas.openxmlformats.org/officeDocument/2006/relationships/notesMaster" Target="/ppt/notesMasters/notesMaster1.xml" Id="R19355337181140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47316f8f624093" /><Relationship Type="http://schemas.openxmlformats.org/officeDocument/2006/relationships/notesMaster" Target="/ppt/notesMasters/notesMaster1.xml" Id="Rbe4d91d582ac4f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a494bb1f884f60" /><Relationship Type="http://schemas.openxmlformats.org/officeDocument/2006/relationships/notesMaster" Target="/ppt/notesMasters/notesMaster1.xml" Id="R286762bcdd23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06874188e46c3" /><Relationship Type="http://schemas.openxmlformats.org/officeDocument/2006/relationships/notesMaster" Target="/ppt/notesMasters/notesMaster1.xml" Id="R3d55fb6a01854e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9e9355c2d4abb" /><Relationship Type="http://schemas.openxmlformats.org/officeDocument/2006/relationships/notesMaster" Target="/ppt/notesMasters/notesMaster1.xml" Id="R6d1572f485fa46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c74144b12242fc" /><Relationship Type="http://schemas.openxmlformats.org/officeDocument/2006/relationships/notesMaster" Target="/ppt/notesMasters/notesMaster1.xml" Id="Rbc0131144b9f42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8f8db3c3124897" /><Relationship Type="http://schemas.openxmlformats.org/officeDocument/2006/relationships/notesMaster" Target="/ppt/notesMasters/notesMaster1.xml" Id="R0ce34850b6f3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d3e0858b7a4727" /><Relationship Type="http://schemas.openxmlformats.org/officeDocument/2006/relationships/notesMaster" Target="/ppt/notesMasters/notesMaster1.xml" Id="R47b41061ad2943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830a15c40ee4e0c" /><Relationship Type="http://schemas.openxmlformats.org/officeDocument/2006/relationships/notesMaster" Target="/ppt/notesMasters/notesMaster1.xml" Id="R67b7fc9d34ed4e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543fc901b247e8" /><Relationship Type="http://schemas.openxmlformats.org/officeDocument/2006/relationships/notesMaster" Target="/ppt/notesMasters/notesMaster1.xml" Id="R6b50a9f169114f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0f0750d3e74c0f" /><Relationship Type="http://schemas.openxmlformats.org/officeDocument/2006/relationships/notesMaster" Target="/ppt/notesMasters/notesMaster1.xml" Id="R3cb5f9f04fd348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f98b5cbd194bd6" /><Relationship Type="http://schemas.openxmlformats.org/officeDocument/2006/relationships/notesMaster" Target="/ppt/notesMasters/notesMaster1.xml" Id="R8289a76fad3448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c1650c915f74b54" /><Relationship Type="http://schemas.openxmlformats.org/officeDocument/2006/relationships/notesMaster" Target="/ppt/notesMasters/notesMaster1.xml" Id="R09e241afd9a64a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d5acac0a6046e4" /><Relationship Type="http://schemas.openxmlformats.org/officeDocument/2006/relationships/notesMaster" Target="/ppt/notesMasters/notesMaster1.xml" Id="R689c795bf52145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269e40e7394c37" /><Relationship Type="http://schemas.openxmlformats.org/officeDocument/2006/relationships/notesMaster" Target="/ppt/notesMasters/notesMaster1.xml" Id="Ref20b4dede9046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4c980fde73444f" /><Relationship Type="http://schemas.openxmlformats.org/officeDocument/2006/relationships/notesMaster" Target="/ppt/notesMasters/notesMaster1.xml" Id="R5751510d52b042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27fe4b28754786" /><Relationship Type="http://schemas.openxmlformats.org/officeDocument/2006/relationships/notesMaster" Target="/ppt/notesMasters/notesMaster1.xml" Id="R9035e69c625949f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6bf7e564bc4325" /><Relationship Type="http://schemas.openxmlformats.org/officeDocument/2006/relationships/notesMaster" Target="/ppt/notesMasters/notesMaster1.xml" Id="R4d32fc715aad446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23b1d6c41704e23" /><Relationship Type="http://schemas.openxmlformats.org/officeDocument/2006/relationships/notesMaster" Target="/ppt/notesMasters/notesMaster1.xml" Id="R57fc16b6fd1949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be0d78f8b524ef1" /><Relationship Type="http://schemas.openxmlformats.org/officeDocument/2006/relationships/notesMaster" Target="/ppt/notesMasters/notesMaster1.xml" Id="Rb5b67c9b57904a7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edf28218a64c04" /><Relationship Type="http://schemas.openxmlformats.org/officeDocument/2006/relationships/notesMaster" Target="/ppt/notesMasters/notesMaster1.xml" Id="R6c1fc5e57ff5449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2d1a5de8ae436e" /><Relationship Type="http://schemas.openxmlformats.org/officeDocument/2006/relationships/notesMaster" Target="/ppt/notesMasters/notesMaster1.xml" Id="R4442b604013d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000 — VISTA Agentic Visual Products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Welcome to the technical introduction to VISTA's image uploader and analyser.</a:t>
            </a:r>
          </a:p>
          <a:p xmlns:a="http://schemas.openxmlformats.org/drawingml/2006/main">
            <a:r>
              <a:t>We will follow a shelf photo from the user's upload to a reviewable item report.</a:t>
            </a:r>
          </a:p>
          <a:p xmlns:a="http://schemas.openxmlformats.org/drawingml/2006/main">
            <a:r>
              <a:t>The story connects the user journey, the architecture, and the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Start with the short business refresher on the next slide.</a:t>
            </a:r>
          </a:p>
          <a:p xmlns:a="http://schemas.openxmlformats.org/drawingml/2006/main">
            <a:r>
              <a:t>Then explain how the interface, server, storage, and AI work together.</a:t>
            </a:r>
          </a:p>
          <a:p xmlns:a="http://schemas.openxmlformats.org/drawingml/2006/main">
            <a:r>
              <a:t>Use the broader VISTA overview as background for the wider product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cover's three words—Capture, Analyse, Review—introduce the user journey.</a:t>
            </a:r>
          </a:p>
          <a:p xmlns:a="http://schemas.openxmlformats.org/drawingml/2006/main">
            <a:r>
              <a:t>They are a conceptual sequence; the component and API details follow later.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 — Business Context: Understand What Is on the Shelf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One-minute introduction</a:t>
            </a:r>
          </a:p>
          <a:p xmlns:a="http://schemas.openxmlformats.org/drawingml/2006/main">
            <a:r>
              <a:t>VISTA helps retail teams understand what is happening on store shelves.</a:t>
            </a:r>
          </a:p>
          <a:p xmlns:a="http://schemas.openxmlformats.org/drawingml/2006/main">
            <a:r>
              <a:t>They need to know which products are visible, how many facings each has,</a:t>
            </a:r>
          </a:p>
          <a:p xmlns:a="http://schemas.openxmlformats.org/drawingml/2006/main">
            <a:r>
              <a:t>and what changes between observations, to support inventory decisions,</a:t>
            </a:r>
          </a:p>
          <a:p xmlns:a="http://schemas.openxmlformats.org/drawingml/2006/main">
            <a:r>
              <a:t>brand presentation, and sales.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Look at the two shelf photos: they make the business question concrete.</a:t>
            </a:r>
          </a:p>
          <a:p xmlns:a="http://schemas.openxmlformats.org/drawingml/2006/main">
            <a:r>
              <a:t>A person captures shelf evidence so it can be analysed and reviewed.</a:t>
            </a:r>
          </a:p>
          <a:p xmlns:a="http://schemas.openxmlformats.org/drawingml/2006/main">
            <a:r>
              <a:t>The aim is to reduce manual inspection effort while retaining the image</a:t>
            </a:r>
          </a:p>
          <a:p xmlns:a="http://schemas.openxmlformats.org/drawingml/2006/main">
            <a:r>
              <a:t>that lets someone check the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we are about to explore handles one part of that bigger story.</a:t>
            </a:r>
          </a:p>
          <a:p xmlns:a="http://schemas.openxmlformats.org/drawingml/2006/main">
            <a:r>
              <a:t>A user uploads a shelf photo, the server coordinates AI analysis,</a:t>
            </a:r>
          </a:p>
          <a:p xmlns:a="http://schemas.openxmlformats.org/drawingml/2006/main">
            <a:r>
              <a:t>and the browser presents identified products and visible facing counts.</a:t>
            </a:r>
          </a:p>
          <a:p xmlns:a="http://schemas.openxmlformats.org/drawingml/2006/main">
            <a:r>
              <a:t>A facing is a visible product front, not the stock hidden behind it.</a:t>
            </a:r>
          </a:p>
          <a:p xmlns:a="http://schemas.openxmlformats.org/drawingml/2006/main">
            <a:r>
              <a:t>The observations can be uncertain and need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that user journey in mind as we move into the architecture:</a:t>
            </a:r>
          </a:p>
          <a:p xmlns:a="http://schemas.openxmlformats.org/drawingml/2006/main">
            <a:r>
              <a:t>photo in, reviewable item report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context and scope</a:t>
            </a:r>
          </a:p>
          <a:p xmlns:a="http://schemas.openxmlformats.org/drawingml/2006/main">
            <a:r>
              <a:t>The broader introduction is the [VISTA LinkedIn overview](../../VISTA-Linkedin-Overview-Presentation.pdf).</a:t>
            </a:r>
          </a:p>
          <a:p xmlns:a="http://schemas.openxmlformats.org/drawingml/2006/main">
            <a:r>
              <a:t>This technical guide assumes that background; this slide is a brief refresher.</a:t>
            </a:r>
          </a:p>
          <a:p xmlns:a="http://schemas.openxmlformats.org/drawingml/2006/main">
            <a:r>
              <a:t>Selected visual: PDF page 2, “Teams need to understand what is happening across stores”.</a:t>
            </a:r>
          </a:p>
          <a:p xmlns:a="http://schemas.openxmlformats.org/drawingml/2006/main">
            <a:r>
              <a:t>It uses original field examples and connects the images to the business questions.</a:t>
            </a:r>
          </a:p>
          <a:p xmlns:a="http://schemas.openxmlformats.org/drawingml/2006/main">
            <a:r>
              <a:t>Comparisons across visits describe the wider business intent, not a claim that</a:t>
            </a:r>
          </a:p>
          <a:p xmlns:a="http://schemas.openxmlformats.org/drawingml/2006/main">
            <a:r>
              <a:t>this uploader module already performs automatic change detection.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Point to the before-and-after photos, then the three questions on the right.</a:t>
            </a:r>
          </a:p>
          <a:p xmlns:a="http://schemas.openxmlformats.org/drawingml/2006/main">
            <a:r>
              <a:t>Close with the need for readable shelf images and move to slide 01's architecture.</a:t>
            </a:r>
          </a:p>
          <a:p xmlns:a="http://schemas.openxmlformats.org/drawingml/2006/main">
            <a:r>
              <a:t>The visual retains its original PDF footer number, 02; this guide numbers it 00.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005 - AI Shop Through the 12-Step SDLC2 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has two connected purposes.</a:t>
            </a:r>
          </a:p>
          <a:p xmlns:a="http://schemas.openxmlformats.org/drawingml/2006/main">
            <a:r>
              <a:t>It is a real application for analysing shelf images and producing item reports.</a:t>
            </a:r>
          </a:p>
          <a:p xmlns:a="http://schemas.openxmlformats.org/drawingml/2006/main">
            <a:r>
              <a:t>It is also a case study showing how SDLC2 evaluates and develops an AI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introduces the twelve steps lightly.</a:t>
            </a:r>
          </a:p>
          <a:p xmlns:a="http://schemas.openxmlformats.org/drawingml/2006/main">
            <a:r>
              <a:t>The remainder of the presentation uses concrete AI Shop evidence to examine them.</a:t>
            </a:r>
          </a:p>
          <a:p xmlns:a="http://schemas.openxmlformats.org/drawingml/2006/main">
            <a:r>
              <a:t>The steps form a lifecycle, but learning can send the team back to an earlier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Understand</a:t>
            </a:r>
          </a:p>
          <a:p xmlns:a="http://schemas.openxmlformats.org/drawingml/2006/main">
            <a:r>
              <a:t>Business and Technical Context establishes the retail problem and technical environment.</a:t>
            </a:r>
          </a:p>
          <a:p xmlns:a="http://schemas.openxmlformats.org/drawingml/2006/main">
            <a:r>
              <a:t>Intent states the outcome the application should create for its users.</a:t>
            </a:r>
          </a:p>
          <a:p xmlns:a="http://schemas.openxmlformats.org/drawingml/2006/main">
            <a:r>
              <a:t>Use Cases and System Model identify the people, system boundaries, and important interactions.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Evaluate</a:t>
            </a:r>
          </a:p>
          <a:p xmlns:a="http://schemas.openxmlformats.org/drawingml/2006/main">
            <a:r>
              <a:t>Benchmarks and Test Strategy define how usefulness, accuracy, and reliability will be judged.</a:t>
            </a:r>
          </a:p>
          <a:p xmlns:a="http://schemas.openxmlformats.org/drawingml/2006/main">
            <a:r>
              <a:t>High-Level Architecture assigns responsibilities across the browser, server, storage, and AI.</a:t>
            </a:r>
          </a:p>
          <a:p xmlns:a="http://schemas.openxmlformats.org/drawingml/2006/main">
            <a:r>
              <a:t>The Working Proof of Concept tests whether that architecture can produce useful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Build</a:t>
            </a:r>
          </a:p>
          <a:p xmlns:a="http://schemas.openxmlformats.org/drawingml/2006/main">
            <a:r>
              <a:t>Planning turns the validated direction into small, reviewable increments.</a:t>
            </a:r>
          </a:p>
          <a:p xmlns:a="http://schemas.openxmlformats.org/drawingml/2006/main">
            <a:r>
              <a:t>Low-Level Design and Specifications define interfaces, records, states, and component behaviour.</a:t>
            </a:r>
          </a:p>
          <a:p xmlns:a="http://schemas.openxmlformats.org/drawingml/2006/main">
            <a:r>
              <a:t>Build, Code, and Test implements those decisions and checks each increment.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Operate and Learn</a:t>
            </a:r>
          </a:p>
          <a:p xmlns:a="http://schemas.openxmlformats.org/drawingml/2006/main">
            <a:r>
              <a:t>Deployment, Infrastructure, and Operational Reality expose the system to real constraints.</a:t>
            </a:r>
          </a:p>
          <a:p xmlns:a="http://schemas.openxmlformats.org/drawingml/2006/main">
            <a:r>
              <a:t>Review, Human QA, and Release confirm that the result is useful and ready for its audience.</a:t>
            </a:r>
          </a:p>
          <a:p xmlns:a="http://schemas.openxmlformats.org/drawingml/2006/main">
            <a:r>
              <a:t>Observability and Learning turn runtime evidence, defects, and feedback into better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 to the technical story</a:t>
            </a:r>
          </a:p>
          <a:p xmlns:a="http://schemas.openxmlformats.org/drawingml/2006/main">
            <a:r>
              <a:t>The next slides move from the framework into the actual Items Vision implementation.</a:t>
            </a:r>
          </a:p>
          <a:p xmlns:a="http://schemas.openxmlformats.org/drawingml/2006/main">
            <a:r>
              <a:t>They follow a shelf photo from the browser to the server, storage, AI analysis, and report.</a:t>
            </a:r>
          </a:p>
          <a:p xmlns:a="http://schemas.openxmlformats.org/drawingml/2006/main">
            <a:r>
              <a:t>Later sections return to benchmarks, tests, deployment evidence, human review, and learning.</a:t>
            </a:r>
          </a:p>
          <a:p xmlns:a="http://schemas.openxmlformats.org/drawingml/2006/main">
            <a:r>
              <a:t>The purpose is not to claim that a diagram proves the architecture.</a:t>
            </a:r>
          </a:p>
          <a:p xmlns:a="http://schemas.openxmlformats.org/drawingml/2006/main">
            <a:r>
              <a:t>The purpose is to show how decisions and evidence accumulate across the lifecycle.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one continuous horizontal lifecycle divided into four clearly labelled phases.</a:t>
            </a:r>
          </a:p>
          <a:p xmlns:a="http://schemas.openxmlformats.org/drawingml/2006/main">
            <a:r>
              <a:t>Place three numbered steps in each phase and retain the full step names.</a:t>
            </a:r>
          </a:p>
          <a:p xmlns:a="http://schemas.openxmlformats.org/drawingml/2006/main">
            <a:r>
              <a:t>Use a return path from step 12 toward the beginning to represent continued learning.</a:t>
            </a:r>
          </a:p>
          <a:p xmlns:a="http://schemas.openxmlformats.org/drawingml/2006/main">
            <a:r>
              <a:t>Keep the composition readable as an overview rather than a detailed process diagram.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01 — Intent: Items Vision — From Image to Item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VISTA Agentic Visual Products Recognition is the presentation title.</a:t>
            </a:r>
          </a:p>
          <a:p xmlns:a="http://schemas.openxmlformats.org/drawingml/2006/main">
            <a:r>
              <a:t>It explains AI Shop's image uploader and analyser implementation.</a:t>
            </a:r>
          </a:p>
          <a:p xmlns:a="http://schemas.openxmlformats.org/drawingml/2006/main">
            <a:r>
              <a:t>The intended outcome is simple: understand how a photo becomes an item report.</a:t>
            </a:r>
          </a:p>
          <a:p xmlns:a="http://schemas.openxmlformats.org/drawingml/2006/main">
            <a:r>
              <a:t>The audience should follow the story without needing to read source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endpoint: the server's front door</a:t>
            </a:r>
          </a:p>
          <a:p xmlns:a="http://schemas.openxmlformats.org/drawingml/2006/main">
            <a:r>
              <a:t>The API entry point is `/v1/agent/analyses`.</a:t>
            </a:r>
          </a:p>
          <a:p xmlns:a="http://schemas.openxmlformats.org/drawingml/2006/main">
            <a:r>
              <a:t>An endpoint is an address where the interface asks the server to do something.</a:t>
            </a:r>
          </a:p>
          <a:p xmlns:a="http://schemas.openxmlformats.org/drawingml/2006/main">
            <a:r>
              <a:t>`POST /v1/agent/analyses` uploads an image and creates its analysis record.</a:t>
            </a:r>
          </a:p>
          <a:p xmlns:a="http://schemas.openxmlformats.org/drawingml/2006/main">
            <a:r>
              <a:t>`POST /v1/agent/analyses/{id}/run` requests analysis of a saved image.</a:t>
            </a:r>
          </a:p>
          <a:p xmlns:a="http://schemas.openxmlformats.org/drawingml/2006/main">
            <a:r>
              <a:t>`GET /v1/agent/analyses/{id}` retrieves its recorded status and result.</a:t>
            </a:r>
          </a:p>
          <a:p xmlns:a="http://schemas.openxmlformats.org/drawingml/2006/main">
            <a:r>
              <a:t>Upload, analysis, and reading results have distinct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user interface: what the person sees</a:t>
            </a:r>
          </a:p>
          <a:p xmlns:a="http://schemas.openxmlformats.org/drawingml/2006/main">
            <a:r>
              <a:t>The browser's Agent page lets an authorised user sign in and upload a JPEG photo.</a:t>
            </a:r>
          </a:p>
          <a:p xmlns:a="http://schemas.openxmlformats.org/drawingml/2006/main">
            <a:r>
              <a:t>It guides the user through uploading, waiting, and reading the result.</a:t>
            </a:r>
          </a:p>
          <a:p xmlns:a="http://schemas.openxmlformats.org/drawingml/2006/main">
            <a:r>
              <a:t>The report shows identified products and their visible facing counts.</a:t>
            </a:r>
          </a:p>
          <a:p xmlns:a="http://schemas.openxmlformats.org/drawingml/2006/main">
            <a:r>
              <a:t>A facing is a visible product front; it does not reveal stock hidden behind it.</a:t>
            </a:r>
          </a:p>
          <a:p xmlns:a="http://schemas.openxmlformats.org/drawingml/2006/main">
            <a:r>
              <a:t>The interface also offers retry or refinement where the record allows it.</a:t>
            </a:r>
          </a:p>
          <a:p xmlns:a="http://schemas.openxmlformats.org/drawingml/2006/main">
            <a:r>
              <a:t>The Agent uses visual evidence and learned product knowledge to identify and count visible items.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server side: where the work is coordinated</a:t>
            </a:r>
          </a:p>
          <a:p xmlns:a="http://schemas.openxmlformats.org/drawingml/2006/main">
            <a:r>
              <a:t>The server checks identity and permission before accepting a request.</a:t>
            </a:r>
          </a:p>
          <a:p xmlns:a="http://schemas.openxmlformats.org/drawingml/2006/main">
            <a:r>
              <a:t>Cloud Storage holds the source image; Firestore holds status and reports.</a:t>
            </a:r>
          </a:p>
          <a:p xmlns:a="http://schemas.openxmlformats.org/drawingml/2006/main">
            <a:r>
              <a:t>The server submits the image and analysis instructions to OpenAI.</a:t>
            </a:r>
          </a:p>
          <a:p xmlns:a="http://schemas.openxmlformats.org/drawingml/2006/main">
            <a:r>
              <a:t>The background implementation collects the result through server-side tasks.</a:t>
            </a:r>
          </a:p>
          <a:p xmlns:a="http://schemas.openxmlformats.org/drawingml/2006/main">
            <a:r>
              <a:t>The browser reads progress; it does not have to keep the AI request alive.</a:t>
            </a:r>
          </a:p>
          <a:p xmlns:a="http://schemas.openxmlformats.org/drawingml/2006/main">
            <a:r>
              <a:t>Success and failure are recorded so the user can see what happened.</a:t>
            </a:r>
          </a:p>
          <a:p xmlns:a="http://schemas.openxmlformats.org/drawingml/2006/main">
            <a:r>
              <a:t>Model observations remain subject to uncertainty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Presentation Agenda</a:t>
            </a:r>
          </a:p>
          <a:p xmlns:a="http://schemas.openxmlformats.org/drawingml/2006/main">
            <a:r>
              <a:t>The sections take inspiration from SDLC2 and follow the presentation's own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Context and Domain: the shelf-photo problem and why item recognition matters.</a:t>
            </a:r>
          </a:p>
          <a:p xmlns:a="http://schemas.openxmlformats.org/drawingml/2006/main">
            <a:r>
              <a:t>2. Intent: what the system should achieve and what the audience will understand.</a:t>
            </a:r>
          </a:p>
          <a:p xmlns:a="http://schemas.openxmlformats.org/drawingml/2006/main">
            <a:r>
              <a:t>3. System and Use Cases: follow one user's photo from upload to report.</a:t>
            </a:r>
          </a:p>
          <a:p xmlns:a="http://schemas.openxmlformats.org/drawingml/2006/main">
            <a:r>
              <a:t>4. Success Criteria: explain how we assess useful, accurate, and reliable results.</a:t>
            </a:r>
          </a:p>
          <a:p xmlns:a="http://schemas.openxmlformats.org/drawingml/2006/main">
            <a:r>
              <a:t>5. Visual Example: show the uploaded image, interface states, and resulting report.</a:t>
            </a:r>
          </a:p>
          <a:p xmlns:a="http://schemas.openxmlformats.org/drawingml/2006/main">
            <a:r>
              <a:t>6. Solution Architecture: map the interface, endpoints, storage, AI, and data flow.</a:t>
            </a:r>
          </a:p>
          <a:p xmlns:a="http://schemas.openxmlformats.org/drawingml/2006/main">
            <a:r>
              <a:t>7. Low-Level Design and Code: connect key requests and processing steps to code.</a:t>
            </a:r>
          </a:p>
          <a:p xmlns:a="http://schemas.openxmlformats.org/drawingml/2006/main">
            <a:r>
              <a:t>8. Operational Reality: show what is implemented, deployed, and verified in use.</a:t>
            </a:r>
          </a:p>
          <a:p xmlns:a="http://schemas.openxmlformats.org/drawingml/2006/main">
            <a:r>
              <a:t>9. Observability and Learning: explain diagnostics, failures, and lessons learned.</a:t>
            </a:r>
          </a:p>
          <a:p xmlns:a="http://schemas.openxmlformats.org/drawingml/2006/main">
            <a:r>
              <a:t>10. Future Steps: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walkthrough</a:t>
            </a:r>
          </a:p>
          <a:p xmlns:a="http://schemas.openxmlformats.org/drawingml/2006/main">
            <a:r>
              <a:t>Start with the user uploading a photo through the browser interface.</a:t>
            </a:r>
          </a:p>
          <a:p xmlns:a="http://schemas.openxmlformats.org/drawingml/2006/main">
            <a:r>
              <a:t>Follow the request to the server, which coordinates storage and AI analysis.</a:t>
            </a:r>
          </a:p>
          <a:p xmlns:a="http://schemas.openxmlformats.org/drawingml/2006/main">
            <a:r>
              <a:t>The server keeps the source image and analysis record, then saves the outcome.</a:t>
            </a:r>
          </a:p>
          <a:p xmlns:a="http://schemas.openxmlformats.org/drawingml/2006/main">
            <a:r>
              <a:t>Return to the browser, where the user reads status and the saved item report.</a:t>
            </a:r>
          </a:p>
          <a:p xmlns:a="http://schemas.openxmlformats.org/drawingml/2006/main">
            <a:r>
              <a:t>The diagram simplifies the flow; collection tasks and individual API calls come later.</a:t>
            </a:r>
          </a:p>
          <a:p xmlns:a="http://schemas.openxmlformats.org/drawingml/2006/main">
            <a:r>
              <a:t>The SVG is the editable visual source; the PNG is its presentation render.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02 - Main Use Cases and System Model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and VISTA are related iPhone-led product experiences.</a:t>
            </a:r>
          </a:p>
          <a:p xmlns:a="http://schemas.openxmlformats.org/drawingml/2006/main">
            <a:r>
              <a:t>They serve different people and decisions while sharing much of the server foundation.</a:t>
            </a:r>
          </a:p>
          <a:p xmlns:a="http://schemas.openxmlformats.org/drawingml/2006/main">
            <a:r>
              <a:t>This slide introduces those use cases before the presentation explains implementation details.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1: AI Shop shopping experience</a:t>
            </a:r>
          </a:p>
          <a:p xmlns:a="http://schemas.openxmlformats.org/drawingml/2006/main">
            <a:r>
              <a:t>A shopper uses the AI Shop iPhone app while considering a product or shelf.</a:t>
            </a:r>
          </a:p>
          <a:p xmlns:a="http://schemas.openxmlformats.org/drawingml/2006/main">
            <a:r>
              <a:t>The phone captures visual evidence and can perform part of the image processing locally.</a:t>
            </a:r>
          </a:p>
          <a:p xmlns:a="http://schemas.openxmlformats.org/drawingml/2006/main">
            <a:r>
              <a:t>Server-side AI adds capabilities that are better protected, coordinated, or processed remotely.</a:t>
            </a:r>
          </a:p>
          <a:p xmlns:a="http://schemas.openxmlformats.org/drawingml/2006/main">
            <a:r>
              <a:t>The result helps the shopper make a better-informed purchasing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earlier AI Shop product path.</a:t>
            </a:r>
          </a:p>
          <a:p xmlns:a="http://schemas.openxmlformats.org/drawingml/2006/main">
            <a:r>
              <a:t>Its iPhone client and individual server endpoints remain relevant to the complete product intent.</a:t>
            </a:r>
          </a:p>
          <a:p xmlns:a="http://schemas.openxmlformats.org/drawingml/2006/main">
            <a:r>
              <a:t>Later slides should state which functions are implemented and which remain immature.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Use case 2: VISTA shelf inspection</a:t>
            </a:r>
          </a:p>
          <a:p xmlns:a="http://schemas.openxmlformats.org/drawingml/2006/main">
            <a:r>
              <a:t>A retail team uses VISTA to inspect products and presentation across store shelves.</a:t>
            </a:r>
          </a:p>
          <a:p xmlns:a="http://schemas.openxmlformats.org/drawingml/2006/main">
            <a:r>
              <a:t>The goal is to identify visible products, count facings, and retain evidence for review.</a:t>
            </a:r>
          </a:p>
          <a:p xmlns:a="http://schemas.openxmlformats.org/drawingml/2006/main">
            <a:r>
              <a:t>Today, a person can upload a shelf photograph or video manually through `agent.html`.</a:t>
            </a:r>
          </a:p>
          <a:p xmlns:a="http://schemas.openxmlformats.org/drawingml/2006/main">
            <a:r>
              <a:t>The web Agent provides the more robust current analysis and review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intended destination is integration with the separate VISTA iPhone application.</a:t>
            </a:r>
          </a:p>
          <a:p xmlns:a="http://schemas.openxmlformats.org/drawingml/2006/main">
            <a:r>
              <a:t>That application would capture shelf evidence during an inspection and use the same server capabilities.</a:t>
            </a:r>
          </a:p>
          <a:p xmlns:a="http://schemas.openxmlformats.org/drawingml/2006/main">
            <a:r>
              <a:t>The presentation must label this integration as intended until end-to-end evidence confirms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system model</a:t>
            </a:r>
          </a:p>
          <a:p xmlns:a="http://schemas.openxmlformats.org/drawingml/2006/main">
            <a:r>
              <a:t>Both use cases need secure access, image intake, AI coordination, and result handling.</a:t>
            </a:r>
          </a:p>
          <a:p xmlns:a="http://schemas.openxmlformats.org/drawingml/2006/main">
            <a:r>
              <a:t>The server protects provider credentials and centralises reusable analysis behaviour.</a:t>
            </a:r>
          </a:p>
          <a:p xmlns:a="http://schemas.openxmlformats.org/drawingml/2006/main">
            <a:r>
              <a:t>Shared capabilities reduce duplicated implementation across AI Shop and VISTA.</a:t>
            </a:r>
          </a:p>
          <a:p xmlns:a="http://schemas.openxmlformats.org/drawingml/2006/main">
            <a:r>
              <a:t>The products can still use different prompts, records, interfaces, and decision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infrastructure does not make the two products identical.</a:t>
            </a:r>
          </a:p>
          <a:p xmlns:a="http://schemas.openxmlformats.org/drawingml/2006/main">
            <a:r>
              <a:t>AI Shop supports shopper decisions.</a:t>
            </a:r>
          </a:p>
          <a:p xmlns:a="http://schemas.openxmlformats.org/drawingml/2006/main">
            <a:r>
              <a:t>VISTA supports shelf and store inspection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Transition</a:t>
            </a:r>
          </a:p>
          <a:p xmlns:a="http://schemas.openxmlformats.org/drawingml/2006/main">
            <a:r>
              <a:t>The next slides can follow each user path in more detail.</a:t>
            </a:r>
          </a:p>
          <a:p xmlns:a="http://schemas.openxmlformats.org/drawingml/2006/main">
            <a:r>
              <a:t>The Low-Level Design and Architecture section will focus on the web Vision Agent.</a:t>
            </a:r>
          </a:p>
          <a:p xmlns:a="http://schemas.openxmlformats.org/drawingml/2006/main">
            <a:r>
              <a:t>It will also show how the earlier endpoints and iPhone clients relate to the common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Place the shared vision service as one horizontal foundation.</a:t>
            </a:r>
          </a:p>
          <a:p xmlns:a="http://schemas.openxmlformats.org/drawingml/2006/main">
            <a:r>
              <a:t>Above it, show the AI Shop iPhone shopper path and the VISTA inspection path.</a:t>
            </a:r>
          </a:p>
          <a:p xmlns:a="http://schemas.openxmlformats.org/drawingml/2006/main">
            <a:r>
              <a:t>Within VISTA, distinguish the current manual web Agent from the intended iPhone integration.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03 - What AI Shop Must Improve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Benchmarks begin with the useful processes people already have.</a:t>
            </a:r>
          </a:p>
          <a:p xmlns:a="http://schemas.openxmlformats.org/drawingml/2006/main">
            <a:r>
              <a:t>An AI response alone does not establish that AI Shop improves those processes.</a:t>
            </a:r>
          </a:p>
          <a:p xmlns:a="http://schemas.openxmlformats.org/drawingml/2006/main">
            <a:r>
              <a:t>The repository documents three practical baselines.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shopping assistance</a:t>
            </a:r>
          </a:p>
          <a:p xmlns:a="http://schemas.openxmlformats.org/drawingml/2006/main">
            <a:r>
              <a:t>A shopper can already photograph a product and ask ChatGPT for advice.</a:t>
            </a:r>
          </a:p>
          <a:p xmlns:a="http://schemas.openxmlformats.org/drawingml/2006/main">
            <a:r>
              <a:t>That process can consider quality, price, preferences, and purchase context.</a:t>
            </a:r>
          </a:p>
          <a:p xmlns:a="http://schemas.openxmlformats.org/drawingml/2006/main">
            <a:r>
              <a:t>Its friction comes from moving between tools and repeatedly explaining the situation.</a:t>
            </a:r>
          </a:p>
          <a:p xmlns:a="http://schemas.openxmlformats.org/drawingml/2006/main">
            <a:r>
              <a:t>AI Shop should require fewer actions and reuse relevant shopping context.</a:t>
            </a:r>
          </a:p>
          <a:p xmlns:a="http://schemas.openxmlformats.org/drawingml/2006/main">
            <a:r>
              <a:t>The recommendation should become clear faster and with less reading or typing.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Human product identification</a:t>
            </a:r>
          </a:p>
          <a:p xmlns:a="http://schemas.openxmlformats.org/drawingml/2006/main">
            <a:r>
              <a:t>A person can inspect labels, packaging, and surrounding context directly.</a:t>
            </a:r>
          </a:p>
          <a:p xmlns:a="http://schemas.openxmlformats.org/drawingml/2006/main">
            <a:r>
              <a:t>Human judgment needs no application, server, or network connection.</a:t>
            </a:r>
          </a:p>
          <a:p xmlns:a="http://schemas.openxmlformats.org/drawingml/2006/main">
            <a:r>
              <a:t>Dense scenes still take time and can hide small or obscured products.</a:t>
            </a:r>
          </a:p>
          <a:p xmlns:a="http://schemas.openxmlformats.org/drawingml/2006/main">
            <a:r>
              <a:t>AI Shop should organise visible products while declaring uncertain identification.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Manual shelf inspection and review</a:t>
            </a:r>
          </a:p>
          <a:p xmlns:a="http://schemas.openxmlformats.org/drawingml/2006/main">
            <a:r>
              <a:t>An inspector can photograph a shelf and record observations in notes or a spreadsheet.</a:t>
            </a:r>
          </a:p>
          <a:p xmlns:a="http://schemas.openxmlformats.org/drawingml/2006/main">
            <a:r>
              <a:t>A second person can compare those findings with the original photograph.</a:t>
            </a:r>
          </a:p>
          <a:p xmlns:a="http://schemas.openxmlformats.org/drawingml/2006/main">
            <a:r>
              <a:t>The manual process becomes difficult when evidence, findings, and corrections separate.</a:t>
            </a:r>
          </a:p>
          <a:p xmlns:a="http://schemas.openxmlformats.org/drawingml/2006/main">
            <a:r>
              <a:t>AI Shop should preserve one traceable relationship across those materials.</a:t>
            </a:r>
          </a:p>
          <a:p xmlns:a="http://schemas.openxmlformats.org/drawingml/2006/main">
            <a:r>
              <a:t>Reviewer identity, decisions, corrections, and timing should remain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Benchmark principle</a:t>
            </a:r>
          </a:p>
          <a:p xmlns:a="http://schemas.openxmlformats.org/drawingml/2006/main">
            <a:r>
              <a:t>The application should reduce manual effort without replacing human authority.</a:t>
            </a:r>
          </a:p>
          <a:p xmlns:a="http://schemas.openxmlformats.org/drawingml/2006/main">
            <a:r>
              <a:t>Each product use case needs its own comparison with the process it intends to improve.</a:t>
            </a:r>
          </a:p>
          <a:p xmlns:a="http://schemas.openxmlformats.org/drawingml/2006/main">
            <a:r>
              <a:t>AI Shop shopping support and VISTA inspection therefore share methods but not one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Evidence boundary</a:t>
            </a:r>
          </a:p>
          <a:p xmlns:a="http://schemas.openxmlformats.org/drawingml/2006/main">
            <a:r>
              <a:t>These documents define comparison standards rather than measured acceptance thresholds.</a:t>
            </a:r>
          </a:p>
          <a:p xmlns:a="http://schemas.openxmlformats.org/drawingml/2006/main">
            <a:r>
              <a:t>The presentation should not claim that AI Shop already beats every baseline.</a:t>
            </a:r>
          </a:p>
          <a:p xmlns:a="http://schemas.openxmlformats.org/drawingml/2006/main">
            <a:r>
              <a:t>Later slides will show current recognition evidence and the remaining verification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three existing human workflows feeding one evaluation question.</a:t>
            </a:r>
          </a:p>
          <a:p xmlns:a="http://schemas.openxmlformats.org/drawingml/2006/main">
            <a:r>
              <a:t>Make the outcome about reduced effort, preserved evidence, and human authority.</a:t>
            </a:r>
          </a:p>
          <a:p xmlns:a="http://schemas.openxmlformats.org/drawingml/2006/main">
            <a:r>
              <a:t>Avoid model names and implementation details on this slide.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031 - One Shelf, Three Different Readings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uses the actual dense pharmacy shelf and recorded analysis artifacts.</a:t>
            </a:r>
          </a:p>
          <a:p xmlns:a="http://schemas.openxmlformats.org/drawingml/2006/main">
            <a:r>
              <a:t>The concrete disagreement explains why benchmark design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The original evidence</a:t>
            </a:r>
          </a:p>
          <a:p xmlns:a="http://schemas.openxmlformats.org/drawingml/2006/main">
            <a:r>
              <a:t>All three readings use the same 1152 by 1536 shelf photograph.</a:t>
            </a:r>
          </a:p>
          <a:p xmlns:a="http://schemas.openxmlformats.org/drawingml/2006/main">
            <a:r>
              <a:t>It contains small labels, occlusion, stacked products, edge cropping, and a carton.</a:t>
            </a:r>
          </a:p>
          <a:p xmlns:a="http://schemas.openxmlformats.org/drawingml/2006/main">
            <a:r>
              <a:t>Those conditions make both identification and counting difficult.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1: provisional reference</a:t>
            </a:r>
          </a:p>
          <a:p xmlns:a="http://schemas.openxmlformats.org/drawingml/2006/main">
            <a:r>
              <a:t>The numbered overlay maps 42 product groups across four shelf regions.</a:t>
            </a:r>
          </a:p>
          <a:p xmlns:a="http://schemas.openxmlformats.org/drawingml/2006/main">
            <a:r>
              <a:t>Its associated GPT report counts 94 visible physical units.</a:t>
            </a:r>
          </a:p>
          <a:p xmlns:a="http://schemas.openxmlformats.org/drawingml/2006/main">
            <a:r>
              <a:t>This reference was obtained by hand from GPT and is not human-approved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2: Agent first run</a:t>
            </a:r>
          </a:p>
          <a:p xmlns:a="http://schemas.openxmlformats.org/drawingml/2006/main">
            <a:r>
              <a:t>The deployed Agent returned 23 product rows totalling 62 facings.</a:t>
            </a:r>
          </a:p>
          <a:p xmlns:a="http://schemas.openxmlformats.org/drawingml/2006/main">
            <a:r>
              <a:t>It also recorded three uncertain entries.</a:t>
            </a:r>
          </a:p>
          <a:p xmlns:a="http://schemas.openxmlformats.org/drawingml/2006/main">
            <a:r>
              <a:t>The run completed and produced a reviewable report, but benchmark parity was not demonstrated.</a:t>
            </a:r>
          </a:p>
          <a:p xmlns:a="http://schemas.openxmlformats.org/drawingml/2006/main">
            <a:r>
              <a:t>Some products were missed, grouped differently, or given an incorrect brand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3: independent visual review</a:t>
            </a:r>
          </a:p>
          <a:p xmlns:a="http://schemas.openxmlformats.org/drawingml/2006/main">
            <a:r>
              <a:t>A separate shelf-by-shelf reading estimated about 57 front facings.</a:t>
            </a:r>
          </a:p>
          <a:p xmlns:a="http://schemas.openxmlformats.org/drawingml/2006/main">
            <a:r>
              <a:t>It also identified 21 units stacked behind those fronts.</a:t>
            </a:r>
          </a:p>
          <a:p xmlns:a="http://schemas.openxmlformats.org/drawingml/2006/main">
            <a:r>
              <a:t>That reading remained a model-assisted opinion rather than verified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Why the totals disagree</a:t>
            </a:r>
          </a:p>
          <a:p xmlns:a="http://schemas.openxmlformats.org/drawingml/2006/main">
            <a:r>
              <a:t>The provisional reference counts visible physical units.</a:t>
            </a:r>
          </a:p>
          <a:p xmlns:a="http://schemas.openxmlformats.org/drawingml/2006/main">
            <a:r>
              <a:t>The Agent contract asks for front facings.</a:t>
            </a:r>
          </a:p>
          <a:p xmlns:a="http://schemas.openxmlformats.org/drawingml/2006/main">
            <a:r>
              <a:t>The independent reading reports both measures separately.</a:t>
            </a:r>
          </a:p>
          <a:p xmlns:a="http://schemas.openxmlformats.org/drawingml/2006/main">
            <a:r>
              <a:t>Product grouping and identity depth also differ across the readings.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Dividing 62 by 94 would produce a misleading number, not an accuracy score.</a:t>
            </a:r>
          </a:p>
          <a:p xmlns:a="http://schemas.openxmlformats.org/drawingml/2006/main">
            <a:r>
              <a:t>The comparison must first fix the counting rule and required identification level.</a:t>
            </a:r>
          </a:p>
          <a:p xmlns:a="http://schemas.openxmlformats.org/drawingml/2006/main">
            <a:r>
              <a:t>A human reviewer must then validate the reference against the source photograph.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the actual photograph, numbered overlay, and Agent screenshot prominently.</a:t>
            </a:r>
          </a:p>
          <a:p xmlns:a="http://schemas.openxmlformats.org/drawingml/2006/main">
            <a:r>
              <a:t>Use the real totals as evidence, with a warning that they answer different questions.</a:t>
            </a:r>
          </a:p>
          <a:p xmlns:a="http://schemas.openxmlformats.org/drawingml/2006/main">
            <a:r>
              <a:t>Keep the conclusion simple: define and verify the reference before scoring the model.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032 - Vision Quality and System Reliability Need Different Tests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Shop can complete a request while producing a poor visual interpretation.</a:t>
            </a:r>
          </a:p>
          <a:p xmlns:a="http://schemas.openxmlformats.org/drawingml/2006/main">
            <a:r>
              <a:t>It can also identify products well while the surrounding application fails.</a:t>
            </a:r>
          </a:p>
          <a:p xmlns:a="http://schemas.openxmlformats.org/drawingml/2006/main">
            <a:r>
              <a:t>The test strategy therefore needs two connected but distinct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Vision-quality experiments</a:t>
            </a:r>
          </a:p>
          <a:p xmlns:a="http://schemas.openxmlformats.org/drawingml/2006/main">
            <a:r>
              <a:t>Start with the same original image and a human-verified reference inventory.</a:t>
            </a:r>
          </a:p>
          <a:p xmlns:a="http://schemas.openxmlformats.org/drawingml/2006/main">
            <a:r>
              <a:t>Freeze the counting contract, identity depth, prompt, output schema, and reference revision.</a:t>
            </a:r>
          </a:p>
          <a:p xmlns:a="http://schemas.openxmlformats.org/drawingml/2006/main">
            <a:r>
              <a:t>Change one factor at a time so the comparison can support a causal conclusion.</a:t>
            </a:r>
          </a:p>
          <a:p xmlns:a="http://schemas.openxmlformats.org/drawingml/2006/main">
            <a:r>
              <a:t>Possible factors include model, reasoning setting, context, image detail, and prompt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Record identification errors, missed products, incorrect counts, and invented products.</a:t>
            </a:r>
          </a:p>
          <a:p xmlns:a="http://schemas.openxmlformats.org/drawingml/2006/main">
            <a:r>
              <a:t>Score responsible uncertainty separately from confident incorrect identification.</a:t>
            </a:r>
          </a:p>
          <a:p xmlns:a="http://schemas.openxmlformats.org/drawingml/2006/main">
            <a:r>
              <a:t>Retain requested and returned model identifiers, usage, latency, cost, and retries.</a:t>
            </a:r>
          </a:p>
          <a:p xmlns:a="http://schemas.openxmlformats.org/drawingml/2006/main">
            <a:r>
              <a:t>Include human review time because cheap output can become expensive to correct.</a:t>
            </a:r>
          </a:p>
          <a:p xmlns:a="http://schemas.openxmlformats.org/drawingml/2006/main">
            <a:r>
              <a:t>Repeat promising settings and then test them on unseen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System-reliability tests</a:t>
            </a:r>
          </a:p>
          <a:p xmlns:a="http://schemas.openxmlformats.org/drawingml/2006/main">
            <a:r>
              <a:t>Verify authentication and the separation of each account's analyses.</a:t>
            </a:r>
          </a:p>
          <a:p xmlns:a="http://schemas.openxmlformats.org/drawingml/2006/main">
            <a:r>
              <a:t>Confirm that uploads preserve the original source evidence.</a:t>
            </a:r>
          </a:p>
          <a:p xmlns:a="http://schemas.openxmlformats.org/drawingml/2006/main">
            <a:r>
              <a:t>Exercise recorded progress, browser refresh, terminal states, and result retrieval.</a:t>
            </a:r>
          </a:p>
          <a:p xmlns:a="http://schemas.openxmlformats.org/drawingml/2006/main">
            <a:r>
              <a:t>Refinement and retry must create traceable runs without erasing earlier evidence.</a:t>
            </a:r>
          </a:p>
          <a:p xmlns:a="http://schemas.openxmlformats.org/drawingml/2006/main">
            <a:r>
              <a:t>Failures should retain safe diagnostic references without exposing private input.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Video adds its own requirements.</a:t>
            </a:r>
          </a:p>
          <a:p xmlns:a="http://schemas.openxmlformats.org/drawingml/2006/main">
            <a:r>
              <a:t>The system must handle upload interruption, frame extraction, analysis, and playback.</a:t>
            </a:r>
          </a:p>
          <a:p xmlns:a="http://schemas.openxmlformats.org/drawingml/2006/main">
            <a:r>
              <a:t>Sampled frames represent one continuous scan rather than independent photographs.</a:t>
            </a:r>
          </a:p>
          <a:p xmlns:a="http://schemas.openxmlformats.org/drawingml/2006/main">
            <a:r>
              <a:t>The result should retain frame provenance and avoid counting the same facing twice.</a:t>
            </a:r>
          </a:p>
          <a:p xmlns:a="http://schemas.openxmlformats.org/drawingml/2006/main">
            <a:r>
              <a:t>Refresh, task replay, and reconnection should not create duplicate analyses or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Release boundary</a:t>
            </a:r>
          </a:p>
          <a:p xmlns:a="http://schemas.openxmlformats.org/drawingml/2006/main">
            <a:r>
              <a:t>Automated tests, manual QA, and model-quality benchmarks answer different questions.</a:t>
            </a:r>
          </a:p>
          <a:p xmlns:a="http://schemas.openxmlformats.org/drawingml/2006/main">
            <a:r>
              <a:t>No single green check proves visual accuracy, deployment, or human acceptance.</a:t>
            </a:r>
          </a:p>
          <a:p xmlns:a="http://schemas.openxmlformats.org/drawingml/2006/main">
            <a:r>
              <a:t>A release decision needs evidence from both quality and reliability paths.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Visual direction</a:t>
            </a:r>
          </a:p>
          <a:p xmlns:a="http://schemas.openxmlformats.org/drawingml/2006/main">
            <a:r>
              <a:t>Show two test rails running in parallel toward one evidence-based release decision.</a:t>
            </a:r>
          </a:p>
          <a:p xmlns:a="http://schemas.openxmlformats.org/drawingml/2006/main">
            <a:r>
              <a:t>Use distinct colours for visual interpretation and application reliability.</a:t>
            </a:r>
          </a:p>
          <a:p xmlns:a="http://schemas.openxmlformats.org/drawingml/2006/main">
            <a:r>
              <a:t>Join the rails only at the final decision gate.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04 - Shared Vision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the first architecture map after the benchmark and test-strategy section.</a:t>
            </a:r>
          </a:p>
          <a:p xmlns:a="http://schemas.openxmlformats.org/drawingml/2006/main">
            <a:r>
              <a:t>Keep it at system level. Endpoint contracts and worker internals come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Three entry paths</a:t>
            </a:r>
          </a:p>
          <a:p xmlns:a="http://schemas.openxmlformats.org/drawingml/2006/main">
            <a:r>
              <a:t>AI Shop iPhone supports a shopper looking at a product or shelf.</a:t>
            </a:r>
          </a:p>
          <a:p xmlns:a="http://schemas.openxmlformats.org/drawingml/2006/main">
            <a:r>
              <a:t>Its earlier path can process an image on the phone and request server-side AI.</a:t>
            </a:r>
          </a:p>
          <a:p xmlns:a="http://schemas.openxmlformats.org/drawingml/2006/main">
            <a:r>
              <a:t>The phone does not hold the provider credential.</a:t>
            </a:r>
          </a:p>
          <a:p xmlns:a="http://schemas.openxmlformats.org/drawingml/2006/main">
            <a:r>
              <a:t>This path has its own interface and shopping-oriented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web Vision Agent is the more robust current manual shelf-analysis entry.</a:t>
            </a:r>
          </a:p>
          <a:p xmlns:a="http://schemas.openxmlformats.org/drawingml/2006/main">
            <a:r>
              <a:t>An authorised person uploads a photograph or video through `agent.html`.</a:t>
            </a:r>
          </a:p>
          <a:p xmlns:a="http://schemas.openxmlformats.org/drawingml/2006/main">
            <a:r>
              <a:t>The page shows progress and a saved report of products, visible facings, and uncertainty.</a:t>
            </a:r>
          </a:p>
          <a:p xmlns:a="http://schemas.openxmlformats.org/drawingml/2006/main">
            <a:r>
              <a:t>The screenshot on this slide is a recorded QA fixture, not a live acceptance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separate VISTA iPhone app is intended to capture inspection evidence in stores.</a:t>
            </a:r>
          </a:p>
          <a:p xmlns:a="http://schemas.openxmlformats.org/drawingml/2006/main">
            <a:r>
              <a:t>The shelf photograph illustrates the inspection input, not a completed iPhone integration.</a:t>
            </a:r>
          </a:p>
          <a:p xmlns:a="http://schemas.openxmlformats.org/drawingml/2006/main">
            <a:r>
              <a:t>Do not imply a proven end-to-end VISTA-to-Agent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Shared foundation</a:t>
            </a:r>
          </a:p>
          <a:p xmlns:a="http://schemas.openxmlformats.org/drawingml/2006/main">
            <a:r>
              <a:t>The reusable server responsibilities are secure intake, evidence handling,</a:t>
            </a:r>
          </a:p>
          <a:p xmlns:a="http://schemas.openxmlformats.org/drawingml/2006/main">
            <a:r>
              <a:t>AI coordination, recorded status, and report retrieval.</a:t>
            </a:r>
          </a:p>
          <a:p xmlns:a="http://schemas.openxmlformats.org/drawingml/2006/main">
            <a:r>
              <a:t>The server verifies access and keeps provider credentials away from clients.</a:t>
            </a:r>
          </a:p>
          <a:p xmlns:a="http://schemas.openxmlformats.org/drawingml/2006/main">
            <a:r>
              <a:t>For the Agent, source media is private and Firestore stores analysis state and results.</a:t>
            </a:r>
          </a:p>
          <a:p xmlns:a="http://schemas.openxmlformats.org/drawingml/2006/main">
            <a:r>
              <a:t>Video analysis prepares representative frames and treats them as one shelf scan.</a:t>
            </a:r>
          </a:p>
          <a:p xmlns:a="http://schemas.openxmlformats.org/drawingml/2006/main">
            <a:r>
              <a:t>Background tasks and provider collection can continue after the page refreshes.</a:t>
            </a:r>
          </a:p>
          <a:p xmlns:a="http://schemas.openxmlformats.org/drawingml/2006/main">
            <a:r>
              <a:t>The web page reads that durable server state rather than owning the long-running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older iPhone route and the newer Agent route do not have to share one URL,</a:t>
            </a:r>
          </a:p>
          <a:p xmlns:a="http://schemas.openxmlformats.org/drawingml/2006/main">
            <a:r>
              <a:t>payload contract, prompt, or record type to share architectural capabilities.</a:t>
            </a:r>
          </a:p>
          <a:p xmlns:a="http://schemas.openxmlformats.org/drawingml/2006/main">
            <a:r>
              <a:t>AI Shop aims at a shopping decision. VISTA aims at inspectable shelf evidence.</a:t>
            </a:r>
          </a:p>
          <a:p xmlns:a="http://schemas.openxmlformats.org/drawingml/2006/main">
            <a:r>
              <a:t>Human review remains important because image recognition and counts can be uncertain.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What the diagram means</a:t>
            </a:r>
          </a:p>
          <a:p xmlns:a="http://schemas.openxmlformats.org/drawingml/2006/main">
            <a:r>
              <a:t>Solid connectors mark paths described by current project evidence.</a:t>
            </a:r>
          </a:p>
          <a:p xmlns:a="http://schemas.openxmlformats.org/drawingml/2006/main">
            <a:r>
              <a:t>The dashed VISTA connector marks intended integration.</a:t>
            </a:r>
          </a:p>
          <a:p xmlns:a="http://schemas.openxmlformats.org/drawingml/2006/main">
            <a:r>
              <a:t>The lower rail is a responsibility map, not a literal request trace.</a:t>
            </a:r>
          </a:p>
          <a:p xmlns:a="http://schemas.openxmlformats.org/drawingml/2006/main">
            <a:r>
              <a:t>It does not claim that every path already uses every Agent-specific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 anchors</a:t>
            </a:r>
          </a:p>
          <a:p xmlns:a="http://schemas.openxmlformats.org/drawingml/2006/main">
            <a:r>
              <a:t>- `docs/06-solution-design-and-architecture/high-level-architecture.md`</a:t>
            </a:r>
          </a:p>
          <a:p xmlns:a="http://schemas.openxmlformats.org/drawingml/2006/main">
            <a:r>
              <a:t>- `docs/06-solution-design-and-architecture/components/component-architecture.md`</a:t>
            </a:r>
          </a:p>
          <a:p xmlns:a="http://schemas.openxmlformats.org/drawingml/2006/main">
            <a:r>
              <a:t>- `docs/guides/vision-agent-api/01-architecture.md`</a:t>
            </a:r>
          </a:p>
          <a:p xmlns:a="http://schemas.openxmlformats.org/drawingml/2006/main">
            <a:r>
              <a:t>- `docs/guides/vision-agent-api/12-architecture-implementation.md`</a:t>
            </a:r>
          </a:p>
          <a:p xmlns:a="http://schemas.openxmlformats.org/drawingml/2006/main">
            <a:r>
              <a:t>- `docs/guides/items-vision/02-user-journey/02-notes.md`</a:t>
            </a:r>
          </a:p>
          <a:p xmlns:a="http://schemas.openxmlformats.org/drawingml/2006/main">
            <a:r>
              <a:t>- `docs/09-build-and-test/sprint-009-browser-evidence/sprint009-agent-1440.png`</a:t>
            </a:r>
          </a:p>
          <a:p xmlns:a="http://schemas.openxmlformats.org/drawingml/2006/main">
            <a:r>
              <a:t>- `docs/TesstData/WhatsApp Image 2026-09-06 at 14.41.26.jpeg`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08 - Vision Agent API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opens the Low-Level Design and Architecture section.</a:t>
            </a:r>
          </a:p>
          <a:p xmlns:a="http://schemas.openxmlformats.org/drawingml/2006/main">
            <a:r>
              <a:t>It describes the newer web Vision Agent's public contract, not every AI Shop API.</a:t>
            </a:r>
          </a:p>
          <a:p xmlns:a="http://schemas.openxmlformats.org/drawingml/2006/main">
            <a:r>
              <a:t>The earlier AI Shop iPhone endpoint and VISTA package-ingest route are distinct.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Access and identity</a:t>
            </a:r>
          </a:p>
          <a:p xmlns:a="http://schemas.openxmlformats.org/drawingml/2006/main">
            <a:r>
              <a:t>The application supplies a Firebase ID token on Agent requests.</a:t>
            </a:r>
          </a:p>
          <a:p xmlns:a="http://schemas.openxmlformats.org/drawingml/2006/main">
            <a:r>
              <a:t>The server requires the literal `agent: true` custom claim.</a:t>
            </a:r>
          </a:p>
          <a:p xmlns:a="http://schemas.openxmlformats.org/drawingml/2006/main">
            <a:r>
              <a:t>It verifies the token and hashes the UID to derive an owner key.</a:t>
            </a:r>
          </a:p>
          <a:p xmlns:a="http://schemas.openxmlformats.org/drawingml/2006/main">
            <a:r>
              <a:t>The caller cannot supply another owner's key for Agent operations.</a:t>
            </a:r>
          </a:p>
          <a:p xmlns:a="http://schemas.openxmlformats.org/drawingml/2006/main">
            <a:r>
              <a:t>Admin cross-user reads require the independent `admin: true` claim.</a:t>
            </a:r>
          </a:p>
          <a:p xmlns:a="http://schemas.openxmlformats.org/drawingml/2006/main">
            <a:r>
              <a:t>Neither app client holds the OpenAI credential or Firebase Admin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Photograph contract</a:t>
            </a:r>
          </a:p>
          <a:p xmlns:a="http://schemas.openxmlformats.org/drawingml/2006/main">
            <a:r>
              <a:t>`POST /v1/agent/analyses` receives multipart form data containing one JPEG field `file`.</a:t>
            </a:r>
          </a:p>
          <a:p xmlns:a="http://schemas.openxmlformats.org/drawingml/2006/main">
            <a:r>
              <a:t>It creates an uploaded analysis record, returning its analysis ID.</a:t>
            </a:r>
          </a:p>
          <a:p xmlns:a="http://schemas.openxmlformats.org/drawingml/2006/main">
            <a:r>
              <a:t>An optional `run=true` form field can initiate the first analysis after upload.</a:t>
            </a:r>
          </a:p>
          <a:p xmlns:a="http://schemas.openxmlformats.org/drawingml/2006/main">
            <a:r>
              <a:t>Alternatively, the client calls `POST /v1/agent/analyses/{id}/run`.</a:t>
            </a:r>
          </a:p>
          <a:p xmlns:a="http://schemas.openxmlformats.org/drawingml/2006/main">
            <a:r>
              <a:t>Refining an analyzed photograph requires a meaningful context note.</a:t>
            </a:r>
          </a:p>
          <a:p xmlns:a="http://schemas.openxmlformats.org/drawingml/2006/main">
            <a:r>
              <a:t>The initial run and refinement return a current record, not necessarily a final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Video contract</a:t>
            </a:r>
          </a:p>
          <a:p xmlns:a="http://schemas.openxmlformats.org/drawingml/2006/main">
            <a:r>
              <a:t>`POST /v1/agent/video-uploads` reserves a record using filename, media type,</a:t>
            </a:r>
          </a:p>
          <a:p xmlns:a="http://schemas.openxmlformats.org/drawingml/2006/main">
            <a:r>
              <a:t>byte length, and the allowed browser Origin.</a:t>
            </a:r>
          </a:p>
          <a:p xmlns:a="http://schemas.openxmlformats.org/drawingml/2006/main">
            <a:r>
              <a:t>Its response includes a temporary Storage session URI.</a:t>
            </a:r>
          </a:p>
          <a:p xmlns:a="http://schemas.openxmlformats.org/drawingml/2006/main">
            <a:r>
              <a:t>The client uploads bytes directly to that URI without the Firebase bearer token.</a:t>
            </a:r>
          </a:p>
          <a:p xmlns:a="http://schemas.openxmlformats.org/drawingml/2006/main">
            <a:r>
              <a:t>The URI itself grants upload capability and must not be logged or shared.</a:t>
            </a:r>
          </a:p>
          <a:p xmlns:a="http://schemas.openxmlformats.org/drawingml/2006/main">
            <a:r>
              <a:t>A 308 Storage response means resumable progress, not a redirect.</a:t>
            </a:r>
          </a:p>
          <a:p xmlns:a="http://schemas.openxmlformats.org/drawingml/2006/main">
            <a:r>
              <a:t>After Storage confirms completion, `POST /{id}/complete` verifies the object</a:t>
            </a:r>
          </a:p>
          <a:p xmlns:a="http://schemas.openxmlformats.org/drawingml/2006/main">
            <a:r>
              <a:t>and begins server-side processing. A processing response is not an AI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Reading and errors</a:t>
            </a:r>
          </a:p>
          <a:p xmlns:a="http://schemas.openxmlformats.org/drawingml/2006/main">
            <a:r>
              <a:t>`GET /v1/agent/analyses/{id}` returns the durable status and eventual report.</a:t>
            </a:r>
          </a:p>
          <a:p xmlns:a="http://schemas.openxmlformats.org/drawingml/2006/main">
            <a:r>
              <a:t>The same ID links source evidence, runs, diagnostics and saved findings.</a:t>
            </a:r>
          </a:p>
          <a:p xmlns:a="http://schemas.openxmlformats.org/drawingml/2006/main">
            <a:r>
              <a:t>GET calls observe work; they do not start model processing.</a:t>
            </a:r>
          </a:p>
          <a:p xmlns:a="http://schemas.openxmlformats.org/drawingml/2006/main">
            <a:r>
              <a:t>The Agent list is owner-scoped; the Admin list is cross-user and paginated.</a:t>
            </a:r>
          </a:p>
          <a:p xmlns:a="http://schemas.openxmlformats.org/drawingml/2006/main">
            <a:r>
              <a:t>The source route is intended to return original bytes, but the September 15</a:t>
            </a:r>
          </a:p>
          <a:p xmlns:a="http://schemas.openxmlformats.org/drawingml/2006/main">
            <a:r>
              <a:t>video test returned HTTP 500 with an empty body. Do not claim playback works.</a:t>
            </a:r>
          </a:p>
          <a:p xmlns:a="http://schemas.openxmlformats.org/drawingml/2006/main">
            <a:r>
              <a:t>API errors normally include code, message, retryable and requestId.</a:t>
            </a:r>
          </a:p>
          <a:p xmlns:a="http://schemas.openxmlformats.org/drawingml/2006/main">
            <a:r>
              <a:t>HTTP 200 on a mutable route still requires inspection of its outcome and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>- `docs/guides/vision-agent-api/02-endpoints.md`</a:t>
            </a:r>
          </a:p>
          <a:p xmlns:a="http://schemas.openxmlformats.org/drawingml/2006/main">
            <a:r>
              <a:t>- `docs/guides/vision-agent-api/03-authentication.md`</a:t>
            </a:r>
          </a:p>
          <a:p xmlns:a="http://schemas.openxmlformats.org/drawingml/2006/main">
            <a:r>
              <a:t>- `docs/guides/vision-agent-api/07-images-and-runs.md`</a:t>
            </a:r>
          </a:p>
          <a:p xmlns:a="http://schemas.openxmlformats.org/drawingml/2006/main">
            <a:r>
              <a:t>- `docs/guides/vision-agent-api/developer-guide.md` (draft, September 15 tests)</a:t>
            </a:r>
          </a:p>
          <a:p xmlns:a="http://schemas.openxmlformats.org/drawingml/2006/main">
            <a:r>
              <a:t>- `server/src/agent-api-handler.js`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081 - Vision Agent Video Processing 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follows the public route map into the server's asynchronous implementation.</a:t>
            </a:r>
          </a:p>
          <a:p xmlns:a="http://schemas.openxmlformats.org/drawingml/2006/main">
            <a:r>
              <a:t>The focus is the newer Vision Agent video path, not the older iPhone request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Upload and handoff</a:t>
            </a:r>
          </a:p>
          <a:p xmlns:a="http://schemas.openxmlformats.org/drawingml/2006/main">
            <a:r>
              <a:t>The client reserves a new analysis ID through `POST /v1/agent/video-uploads`.</a:t>
            </a:r>
          </a:p>
          <a:p xmlns:a="http://schemas.openxmlformats.org/drawingml/2006/main">
            <a:r>
              <a:t>The server creates an uploading Firestore record and a resumable Storage session.</a:t>
            </a:r>
          </a:p>
          <a:p xmlns:a="http://schemas.openxmlformats.org/drawingml/2006/main">
            <a:r>
              <a:t>The video bytes travel directly to private Cloud Storage via the session URI.</a:t>
            </a:r>
          </a:p>
          <a:p xmlns:a="http://schemas.openxmlformats.org/drawingml/2006/main">
            <a:r>
              <a:t>Storage may answer 308 with the acknowledged byte range during an incomplete transfer.</a:t>
            </a:r>
          </a:p>
          <a:p xmlns:a="http://schemas.openxmlformats.org/drawingml/2006/main">
            <a:r>
              <a:t>The client must not call complete until Storage has accepted the final bytes.</a:t>
            </a:r>
          </a:p>
          <a:p xmlns:a="http://schemas.openxmlformats.org/drawingml/2006/main">
            <a:r>
              <a:t>`POST /v1/agent/video-uploads/{id}/complete` checks object media type and size,</a:t>
            </a:r>
          </a:p>
          <a:p xmlns:a="http://schemas.openxmlformats.org/drawingml/2006/main">
            <a:r>
              <a:t>transitions the record to processing, and queues background work.</a:t>
            </a:r>
          </a:p>
          <a:p xmlns:a="http://schemas.openxmlformats.org/drawingml/2006/main">
            <a:r>
              <a:t>A 200 processing response confirms neither worker delivery nor model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Video worker</a:t>
            </a:r>
          </a:p>
          <a:p xmlns:a="http://schemas.openxmlformats.org/drawingml/2006/main">
            <a:r>
              <a:t>Cloud Tasks dispatches `processAgentVideo` with ownerKey, analysisId and attemptId.</a:t>
            </a:r>
          </a:p>
          <a:p xmlns:a="http://schemas.openxmlformats.org/drawingml/2006/main">
            <a:r>
              <a:t>The worker reads the original video from Storage and validates its content.</a:t>
            </a:r>
          </a:p>
          <a:p xmlns:a="http://schemas.openxmlformats.org/drawingml/2006/main">
            <a:r>
              <a:t>FFmpeg selects representative JPEG frames; frame paths include the attempt ID.</a:t>
            </a:r>
          </a:p>
          <a:p xmlns:a="http://schemas.openxmlformats.org/drawingml/2006/main">
            <a:r>
              <a:t>The current source snapshot sets a budget of at most 12 representative frames.</a:t>
            </a:r>
          </a:p>
          <a:p xmlns:a="http://schemas.openxmlformats.org/drawingml/2006/main">
            <a:r>
              <a:t>The server retains frame provenance including timestamps for later inspection.</a:t>
            </a:r>
          </a:p>
          <a:p xmlns:a="http://schemas.openxmlformats.org/drawingml/2006/main">
            <a:r>
              <a:t>It sends a single multi-image request rather than independent per-frame counts.</a:t>
            </a:r>
          </a:p>
          <a:p xmlns:a="http://schemas.openxmlformats.org/drawingml/2006/main">
            <a:r>
              <a:t>The prompt asks for one shelf inventory across the clip and cross-frame deduplication.</a:t>
            </a:r>
          </a:p>
          <a:p xmlns:a="http://schemas.openxmlformats.org/drawingml/2006/main">
            <a:r>
              <a:t>That is an intended counting rule; its accuracy still needs human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Model response and settlement</a:t>
            </a:r>
          </a:p>
          <a:p xmlns:a="http://schemas.openxmlformats.org/drawingml/2006/main">
            <a:r>
              <a:t>The server starts an OpenAI background response and saves its response identifier.</a:t>
            </a:r>
          </a:p>
          <a:p xmlns:a="http://schemas.openxmlformats.org/drawingml/2006/main">
            <a:r>
              <a:t>`collectAgentAnalysis` retrieves provider status through a private task.</a:t>
            </a:r>
          </a:p>
          <a:p xmlns:a="http://schemas.openxmlformats.org/drawingml/2006/main">
            <a:r>
              <a:t>The collector writes the finished report or failure to Firestore.</a:t>
            </a:r>
          </a:p>
          <a:p xmlns:a="http://schemas.openxmlformats.org/drawingml/2006/main">
            <a:r>
              <a:t>`reconcileAgentAnalyses` schedules overdue collection attempts.</a:t>
            </a:r>
          </a:p>
          <a:p xmlns:a="http://schemas.openxmlformats.org/drawingml/2006/main">
            <a:r>
              <a:t>It does not sweep every stalled upload or video-processing state.</a:t>
            </a:r>
          </a:p>
          <a:p xmlns:a="http://schemas.openxmlformats.org/drawingml/2006/main">
            <a:r>
              <a:t>Only server components write Firestore; OpenAI never connects to it.</a:t>
            </a:r>
          </a:p>
          <a:p xmlns:a="http://schemas.openxmlformats.org/drawingml/2006/main">
            <a:r>
              <a:t>The client polls GET detail to display uploading, processing, analyzing,</a:t>
            </a:r>
          </a:p>
          <a:p xmlns:a="http://schemas.openxmlformats.org/drawingml/2006/main">
            <a:r>
              <a:t>analyzed, failed or cancelled states and the saved report when available.</a:t>
            </a:r>
          </a:p>
          <a:p xmlns:a="http://schemas.openxmlformats.org/drawingml/2006/main">
            <a:r>
              <a:t>Refresh does not cancel accepted background analysis.</a:t>
            </a:r>
          </a:p>
          <a:p xmlns:a="http://schemas.openxmlformats.org/drawingml/2006/main">
            <a:r>
              <a:t>Refresh during an unfinished byte transfer remains a separate recovery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Trust and deployment boundaries</a:t>
            </a:r>
          </a:p>
          <a:p xmlns:a="http://schemas.openxmlformats.org/drawingml/2006/main">
            <a:r>
              <a:t>The public API is in Toronto (`northamerica-northeast2`).</a:t>
            </a:r>
          </a:p>
          <a:p xmlns:a="http://schemas.openxmlformats.org/drawingml/2006/main">
            <a:r>
              <a:t>Video worker, collector and scheduler are in Montréal (`northamerica-northeast1`).</a:t>
            </a:r>
          </a:p>
          <a:p xmlns:a="http://schemas.openxmlformats.org/drawingml/2006/main">
            <a:r>
              <a:t>Private function invocation is IAM-controlled, not a browser API.</a:t>
            </a:r>
          </a:p>
          <a:p xmlns:a="http://schemas.openxmlformats.org/drawingml/2006/main">
            <a:r>
              <a:t>Task delivery and deployed revision need operator evidence before acceptance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>- `docs/guides/vision-agent-api/04-video-reservation.md`</a:t>
            </a:r>
          </a:p>
          <a:p xmlns:a="http://schemas.openxmlformats.org/drawingml/2006/main">
            <a:r>
              <a:t>- `docs/guides/vision-agent-api/05-storage-transfer.md`</a:t>
            </a:r>
          </a:p>
          <a:p xmlns:a="http://schemas.openxmlformats.org/drawingml/2006/main">
            <a:r>
              <a:t>- `docs/guides/vision-agent-api/06-completion-and-reads.md`</a:t>
            </a:r>
          </a:p>
          <a:p xmlns:a="http://schemas.openxmlformats.org/drawingml/2006/main">
            <a:r>
              <a:t>- `docs/guides/vision-agent-api/12-architecture-implementation.md`</a:t>
            </a:r>
          </a:p>
          <a:p xmlns:a="http://schemas.openxmlformats.org/drawingml/2006/main">
            <a:r>
              <a:t>- `server/src/firebase.js`, `server/src/agent-video-media.js`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text companion. The full presenter notes are attached to the following image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082 - Vision Agent Durable State and Recovery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slide explains how the Agent prevents stale asynchronous work from</a:t>
            </a:r>
          </a:p>
          <a:p xmlns:a="http://schemas.openxmlformats.org/drawingml/2006/main">
            <a:r>
              <a:t>overwriting a cancelled or restarted analysis.</a:t>
            </a:r>
          </a:p>
          <a:p xmlns:a="http://schemas.openxmlformats.org/drawingml/2006/main">
            <a:r>
              <a:t>It also separates recovery of unfinished byte transfer from processing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Durable states</a:t>
            </a:r>
          </a:p>
          <a:p xmlns:a="http://schemas.openxmlformats.org/drawingml/2006/main">
            <a:r>
              <a:t>Video reservation creates an uploading analysis record.</a:t>
            </a:r>
          </a:p>
          <a:p xmlns:a="http://schemas.openxmlformats.org/drawingml/2006/main">
            <a:r>
              <a:t>After source verification, complete moves it to processing.</a:t>
            </a:r>
          </a:p>
          <a:p xmlns:a="http://schemas.openxmlformats.org/drawingml/2006/main">
            <a:r>
              <a:t>The worker may briefly mark uploaded after frame preparation.</a:t>
            </a:r>
          </a:p>
          <a:p xmlns:a="http://schemas.openxmlformats.org/drawingml/2006/main">
            <a:r>
              <a:t>Background model work marks analyzing, then analyzed with a report.</a:t>
            </a:r>
          </a:p>
          <a:p xmlns:a="http://schemas.openxmlformats.org/drawingml/2006/main">
            <a:r>
              <a:t>Failed and cancelled are recorded terminal outcomes.</a:t>
            </a:r>
          </a:p>
          <a:p xmlns:a="http://schemas.openxmlformats.org/drawingml/2006/main">
            <a:r>
              <a:t>GET detail exposes the current state and safe diagnostics.</a:t>
            </a:r>
          </a:p>
          <a:p xmlns:a="http://schemas.openxmlformats.org/drawingml/2006/main">
            <a:r>
              <a:t>The browser can restore that state after refresh without re-creating the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Version and attempt fences</a:t>
            </a:r>
          </a:p>
          <a:p xmlns:a="http://schemas.openxmlformats.org/drawingml/2006/main">
            <a:r>
              <a:t>Each persisted transition increments a record version.</a:t>
            </a:r>
          </a:p>
          <a:p xmlns:a="http://schemas.openxmlformats.org/drawingml/2006/main">
            <a:r>
              <a:t>The client should GET the latest version before versioned cancel or restart.</a:t>
            </a:r>
          </a:p>
          <a:p xmlns:a="http://schemas.openxmlformats.org/drawingml/2006/main">
            <a:r>
              <a:t>A stale version can return an outcome of changed even with HTTP 200.</a:t>
            </a:r>
          </a:p>
          <a:p xmlns:a="http://schemas.openxmlformats.org/drawingml/2006/main">
            <a:r>
              <a:t>Each video attempt has an attempt ID carried to the worker and task payload.</a:t>
            </a:r>
          </a:p>
          <a:p xmlns:a="http://schemas.openxmlformats.org/drawingml/2006/main">
            <a:r>
              <a:t>Frame paths include that ID. Provider runs have their own run identifiers.</a:t>
            </a:r>
          </a:p>
          <a:p xmlns:a="http://schemas.openxmlformats.org/drawingml/2006/main">
            <a:r>
              <a:t>Store transitions check attempt and run identity before accepting late results.</a:t>
            </a:r>
          </a:p>
          <a:p xmlns:a="http://schemas.openxmlformats.org/drawingml/2006/main">
            <a:r>
              <a:t>Cancellation clears the active attempt; restart creates a new attempt.</a:t>
            </a:r>
          </a:p>
          <a:p xmlns:a="http://schemas.openxmlformats.org/drawingml/2006/main">
            <a:r>
              <a:t>Late work from the cancelled attempt must not settle the restarted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Recovery operations</a:t>
            </a:r>
          </a:p>
          <a:p xmlns:a="http://schemas.openxmlformats.org/drawingml/2006/main">
            <a:r>
              <a:t>`POST /v1/agent/video-uploads/{id}/session` renews an uploading Storage session.</a:t>
            </a:r>
          </a:p>
          <a:p xmlns:a="http://schemas.openxmlformats.org/drawingml/2006/main">
            <a:r>
              <a:t>It does not promise to retain bytes from the previous session.</a:t>
            </a:r>
          </a:p>
          <a:p xmlns:a="http://schemas.openxmlformats.org/drawingml/2006/main">
            <a:r>
              <a:t>If the first transfer never finished, the client may need to select the file again.</a:t>
            </a:r>
          </a:p>
          <a:p xmlns:a="http://schemas.openxmlformats.org/drawingml/2006/main">
            <a:r>
              <a:t>`POST /v1/agent/analyses/{id}/cancel` retains evidence and history.</a:t>
            </a:r>
          </a:p>
          <a:p xmlns:a="http://schemas.openxmlformats.org/drawingml/2006/main">
            <a:r>
              <a:t>Cancellation requests best-effort task/provider cleanup after state settlement.</a:t>
            </a:r>
          </a:p>
          <a:p xmlns:a="http://schemas.openxmlformats.org/drawingml/2006/main">
            <a:r>
              <a:t>Running external work might still cost money.</a:t>
            </a:r>
          </a:p>
          <a:p xmlns:a="http://schemas.openxmlformats.org/drawingml/2006/main">
            <a:r>
              <a:t>For a cancelled video whose source is complete, `POST /{id}/restart`</a:t>
            </a:r>
          </a:p>
          <a:p xmlns:a="http://schemas.openxmlformats.org/drawingml/2006/main">
            <a:r>
              <a:t>re-enters processing with a new attempt and re-extracts frames.</a:t>
            </a:r>
          </a:p>
          <a:p xmlns:a="http://schemas.openxmlformats.org/drawingml/2006/main">
            <a:r>
              <a:t>It is not a generic image restart or repair for missing upload bytes.</a:t>
            </a:r>
          </a:p>
          <a:p xmlns:a="http://schemas.openxmlformats.org/drawingml/2006/main">
            <a:r>
              <a:t>A fresh start after an incomplete upload is client orchestration with a new 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Current gaps</a:t>
            </a:r>
          </a:p>
          <a:p xmlns:a="http://schemas.openxmlformats.org/drawingml/2006/main">
            <a:r>
              <a:t>The reconciler only reschedules overdue provider collection.</a:t>
            </a:r>
          </a:p>
          <a:p xmlns:a="http://schemas.openxmlformats.org/drawingml/2006/main">
            <a:r>
              <a:t>It is not a stalled-upload or processing sweeper.</a:t>
            </a:r>
          </a:p>
          <a:p xmlns:a="http://schemas.openxmlformats.org/drawingml/2006/main">
            <a:r>
              <a:t>Video retry/refinement through the public `/run` route is an open attempt-ID gap.</a:t>
            </a:r>
          </a:p>
          <a:p xmlns:a="http://schemas.openxmlformats.org/drawingml/2006/main">
            <a:r>
              <a:t>The recorded live video source GET returned 500; do not promise playback.</a:t>
            </a:r>
          </a:p>
          <a:p xmlns:a="http://schemas.openxmlformats.org/drawingml/2006/main">
            <a:r>
              <a:t>The current browser recovery action needs its own hosted acceptance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Sources</a:t>
            </a:r>
          </a:p>
          <a:p xmlns:a="http://schemas.openxmlformats.org/drawingml/2006/main">
            <a:r>
              <a:t>- `docs/guides/vision-agent-api/08-recovery.md`</a:t>
            </a:r>
          </a:p>
          <a:p xmlns:a="http://schemas.openxmlformats.org/drawingml/2006/main">
            <a:r>
              <a:t>- `docs/guides/vision-agent-api/11-limits-and-gaps.md`</a:t>
            </a:r>
          </a:p>
          <a:p xmlns:a="http://schemas.openxmlformats.org/drawingml/2006/main">
            <a:r>
              <a:t>- `docs/guides/vision-agent-api/12-architecture-implementation.md`</a:t>
            </a:r>
          </a:p>
          <a:p xmlns:a="http://schemas.openxmlformats.org/drawingml/2006/main">
            <a:r>
              <a:t>- `docs/guides/vision-agent-api/developer-guide.md` (draft)</a:t>
            </a:r>
          </a:p>
          <a:p xmlns:a="http://schemas.openxmlformats.org/drawingml/2006/main">
            <a:r>
              <a:t>- `server/src/agent-analysis-store.js`, `server/src/agent-api-handler.js`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8b89757bbc46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e666b85a141fd" /><Relationship Type="http://schemas.openxmlformats.org/officeDocument/2006/relationships/slideLayout" Target="/ppt/slideLayouts/slideLayout1.xml" Id="R7fbf67aec7f74a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bf67aec7f74a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0d275b2d047c0" /><Relationship Type="http://schemas.openxmlformats.org/officeDocument/2006/relationships/notesSlide" Target="/ppt/notesSlides/notesSlide1.xml" Id="R10f62d5d6d34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54a02ffb54516" /><Relationship Type="http://schemas.openxmlformats.org/officeDocument/2006/relationships/image" Target="/ppt/media/image.png" Id="R058af3ec509e4550" /><Relationship Type="http://schemas.openxmlformats.org/officeDocument/2006/relationships/notesSlide" Target="/ppt/notesSlides/notesSlide2.xml" Id="Rdae23436d30344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d0566d9ac476e" /><Relationship Type="http://schemas.openxmlformats.org/officeDocument/2006/relationships/notesSlide" Target="/ppt/notesSlides/notesSlide3.xml" Id="R17c8191d56194f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6704eef014411" /><Relationship Type="http://schemas.openxmlformats.org/officeDocument/2006/relationships/image" Target="/ppt/media/image2.png" Id="Rb867a06ebac444fb" /><Relationship Type="http://schemas.openxmlformats.org/officeDocument/2006/relationships/notesSlide" Target="/ppt/notesSlides/notesSlide4.xml" Id="R5cc234ce62b44b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7aa0f7b3349d4" /><Relationship Type="http://schemas.openxmlformats.org/officeDocument/2006/relationships/notesSlide" Target="/ppt/notesSlides/notesSlide5.xml" Id="Rb073a62f5ce740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3068ac4b44998" /><Relationship Type="http://schemas.openxmlformats.org/officeDocument/2006/relationships/image" Target="/ppt/media/image3.png" Id="Red60fe9e65bf481e" /><Relationship Type="http://schemas.openxmlformats.org/officeDocument/2006/relationships/notesSlide" Target="/ppt/notesSlides/notesSlide6.xml" Id="R6fba4f0032a3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09043489d4590" /><Relationship Type="http://schemas.openxmlformats.org/officeDocument/2006/relationships/notesSlide" Target="/ppt/notesSlides/notesSlide7.xml" Id="R20f533588afb4c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5ab707abc4418" /><Relationship Type="http://schemas.openxmlformats.org/officeDocument/2006/relationships/image" Target="/ppt/media/image4.png" Id="R734fb1de84424dd8" /><Relationship Type="http://schemas.openxmlformats.org/officeDocument/2006/relationships/notesSlide" Target="/ppt/notesSlides/notesSlide8.xml" Id="Ra15965c531ad40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b1bc9cc944d23" /><Relationship Type="http://schemas.openxmlformats.org/officeDocument/2006/relationships/notesSlide" Target="/ppt/notesSlides/notesSlide9.xml" Id="Refa1a595750d47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213779b4a4758" /><Relationship Type="http://schemas.openxmlformats.org/officeDocument/2006/relationships/image" Target="/ppt/media/image5.png" Id="R9e60d98fac5c44a7" /><Relationship Type="http://schemas.openxmlformats.org/officeDocument/2006/relationships/notesSlide" Target="/ppt/notesSlides/notesSlide10.xml" Id="Raa14369f1d3148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6610bcfa546c9" /><Relationship Type="http://schemas.openxmlformats.org/officeDocument/2006/relationships/notesSlide" Target="/ppt/notesSlides/notesSlide11.xml" Id="Rafa510e7141a44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5e202edd74d21" /><Relationship Type="http://schemas.openxmlformats.org/officeDocument/2006/relationships/image" Target="/ppt/media/image6.png" Id="Ree3034cce7ac454b" /><Relationship Type="http://schemas.openxmlformats.org/officeDocument/2006/relationships/notesSlide" Target="/ppt/notesSlides/notesSlide12.xml" Id="R11302819c8f04d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d10edf480476a" /><Relationship Type="http://schemas.openxmlformats.org/officeDocument/2006/relationships/notesSlide" Target="/ppt/notesSlides/notesSlide13.xml" Id="R5cb78f48105546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a479d2d20426d" /><Relationship Type="http://schemas.openxmlformats.org/officeDocument/2006/relationships/image" Target="/ppt/media/image7.png" Id="Rbe6fa68a10e54e8e" /><Relationship Type="http://schemas.openxmlformats.org/officeDocument/2006/relationships/notesSlide" Target="/ppt/notesSlides/notesSlide14.xml" Id="R772584d4d69e46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d868dd0f04836" /><Relationship Type="http://schemas.openxmlformats.org/officeDocument/2006/relationships/notesSlide" Target="/ppt/notesSlides/notesSlide15.xml" Id="R94eca4134ee34b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32701f4064bab" /><Relationship Type="http://schemas.openxmlformats.org/officeDocument/2006/relationships/image" Target="/ppt/media/image8.png" Id="R566c0613a6994f7f" /><Relationship Type="http://schemas.openxmlformats.org/officeDocument/2006/relationships/notesSlide" Target="/ppt/notesSlides/notesSlide16.xml" Id="R1824cd93084d47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895bf02364044" /><Relationship Type="http://schemas.openxmlformats.org/officeDocument/2006/relationships/notesSlide" Target="/ppt/notesSlides/notesSlide17.xml" Id="R4d1b6ff8f96645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4b81c4ec541f5" /><Relationship Type="http://schemas.openxmlformats.org/officeDocument/2006/relationships/image" Target="/ppt/media/image9.png" Id="R8167776267f7481c" /><Relationship Type="http://schemas.openxmlformats.org/officeDocument/2006/relationships/notesSlide" Target="/ppt/notesSlides/notesSlide18.xml" Id="R515dd854c33b433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dabe636cd4a93" /><Relationship Type="http://schemas.openxmlformats.org/officeDocument/2006/relationships/notesSlide" Target="/ppt/notesSlides/notesSlide19.xml" Id="Recae2460aa9846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efc5fd1bc4a71" /><Relationship Type="http://schemas.openxmlformats.org/officeDocument/2006/relationships/image" Target="/ppt/media/image10.png" Id="R95eee6cd2b8349d2" /><Relationship Type="http://schemas.openxmlformats.org/officeDocument/2006/relationships/notesSlide" Target="/ppt/notesSlides/notesSlide20.xml" Id="R68b925ba33014c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5b063b07147cc" /><Relationship Type="http://schemas.openxmlformats.org/officeDocument/2006/relationships/notesSlide" Target="/ppt/notesSlides/notesSlide21.xml" Id="Reee22cd46f8b41d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3dcf33b7a444d" /><Relationship Type="http://schemas.openxmlformats.org/officeDocument/2006/relationships/image" Target="/ppt/media/image11.png" Id="Rb5375cd837f94eda" /><Relationship Type="http://schemas.openxmlformats.org/officeDocument/2006/relationships/notesSlide" Target="/ppt/notesSlides/notesSlide22.xml" Id="Rf5694bcc1554423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ba00fc2354bdf" /><Relationship Type="http://schemas.openxmlformats.org/officeDocument/2006/relationships/notesSlide" Target="/ppt/notesSlides/notesSlide23.xml" Id="R6163be2c1ae949c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f1c3a0ab7451c" /><Relationship Type="http://schemas.openxmlformats.org/officeDocument/2006/relationships/image" Target="/ppt/media/image12.png" Id="R9ddc621baa5141ab" /><Relationship Type="http://schemas.openxmlformats.org/officeDocument/2006/relationships/notesSlide" Target="/ppt/notesSlides/notesSlide24.xml" Id="Ref99bab1aade4b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43530-C0A6-4B61-A54F-4B1EFFD3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D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CD2C8-A969-400E-A0C7-6A2AFCC2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07CBA-D971-4E2D-8733-A452769A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2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AI SHOP · VISTA · SDLC2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CB82C-FFCF-4083-8FAC-8D30D08E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1238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56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VISTA Agentic Visual</a:t>
            </a:r>
          </a:p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Products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F83CB-ADD9-4F89-AC97-7BEAC55D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From Shelf Photo to Item Report</a:t>
            </a:r>
          </a:p>
          <a:p xmlns:a="http://schemas.openxmlformats.org/drawingml/2006/main">
            <a:pPr>
              <a:defRPr sz="2250" b="0">
                <a:solidFill>
                  <a:srgbClr val="D9E5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9E5E8"/>
                </a:solidFill>
                <a:latin typeface="Arial"/>
                <a:ea typeface="Arial"/>
                <a:cs typeface="Arial"/>
              </a:rPr>
              <a:t>User Journey, Architecture, and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13FD8-4938-4AC3-AD2C-65C4D7AC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81750"/>
            <a:ext cx="857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97AAD-02BB-41AA-9140-4476D287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62750"/>
            <a:ext cx="1143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D1D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D1D4"/>
                </a:solidFill>
                <a:latin typeface="Arial"/>
                <a:ea typeface="Arial"/>
                <a:cs typeface="Arial"/>
              </a:rPr>
              <a:t>A real application evaluated through a complete software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E8CC9-0467-4F95-B051-0CF8BF9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5247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FD0C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0C8"/>
                </a:solidFill>
                <a:latin typeface="Arial"/>
                <a:ea typeface="Arial"/>
                <a:cs typeface="Arial"/>
              </a:rPr>
              <a:t>000</a:t>
            </a:r>
          </a:p>
        </p:txBody>
      </p:sp>
    </p:spTree>
    <p:extLst>
      <p:ext uri="{BB962C8B-B14F-4D97-AF65-F5344CB8AC3E}">
        <p14:creationId xmlns:p14="http://schemas.microsoft.com/office/powerpoint/2010/main" val="535828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af3ec509e455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683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7777AA-FB42-45D4-B35C-3FE6FA71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BF475-9D9E-4E1C-BD90-648D92C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69310-8150-4745-9A94-B9C86D63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8B380-953A-4A18-BBE3-96294CD1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Understand What Is on the Shelf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AC4B5-4219-495F-9B94-674BDA6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53F01-DCEA-44A0-9FBD-9584ED71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C8559-8B69-46C5-902B-F62E111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34E87-68A3-4CDF-BA79-02CFCA17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Capture shelf photos as evidence for inspection.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A282F-2143-4F89-8DD9-6D4BF96E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49658-3F41-4689-A59A-97C3AC79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Identify visible products and count their facings.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CC151-D7A7-43A7-B0C7-50123154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8B92D-D0A3-47C0-B0B7-DB129734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Help teams understand shelf presence and changes over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198BA5-88C9-4A0D-B045-AAE40971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323A7-1A08-479C-8CDD-5C8DFE9E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Support inventory decisions, brand presentation, and sales.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20156-8310-4C26-B707-554BB5D7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E4327-79BA-436D-9AC7-DE777AE3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This module turns an uploaded photo into a reviewable item report.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9C9FBC-5900-4200-9A4F-1FCF0FE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4852332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67a06ebac444fb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315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B0A31E-DE71-4807-B71E-78394A38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CDC30-724A-4782-BADF-7C63A003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F1366-671F-4714-AEDB-2D36F24C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F7B8F-89B0-4B68-A36B-C395FFC7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Through the 12-Step SDLC2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421E2-B4AF-480C-ABB6-D3155FF2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DEEA6-0D95-4927-8BCF-3BBD7D2F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F02C1-5DDA-4BAF-A34E-F9CB79C2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is both a working application and an SDLC2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A975A-0D60-4AFE-AE4B-E985C3C8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10764-978A-40AD-9396-A8985D9C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CFA8F-69D5-47A3-9870-A75AB0A2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49FB6-336F-4A71-A584-53E0BD98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1. Business and Technical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E613F-D4B7-46E1-9366-BA507D31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FB0C2-532A-4D2C-BE5F-EF7F1568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2.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91DF1-7519-49C3-80B1-993D3662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49A9B-2E65-4AC7-B063-486F8E96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3. Use Cases and System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51DC4-1A1B-4328-9CEE-B8FCC8F2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338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7B418-37FF-44E2-936F-4C6B3573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1038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E6085-3254-47D5-8D54-3538779F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BE48E-2F27-4672-8E4A-1DF12068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4. Benchmarks and Test 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2971F-6CC1-4545-AE67-E6CF9310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FE014-BB50-4CAB-B0DC-5890A38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5. High-Level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2E6B02-54A9-4575-BEA5-90CD868C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0088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1471DB-B7F4-4B1E-8DBD-D02AA97B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8213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2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6. Working Proof of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EE6CB7-EED7-4D78-B275-7813E293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B2B56-575A-44F5-86CE-E4D2C4D2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D3D798-3B13-42C8-8C0C-F613172B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71EB23-A265-49A2-A3D5-427652EF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7. Planning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64166B-A35F-4067-87E9-599E4818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90E43-19FB-47C2-8448-E9C1A66D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8. Low-Level Design and Specifications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9694F-02D3-4565-910A-F86DCC9C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E3771-0976-4B54-9E5E-388C0D9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9. Build, Code, and 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844980-A258-4F89-B47C-E62ED08B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63" y="3000375"/>
            <a:ext cx="3281363" cy="4333875"/>
          </a:xfrm>
          <a:prstGeom xmlns:a="http://schemas.openxmlformats.org/drawingml/2006/main" prst="roundRect">
            <a:avLst>
              <a:gd name="adj" fmla="val 23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3A2E0-7D64-41FA-986B-F8AFD34E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963" y="3190875"/>
            <a:ext cx="27479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Operate and Learn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C98A97-EC88-403E-857D-340DE0C2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3695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46FB93-4BDD-44A9-A4A0-017E62FF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35718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3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10. Deployment, Infrastructure, and Operational Reality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E7309A-F5BB-464A-813C-27AB838A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3434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AE4381-1398-4488-9176-63862FCF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2195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11. Review, Human QA, and Release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94D0B-30C6-4A96-ADE3-DC215314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0013" y="49911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D30C61-EA61-477C-9C0A-F77EEA26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867275"/>
            <a:ext cx="24717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12. Observability and Learning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C92D4F-AB78-4E7E-95CB-82C5609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424957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0fe9e65bf481e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375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0CF4D-84DF-4E52-99FB-9E793037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E0743-C4AC-47D6-8046-5147D068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BB723-88D4-4BDE-A5EE-7DC521C5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EE45C-6AD5-46EC-84EF-C861EAFE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VISTA Agentic Visual Products Recognition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4F6AB-48D2-4391-9BE3-4C6D22C1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C2B30-E957-4F18-9B24-C06D206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4A405-91B8-4AD4-BB07-0C07BD06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1327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From image to item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39250-1690-4F77-8DCA-DEE70CC7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5CE5B-7816-4C75-8C1F-053D19A9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Upload a shelf photo through the browser interface.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E4135-F48B-4718-8FC8-1928B482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95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EF1D4-77C0-4275-B7BF-90EA9F9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server checks access, saves the image, and coordinates analysis.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32753-6C07-4592-865A-44FFD9ED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72AB3-600D-461E-B0E0-901DC82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identifies products and counts visible facings.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8A55D-83A8-42CD-9C0A-BEDE6006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D87D1-DFBB-4120-9CC1-40F9692F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910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Read progress and the saved report in the browser.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74C66-C1B6-4018-992C-ECF4948A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24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1645A-C325-4389-B874-87C6A715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006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Review the observations: recognition can be uncertain.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8D77-43E1-4C12-A283-D8A94241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6585767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fb1de84424dd8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4990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EF6E90-120D-46A0-8FE3-91A477A0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FD8C3-0E5B-4429-A0A1-F5718E5C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86A01-C823-4A1F-B87B-85C3197B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14536-59F3-4BE6-8AFF-9844B7DB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Two Product Use Cases Share One Vision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A5375-1B94-4F8C-8E80-02ACDA81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7E5B24-CF2B-4B6A-AF2B-E3535633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3B64E-08B3-4952-B6A3-112F5923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AI Shop shopping experience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7E5AE-BDB1-4935-BDBB-29CAE5E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33F9D-9AE6-4C0E-8E9F-B41FE96E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AI Shop iPhone app scans products for shoppers.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82876-DB11-4F55-A866-B89777C1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8CF1E-C700-4A0E-B487-6D312C7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59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Image processing can occur on the iPhone and through server-side 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8203B-3C7F-4822-B474-57CFB237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C8F08-413F-474E-9212-6BA0640E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help shoppers make better-informed decisions.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79E33-0AB5-4C88-B9E0-38384B5D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F4813-B34C-4E75-9FC1-24A51B45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VISTA shelf inspection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A46A9-F035-4F28-B4BA-D70A3E3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8356A-F6F0-4718-867D-868E6848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web Agent manually analyses shelf photographs and videos today.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C3E20-134D-43BF-B00F-B76BEC13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73747-A71B-43F6-8499-22C27E06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intended VISTA iPhone app will capture evidence during store inspections.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D8538-41AB-4262-AB27-C6B5716D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E1F3E1-E5EE-417B-A5FE-52E8C1B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Results identify shelf products and count visible facings.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EA86E0-6496-4A97-AE3E-783BE84A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52279-410F-4876-BA11-2C251C7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Both experiences reuse common server capabilities while serving different users.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2A2173-3628-4CB6-BFBE-6B248D9A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040684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0d98fac5c44a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821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8DA4A-F6BB-4585-BC42-C610E93B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08E58-21E7-4525-A07A-3BE36984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0186F-E87B-4364-B0E3-11CB4CCE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CE904-0E5C-47F4-8AE0-34BA6E1B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What AI Shop Must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BD7C8-3D70-460B-961E-AFCBDC0D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1CFE3-802E-4CFE-B1E7-BFCD80F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BA513-E561-4754-9214-2EAFCE05E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AI Shop must outperform useful human workflows, not merely return an AI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48067-53A6-479B-934C-B157A7EF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0B386-C92B-4896-904B-81ED913A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Shopping assistance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81DCA-C884-412F-BA95-0B6A6C4B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3273E-1776-40DB-B60A-5E4322B9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Reach a decision with less image handling, repeated context, and conversation.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02F71-0C76-47CA-BA09-D0398FA2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DA44-81A8-4318-97C3-EF88A839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Product identification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8EDFC-E063-427B-AF8D-35635911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80226-2513-47C7-9093-7BE75B37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Make a complex scene faster to understand while showing uncertainty honestly.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1A462-00FB-4629-A4B1-3A037DB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32102-426F-4401-8996-318C46DC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Shelf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6B32E9-1F98-47BE-BB1A-F174EE94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AC2E2-B927-4BA1-ADD3-3859141D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Keep the source image, AI findings, corrections, reviewer, and timing connected.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47E68-2D5A-429B-B635-78D4E6BF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77D26-5115-47AF-BE60-218A39D4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application should reduce effort without weakening human judgment.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39153-CB0F-428F-A833-B8FBA980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954386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034cce7ac454b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9786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E6930-05E7-4F8D-A795-B94E3EF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C0806-5D0F-42CA-8C94-241A0162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4D06C-2973-4652-9F48-24D1B72E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797CC-02F3-4F86-A4E1-9874575A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One Shelf, Three Different Readings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5D50B-57EA-4E7B-91AB-D8C8CC9C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C352B-B479-44E9-9FB1-D6313C90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EEDB6-5AA6-497C-8432-A2054F43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7F1E2-0A66-4A24-8321-3D96E606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same dense shelf produced three incompatible descriptions.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F81E1-8F0F-4434-8EC3-69BD8AB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3B110F-26D2-48E5-822E-9B353555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Provisional GPT reference: 42 product groups and 94 visible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4F800-9590-4316-BA24-C3BC80E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F5879-AD64-47AD-9E5D-0078A180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first run: 23 rows, 62 facings, and 3 uncertain entries.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136DD-EED2-4D2E-8605-2C4CD128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9C825-467C-4F8A-9E2C-56D8000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Independent visual read: about 57 facings plus 21 stacked units.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0A1BE-13D9-4488-94E4-D1FBC2AA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98E26-E882-4929-A2F1-E6688F7E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These totals answer different counting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A344C-0FD9-41BD-A178-0D07C83E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6D9B6-625C-46B9-9D48-12D03A0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They cannot be converted into an accuracy percentage.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B27D2-68D7-465A-80A1-CC497923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9CAA5-2335-4CF0-AF6D-13D867F9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human-verified reference and an agreed counting contract must come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3A302C-AFDD-4D1C-B718-A8DE2880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6521172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fa68a10e54e8e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064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4B917-B44E-4A93-85EE-13AE8FC4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1C980-51F1-4C0D-8E1D-7622DF74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08F29-0A34-477A-A0BD-0D91EC11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D08AA0-E726-4218-A1FE-FEB1F62F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Quality and System Reliability Need Different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F359C-1BE0-4B3D-AB70-C6E183E7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9E8E-9534-45A7-A5C9-9037B28F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783D7-7DBF-486F-8A44-5C2D85C8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Vision 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A2B03-1677-4328-A4AB-AA62E20A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8767F-C925-4B52-AF92-C64E188F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87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Freeze the source image, prompt, schema, and human-verified reference.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4CCB6-4E38-4036-B3B3-E34265AB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29D9D-D16B-4CBF-A15B-6744C209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Change one model, reasoning, context, or image setting at a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089C8-86DE-4BB1-9231-3B157C2B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1601F-BE00-4A63-A847-89DBB265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2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Score identification, omissions, counts, inventions, and uncertainty.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1C0C51-47C5-4883-9B98-AD1247E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EFB8B9-7BD5-4EFA-9E66-6A116869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Record latency, usage, cost, retries, and review effort.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8E4DC-F092-4CF8-8C73-B2123FD6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6791325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49741-501D-4C65-A912-F5BC7B65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6257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System 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7EC7A-DC3A-41CB-BBE4-87C4215E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86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08BFB-7B7D-4CDA-AD33-E9045D2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622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Prove access control, upload, durable progress, and saved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72C07-EE10-4820-9D5C-1FE9072B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09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576A99-775B-405D-9464-5078582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861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Test refresh, refinement, retry, and failure diagnostics.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90A37-FB43-45C3-9F1B-A91BB2CE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33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A3FD8-C077-44B6-B121-28F60631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100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75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For video, preserve frame provenance and prevent duplicate counts.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3FD017-FBA0-4C25-B339-6B7B967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57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9E937-FDB2-47B8-AC66-A294042F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933950"/>
            <a:ext cx="5981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Release decisions require evidence from both test paths.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4AF34-0BF8-4B0B-99CA-FD17CE9C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7862197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c0613a6994f7f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1070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9CAA0B-A499-4F59-8F58-2E09B151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F8695-6F71-4EC8-B61A-C4AB8215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B7F27-1196-4A13-BC5B-D65AA241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D010B-7CFF-4394-B91E-7EC62C5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Shared Vision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C51E9-3EA9-4DB5-B87C-05EBA6C2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9815B-3E85-4A4F-B8C2-481013EB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941FF-6C89-4EE9-8D97-DBCC23B8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Three entry paths use related server capabilities for different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B3867-2958-4FA9-A49E-753C823B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C42E9-1E59-4994-935C-B3E64B6B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Current product paths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A8CCA-FB43-4E7F-AC58-6264119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667F12-1E51-4E16-AFF4-9E5C456D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AI Shop iPhone scans products to support shopping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20202-6796-4486-9E31-89FE96C6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E735C-8AF9-4E85-8580-58D222B3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5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Web Vision Agent manually accepts shelf photographs and videos for inspection reports.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32202-20AA-4EF9-86D7-868B4082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184ABA-74EA-419F-A4C5-3B1EF446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Intended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A8DBA-F5A8-4A6D-A278-F7F3B05E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10142-C26D-4A4A-8F8B-6AE2DAFE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VISTA iPhone would capture shelf evidence during store inspections.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DC14C-A3FB-49C5-A2C3-B2A7B75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F0F57-740A-4A84-98AA-34E0DD05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Shared server foundation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A3823-91A3-4E08-82CA-C389510E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88816-B3A4-49CD-A126-D3783940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Secure intake protects access and provider credentials.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2D0A3A-466A-4DD4-A7AE-04CA74C8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A79391-065A-41B3-8ACB-D12AFEDE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Server processing preserves evidence, tracks work, and obtains AI findings.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EDFC0-44CA-4569-8E24-16D9C161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991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857CB-7DED-4711-A59C-7F565375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8672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Clients retrieve reports and show uncertainty for human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DDC24-3580-41A3-A524-B64DFB5F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56388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C1BB9-FB41-49F0-B34E-77E84394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55149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clients need not use one identical endpoint or return one identical report.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3BAEA-6A1D-4857-9B4C-B335303A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6506381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7776267f7481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167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E0044-A6AC-41D3-841E-009DCCF5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3AD0A-5B7F-4AED-B45B-A14F7717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CA5BD-44D3-40A6-BFC9-C9770B16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1667D-2B84-4C78-A183-21D1AF0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Agent API Contract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7B7E0-E940-4434-BEA8-6B792A1A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E652A-128B-4C8B-8E77-F7D49B12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1381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2F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BDCAA-E7D3-43BB-AD56-4B55A30D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1323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The Agent owns shelf-analysis records behind Firebase access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2A5CF8-358D-47BE-921B-36B57692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81441-60AC-453F-BA74-E7A04AE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Photograph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07453-D8AF-4BD1-B059-72E307E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EDA54-D200-4D40-8087-5B23F095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`POST /v1/agent/analyses` accepts one JPEG and creates a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9DF87-5742-4BE9-AFF2-F8AED37B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49C74-4FC6-4A26-B04D-B02288EC4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33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`run=true` or `POST /v1/agent/analyses/{id}/run` starts an eligible analysis.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D2B9F-DC04-41A7-9404-06BDF575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32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4221B-4906-4861-B124-62ECB29D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102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E6AC5-376A-4720-95F9-D1747E08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952A5C-523E-4689-A986-1654BF60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81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`POST /v1/agent/video-uploads` reserves an upload and returns a Storage session URI.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0E73C-2DA7-436E-B695-69E9995D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07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C45D9-3CA7-47D5-B772-F967DFAE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6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client sends bytes to Storage, then calls `POST /v1/agent/video-uploads/{id}/complete`.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2AEED2-44BD-4C3B-844E-DB736CB4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4275" y="3000375"/>
            <a:ext cx="4451350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88764-19EA-4C5E-9DE4-E634325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975" y="3190875"/>
            <a:ext cx="391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Reading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13B8BB-C181-4FC3-A663-3086EC89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36957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7CD0A-FF58-4FCA-AD6B-BE1FB1D6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35718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`GET /v1/agent/analyses/{id}` restores server-owned progress and the report.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42D16D-77D2-47EC-8FF3-7C9537F0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343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54EFB-D29D-4472-9AB5-F9012B20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2195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Original evidence has a source route, but video download has a known live failure.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AFA569-8FA5-4151-AF0E-E7DF6B69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025" y="4991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585AD-D701-4265-82A5-F8A8CD5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150" y="4867275"/>
            <a:ext cx="3641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Agent ownership and Admin cross-user reads use different authorization claims.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550F02-EEC2-4703-A5BD-6D4D2BB0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7236051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ee6cd2b8349d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98050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63696A-C729-4877-9E4C-22302DBE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436E0-4827-4B17-A09D-F29AC650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BF02C-FA7A-4F76-A921-043DB1DE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081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F1DEA-D36A-41D3-9F8A-D423ED0E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Agent Video Processing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411699-BCE8-44B4-894F-FF9EE8DC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9ECA3-EDE1-4D23-BC0D-A6830776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991E8-FF42-4E1F-8315-CCBEE8CB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863F9-F467-4132-A724-3694E9D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completed upload becomes a server-owned background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09AE2-9972-42FB-A061-1691D70B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D4FCB6-5745-4585-9C4C-0325B1DE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The client reserves a record, sends video bytes to Storage, and confirms completion.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C74E0-C5A1-4E0C-A0F0-4612F68F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9B704-92C9-4523-BB7D-6292BC96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Cloud Tasks invokes a video worker with owner, analysis, and attempt identifiers.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1ABB4-8B24-43EA-9F47-32A5CADD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F360B-EAF9-48A0-AB08-A92848B5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FFmpeg extracts representative JPEG frames from the original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4410A-843F-4F06-B2C7-69A0BE7C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9BDE0-736F-446C-A93F-85699439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One background model request treats the frames as a single shelf scan.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8C35A4-B0D1-4E8C-9E5C-99571712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47D92-A525-41E9-8043-6CBDBF23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A collector settles the report in Firestore; the client reads it through 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5259A-A0E4-4EA8-8666-A2B16014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10866-0E66-4256-8066-780F0FA0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Frame timestamps remain evidence for review and cross-frame counting.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1C628-DDD6-47A1-A17F-1FBA2C4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12354830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75cd837f94ed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9454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2C761-D22A-4446-8B32-D7014E90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50ED4-39D5-46AF-9718-89C99CCF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9FAC9-029D-4CB0-835A-B51B120C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082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05A3A-7FD5-4F75-8462-EABF36D8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38200"/>
            <a:ext cx="1343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2D43"/>
                </a:solidFill>
                <a:latin typeface="Arial"/>
                <a:ea typeface="Arial"/>
                <a:cs typeface="Arial"/>
              </a:rPr>
              <a:t>Vision Agent Durable State and 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40055-952A-4A29-9C45-AE34CDAA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381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11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03963-F006-4690-A1EB-7D898330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3811250" cy="6096000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80B12-7659-42B2-A094-A1DFE77E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43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A6FF8-3952-46A6-B912-17FB8D71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19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Versioned records and attempt IDs protect long-running video 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A9DE3-5637-41C3-99D3-A4F08DC2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52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7DDB7-D3B2-414C-8420-C38F85E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Normal video progress moves through uploading, processing, analyzing, and analyzed.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5F9F1-5DC5-420C-B67B-B69A3902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6A1F5-BC8D-4EC2-871B-7122A6FB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Failed and cancelled are recorded outcomes that remain visible on GET.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2B062-DC49-442D-A19C-F155BE62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71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6F403-FC53-4405-B169-5BAABB23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Session renewal applies only while the upload record is uploading.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EC48D-4ABD-4A83-98A2-E7040C31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81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53190-FED9-40A3-8E34-2EC11822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Cancellation uses the latest record version; restart starts a new video attempt.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B2E04-F476-46C5-B6AE-3B06B6EA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91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11F1F-4A52-4049-AB4F-574018B8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Restart requires complete source evidence and re-extracts frames.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71042-0DFD-4BDE-B775-3481FB47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007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67F8C-53A8-482E-82C1-ED2EBBC9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76950"/>
            <a:ext cx="13001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746"/>
                </a:solidFill>
                <a:latin typeface="Arial"/>
                <a:ea typeface="Arial"/>
                <a:cs typeface="Arial"/>
              </a:rPr>
              <a:t>Old workers and model runs must not settle a newer attempt.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1442B1-9854-43D9-BB3E-557C4681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90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1717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1717E"/>
                </a:solidFill>
                <a:latin typeface="Arial"/>
                <a:ea typeface="Arial"/>
                <a:cs typeface="Arial"/>
              </a:rPr>
              <a:t>EDITABLE TEXT</a:t>
            </a:r>
          </a:p>
        </p:txBody>
      </p:sp>
    </p:spTree>
    <p:extLst>
      <p:ext uri="{BB962C8B-B14F-4D97-AF65-F5344CB8AC3E}">
        <p14:creationId xmlns:p14="http://schemas.microsoft.com/office/powerpoint/2010/main" val="3749599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c621baa5141ab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006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2026-09-15T19:20:15.5170000Z</dcterms:created>
  <dcterms:modified xsi:type="dcterms:W3CDTF">2026-09-15T19:20:15.5170000Z</dcterms:modified>
</coreProperties>
</file>